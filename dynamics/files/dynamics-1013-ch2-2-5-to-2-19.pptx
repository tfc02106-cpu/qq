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684" r:id="rId2"/>
    <p:sldMasterId id="2147483681" r:id="rId3"/>
    <p:sldMasterId id="2147483678" r:id="rId4"/>
    <p:sldMasterId id="2147483675" r:id="rId5"/>
    <p:sldMasterId id="2147483666" r:id="rId6"/>
  </p:sldMasterIdLst>
  <p:notesMasterIdLst>
    <p:notesMasterId r:id="rId156"/>
  </p:notesMasterIdLst>
  <p:handoutMasterIdLst>
    <p:handoutMasterId r:id="rId157"/>
  </p:handoutMasterIdLst>
  <p:sldIdLst>
    <p:sldId id="485" r:id="rId7"/>
    <p:sldId id="647" r:id="rId8"/>
    <p:sldId id="648" r:id="rId9"/>
    <p:sldId id="649" r:id="rId10"/>
    <p:sldId id="650" r:id="rId11"/>
    <p:sldId id="651" r:id="rId12"/>
    <p:sldId id="652" r:id="rId13"/>
    <p:sldId id="653" r:id="rId14"/>
    <p:sldId id="654" r:id="rId15"/>
    <p:sldId id="471" r:id="rId16"/>
    <p:sldId id="624" r:id="rId17"/>
    <p:sldId id="655" r:id="rId18"/>
    <p:sldId id="656" r:id="rId19"/>
    <p:sldId id="657" r:id="rId20"/>
    <p:sldId id="658" r:id="rId21"/>
    <p:sldId id="659" r:id="rId22"/>
    <p:sldId id="660" r:id="rId23"/>
    <p:sldId id="661" r:id="rId24"/>
    <p:sldId id="662" r:id="rId25"/>
    <p:sldId id="663" r:id="rId26"/>
    <p:sldId id="664" r:id="rId27"/>
    <p:sldId id="665" r:id="rId28"/>
    <p:sldId id="666" r:id="rId29"/>
    <p:sldId id="667" r:id="rId30"/>
    <p:sldId id="668" r:id="rId31"/>
    <p:sldId id="669" r:id="rId32"/>
    <p:sldId id="670" r:id="rId33"/>
    <p:sldId id="671" r:id="rId34"/>
    <p:sldId id="672" r:id="rId35"/>
    <p:sldId id="673" r:id="rId36"/>
    <p:sldId id="674" r:id="rId37"/>
    <p:sldId id="675" r:id="rId38"/>
    <p:sldId id="676" r:id="rId39"/>
    <p:sldId id="677" r:id="rId40"/>
    <p:sldId id="678" r:id="rId41"/>
    <p:sldId id="679" r:id="rId42"/>
    <p:sldId id="680" r:id="rId43"/>
    <p:sldId id="681" r:id="rId44"/>
    <p:sldId id="682" r:id="rId45"/>
    <p:sldId id="683" r:id="rId46"/>
    <p:sldId id="684" r:id="rId47"/>
    <p:sldId id="685" r:id="rId48"/>
    <p:sldId id="625" r:id="rId49"/>
    <p:sldId id="626" r:id="rId50"/>
    <p:sldId id="686" r:id="rId51"/>
    <p:sldId id="687" r:id="rId52"/>
    <p:sldId id="688" r:id="rId53"/>
    <p:sldId id="689" r:id="rId54"/>
    <p:sldId id="690" r:id="rId55"/>
    <p:sldId id="691" r:id="rId56"/>
    <p:sldId id="692" r:id="rId57"/>
    <p:sldId id="693" r:id="rId58"/>
    <p:sldId id="694" r:id="rId59"/>
    <p:sldId id="695" r:id="rId60"/>
    <p:sldId id="696" r:id="rId61"/>
    <p:sldId id="697" r:id="rId62"/>
    <p:sldId id="698" r:id="rId63"/>
    <p:sldId id="699" r:id="rId64"/>
    <p:sldId id="700" r:id="rId65"/>
    <p:sldId id="701" r:id="rId66"/>
    <p:sldId id="702" r:id="rId67"/>
    <p:sldId id="703" r:id="rId68"/>
    <p:sldId id="704" r:id="rId69"/>
    <p:sldId id="705" r:id="rId70"/>
    <p:sldId id="706" r:id="rId71"/>
    <p:sldId id="707" r:id="rId72"/>
    <p:sldId id="708" r:id="rId73"/>
    <p:sldId id="709" r:id="rId74"/>
    <p:sldId id="710" r:id="rId75"/>
    <p:sldId id="711" r:id="rId76"/>
    <p:sldId id="712" r:id="rId77"/>
    <p:sldId id="713" r:id="rId78"/>
    <p:sldId id="785" r:id="rId79"/>
    <p:sldId id="507" r:id="rId80"/>
    <p:sldId id="508" r:id="rId81"/>
    <p:sldId id="714" r:id="rId82"/>
    <p:sldId id="715" r:id="rId83"/>
    <p:sldId id="716" r:id="rId84"/>
    <p:sldId id="717" r:id="rId85"/>
    <p:sldId id="718" r:id="rId86"/>
    <p:sldId id="719" r:id="rId87"/>
    <p:sldId id="720" r:id="rId88"/>
    <p:sldId id="721" r:id="rId89"/>
    <p:sldId id="722" r:id="rId90"/>
    <p:sldId id="723" r:id="rId91"/>
    <p:sldId id="724" r:id="rId92"/>
    <p:sldId id="725" r:id="rId93"/>
    <p:sldId id="726" r:id="rId94"/>
    <p:sldId id="727" r:id="rId95"/>
    <p:sldId id="728" r:id="rId96"/>
    <p:sldId id="729" r:id="rId97"/>
    <p:sldId id="730" r:id="rId98"/>
    <p:sldId id="731" r:id="rId99"/>
    <p:sldId id="732" r:id="rId100"/>
    <p:sldId id="733" r:id="rId101"/>
    <p:sldId id="734" r:id="rId102"/>
    <p:sldId id="735" r:id="rId103"/>
    <p:sldId id="736" r:id="rId104"/>
    <p:sldId id="737" r:id="rId105"/>
    <p:sldId id="629" r:id="rId106"/>
    <p:sldId id="630" r:id="rId107"/>
    <p:sldId id="738" r:id="rId108"/>
    <p:sldId id="739" r:id="rId109"/>
    <p:sldId id="740" r:id="rId110"/>
    <p:sldId id="741" r:id="rId111"/>
    <p:sldId id="742" r:id="rId112"/>
    <p:sldId id="743" r:id="rId113"/>
    <p:sldId id="744" r:id="rId114"/>
    <p:sldId id="745" r:id="rId115"/>
    <p:sldId id="746" r:id="rId116"/>
    <p:sldId id="747" r:id="rId117"/>
    <p:sldId id="748" r:id="rId118"/>
    <p:sldId id="749" r:id="rId119"/>
    <p:sldId id="750" r:id="rId120"/>
    <p:sldId id="751" r:id="rId121"/>
    <p:sldId id="752" r:id="rId122"/>
    <p:sldId id="753" r:id="rId123"/>
    <p:sldId id="754" r:id="rId124"/>
    <p:sldId id="755" r:id="rId125"/>
    <p:sldId id="632" r:id="rId126"/>
    <p:sldId id="756" r:id="rId127"/>
    <p:sldId id="757" r:id="rId128"/>
    <p:sldId id="758" r:id="rId129"/>
    <p:sldId id="759" r:id="rId130"/>
    <p:sldId id="760" r:id="rId131"/>
    <p:sldId id="761" r:id="rId132"/>
    <p:sldId id="762" r:id="rId133"/>
    <p:sldId id="763" r:id="rId134"/>
    <p:sldId id="764" r:id="rId135"/>
    <p:sldId id="765" r:id="rId136"/>
    <p:sldId id="766" r:id="rId137"/>
    <p:sldId id="767" r:id="rId138"/>
    <p:sldId id="768" r:id="rId139"/>
    <p:sldId id="784" r:id="rId140"/>
    <p:sldId id="769" r:id="rId141"/>
    <p:sldId id="770" r:id="rId142"/>
    <p:sldId id="771" r:id="rId143"/>
    <p:sldId id="772" r:id="rId144"/>
    <p:sldId id="773" r:id="rId145"/>
    <p:sldId id="774" r:id="rId146"/>
    <p:sldId id="775" r:id="rId147"/>
    <p:sldId id="776" r:id="rId148"/>
    <p:sldId id="777" r:id="rId149"/>
    <p:sldId id="778" r:id="rId150"/>
    <p:sldId id="779" r:id="rId151"/>
    <p:sldId id="780" r:id="rId152"/>
    <p:sldId id="781" r:id="rId153"/>
    <p:sldId id="782" r:id="rId154"/>
    <p:sldId id="783" r:id="rId15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p15:clr>
            <a:srgbClr val="A4A3A4"/>
          </p15:clr>
        </p15:guide>
        <p15:guide id="4" orient="horz" pos="1900">
          <p15:clr>
            <a:srgbClr val="A4A3A4"/>
          </p15:clr>
        </p15:guide>
        <p15:guide id="5" pos="5175">
          <p15:clr>
            <a:srgbClr val="A4A3A4"/>
          </p15:clr>
        </p15:guide>
        <p15:guide id="6" pos="28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7A7"/>
    <a:srgbClr val="F6BC95"/>
    <a:srgbClr val="F4B285"/>
    <a:srgbClr val="F2A16A"/>
    <a:srgbClr val="666666"/>
    <a:srgbClr val="F09253"/>
    <a:srgbClr val="EE853E"/>
    <a:srgbClr val="EB701E"/>
    <a:srgbClr val="D16012"/>
    <a:srgbClr val="BC56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FEE407-DC70-43E1-BF0B-22B546E9C5A1}" v="82" dt="2026-10-12T22:16:55.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7962" autoAdjust="0"/>
    <p:restoredTop sz="94660"/>
  </p:normalViewPr>
  <p:slideViewPr>
    <p:cSldViewPr snapToGrid="0" showGuides="1">
      <p:cViewPr>
        <p:scale>
          <a:sx n="100" d="100"/>
          <a:sy n="100" d="100"/>
        </p:scale>
        <p:origin x="528" y="333"/>
      </p:cViewPr>
      <p:guideLst>
        <p:guide orient="horz" pos="2160"/>
        <p:guide pos="2880"/>
        <p:guide orient="horz" pos="1620"/>
        <p:guide orient="horz" pos="1900"/>
        <p:guide pos="5175"/>
        <p:guide pos="2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2856"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viewProps" Target="viewProps.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5.xml"/><Relationship Id="rId95" Type="http://schemas.openxmlformats.org/officeDocument/2006/relationships/slide" Target="slides/slide89.xml"/><Relationship Id="rId160" Type="http://schemas.openxmlformats.org/officeDocument/2006/relationships/theme" Target="theme/theme1.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124" Type="http://schemas.openxmlformats.org/officeDocument/2006/relationships/slide" Target="slides/slide118.xml"/><Relationship Id="rId129" Type="http://schemas.openxmlformats.org/officeDocument/2006/relationships/slide" Target="slides/slide123.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40" Type="http://schemas.openxmlformats.org/officeDocument/2006/relationships/slide" Target="slides/slide134.xml"/><Relationship Id="rId145" Type="http://schemas.openxmlformats.org/officeDocument/2006/relationships/slide" Target="slides/slide139.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openxmlformats.org/officeDocument/2006/relationships/slide" Target="slides/slide145.xml"/><Relationship Id="rId156" Type="http://schemas.openxmlformats.org/officeDocument/2006/relationships/notesMaster" Target="notesMasters/notesMaster1.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handoutMaster" Target="handoutMasters/handoutMaster1.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microsoft.com/office/2015/10/relationships/revisionInfo" Target="revisionInfo.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4" Type="http://schemas.openxmlformats.org/officeDocument/2006/relationships/slideMaster" Target="slideMasters/slideMaster4.xml"/><Relationship Id="rId9" Type="http://schemas.openxmlformats.org/officeDocument/2006/relationships/slide" Target="slides/slide3.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Chen" userId="57bada66e2e983d5" providerId="LiveId" clId="{CDE089A9-A992-425E-90C6-FC8CBED75005}"/>
    <pc:docChg chg="modSld delMainMaster">
      <pc:chgData name="BiLL Chen" userId="57bada66e2e983d5" providerId="LiveId" clId="{CDE089A9-A992-425E-90C6-FC8CBED75005}" dt="2026-10-12T22:18:38.904" v="101" actId="20577"/>
      <pc:docMkLst>
        <pc:docMk/>
      </pc:docMkLst>
      <pc:sldChg chg="modSp">
        <pc:chgData name="BiLL Chen" userId="57bada66e2e983d5" providerId="LiveId" clId="{CDE089A9-A992-425E-90C6-FC8CBED75005}" dt="2026-10-12T22:10:36.762" v="2" actId="20577"/>
        <pc:sldMkLst>
          <pc:docMk/>
          <pc:sldMk cId="0" sldId="648"/>
        </pc:sldMkLst>
        <pc:spChg chg="mod">
          <ac:chgData name="BiLL Chen" userId="57bada66e2e983d5" providerId="LiveId" clId="{CDE089A9-A992-425E-90C6-FC8CBED75005}" dt="2026-10-12T22:10:36.762" v="2" actId="20577"/>
          <ac:spMkLst>
            <pc:docMk/>
            <pc:sldMk cId="0" sldId="648"/>
            <ac:spMk id="14" creationId="{00000000-0000-0000-0000-000000000000}"/>
          </ac:spMkLst>
        </pc:spChg>
      </pc:sldChg>
      <pc:sldChg chg="addSp modSp mod modAnim">
        <pc:chgData name="BiLL Chen" userId="57bada66e2e983d5" providerId="LiveId" clId="{CDE089A9-A992-425E-90C6-FC8CBED75005}" dt="2026-10-12T22:16:39.258" v="84" actId="1076"/>
        <pc:sldMkLst>
          <pc:docMk/>
          <pc:sldMk cId="0" sldId="672"/>
        </pc:sldMkLst>
        <pc:spChg chg="add mod">
          <ac:chgData name="BiLL Chen" userId="57bada66e2e983d5" providerId="LiveId" clId="{CDE089A9-A992-425E-90C6-FC8CBED75005}" dt="2026-10-12T22:16:39.258" v="84" actId="1076"/>
          <ac:spMkLst>
            <pc:docMk/>
            <pc:sldMk cId="0" sldId="672"/>
            <ac:spMk id="3" creationId="{32811302-E2A9-8E76-B48B-8CEF5CDA8926}"/>
          </ac:spMkLst>
        </pc:spChg>
        <pc:spChg chg="mod">
          <ac:chgData name="BiLL Chen" userId="57bada66e2e983d5" providerId="LiveId" clId="{CDE089A9-A992-425E-90C6-FC8CBED75005}" dt="2026-10-12T22:11:53.069" v="15" actId="13926"/>
          <ac:spMkLst>
            <pc:docMk/>
            <pc:sldMk cId="0" sldId="672"/>
            <ac:spMk id="12" creationId="{00000000-0000-0000-0000-000000000000}"/>
          </ac:spMkLst>
        </pc:spChg>
        <pc:picChg chg="add mod">
          <ac:chgData name="BiLL Chen" userId="57bada66e2e983d5" providerId="LiveId" clId="{CDE089A9-A992-425E-90C6-FC8CBED75005}" dt="2026-10-12T22:16:27.308" v="68" actId="27614"/>
          <ac:picMkLst>
            <pc:docMk/>
            <pc:sldMk cId="0" sldId="672"/>
            <ac:picMk id="5" creationId="{ACE7E535-C319-9D80-BD88-2A257CA70957}"/>
          </ac:picMkLst>
        </pc:picChg>
      </pc:sldChg>
      <pc:sldChg chg="modSp mod">
        <pc:chgData name="BiLL Chen" userId="57bada66e2e983d5" providerId="LiveId" clId="{CDE089A9-A992-425E-90C6-FC8CBED75005}" dt="2026-10-12T22:18:26.613" v="95" actId="20577"/>
        <pc:sldMkLst>
          <pc:docMk/>
          <pc:sldMk cId="0" sldId="707"/>
        </pc:sldMkLst>
        <pc:spChg chg="mod">
          <ac:chgData name="BiLL Chen" userId="57bada66e2e983d5" providerId="LiveId" clId="{CDE089A9-A992-425E-90C6-FC8CBED75005}" dt="2026-10-12T22:18:26.613" v="95" actId="20577"/>
          <ac:spMkLst>
            <pc:docMk/>
            <pc:sldMk cId="0" sldId="707"/>
            <ac:spMk id="2" creationId="{00000000-0000-0000-0000-000000000000}"/>
          </ac:spMkLst>
        </pc:spChg>
      </pc:sldChg>
      <pc:sldChg chg="modSp mod">
        <pc:chgData name="BiLL Chen" userId="57bada66e2e983d5" providerId="LiveId" clId="{CDE089A9-A992-425E-90C6-FC8CBED75005}" dt="2026-10-12T22:18:22.790" v="93" actId="20577"/>
        <pc:sldMkLst>
          <pc:docMk/>
          <pc:sldMk cId="0" sldId="708"/>
        </pc:sldMkLst>
        <pc:spChg chg="mod">
          <ac:chgData name="BiLL Chen" userId="57bada66e2e983d5" providerId="LiveId" clId="{CDE089A9-A992-425E-90C6-FC8CBED75005}" dt="2026-10-12T22:18:22.790" v="93" actId="20577"/>
          <ac:spMkLst>
            <pc:docMk/>
            <pc:sldMk cId="0" sldId="708"/>
            <ac:spMk id="2" creationId="{00000000-0000-0000-0000-000000000000}"/>
          </ac:spMkLst>
        </pc:spChg>
      </pc:sldChg>
      <pc:sldChg chg="modSp mod">
        <pc:chgData name="BiLL Chen" userId="57bada66e2e983d5" providerId="LiveId" clId="{CDE089A9-A992-425E-90C6-FC8CBED75005}" dt="2026-10-12T22:18:18.655" v="91" actId="20577"/>
        <pc:sldMkLst>
          <pc:docMk/>
          <pc:sldMk cId="0" sldId="709"/>
        </pc:sldMkLst>
        <pc:spChg chg="mod">
          <ac:chgData name="BiLL Chen" userId="57bada66e2e983d5" providerId="LiveId" clId="{CDE089A9-A992-425E-90C6-FC8CBED75005}" dt="2026-10-12T22:18:18.655" v="91" actId="20577"/>
          <ac:spMkLst>
            <pc:docMk/>
            <pc:sldMk cId="0" sldId="709"/>
            <ac:spMk id="2" creationId="{00000000-0000-0000-0000-000000000000}"/>
          </ac:spMkLst>
        </pc:spChg>
      </pc:sldChg>
      <pc:sldChg chg="addSp modSp mod">
        <pc:chgData name="BiLL Chen" userId="57bada66e2e983d5" providerId="LiveId" clId="{CDE089A9-A992-425E-90C6-FC8CBED75005}" dt="2026-10-12T22:18:15.129" v="89" actId="20577"/>
        <pc:sldMkLst>
          <pc:docMk/>
          <pc:sldMk cId="0" sldId="710"/>
        </pc:sldMkLst>
        <pc:spChg chg="mod">
          <ac:chgData name="BiLL Chen" userId="57bada66e2e983d5" providerId="LiveId" clId="{CDE089A9-A992-425E-90C6-FC8CBED75005}" dt="2026-10-12T22:18:15.129" v="89" actId="20577"/>
          <ac:spMkLst>
            <pc:docMk/>
            <pc:sldMk cId="0" sldId="710"/>
            <ac:spMk id="2" creationId="{00000000-0000-0000-0000-000000000000}"/>
          </ac:spMkLst>
        </pc:spChg>
        <pc:spChg chg="add mod">
          <ac:chgData name="BiLL Chen" userId="57bada66e2e983d5" providerId="LiveId" clId="{CDE089A9-A992-425E-90C6-FC8CBED75005}" dt="2026-10-12T22:18:01.931" v="87" actId="1076"/>
          <ac:spMkLst>
            <pc:docMk/>
            <pc:sldMk cId="0" sldId="710"/>
            <ac:spMk id="6" creationId="{D91BEECC-812F-B2DC-F38D-BE89B224BC06}"/>
          </ac:spMkLst>
        </pc:spChg>
      </pc:sldChg>
      <pc:sldChg chg="modSp mod">
        <pc:chgData name="BiLL Chen" userId="57bada66e2e983d5" providerId="LiveId" clId="{CDE089A9-A992-425E-90C6-FC8CBED75005}" dt="2026-10-12T22:18:32.002" v="97" actId="20577"/>
        <pc:sldMkLst>
          <pc:docMk/>
          <pc:sldMk cId="0" sldId="711"/>
        </pc:sldMkLst>
        <pc:spChg chg="mod">
          <ac:chgData name="BiLL Chen" userId="57bada66e2e983d5" providerId="LiveId" clId="{CDE089A9-A992-425E-90C6-FC8CBED75005}" dt="2026-10-12T22:18:32.002" v="97" actId="20577"/>
          <ac:spMkLst>
            <pc:docMk/>
            <pc:sldMk cId="0" sldId="711"/>
            <ac:spMk id="2" creationId="{00000000-0000-0000-0000-000000000000}"/>
          </ac:spMkLst>
        </pc:spChg>
      </pc:sldChg>
      <pc:sldChg chg="modSp mod">
        <pc:chgData name="BiLL Chen" userId="57bada66e2e983d5" providerId="LiveId" clId="{CDE089A9-A992-425E-90C6-FC8CBED75005}" dt="2026-10-12T22:18:34.669" v="99" actId="20577"/>
        <pc:sldMkLst>
          <pc:docMk/>
          <pc:sldMk cId="0" sldId="712"/>
        </pc:sldMkLst>
        <pc:spChg chg="mod">
          <ac:chgData name="BiLL Chen" userId="57bada66e2e983d5" providerId="LiveId" clId="{CDE089A9-A992-425E-90C6-FC8CBED75005}" dt="2026-10-12T22:18:34.669" v="99" actId="20577"/>
          <ac:spMkLst>
            <pc:docMk/>
            <pc:sldMk cId="0" sldId="712"/>
            <ac:spMk id="2" creationId="{00000000-0000-0000-0000-000000000000}"/>
          </ac:spMkLst>
        </pc:spChg>
      </pc:sldChg>
      <pc:sldChg chg="modSp mod">
        <pc:chgData name="BiLL Chen" userId="57bada66e2e983d5" providerId="LiveId" clId="{CDE089A9-A992-425E-90C6-FC8CBED75005}" dt="2026-10-12T22:18:38.904" v="101" actId="20577"/>
        <pc:sldMkLst>
          <pc:docMk/>
          <pc:sldMk cId="0" sldId="713"/>
        </pc:sldMkLst>
        <pc:spChg chg="mod">
          <ac:chgData name="BiLL Chen" userId="57bada66e2e983d5" providerId="LiveId" clId="{CDE089A9-A992-425E-90C6-FC8CBED75005}" dt="2026-10-12T22:18:38.904" v="101" actId="20577"/>
          <ac:spMkLst>
            <pc:docMk/>
            <pc:sldMk cId="0" sldId="713"/>
            <ac:spMk id="2" creationId="{00000000-0000-0000-0000-000000000000}"/>
          </ac:spMkLst>
        </pc:spChg>
      </pc:sldChg>
      <pc:sldMasterChg chg="del delSldLayout">
        <pc:chgData name="BiLL Chen" userId="57bada66e2e983d5" providerId="LiveId" clId="{CDE089A9-A992-425E-90C6-FC8CBED75005}" dt="2026-10-12T22:10:44.030" v="3"/>
        <pc:sldMasterMkLst>
          <pc:docMk/>
          <pc:sldMasterMk cId="1481176507" sldId="2147483672"/>
        </pc:sldMasterMkLst>
        <pc:sldLayoutChg chg="del">
          <pc:chgData name="BiLL Chen" userId="57bada66e2e983d5" providerId="LiveId" clId="{CDE089A9-A992-425E-90C6-FC8CBED75005}" dt="2026-10-12T22:10:44.030" v="3"/>
          <pc:sldLayoutMkLst>
            <pc:docMk/>
            <pc:sldMasterMk cId="1481176507" sldId="2147483672"/>
            <pc:sldLayoutMk cId="2461184667" sldId="2147483673"/>
          </pc:sldLayoutMkLst>
        </pc:sldLayoutChg>
        <pc:sldLayoutChg chg="del">
          <pc:chgData name="BiLL Chen" userId="57bada66e2e983d5" providerId="LiveId" clId="{CDE089A9-A992-425E-90C6-FC8CBED75005}" dt="2026-10-12T22:10:44.030" v="3"/>
          <pc:sldLayoutMkLst>
            <pc:docMk/>
            <pc:sldMasterMk cId="1481176507" sldId="2147483672"/>
            <pc:sldLayoutMk cId="3820166960" sldId="2147483674"/>
          </pc:sldLayoutMkLst>
        </pc:sldLayoutChg>
      </pc:sldMasterChg>
      <pc:sldMasterChg chg="del delSldLayout">
        <pc:chgData name="BiLL Chen" userId="57bada66e2e983d5" providerId="LiveId" clId="{CDE089A9-A992-425E-90C6-FC8CBED75005}" dt="2026-10-12T22:10:44.030" v="3"/>
        <pc:sldMasterMkLst>
          <pc:docMk/>
          <pc:sldMasterMk cId="2653244387" sldId="2147483687"/>
        </pc:sldMasterMkLst>
        <pc:sldLayoutChg chg="del">
          <pc:chgData name="BiLL Chen" userId="57bada66e2e983d5" providerId="LiveId" clId="{CDE089A9-A992-425E-90C6-FC8CBED75005}" dt="2026-10-12T22:10:44.030" v="3"/>
          <pc:sldLayoutMkLst>
            <pc:docMk/>
            <pc:sldMasterMk cId="2653244387" sldId="2147483687"/>
            <pc:sldLayoutMk cId="929554667" sldId="2147483688"/>
          </pc:sldLayoutMkLst>
        </pc:sldLayoutChg>
        <pc:sldLayoutChg chg="del">
          <pc:chgData name="BiLL Chen" userId="57bada66e2e983d5" providerId="LiveId" clId="{CDE089A9-A992-425E-90C6-FC8CBED75005}" dt="2026-10-12T22:10:44.030" v="3"/>
          <pc:sldLayoutMkLst>
            <pc:docMk/>
            <pc:sldMasterMk cId="2653244387" sldId="2147483687"/>
            <pc:sldLayoutMk cId="2557842276" sldId="2147483689"/>
          </pc:sldLayoutMkLst>
        </pc:sldLayoutChg>
      </pc:sldMasterChg>
      <pc:sldMasterChg chg="del delSldLayout">
        <pc:chgData name="BiLL Chen" userId="57bada66e2e983d5" providerId="LiveId" clId="{CDE089A9-A992-425E-90C6-FC8CBED75005}" dt="2026-10-12T22:10:44.030" v="3"/>
        <pc:sldMasterMkLst>
          <pc:docMk/>
          <pc:sldMasterMk cId="1717455785" sldId="2147483690"/>
        </pc:sldMasterMkLst>
        <pc:sldLayoutChg chg="del">
          <pc:chgData name="BiLL Chen" userId="57bada66e2e983d5" providerId="LiveId" clId="{CDE089A9-A992-425E-90C6-FC8CBED75005}" dt="2026-10-12T22:10:44.030" v="3"/>
          <pc:sldLayoutMkLst>
            <pc:docMk/>
            <pc:sldMasterMk cId="1717455785" sldId="2147483690"/>
            <pc:sldLayoutMk cId="1506595711" sldId="2147483691"/>
          </pc:sldLayoutMkLst>
        </pc:sldLayoutChg>
        <pc:sldLayoutChg chg="del">
          <pc:chgData name="BiLL Chen" userId="57bada66e2e983d5" providerId="LiveId" clId="{CDE089A9-A992-425E-90C6-FC8CBED75005}" dt="2026-10-12T22:10:44.030" v="3"/>
          <pc:sldLayoutMkLst>
            <pc:docMk/>
            <pc:sldMasterMk cId="1717455785" sldId="2147483690"/>
            <pc:sldLayoutMk cId="3442033545" sldId="214748369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14FFDF-8C7F-484A-9ECA-BFEC66AFC08A}" type="datetimeFigureOut">
              <a:rPr lang="zh-TW" altLang="en-US" smtClean="0"/>
              <a:t>2026/10/13</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41BC3D-B054-4557-891D-05D357EDB4C0}" type="slidenum">
              <a:rPr lang="zh-TW" altLang="en-US" smtClean="0"/>
              <a:t>‹#›</a:t>
            </a:fld>
            <a:endParaRPr lang="zh-TW" altLang="en-US"/>
          </a:p>
        </p:txBody>
      </p:sp>
    </p:spTree>
    <p:extLst>
      <p:ext uri="{BB962C8B-B14F-4D97-AF65-F5344CB8AC3E}">
        <p14:creationId xmlns:p14="http://schemas.microsoft.com/office/powerpoint/2010/main" val="32831057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248F50-F01B-4A85-95BC-B9CA6B20B6D8}" type="datetimeFigureOut">
              <a:rPr lang="zh-TW" altLang="en-US" smtClean="0"/>
              <a:t>2026/10/13</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565E74-0455-4E46-B99F-B56E1F5955AD}" type="slidenum">
              <a:rPr lang="zh-TW" altLang="en-US" smtClean="0"/>
              <a:t>‹#›</a:t>
            </a:fld>
            <a:endParaRPr lang="zh-TW" altLang="en-US"/>
          </a:p>
        </p:txBody>
      </p:sp>
    </p:spTree>
    <p:extLst>
      <p:ext uri="{BB962C8B-B14F-4D97-AF65-F5344CB8AC3E}">
        <p14:creationId xmlns:p14="http://schemas.microsoft.com/office/powerpoint/2010/main" val="347906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2740865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190108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32328488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4067903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3254146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045436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621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327315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4256220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759630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090048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787697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1.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 Target="../slides/slide5.xml"/><Relationship Id="rId5" Type="http://schemas.openxmlformats.org/officeDocument/2006/relationships/tags" Target="../tags/tag2.xml"/><Relationship Id="rId4" Type="http://schemas.openxmlformats.org/officeDocument/2006/relationships/tags" Target="../tags/tag1.xml"/><Relationship Id="rId9" Type="http://schemas.openxmlformats.org/officeDocument/2006/relationships/slide" Target="../slides/slide74.xml"/></Relationships>
</file>

<file path=ppt/slideMasters/_rels/slideMaster2.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2.xml"/><Relationship Id="rId7"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 Target="../slides/slide5.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slide" Target="../slides/slide74.xml"/></Relationships>
</file>

<file path=ppt/slideMasters/_rels/slideMaster3.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3.xml"/><Relationship Id="rId7" Type="http://schemas.openxmlformats.org/officeDocument/2006/relationships/image" Target="../media/image1.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 Target="../slides/slide5.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slide" Target="../slides/slide74.xml"/></Relationships>
</file>

<file path=ppt/slideMasters/_rels/slideMaster4.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4.xml"/><Relationship Id="rId7"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 Target="../slides/slide5.xml"/><Relationship Id="rId5" Type="http://schemas.openxmlformats.org/officeDocument/2006/relationships/tags" Target="../tags/tag14.xml"/><Relationship Id="rId4" Type="http://schemas.openxmlformats.org/officeDocument/2006/relationships/tags" Target="../tags/tag13.xml"/><Relationship Id="rId9" Type="http://schemas.openxmlformats.org/officeDocument/2006/relationships/slide" Target="../slides/slide74.xml"/></Relationships>
</file>

<file path=ppt/slideMasters/_rels/slideMaster5.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5.xml"/><Relationship Id="rId7" Type="http://schemas.openxmlformats.org/officeDocument/2006/relationships/image" Target="../media/image1.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 Target="../slides/slide5.xml"/><Relationship Id="rId5" Type="http://schemas.openxmlformats.org/officeDocument/2006/relationships/tags" Target="../tags/tag18.xml"/><Relationship Id="rId4" Type="http://schemas.openxmlformats.org/officeDocument/2006/relationships/tags" Target="../tags/tag17.xml"/><Relationship Id="rId9" Type="http://schemas.openxmlformats.org/officeDocument/2006/relationships/slide" Target="../slides/slide74.xml"/></Relationships>
</file>

<file path=ppt/slideMasters/_rels/slideMaster6.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theme" Target="../theme/theme6.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 Target="../slides/slide5.xml"/><Relationship Id="rId5" Type="http://schemas.openxmlformats.org/officeDocument/2006/relationships/tags" Target="../tags/tag22.xml"/><Relationship Id="rId4" Type="http://schemas.openxmlformats.org/officeDocument/2006/relationships/tags" Target="../tags/tag21.xml"/><Relationship Id="rId9" Type="http://schemas.openxmlformats.org/officeDocument/2006/relationships/slide" Target="../slides/slide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359753"/>
      </p:ext>
    </p:extLst>
  </p:cSld>
  <p:clrMap bg1="lt1" tx1="dk1" bg2="lt2" tx2="dk2" accent1="accent1" accent2="accent2" accent3="accent3" accent4="accent4" accent5="accent5" accent6="accent6" hlink="hlink" folHlink="folHlink"/>
  <p:sldLayoutIdLst>
    <p:sldLayoutId id="2147483694" r:id="rId1"/>
    <p:sldLayoutId id="2147483695"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2-4</a:t>
            </a:r>
            <a:endParaRPr lang="zh-TW" altLang="en-US"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478681"/>
      </p:ext>
    </p:extLst>
  </p:cSld>
  <p:clrMap bg1="lt1" tx1="dk1" bg2="lt2" tx2="dk2" accent1="accent1" accent2="accent2" accent3="accent3" accent4="accent4" accent5="accent5" accent6="accent6" hlink="hlink" folHlink="folHlink"/>
  <p:sldLayoutIdLst>
    <p:sldLayoutId id="2147483685" r:id="rId1"/>
    <p:sldLayoutId id="2147483686"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8277560"/>
      </p:ext>
    </p:extLst>
  </p:cSld>
  <p:clrMap bg1="lt1" tx1="dk1" bg2="lt2" tx2="dk2" accent1="accent1" accent2="accent2" accent3="accent3" accent4="accent4" accent5="accent5" accent6="accent6" hlink="hlink" folHlink="folHlink"/>
  <p:sldLayoutIdLst>
    <p:sldLayoutId id="2147483682" r:id="rId1"/>
    <p:sldLayoutId id="2147483683"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2-6</a:t>
            </a:r>
            <a:endParaRPr lang="zh-TW" altLang="en-US"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4539708"/>
      </p:ext>
    </p:extLst>
  </p:cSld>
  <p:clrMap bg1="lt1" tx1="dk1" bg2="lt2" tx2="dk2" accent1="accent1" accent2="accent2" accent3="accent3" accent4="accent4" accent5="accent5" accent6="accent6" hlink="hlink" folHlink="folHlink"/>
  <p:sldLayoutIdLst>
    <p:sldLayoutId id="2147483679" r:id="rId1"/>
    <p:sldLayoutId id="2147483680"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2-7</a:t>
            </a:r>
            <a:endParaRPr lang="zh-TW" altLang="en-US"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1785210"/>
      </p:ext>
    </p:extLst>
  </p:cSld>
  <p:clrMap bg1="lt1" tx1="dk1" bg2="lt2" tx2="dk2" accent1="accent1" accent2="accent2" accent3="accent3" accent4="accent4" accent5="accent5" accent6="accent6" hlink="hlink" folHlink="folHlink"/>
  <p:sldLayoutIdLst>
    <p:sldLayoutId id="2147483676" r:id="rId1"/>
    <p:sldLayoutId id="2147483677"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hlinkClick r:id="rId6" action="ppaction://hlinksldjump"/>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hlinkClick r:id="rId6" action="ppaction://hlinksldjump"/>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hlinkClick r:id="rId8" action="ppaction://hlinksldjump"/>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hlinkClick r:id="rId9" action="ppaction://hlinksldjump"/>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2-8</a:t>
            </a:r>
            <a:endParaRPr lang="zh-TW" altLang="en-US" b="1" dirty="0">
              <a:solidFill>
                <a:srgbClr val="FFFFFF"/>
              </a:solidFill>
              <a:latin typeface="Arial" panose="020B0604020202020204" pitchFamily="34" charset="0"/>
              <a:cs typeface="Arial" panose="020B0604020202020204" pitchFamily="34" charset="0"/>
            </a:endParaRPr>
          </a:p>
        </p:txBody>
      </p:sp>
      <p:sp>
        <p:nvSpPr>
          <p:cNvPr id="25" name="矩形: 圓角 23" descr="Right-2">
            <a:hlinkClick r:id="rId6" action="ppaction://hlinksldjump"/>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550606"/>
      </p:ext>
    </p:extLst>
  </p:cSld>
  <p:clrMap bg1="lt1" tx1="dk1" bg2="lt2" tx2="dk2" accent1="accent1" accent2="accent2" accent3="accent3" accent4="accent4" accent5="accent5" accent6="accent6" hlink="hlink" folHlink="folHlink"/>
  <p:sldLayoutIdLst>
    <p:sldLayoutId id="2147483667" r:id="rId1"/>
    <p:sldLayoutId id="2147483668"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slideLayout" Target="../slideLayouts/slideLayout11.xml"/><Relationship Id="rId3" Type="http://schemas.openxmlformats.org/officeDocument/2006/relationships/tags" Target="../tags/tag27.xml"/><Relationship Id="rId21" Type="http://schemas.openxmlformats.org/officeDocument/2006/relationships/slide" Target="slide29.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image" Target="../media/image2.emf"/><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slide" Target="slide5.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slide" Target="slide7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fx_slide94_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fx_slide95_2.png"/><Relationship Id="rId7" Type="http://schemas.openxmlformats.org/officeDocument/2006/relationships/image" Target="../media/fx_slide95_6.png"/><Relationship Id="rId2" Type="http://schemas.openxmlformats.org/officeDocument/2006/relationships/image" Target="../media/fx_slide95_1.png"/><Relationship Id="rId1" Type="http://schemas.openxmlformats.org/officeDocument/2006/relationships/slideLayout" Target="../slideLayouts/slideLayout6.xml"/><Relationship Id="rId6" Type="http://schemas.openxmlformats.org/officeDocument/2006/relationships/image" Target="../media/fx_slide95_5.png"/><Relationship Id="rId5" Type="http://schemas.openxmlformats.org/officeDocument/2006/relationships/image" Target="../media/fx_slide95_4.png"/><Relationship Id="rId4" Type="http://schemas.openxmlformats.org/officeDocument/2006/relationships/image" Target="../media/fx_slide95_3.png"/></Relationships>
</file>

<file path=ppt/slides/_rels/slide6.xml.rels><?xml version="1.0" encoding="UTF-8" standalone="yes"?>
<Relationships xmlns="http://schemas.openxmlformats.org/package/2006/relationships"><Relationship Id="rId3" Type="http://schemas.openxmlformats.org/officeDocument/2006/relationships/image" Target="../media/fx_slide96_2.png"/><Relationship Id="rId2" Type="http://schemas.openxmlformats.org/officeDocument/2006/relationships/image" Target="../media/fx_slide96_1.png"/><Relationship Id="rId1" Type="http://schemas.openxmlformats.org/officeDocument/2006/relationships/slideLayout" Target="../slideLayouts/slideLayout6.xml"/><Relationship Id="rId6" Type="http://schemas.openxmlformats.org/officeDocument/2006/relationships/image" Target="../media/fx_slide96_5.png"/><Relationship Id="rId5" Type="http://schemas.openxmlformats.org/officeDocument/2006/relationships/image" Target="../media/fx_slide96_4.png"/><Relationship Id="rId4" Type="http://schemas.openxmlformats.org/officeDocument/2006/relationships/image" Target="../media/fx_slide96_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fx_slide97_6.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fx_slide97_5.png"/><Relationship Id="rId5" Type="http://schemas.openxmlformats.org/officeDocument/2006/relationships/image" Target="../media/fx_slide97_4.png"/><Relationship Id="rId4" Type="http://schemas.openxmlformats.org/officeDocument/2006/relationships/image" Target="../media/fx_slide97_3.png"/></Relationships>
</file>

<file path=ppt/slides/_rels/slide8.xml.rels><?xml version="1.0" encoding="UTF-8" standalone="yes"?>
<Relationships xmlns="http://schemas.openxmlformats.org/package/2006/relationships"><Relationship Id="rId3" Type="http://schemas.openxmlformats.org/officeDocument/2006/relationships/image" Target="../media/fx_slide98_2.png"/><Relationship Id="rId2" Type="http://schemas.openxmlformats.org/officeDocument/2006/relationships/image" Target="../media/fx_slide98_1.png"/><Relationship Id="rId1" Type="http://schemas.openxmlformats.org/officeDocument/2006/relationships/slideLayout" Target="../slideLayouts/slideLayout6.xml"/><Relationship Id="rId4" Type="http://schemas.openxmlformats.org/officeDocument/2006/relationships/image" Target="../media/fx_slide98_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fx_slide99_1.png"/><Relationship Id="rId1" Type="http://schemas.openxmlformats.org/officeDocument/2006/relationships/slideLayout" Target="../slideLayouts/slideLayout6.xml"/><Relationship Id="rId6" Type="http://schemas.openxmlformats.org/officeDocument/2006/relationships/image" Target="../media/fx_slide99_5.png"/><Relationship Id="rId5" Type="http://schemas.openxmlformats.org/officeDocument/2006/relationships/image" Target="../media/image6.png"/><Relationship Id="rId4" Type="http://schemas.openxmlformats.org/officeDocument/2006/relationships/image" Target="../media/fx_slide99_3.png"/></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fx_slide102_2.png"/><Relationship Id="rId2" Type="http://schemas.openxmlformats.org/officeDocument/2006/relationships/image" Target="../media/fx_slide102_1.png"/><Relationship Id="rId1" Type="http://schemas.openxmlformats.org/officeDocument/2006/relationships/slideLayout" Target="../slideLayouts/slideLayout6.xml"/><Relationship Id="rId5" Type="http://schemas.openxmlformats.org/officeDocument/2006/relationships/image" Target="../media/fx_slide102_4.png"/><Relationship Id="rId4" Type="http://schemas.openxmlformats.org/officeDocument/2006/relationships/image" Target="../media/fx_slide102_3.png"/></Relationships>
</file>

<file path=ppt/slides/_rels/slide15.xml.rels><?xml version="1.0" encoding="UTF-8" standalone="yes"?>
<Relationships xmlns="http://schemas.openxmlformats.org/package/2006/relationships"><Relationship Id="rId3" Type="http://schemas.openxmlformats.org/officeDocument/2006/relationships/image" Target="../media/fx_slide103_2.png"/><Relationship Id="rId2" Type="http://schemas.openxmlformats.org/officeDocument/2006/relationships/image" Target="../media/fx_slide103_1.png"/><Relationship Id="rId1" Type="http://schemas.openxmlformats.org/officeDocument/2006/relationships/slideLayout" Target="../slideLayouts/slideLayout6.xml"/><Relationship Id="rId6" Type="http://schemas.openxmlformats.org/officeDocument/2006/relationships/image" Target="../media/fx_slide103_5.png"/><Relationship Id="rId5" Type="http://schemas.openxmlformats.org/officeDocument/2006/relationships/image" Target="../media/fx_slide103_4.png"/><Relationship Id="rId4" Type="http://schemas.openxmlformats.org/officeDocument/2006/relationships/image" Target="../media/fx_slide103_3.png"/></Relationships>
</file>

<file path=ppt/slides/_rels/slide16.xml.rels><?xml version="1.0" encoding="UTF-8" standalone="yes"?>
<Relationships xmlns="http://schemas.openxmlformats.org/package/2006/relationships"><Relationship Id="rId3" Type="http://schemas.openxmlformats.org/officeDocument/2006/relationships/image" Target="../media/fx_slide104_2.png"/><Relationship Id="rId2" Type="http://schemas.openxmlformats.org/officeDocument/2006/relationships/image" Target="../media/fx_slide104_1.png"/><Relationship Id="rId1" Type="http://schemas.openxmlformats.org/officeDocument/2006/relationships/slideLayout" Target="../slideLayouts/slideLayout6.xml"/><Relationship Id="rId6" Type="http://schemas.openxmlformats.org/officeDocument/2006/relationships/image" Target="../media/fx_slide104_5.png"/><Relationship Id="rId5" Type="http://schemas.openxmlformats.org/officeDocument/2006/relationships/image" Target="../media/fx_slide104_4.png"/><Relationship Id="rId4" Type="http://schemas.openxmlformats.org/officeDocument/2006/relationships/image" Target="../media/fx_slide104_3.png"/></Relationships>
</file>

<file path=ppt/slides/_rels/slide17.xml.rels><?xml version="1.0" encoding="UTF-8" standalone="yes"?>
<Relationships xmlns="http://schemas.openxmlformats.org/package/2006/relationships"><Relationship Id="rId3" Type="http://schemas.openxmlformats.org/officeDocument/2006/relationships/image" Target="../media/fx_slide105_2.png"/><Relationship Id="rId2" Type="http://schemas.openxmlformats.org/officeDocument/2006/relationships/image" Target="../media/fx_slide105_1.png"/><Relationship Id="rId1" Type="http://schemas.openxmlformats.org/officeDocument/2006/relationships/slideLayout" Target="../slideLayouts/slideLayout6.xml"/><Relationship Id="rId5" Type="http://schemas.openxmlformats.org/officeDocument/2006/relationships/image" Target="../media/fx_slide105_4.png"/><Relationship Id="rId4" Type="http://schemas.openxmlformats.org/officeDocument/2006/relationships/image" Target="../media/fx_slide105_3.png"/></Relationships>
</file>

<file path=ppt/slides/_rels/slide18.xml.rels><?xml version="1.0" encoding="UTF-8" standalone="yes"?>
<Relationships xmlns="http://schemas.openxmlformats.org/package/2006/relationships"><Relationship Id="rId3" Type="http://schemas.openxmlformats.org/officeDocument/2006/relationships/image" Target="../media/fx_slide106_2.png"/><Relationship Id="rId2" Type="http://schemas.openxmlformats.org/officeDocument/2006/relationships/image" Target="../media/fx_slide106_1.png"/><Relationship Id="rId1" Type="http://schemas.openxmlformats.org/officeDocument/2006/relationships/slideLayout" Target="../slideLayouts/slideLayout6.xml"/><Relationship Id="rId4" Type="http://schemas.openxmlformats.org/officeDocument/2006/relationships/image" Target="../media/fx_slide106_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fx_slide109_2.png"/><Relationship Id="rId7" Type="http://schemas.openxmlformats.org/officeDocument/2006/relationships/image" Target="../media/image8.png"/><Relationship Id="rId2" Type="http://schemas.openxmlformats.org/officeDocument/2006/relationships/image" Target="../media/fx_slide109_1.png"/><Relationship Id="rId1" Type="http://schemas.openxmlformats.org/officeDocument/2006/relationships/slideLayout" Target="../slideLayouts/slideLayout6.xml"/><Relationship Id="rId6" Type="http://schemas.openxmlformats.org/officeDocument/2006/relationships/image" Target="../media/fx_slide109_5.png"/><Relationship Id="rId5" Type="http://schemas.openxmlformats.org/officeDocument/2006/relationships/image" Target="../media/fx_slide109_4.png"/><Relationship Id="rId4" Type="http://schemas.openxmlformats.org/officeDocument/2006/relationships/image" Target="../media/fx_slide109_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fx_slide110_1.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fx_slide110_3.png"/></Relationships>
</file>

<file path=ppt/slides/_rels/slide23.xml.rels><?xml version="1.0" encoding="UTF-8" standalone="yes"?>
<Relationships xmlns="http://schemas.openxmlformats.org/package/2006/relationships"><Relationship Id="rId8" Type="http://schemas.openxmlformats.org/officeDocument/2006/relationships/image" Target="../media/fx_slide111_7.png"/><Relationship Id="rId3" Type="http://schemas.openxmlformats.org/officeDocument/2006/relationships/image" Target="../media/image14.png"/><Relationship Id="rId7" Type="http://schemas.openxmlformats.org/officeDocument/2006/relationships/image" Target="../media/fx_slide111_6.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fx_slide111_5.png"/><Relationship Id="rId5" Type="http://schemas.openxmlformats.org/officeDocument/2006/relationships/image" Target="../media/fx_slide111_4.png"/><Relationship Id="rId4" Type="http://schemas.openxmlformats.org/officeDocument/2006/relationships/image" Target="../media/fx_slide111_3.png"/></Relationships>
</file>

<file path=ppt/slides/_rels/slide24.xml.rels><?xml version="1.0" encoding="UTF-8" standalone="yes"?>
<Relationships xmlns="http://schemas.openxmlformats.org/package/2006/relationships"><Relationship Id="rId3" Type="http://schemas.openxmlformats.org/officeDocument/2006/relationships/image" Target="../media/fx_slide112_2.png"/><Relationship Id="rId2" Type="http://schemas.openxmlformats.org/officeDocument/2006/relationships/image" Target="../media/fx_slide112_1.png"/><Relationship Id="rId1" Type="http://schemas.openxmlformats.org/officeDocument/2006/relationships/slideLayout" Target="../slideLayouts/slideLayout6.xml"/><Relationship Id="rId5" Type="http://schemas.openxmlformats.org/officeDocument/2006/relationships/image" Target="../media/fx_slide112_4.png"/><Relationship Id="rId4" Type="http://schemas.openxmlformats.org/officeDocument/2006/relationships/image" Target="../media/fx_slide112_3.png"/></Relationships>
</file>

<file path=ppt/slides/_rels/slide25.xml.rels><?xml version="1.0" encoding="UTF-8" standalone="yes"?>
<Relationships xmlns="http://schemas.openxmlformats.org/package/2006/relationships"><Relationship Id="rId3" Type="http://schemas.openxmlformats.org/officeDocument/2006/relationships/image" Target="../media/fx_slide113_2.png"/><Relationship Id="rId2" Type="http://schemas.openxmlformats.org/officeDocument/2006/relationships/image" Target="../media/fx_slide113_1.png"/><Relationship Id="rId1" Type="http://schemas.openxmlformats.org/officeDocument/2006/relationships/slideLayout" Target="../slideLayouts/slideLayout6.xml"/><Relationship Id="rId5" Type="http://schemas.openxmlformats.org/officeDocument/2006/relationships/image" Target="../media/fx_slide113_4.png"/><Relationship Id="rId4" Type="http://schemas.openxmlformats.org/officeDocument/2006/relationships/image" Target="../media/fx_slide113_3.png"/></Relationships>
</file>

<file path=ppt/slides/_rels/slide26.xml.rels><?xml version="1.0" encoding="UTF-8" standalone="yes"?>
<Relationships xmlns="http://schemas.openxmlformats.org/package/2006/relationships"><Relationship Id="rId3" Type="http://schemas.openxmlformats.org/officeDocument/2006/relationships/image" Target="../media/fx_slide114_2.png"/><Relationship Id="rId2" Type="http://schemas.openxmlformats.org/officeDocument/2006/relationships/image" Target="../media/fx_slide114_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fx_slide116_2.png"/><Relationship Id="rId2" Type="http://schemas.openxmlformats.org/officeDocument/2006/relationships/image" Target="../media/fx_slide116_1.png"/><Relationship Id="rId1" Type="http://schemas.openxmlformats.org/officeDocument/2006/relationships/slideLayout" Target="../slideLayouts/slideLayout6.xml"/><Relationship Id="rId5" Type="http://schemas.openxmlformats.org/officeDocument/2006/relationships/image" Target="../media/fx_slide116_4.png"/><Relationship Id="rId4" Type="http://schemas.openxmlformats.org/officeDocument/2006/relationships/image" Target="../media/fx_slide116_3.png"/></Relationships>
</file>

<file path=ppt/slides/_rels/slide29.xml.rels><?xml version="1.0" encoding="UTF-8" standalone="yes"?>
<Relationships xmlns="http://schemas.openxmlformats.org/package/2006/relationships"><Relationship Id="rId3" Type="http://schemas.openxmlformats.org/officeDocument/2006/relationships/image" Target="../media/fx_slide117_2.png"/><Relationship Id="rId2" Type="http://schemas.openxmlformats.org/officeDocument/2006/relationships/image" Target="../media/fx_slide117_1.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fx_slide117_4.png"/><Relationship Id="rId4" Type="http://schemas.openxmlformats.org/officeDocument/2006/relationships/image" Target="../media/fx_slide117_3.png"/></Relationships>
</file>

<file path=ppt/slides/_rels/slide30.xml.rels><?xml version="1.0" encoding="UTF-8" standalone="yes"?>
<Relationships xmlns="http://schemas.openxmlformats.org/package/2006/relationships"><Relationship Id="rId3" Type="http://schemas.openxmlformats.org/officeDocument/2006/relationships/image" Target="../media/fx_slide118_2.png"/><Relationship Id="rId2" Type="http://schemas.openxmlformats.org/officeDocument/2006/relationships/image" Target="../media/fx_slide118_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fx_slide122_2.png"/><Relationship Id="rId2" Type="http://schemas.openxmlformats.org/officeDocument/2006/relationships/image" Target="../media/fx_slide122_1.png"/><Relationship Id="rId1" Type="http://schemas.openxmlformats.org/officeDocument/2006/relationships/slideLayout" Target="../slideLayouts/slideLayout8.xml"/><Relationship Id="rId4" Type="http://schemas.openxmlformats.org/officeDocument/2006/relationships/image" Target="../media/fx_slide122_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fx_slide124_2.png"/><Relationship Id="rId2" Type="http://schemas.openxmlformats.org/officeDocument/2006/relationships/image" Target="../media/fx_slide124_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fx_slide125_2.png"/><Relationship Id="rId7" Type="http://schemas.openxmlformats.org/officeDocument/2006/relationships/image" Target="../media/fx_slide125_6.png"/><Relationship Id="rId2" Type="http://schemas.openxmlformats.org/officeDocument/2006/relationships/image" Target="../media/fx_slide125_1.png"/><Relationship Id="rId1" Type="http://schemas.openxmlformats.org/officeDocument/2006/relationships/slideLayout" Target="../slideLayouts/slideLayout8.xml"/><Relationship Id="rId6" Type="http://schemas.openxmlformats.org/officeDocument/2006/relationships/image" Target="../media/fx_slide125_5.png"/><Relationship Id="rId5" Type="http://schemas.openxmlformats.org/officeDocument/2006/relationships/image" Target="../media/fx_slide125_4.png"/><Relationship Id="rId4" Type="http://schemas.openxmlformats.org/officeDocument/2006/relationships/image" Target="../media/fx_slide125_3.png"/></Relationships>
</file>

<file path=ppt/slides/_rels/slide38.xml.rels><?xml version="1.0" encoding="UTF-8" standalone="yes"?>
<Relationships xmlns="http://schemas.openxmlformats.org/package/2006/relationships"><Relationship Id="rId3" Type="http://schemas.openxmlformats.org/officeDocument/2006/relationships/image" Target="../media/fx_slide126_2.png"/><Relationship Id="rId7" Type="http://schemas.openxmlformats.org/officeDocument/2006/relationships/image" Target="../media/fx_slide126_6.png"/><Relationship Id="rId2" Type="http://schemas.openxmlformats.org/officeDocument/2006/relationships/image" Target="../media/fx_slide126_1.png"/><Relationship Id="rId1" Type="http://schemas.openxmlformats.org/officeDocument/2006/relationships/slideLayout" Target="../slideLayouts/slideLayout8.xml"/><Relationship Id="rId6" Type="http://schemas.openxmlformats.org/officeDocument/2006/relationships/image" Target="../media/fx_slide126_5.png"/><Relationship Id="rId5" Type="http://schemas.openxmlformats.org/officeDocument/2006/relationships/image" Target="../media/fx_slide126_4.png"/><Relationship Id="rId4" Type="http://schemas.openxmlformats.org/officeDocument/2006/relationships/image" Target="../media/fx_slide126_3.png"/></Relationships>
</file>

<file path=ppt/slides/_rels/slide39.xml.rels><?xml version="1.0" encoding="UTF-8" standalone="yes"?>
<Relationships xmlns="http://schemas.openxmlformats.org/package/2006/relationships"><Relationship Id="rId3" Type="http://schemas.openxmlformats.org/officeDocument/2006/relationships/image" Target="../media/fx_slide127_2.png"/><Relationship Id="rId2" Type="http://schemas.openxmlformats.org/officeDocument/2006/relationships/image" Target="../media/fx_slide127_1.png"/><Relationship Id="rId1" Type="http://schemas.openxmlformats.org/officeDocument/2006/relationships/slideLayout" Target="../slideLayouts/slideLayout8.xml"/><Relationship Id="rId6" Type="http://schemas.openxmlformats.org/officeDocument/2006/relationships/image" Target="../media/fx_slide127_5.png"/><Relationship Id="rId5" Type="http://schemas.openxmlformats.org/officeDocument/2006/relationships/image" Target="../media/fx_slide127_4.png"/><Relationship Id="rId4" Type="http://schemas.openxmlformats.org/officeDocument/2006/relationships/image" Target="../media/fx_slide127_3.png"/></Relationships>
</file>

<file path=ppt/slides/_rels/slide40.xml.rels><?xml version="1.0" encoding="UTF-8" standalone="yes"?>
<Relationships xmlns="http://schemas.openxmlformats.org/package/2006/relationships"><Relationship Id="rId3" Type="http://schemas.openxmlformats.org/officeDocument/2006/relationships/image" Target="../media/fx_slide128_2.png"/><Relationship Id="rId2" Type="http://schemas.openxmlformats.org/officeDocument/2006/relationships/image" Target="../media/fx_slide128_1.png"/><Relationship Id="rId1" Type="http://schemas.openxmlformats.org/officeDocument/2006/relationships/slideLayout" Target="../slideLayouts/slideLayout8.xml"/><Relationship Id="rId4" Type="http://schemas.openxmlformats.org/officeDocument/2006/relationships/image" Target="../media/fx_slide128_3.png"/></Relationships>
</file>

<file path=ppt/slides/_rels/slide41.xml.rels><?xml version="1.0" encoding="UTF-8" standalone="yes"?>
<Relationships xmlns="http://schemas.openxmlformats.org/package/2006/relationships"><Relationship Id="rId3" Type="http://schemas.openxmlformats.org/officeDocument/2006/relationships/image" Target="../media/fx_slide129_2.png"/><Relationship Id="rId2" Type="http://schemas.openxmlformats.org/officeDocument/2006/relationships/image" Target="../media/fx_slide129_1.png"/><Relationship Id="rId1" Type="http://schemas.openxmlformats.org/officeDocument/2006/relationships/slideLayout" Target="../slideLayouts/slideLayout8.xml"/><Relationship Id="rId6" Type="http://schemas.openxmlformats.org/officeDocument/2006/relationships/image" Target="../media/fx_slide129_5.png"/><Relationship Id="rId5" Type="http://schemas.openxmlformats.org/officeDocument/2006/relationships/image" Target="../media/fx_slide129_4.png"/><Relationship Id="rId4" Type="http://schemas.openxmlformats.org/officeDocument/2006/relationships/image" Target="../media/fx_slide129_3.png"/></Relationships>
</file>

<file path=ppt/slides/_rels/slide42.xml.rels><?xml version="1.0" encoding="UTF-8" standalone="yes"?>
<Relationships xmlns="http://schemas.openxmlformats.org/package/2006/relationships"><Relationship Id="rId3" Type="http://schemas.openxmlformats.org/officeDocument/2006/relationships/image" Target="../media/fx_slide130_2.png"/><Relationship Id="rId2" Type="http://schemas.openxmlformats.org/officeDocument/2006/relationships/image" Target="../media/fx_slide130_1.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fx_slide130_4.png"/><Relationship Id="rId4" Type="http://schemas.openxmlformats.org/officeDocument/2006/relationships/image" Target="../media/fx_slide130_3.png"/></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fx_slide131_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fx_slide133_2.png"/><Relationship Id="rId7" Type="http://schemas.openxmlformats.org/officeDocument/2006/relationships/image" Target="../media/fx_slide133_6.png"/><Relationship Id="rId2" Type="http://schemas.openxmlformats.org/officeDocument/2006/relationships/image" Target="../media/fx_slide133_1.png"/><Relationship Id="rId1" Type="http://schemas.openxmlformats.org/officeDocument/2006/relationships/slideLayout" Target="../slideLayouts/slideLayout8.xml"/><Relationship Id="rId6" Type="http://schemas.openxmlformats.org/officeDocument/2006/relationships/image" Target="../media/fx_slide133_5.png"/><Relationship Id="rId5" Type="http://schemas.openxmlformats.org/officeDocument/2006/relationships/image" Target="../media/fx_slide133_4.png"/><Relationship Id="rId4" Type="http://schemas.openxmlformats.org/officeDocument/2006/relationships/image" Target="../media/fx_slide133_3.png"/></Relationships>
</file>

<file path=ppt/slides/_rels/slide48.xml.rels><?xml version="1.0" encoding="UTF-8" standalone="yes"?>
<Relationships xmlns="http://schemas.openxmlformats.org/package/2006/relationships"><Relationship Id="rId3" Type="http://schemas.openxmlformats.org/officeDocument/2006/relationships/image" Target="../media/fx_slide134_2.png"/><Relationship Id="rId2" Type="http://schemas.openxmlformats.org/officeDocument/2006/relationships/image" Target="../media/fx_slide134_1.png"/><Relationship Id="rId1" Type="http://schemas.openxmlformats.org/officeDocument/2006/relationships/slideLayout" Target="../slideLayouts/slideLayout8.xml"/><Relationship Id="rId5" Type="http://schemas.openxmlformats.org/officeDocument/2006/relationships/image" Target="../media/fx_slide134_4.png"/><Relationship Id="rId4" Type="http://schemas.openxmlformats.org/officeDocument/2006/relationships/image" Target="../media/fx_slide134_3.png"/></Relationships>
</file>

<file path=ppt/slides/_rels/slide49.xml.rels><?xml version="1.0" encoding="UTF-8" standalone="yes"?>
<Relationships xmlns="http://schemas.openxmlformats.org/package/2006/relationships"><Relationship Id="rId3" Type="http://schemas.openxmlformats.org/officeDocument/2006/relationships/image" Target="../media/fx_slide135_2.png"/><Relationship Id="rId2" Type="http://schemas.openxmlformats.org/officeDocument/2006/relationships/image" Target="../media/fx_slide135_1.png"/><Relationship Id="rId1" Type="http://schemas.openxmlformats.org/officeDocument/2006/relationships/slideLayout" Target="../slideLayouts/slideLayout8.xml"/><Relationship Id="rId4" Type="http://schemas.openxmlformats.org/officeDocument/2006/relationships/image" Target="../media/fx_slide135_3.png"/></Relationships>
</file>

<file path=ppt/slides/_rels/slide50.xml.rels><?xml version="1.0" encoding="UTF-8" standalone="yes"?>
<Relationships xmlns="http://schemas.openxmlformats.org/package/2006/relationships"><Relationship Id="rId3" Type="http://schemas.openxmlformats.org/officeDocument/2006/relationships/image" Target="../media/fx_slide136_2.png"/><Relationship Id="rId2" Type="http://schemas.openxmlformats.org/officeDocument/2006/relationships/image" Target="../media/fx_slide136_1.png"/><Relationship Id="rId1" Type="http://schemas.openxmlformats.org/officeDocument/2006/relationships/slideLayout" Target="../slideLayouts/slideLayout8.xml"/><Relationship Id="rId6" Type="http://schemas.openxmlformats.org/officeDocument/2006/relationships/image" Target="../media/fx_slide136_5.png"/><Relationship Id="rId5" Type="http://schemas.openxmlformats.org/officeDocument/2006/relationships/image" Target="../media/fx_slide136_4.png"/><Relationship Id="rId4" Type="http://schemas.openxmlformats.org/officeDocument/2006/relationships/image" Target="../media/fx_slide136_3.png"/></Relationships>
</file>

<file path=ppt/slides/_rels/slide51.xml.rels><?xml version="1.0" encoding="UTF-8" standalone="yes"?>
<Relationships xmlns="http://schemas.openxmlformats.org/package/2006/relationships"><Relationship Id="rId3" Type="http://schemas.openxmlformats.org/officeDocument/2006/relationships/image" Target="../media/fx_slide137_2.png"/><Relationship Id="rId2" Type="http://schemas.openxmlformats.org/officeDocument/2006/relationships/image" Target="../media/fx_slide137_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fx_slide138_2.png"/><Relationship Id="rId2" Type="http://schemas.openxmlformats.org/officeDocument/2006/relationships/image" Target="../media/fx_slide138_1.png"/><Relationship Id="rId1" Type="http://schemas.openxmlformats.org/officeDocument/2006/relationships/slideLayout" Target="../slideLayouts/slideLayout8.xml"/><Relationship Id="rId4" Type="http://schemas.openxmlformats.org/officeDocument/2006/relationships/image" Target="../media/fx_slide138_3.png"/></Relationships>
</file>

<file path=ppt/slides/_rels/slide53.xml.rels><?xml version="1.0" encoding="UTF-8" standalone="yes"?>
<Relationships xmlns="http://schemas.openxmlformats.org/package/2006/relationships"><Relationship Id="rId3" Type="http://schemas.openxmlformats.org/officeDocument/2006/relationships/image" Target="../media/fx_slide139_2.png"/><Relationship Id="rId2" Type="http://schemas.openxmlformats.org/officeDocument/2006/relationships/image" Target="../media/fx_slide139_1.png"/><Relationship Id="rId1" Type="http://schemas.openxmlformats.org/officeDocument/2006/relationships/slideLayout" Target="../slideLayouts/slideLayout8.xml"/><Relationship Id="rId4" Type="http://schemas.openxmlformats.org/officeDocument/2006/relationships/image" Target="../media/fx_slide139_3.png"/></Relationships>
</file>

<file path=ppt/slides/_rels/slide54.xml.rels><?xml version="1.0" encoding="UTF-8" standalone="yes"?>
<Relationships xmlns="http://schemas.openxmlformats.org/package/2006/relationships"><Relationship Id="rId3" Type="http://schemas.openxmlformats.org/officeDocument/2006/relationships/hyperlink" Target="https://www.mlb.com/video/ichiro-uncorks-the-throw-full-game-4-11-2001" TargetMode="External"/><Relationship Id="rId2" Type="http://schemas.openxmlformats.org/officeDocument/2006/relationships/hyperlink" Target="https://www.mlb.com/video/ichiro-s-strong-throw-c16865121" TargetMode="Externa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fx_slide141_1.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fx_slide143_1.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fx_slide144_1.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fx_slide148_2.png"/><Relationship Id="rId2" Type="http://schemas.openxmlformats.org/officeDocument/2006/relationships/image" Target="../media/fx_slide148_1.png"/><Relationship Id="rId1" Type="http://schemas.openxmlformats.org/officeDocument/2006/relationships/slideLayout" Target="../slideLayouts/slideLayout8.xml"/><Relationship Id="rId5" Type="http://schemas.openxmlformats.org/officeDocument/2006/relationships/image" Target="../media/fx_slide148_4.png"/><Relationship Id="rId4" Type="http://schemas.openxmlformats.org/officeDocument/2006/relationships/image" Target="../media/fx_slide148_3.png"/></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fx_slide149_1.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64.xml.rels><?xml version="1.0" encoding="UTF-8" standalone="yes"?>
<Relationships xmlns="http://schemas.openxmlformats.org/package/2006/relationships"><Relationship Id="rId3" Type="http://schemas.openxmlformats.org/officeDocument/2006/relationships/image" Target="../media/fx_slide150_2.png"/><Relationship Id="rId2" Type="http://schemas.openxmlformats.org/officeDocument/2006/relationships/image" Target="../media/fx_slide150_1.png"/><Relationship Id="rId1" Type="http://schemas.openxmlformats.org/officeDocument/2006/relationships/slideLayout" Target="../slideLayouts/slideLayout8.xml"/><Relationship Id="rId5" Type="http://schemas.openxmlformats.org/officeDocument/2006/relationships/image" Target="../media/fx_slide150_4.png"/><Relationship Id="rId4" Type="http://schemas.openxmlformats.org/officeDocument/2006/relationships/image" Target="../media/fx_slide150_3.png"/></Relationships>
</file>

<file path=ppt/slides/_rels/slide65.xml.rels><?xml version="1.0" encoding="UTF-8" standalone="yes"?>
<Relationships xmlns="http://schemas.openxmlformats.org/package/2006/relationships"><Relationship Id="rId3" Type="http://schemas.openxmlformats.org/officeDocument/2006/relationships/image" Target="../media/fx_slide151_2.png"/><Relationship Id="rId2" Type="http://schemas.openxmlformats.org/officeDocument/2006/relationships/image" Target="../media/fx_slide151_1.png"/><Relationship Id="rId1" Type="http://schemas.openxmlformats.org/officeDocument/2006/relationships/slideLayout" Target="../slideLayouts/slideLayout8.xml"/><Relationship Id="rId4" Type="http://schemas.openxmlformats.org/officeDocument/2006/relationships/image" Target="../media/fx_slide151_3.png"/></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fx_slide153_2.png"/><Relationship Id="rId2" Type="http://schemas.openxmlformats.org/officeDocument/2006/relationships/image" Target="../media/fx_slide153_1.png"/><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fx_slide153_4.png"/><Relationship Id="rId4" Type="http://schemas.openxmlformats.org/officeDocument/2006/relationships/image" Target="../media/fx_slide153_3.png"/></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fx_slide155_2.png"/><Relationship Id="rId7" Type="http://schemas.openxmlformats.org/officeDocument/2006/relationships/image" Target="../media/image22.png"/><Relationship Id="rId2" Type="http://schemas.openxmlformats.org/officeDocument/2006/relationships/image" Target="../media/fx_slide155_1.png"/><Relationship Id="rId1" Type="http://schemas.openxmlformats.org/officeDocument/2006/relationships/slideLayout" Target="../slideLayouts/slideLayout8.xml"/><Relationship Id="rId6" Type="http://schemas.openxmlformats.org/officeDocument/2006/relationships/image" Target="../media/fx_slide155_5.png"/><Relationship Id="rId5" Type="http://schemas.openxmlformats.org/officeDocument/2006/relationships/image" Target="../media/fx_slide155_4.png"/><Relationship Id="rId4" Type="http://schemas.openxmlformats.org/officeDocument/2006/relationships/image" Target="../media/fx_slide155_3.png"/></Relationships>
</file>

<file path=ppt/slides/_rels/slide70.xml.rels><?xml version="1.0" encoding="UTF-8" standalone="yes"?>
<Relationships xmlns="http://schemas.openxmlformats.org/package/2006/relationships"><Relationship Id="rId3" Type="http://schemas.openxmlformats.org/officeDocument/2006/relationships/image" Target="../media/fx_slide156_2.png"/><Relationship Id="rId2" Type="http://schemas.openxmlformats.org/officeDocument/2006/relationships/image" Target="../media/fx_slide156_1.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fx_slide156_4.png"/><Relationship Id="rId4" Type="http://schemas.openxmlformats.org/officeDocument/2006/relationships/image" Target="../media/fx_slide156_3.png"/></Relationships>
</file>

<file path=ppt/slides/_rels/slide71.xml.rels><?xml version="1.0" encoding="UTF-8" standalone="yes"?>
<Relationships xmlns="http://schemas.openxmlformats.org/package/2006/relationships"><Relationship Id="rId3" Type="http://schemas.openxmlformats.org/officeDocument/2006/relationships/image" Target="../media/fx_slide157_2.png"/><Relationship Id="rId2" Type="http://schemas.openxmlformats.org/officeDocument/2006/relationships/image" Target="../media/fx_slide157_1.png"/><Relationship Id="rId1" Type="http://schemas.openxmlformats.org/officeDocument/2006/relationships/slideLayout" Target="../slideLayouts/slideLayout8.xml"/><Relationship Id="rId6" Type="http://schemas.openxmlformats.org/officeDocument/2006/relationships/image" Target="../media/fx_slide157_5.png"/><Relationship Id="rId5" Type="http://schemas.openxmlformats.org/officeDocument/2006/relationships/image" Target="../media/fx_slide157_4.png"/><Relationship Id="rId4" Type="http://schemas.openxmlformats.org/officeDocument/2006/relationships/image" Target="../media/fx_slide157_3.png"/></Relationships>
</file>

<file path=ppt/slides/_rels/slide72.xml.rels><?xml version="1.0" encoding="UTF-8" standalone="yes"?>
<Relationships xmlns="http://schemas.openxmlformats.org/package/2006/relationships"><Relationship Id="rId3" Type="http://schemas.openxmlformats.org/officeDocument/2006/relationships/image" Target="../media/fx_slide158_2.png"/><Relationship Id="rId2" Type="http://schemas.openxmlformats.org/officeDocument/2006/relationships/image" Target="../media/fx_slide158_1.png"/><Relationship Id="rId1" Type="http://schemas.openxmlformats.org/officeDocument/2006/relationships/slideLayout" Target="../slideLayouts/slideLayout8.xml"/><Relationship Id="rId5" Type="http://schemas.openxmlformats.org/officeDocument/2006/relationships/image" Target="../media/fx_slide158_4.png"/><Relationship Id="rId4" Type="http://schemas.openxmlformats.org/officeDocument/2006/relationships/image" Target="../media/fx_slide158_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fx_slide159_2.png"/><Relationship Id="rId2" Type="http://schemas.openxmlformats.org/officeDocument/2006/relationships/image" Target="../media/fx_slide159_1.png"/><Relationship Id="rId1" Type="http://schemas.openxmlformats.org/officeDocument/2006/relationships/slideLayout" Target="../slideLayouts/slideLayout10.xml"/><Relationship Id="rId4" Type="http://schemas.openxmlformats.org/officeDocument/2006/relationships/image" Target="../media/fx_slide159_3.png"/></Relationships>
</file>

<file path=ppt/slides/_rels/slide77.xml.rels><?xml version="1.0" encoding="UTF-8" standalone="yes"?>
<Relationships xmlns="http://schemas.openxmlformats.org/package/2006/relationships"><Relationship Id="rId3" Type="http://schemas.openxmlformats.org/officeDocument/2006/relationships/image" Target="../media/fx_slide160_2.png"/><Relationship Id="rId2" Type="http://schemas.openxmlformats.org/officeDocument/2006/relationships/image" Target="../media/fx_slide160_1.png"/><Relationship Id="rId1" Type="http://schemas.openxmlformats.org/officeDocument/2006/relationships/slideLayout" Target="../slideLayouts/slideLayout10.xml"/><Relationship Id="rId4" Type="http://schemas.openxmlformats.org/officeDocument/2006/relationships/image" Target="../media/fx_slide160_3.png"/></Relationships>
</file>

<file path=ppt/slides/_rels/slide78.xml.rels><?xml version="1.0" encoding="UTF-8" standalone="yes"?>
<Relationships xmlns="http://schemas.openxmlformats.org/package/2006/relationships"><Relationship Id="rId8" Type="http://schemas.openxmlformats.org/officeDocument/2006/relationships/image" Target="../media/fx_slide161_7.png"/><Relationship Id="rId3" Type="http://schemas.openxmlformats.org/officeDocument/2006/relationships/image" Target="../media/fx_slide161_2.png"/><Relationship Id="rId7" Type="http://schemas.openxmlformats.org/officeDocument/2006/relationships/image" Target="../media/fx_slide161_6.png"/><Relationship Id="rId2" Type="http://schemas.openxmlformats.org/officeDocument/2006/relationships/image" Target="../media/fx_slide161_1.png"/><Relationship Id="rId1" Type="http://schemas.openxmlformats.org/officeDocument/2006/relationships/slideLayout" Target="../slideLayouts/slideLayout10.xml"/><Relationship Id="rId6" Type="http://schemas.openxmlformats.org/officeDocument/2006/relationships/image" Target="../media/fx_slide161_5.png"/><Relationship Id="rId5" Type="http://schemas.openxmlformats.org/officeDocument/2006/relationships/image" Target="../media/fx_slide161_4.png"/><Relationship Id="rId4" Type="http://schemas.openxmlformats.org/officeDocument/2006/relationships/image" Target="../media/fx_slide161_3.png"/><Relationship Id="rId9" Type="http://schemas.openxmlformats.org/officeDocument/2006/relationships/image" Target="../media/fx_slide161_8.png"/></Relationships>
</file>

<file path=ppt/slides/_rels/slide79.xml.rels><?xml version="1.0" encoding="UTF-8" standalone="yes"?>
<Relationships xmlns="http://schemas.openxmlformats.org/package/2006/relationships"><Relationship Id="rId3" Type="http://schemas.openxmlformats.org/officeDocument/2006/relationships/image" Target="../media/fx_slide162_2.png"/><Relationship Id="rId2" Type="http://schemas.openxmlformats.org/officeDocument/2006/relationships/image" Target="../media/fx_slide162_1.png"/><Relationship Id="rId1" Type="http://schemas.openxmlformats.org/officeDocument/2006/relationships/slideLayout" Target="../slideLayouts/slideLayout10.xml"/><Relationship Id="rId6" Type="http://schemas.openxmlformats.org/officeDocument/2006/relationships/image" Target="../media/fx_slide162_5.png"/><Relationship Id="rId5" Type="http://schemas.openxmlformats.org/officeDocument/2006/relationships/image" Target="../media/fx_slide162_4.png"/><Relationship Id="rId4" Type="http://schemas.openxmlformats.org/officeDocument/2006/relationships/image" Target="../media/fx_slide162_3.png"/></Relationships>
</file>

<file path=ppt/slides/_rels/slide80.xml.rels><?xml version="1.0" encoding="UTF-8" standalone="yes"?>
<Relationships xmlns="http://schemas.openxmlformats.org/package/2006/relationships"><Relationship Id="rId3" Type="http://schemas.openxmlformats.org/officeDocument/2006/relationships/image" Target="../media/fx_slide163_2.png"/><Relationship Id="rId2" Type="http://schemas.openxmlformats.org/officeDocument/2006/relationships/image" Target="../media/fx_slide163_1.png"/><Relationship Id="rId1" Type="http://schemas.openxmlformats.org/officeDocument/2006/relationships/slideLayout" Target="../slideLayouts/slideLayout10.xml"/><Relationship Id="rId5" Type="http://schemas.openxmlformats.org/officeDocument/2006/relationships/image" Target="../media/fx_slide163_4.png"/><Relationship Id="rId4" Type="http://schemas.openxmlformats.org/officeDocument/2006/relationships/image" Target="../media/fx_slide163_3.png"/></Relationships>
</file>

<file path=ppt/slides/_rels/slide81.xml.rels><?xml version="1.0" encoding="UTF-8" standalone="yes"?>
<Relationships xmlns="http://schemas.openxmlformats.org/package/2006/relationships"><Relationship Id="rId3" Type="http://schemas.openxmlformats.org/officeDocument/2006/relationships/image" Target="../media/fx_slide164_2.png"/><Relationship Id="rId7" Type="http://schemas.openxmlformats.org/officeDocument/2006/relationships/image" Target="../media/fx_slide164_6.png"/><Relationship Id="rId2" Type="http://schemas.openxmlformats.org/officeDocument/2006/relationships/image" Target="../media/fx_slide164_1.png"/><Relationship Id="rId1" Type="http://schemas.openxmlformats.org/officeDocument/2006/relationships/slideLayout" Target="../slideLayouts/slideLayout10.xml"/><Relationship Id="rId6" Type="http://schemas.openxmlformats.org/officeDocument/2006/relationships/image" Target="../media/fx_slide164_5.png"/><Relationship Id="rId5" Type="http://schemas.openxmlformats.org/officeDocument/2006/relationships/image" Target="../media/fx_slide164_4.png"/><Relationship Id="rId4" Type="http://schemas.openxmlformats.org/officeDocument/2006/relationships/image" Target="../media/fx_slide164_3.png"/></Relationships>
</file>

<file path=ppt/slides/_rels/slide82.xml.rels><?xml version="1.0" encoding="UTF-8" standalone="yes"?>
<Relationships xmlns="http://schemas.openxmlformats.org/package/2006/relationships"><Relationship Id="rId3" Type="http://schemas.openxmlformats.org/officeDocument/2006/relationships/image" Target="../media/fx_slide165_2.png"/><Relationship Id="rId2" Type="http://schemas.openxmlformats.org/officeDocument/2006/relationships/image" Target="../media/fx_slide165_1.png"/><Relationship Id="rId1" Type="http://schemas.openxmlformats.org/officeDocument/2006/relationships/slideLayout" Target="../slideLayouts/slideLayout10.xml"/><Relationship Id="rId4" Type="http://schemas.openxmlformats.org/officeDocument/2006/relationships/image" Target="../media/fx_slide165_3.png"/></Relationships>
</file>

<file path=ppt/slides/_rels/slide83.xml.rels><?xml version="1.0" encoding="UTF-8" standalone="yes"?>
<Relationships xmlns="http://schemas.openxmlformats.org/package/2006/relationships"><Relationship Id="rId3" Type="http://schemas.openxmlformats.org/officeDocument/2006/relationships/image" Target="../media/fx_slide166_2.png"/><Relationship Id="rId2" Type="http://schemas.openxmlformats.org/officeDocument/2006/relationships/image" Target="../media/fx_slide166_1.png"/><Relationship Id="rId1" Type="http://schemas.openxmlformats.org/officeDocument/2006/relationships/slideLayout" Target="../slideLayouts/slideLayout10.xml"/><Relationship Id="rId5" Type="http://schemas.openxmlformats.org/officeDocument/2006/relationships/image" Target="../media/fx_slide166_4.png"/><Relationship Id="rId4" Type="http://schemas.openxmlformats.org/officeDocument/2006/relationships/image" Target="../media/fx_slide166_3.png"/></Relationships>
</file>

<file path=ppt/slides/_rels/slide84.xml.rels><?xml version="1.0" encoding="UTF-8" standalone="yes"?>
<Relationships xmlns="http://schemas.openxmlformats.org/package/2006/relationships"><Relationship Id="rId8" Type="http://schemas.openxmlformats.org/officeDocument/2006/relationships/image" Target="../media/fx_slide167_7.png"/><Relationship Id="rId3" Type="http://schemas.openxmlformats.org/officeDocument/2006/relationships/image" Target="../media/fx_slide167_2.png"/><Relationship Id="rId7" Type="http://schemas.openxmlformats.org/officeDocument/2006/relationships/image" Target="../media/fx_slide167_6.png"/><Relationship Id="rId2" Type="http://schemas.openxmlformats.org/officeDocument/2006/relationships/image" Target="../media/fx_slide167_1.png"/><Relationship Id="rId1" Type="http://schemas.openxmlformats.org/officeDocument/2006/relationships/slideLayout" Target="../slideLayouts/slideLayout10.xml"/><Relationship Id="rId6" Type="http://schemas.openxmlformats.org/officeDocument/2006/relationships/image" Target="../media/fx_slide167_5.png"/><Relationship Id="rId5" Type="http://schemas.openxmlformats.org/officeDocument/2006/relationships/image" Target="../media/fx_slide167_4.png"/><Relationship Id="rId4" Type="http://schemas.openxmlformats.org/officeDocument/2006/relationships/image" Target="../media/fx_slide167_3.png"/></Relationships>
</file>

<file path=ppt/slides/_rels/slide85.xml.rels><?xml version="1.0" encoding="UTF-8" standalone="yes"?>
<Relationships xmlns="http://schemas.openxmlformats.org/package/2006/relationships"><Relationship Id="rId3" Type="http://schemas.openxmlformats.org/officeDocument/2006/relationships/image" Target="../media/fx_slide168_2.png"/><Relationship Id="rId2" Type="http://schemas.openxmlformats.org/officeDocument/2006/relationships/image" Target="../media/fx_slide168_1.png"/><Relationship Id="rId1" Type="http://schemas.openxmlformats.org/officeDocument/2006/relationships/slideLayout" Target="../slideLayouts/slideLayout10.xml"/><Relationship Id="rId4" Type="http://schemas.openxmlformats.org/officeDocument/2006/relationships/image" Target="../media/fx_slide168_3.png"/></Relationships>
</file>

<file path=ppt/slides/_rels/slide86.xml.rels><?xml version="1.0" encoding="UTF-8" standalone="yes"?>
<Relationships xmlns="http://schemas.openxmlformats.org/package/2006/relationships"><Relationship Id="rId3" Type="http://schemas.openxmlformats.org/officeDocument/2006/relationships/image" Target="../media/fx_slide169_2.png"/><Relationship Id="rId2" Type="http://schemas.openxmlformats.org/officeDocument/2006/relationships/image" Target="../media/fx_slide169_1.png"/><Relationship Id="rId1" Type="http://schemas.openxmlformats.org/officeDocument/2006/relationships/slideLayout" Target="../slideLayouts/slideLayout10.xml"/><Relationship Id="rId6" Type="http://schemas.openxmlformats.org/officeDocument/2006/relationships/image" Target="../media/fx_slide169_5.png"/><Relationship Id="rId5" Type="http://schemas.openxmlformats.org/officeDocument/2006/relationships/image" Target="../media/fx_slide169_4.png"/><Relationship Id="rId4" Type="http://schemas.openxmlformats.org/officeDocument/2006/relationships/image" Target="../media/fx_slide169_3.png"/></Relationships>
</file>

<file path=ppt/slides/_rels/slide87.xml.rels><?xml version="1.0" encoding="UTF-8" standalone="yes"?>
<Relationships xmlns="http://schemas.openxmlformats.org/package/2006/relationships"><Relationship Id="rId3" Type="http://schemas.openxmlformats.org/officeDocument/2006/relationships/image" Target="../media/fx_slide170_2.png"/><Relationship Id="rId2" Type="http://schemas.openxmlformats.org/officeDocument/2006/relationships/image" Target="../media/fx_slide170_1.png"/><Relationship Id="rId1" Type="http://schemas.openxmlformats.org/officeDocument/2006/relationships/slideLayout" Target="../slideLayouts/slideLayout10.xml"/><Relationship Id="rId5" Type="http://schemas.openxmlformats.org/officeDocument/2006/relationships/image" Target="../media/fx_slide170_4.png"/><Relationship Id="rId4" Type="http://schemas.openxmlformats.org/officeDocument/2006/relationships/image" Target="../media/fx_slide170_3.png"/></Relationships>
</file>

<file path=ppt/slides/_rels/slide88.xml.rels><?xml version="1.0" encoding="UTF-8" standalone="yes"?>
<Relationships xmlns="http://schemas.openxmlformats.org/package/2006/relationships"><Relationship Id="rId3" Type="http://schemas.openxmlformats.org/officeDocument/2006/relationships/image" Target="../media/fx_slide171_2.png"/><Relationship Id="rId2" Type="http://schemas.openxmlformats.org/officeDocument/2006/relationships/image" Target="../media/fx_slide171_1.png"/><Relationship Id="rId1" Type="http://schemas.openxmlformats.org/officeDocument/2006/relationships/slideLayout" Target="../slideLayouts/slideLayout10.xml"/><Relationship Id="rId4" Type="http://schemas.openxmlformats.org/officeDocument/2006/relationships/image" Target="../media/fx_slide171_3.png"/></Relationships>
</file>

<file path=ppt/slides/_rels/slide89.xml.rels><?xml version="1.0" encoding="UTF-8" standalone="yes"?>
<Relationships xmlns="http://schemas.openxmlformats.org/package/2006/relationships"><Relationship Id="rId3" Type="http://schemas.openxmlformats.org/officeDocument/2006/relationships/image" Target="../media/fx_slide172_2.png"/><Relationship Id="rId2" Type="http://schemas.openxmlformats.org/officeDocument/2006/relationships/image" Target="../media/fx_slide172_1.png"/><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fx_slide173_2.png"/><Relationship Id="rId2" Type="http://schemas.openxmlformats.org/officeDocument/2006/relationships/image" Target="../media/fx_slide173_1.png"/><Relationship Id="rId1" Type="http://schemas.openxmlformats.org/officeDocument/2006/relationships/slideLayout" Target="../slideLayouts/slideLayout10.xml"/><Relationship Id="rId5" Type="http://schemas.openxmlformats.org/officeDocument/2006/relationships/image" Target="../media/fx_slide173_4.png"/><Relationship Id="rId4" Type="http://schemas.openxmlformats.org/officeDocument/2006/relationships/image" Target="../media/fx_slide173_3.png"/></Relationships>
</file>

<file path=ppt/slides/_rels/slide91.xml.rels><?xml version="1.0" encoding="UTF-8" standalone="yes"?>
<Relationships xmlns="http://schemas.openxmlformats.org/package/2006/relationships"><Relationship Id="rId3" Type="http://schemas.openxmlformats.org/officeDocument/2006/relationships/image" Target="../media/fx_slide174_2.png"/><Relationship Id="rId2" Type="http://schemas.openxmlformats.org/officeDocument/2006/relationships/image" Target="../media/fx_slide174_1.png"/><Relationship Id="rId1" Type="http://schemas.openxmlformats.org/officeDocument/2006/relationships/slideLayout" Target="../slideLayouts/slideLayout10.xml"/><Relationship Id="rId4" Type="http://schemas.openxmlformats.org/officeDocument/2006/relationships/image" Target="../media/fx_slide174_3.png"/></Relationships>
</file>

<file path=ppt/slides/_rels/slide92.xml.rels><?xml version="1.0" encoding="UTF-8" standalone="yes"?>
<Relationships xmlns="http://schemas.openxmlformats.org/package/2006/relationships"><Relationship Id="rId3" Type="http://schemas.openxmlformats.org/officeDocument/2006/relationships/image" Target="../media/fx_slide175_2.png"/><Relationship Id="rId2" Type="http://schemas.openxmlformats.org/officeDocument/2006/relationships/image" Target="../media/fx_slide175_1.png"/><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fx_slide176_2.png"/><Relationship Id="rId2" Type="http://schemas.openxmlformats.org/officeDocument/2006/relationships/image" Target="../media/fx_slide176_1.png"/><Relationship Id="rId1" Type="http://schemas.openxmlformats.org/officeDocument/2006/relationships/slideLayout" Target="../slideLayouts/slideLayout10.xml"/><Relationship Id="rId5" Type="http://schemas.openxmlformats.org/officeDocument/2006/relationships/image" Target="../media/fx_slide176_4.png"/><Relationship Id="rId4" Type="http://schemas.openxmlformats.org/officeDocument/2006/relationships/image" Target="../media/fx_slide176_3.png"/></Relationships>
</file>

<file path=ppt/slides/_rels/slide94.xml.rels><?xml version="1.0" encoding="UTF-8" standalone="yes"?>
<Relationships xmlns="http://schemas.openxmlformats.org/package/2006/relationships"><Relationship Id="rId3" Type="http://schemas.openxmlformats.org/officeDocument/2006/relationships/image" Target="../media/fx_slide177_2.png"/><Relationship Id="rId2" Type="http://schemas.openxmlformats.org/officeDocument/2006/relationships/image" Target="../media/fx_slide177_1.png"/><Relationship Id="rId1" Type="http://schemas.openxmlformats.org/officeDocument/2006/relationships/slideLayout" Target="../slideLayouts/slideLayout10.xml"/><Relationship Id="rId4" Type="http://schemas.openxmlformats.org/officeDocument/2006/relationships/image" Target="../media/fx_slide177_3.png"/></Relationships>
</file>

<file path=ppt/slides/_rels/slide95.xml.rels><?xml version="1.0" encoding="UTF-8" standalone="yes"?>
<Relationships xmlns="http://schemas.openxmlformats.org/package/2006/relationships"><Relationship Id="rId3" Type="http://schemas.openxmlformats.org/officeDocument/2006/relationships/image" Target="../media/fx_slide178_2.png"/><Relationship Id="rId2" Type="http://schemas.openxmlformats.org/officeDocument/2006/relationships/image" Target="../media/fx_slide178_1.png"/><Relationship Id="rId1" Type="http://schemas.openxmlformats.org/officeDocument/2006/relationships/slideLayout" Target="../slideLayouts/slideLayout10.xml"/><Relationship Id="rId5" Type="http://schemas.openxmlformats.org/officeDocument/2006/relationships/image" Target="../media/fx_slide178_4.png"/><Relationship Id="rId4" Type="http://schemas.openxmlformats.org/officeDocument/2006/relationships/image" Target="../media/fx_slide178_3.png"/></Relationships>
</file>

<file path=ppt/slides/_rels/slide96.xml.rels><?xml version="1.0" encoding="UTF-8" standalone="yes"?>
<Relationships xmlns="http://schemas.openxmlformats.org/package/2006/relationships"><Relationship Id="rId8" Type="http://schemas.openxmlformats.org/officeDocument/2006/relationships/image" Target="../media/fx_slide179_7.png"/><Relationship Id="rId3" Type="http://schemas.openxmlformats.org/officeDocument/2006/relationships/image" Target="../media/fx_slide179_2.png"/><Relationship Id="rId7" Type="http://schemas.openxmlformats.org/officeDocument/2006/relationships/image" Target="../media/fx_slide179_6.png"/><Relationship Id="rId2" Type="http://schemas.openxmlformats.org/officeDocument/2006/relationships/image" Target="../media/fx_slide179_1.png"/><Relationship Id="rId1" Type="http://schemas.openxmlformats.org/officeDocument/2006/relationships/slideLayout" Target="../slideLayouts/slideLayout10.xml"/><Relationship Id="rId6" Type="http://schemas.openxmlformats.org/officeDocument/2006/relationships/image" Target="../media/fx_slide179_5.png"/><Relationship Id="rId5" Type="http://schemas.openxmlformats.org/officeDocument/2006/relationships/image" Target="../media/fx_slide179_4.png"/><Relationship Id="rId4" Type="http://schemas.openxmlformats.org/officeDocument/2006/relationships/image" Target="../media/fx_slide179_3.png"/><Relationship Id="rId9" Type="http://schemas.openxmlformats.org/officeDocument/2006/relationships/image" Target="../media/fx_slide179_8.png"/></Relationships>
</file>

<file path=ppt/slides/_rels/slide97.xml.rels><?xml version="1.0" encoding="UTF-8" standalone="yes"?>
<Relationships xmlns="http://schemas.openxmlformats.org/package/2006/relationships"><Relationship Id="rId3" Type="http://schemas.openxmlformats.org/officeDocument/2006/relationships/image" Target="../media/fx_slide180_2.png"/><Relationship Id="rId2" Type="http://schemas.openxmlformats.org/officeDocument/2006/relationships/image" Target="../media/fx_slide180_1.png"/><Relationship Id="rId1" Type="http://schemas.openxmlformats.org/officeDocument/2006/relationships/slideLayout" Target="../slideLayouts/slideLayout10.xml"/><Relationship Id="rId5" Type="http://schemas.openxmlformats.org/officeDocument/2006/relationships/image" Target="../media/fx_slide180_4.png"/><Relationship Id="rId4" Type="http://schemas.openxmlformats.org/officeDocument/2006/relationships/image" Target="../media/fx_slide180_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image" Target="../media/fx_slide182_2.png"/><Relationship Id="rId2" Type="http://schemas.openxmlformats.org/officeDocument/2006/relationships/image" Target="../media/fx_slide182_1.png"/><Relationship Id="rId1" Type="http://schemas.openxmlformats.org/officeDocument/2006/relationships/slideLayout" Target="../slideLayouts/slideLayout10.xml"/><Relationship Id="rId5" Type="http://schemas.openxmlformats.org/officeDocument/2006/relationships/image" Target="../media/fx_slide182_4.png"/><Relationship Id="rId4" Type="http://schemas.openxmlformats.org/officeDocument/2006/relationships/image" Target="../media/fx_slide182_3.png"/></Relationships>
</file>

<file path=ppt/slides/_rels/slide10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8" Type="http://schemas.openxmlformats.org/officeDocument/2006/relationships/image" Target="../media/fx_slide185_7.png"/><Relationship Id="rId3" Type="http://schemas.openxmlformats.org/officeDocument/2006/relationships/image" Target="../media/fx_slide185_2.png"/><Relationship Id="rId7" Type="http://schemas.openxmlformats.org/officeDocument/2006/relationships/image" Target="../media/fx_slide185_6.png"/><Relationship Id="rId2" Type="http://schemas.openxmlformats.org/officeDocument/2006/relationships/image" Target="../media/fx_slide185_1.png"/><Relationship Id="rId1" Type="http://schemas.openxmlformats.org/officeDocument/2006/relationships/slideLayout" Target="../slideLayouts/slideLayout10.xml"/><Relationship Id="rId6" Type="http://schemas.openxmlformats.org/officeDocument/2006/relationships/image" Target="../media/fx_slide185_5.png"/><Relationship Id="rId5" Type="http://schemas.openxmlformats.org/officeDocument/2006/relationships/image" Target="../media/fx_slide185_4.png"/><Relationship Id="rId4" Type="http://schemas.openxmlformats.org/officeDocument/2006/relationships/image" Target="../media/fx_slide185_3.png"/></Relationships>
</file>

<file path=ppt/slides/_rels/slide105.xml.rels><?xml version="1.0" encoding="UTF-8" standalone="yes"?>
<Relationships xmlns="http://schemas.openxmlformats.org/package/2006/relationships"><Relationship Id="rId8" Type="http://schemas.openxmlformats.org/officeDocument/2006/relationships/image" Target="../media/fx_slide186_7.png"/><Relationship Id="rId3" Type="http://schemas.openxmlformats.org/officeDocument/2006/relationships/image" Target="../media/fx_slide186_2.png"/><Relationship Id="rId7" Type="http://schemas.openxmlformats.org/officeDocument/2006/relationships/image" Target="../media/fx_slide186_6.png"/><Relationship Id="rId2" Type="http://schemas.openxmlformats.org/officeDocument/2006/relationships/image" Target="../media/fx_slide186_1.png"/><Relationship Id="rId1" Type="http://schemas.openxmlformats.org/officeDocument/2006/relationships/slideLayout" Target="../slideLayouts/slideLayout10.xml"/><Relationship Id="rId6" Type="http://schemas.openxmlformats.org/officeDocument/2006/relationships/image" Target="../media/fx_slide186_5.png"/><Relationship Id="rId5" Type="http://schemas.openxmlformats.org/officeDocument/2006/relationships/image" Target="../media/fx_slide186_4.png"/><Relationship Id="rId4" Type="http://schemas.openxmlformats.org/officeDocument/2006/relationships/image" Target="../media/fx_slide186_3.png"/></Relationships>
</file>

<file path=ppt/slides/_rels/slide106.xml.rels><?xml version="1.0" encoding="UTF-8" standalone="yes"?>
<Relationships xmlns="http://schemas.openxmlformats.org/package/2006/relationships"><Relationship Id="rId3" Type="http://schemas.openxmlformats.org/officeDocument/2006/relationships/image" Target="../media/fx_slide187_2.png"/><Relationship Id="rId2" Type="http://schemas.openxmlformats.org/officeDocument/2006/relationships/image" Target="../media/fx_slide187_1.png"/><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7.xml.rels><?xml version="1.0" encoding="UTF-8" standalone="yes"?>
<Relationships xmlns="http://schemas.openxmlformats.org/package/2006/relationships"><Relationship Id="rId3" Type="http://schemas.openxmlformats.org/officeDocument/2006/relationships/image" Target="../media/fx_slide188_2.png"/><Relationship Id="rId2" Type="http://schemas.openxmlformats.org/officeDocument/2006/relationships/image" Target="../media/fx_slide188_1.png"/><Relationship Id="rId1" Type="http://schemas.openxmlformats.org/officeDocument/2006/relationships/slideLayout" Target="../slideLayouts/slideLayout10.xml"/><Relationship Id="rId6" Type="http://schemas.openxmlformats.org/officeDocument/2006/relationships/image" Target="../media/fx_slide188_5.png"/><Relationship Id="rId5" Type="http://schemas.openxmlformats.org/officeDocument/2006/relationships/image" Target="../media/fx_slide188_4.png"/><Relationship Id="rId4" Type="http://schemas.openxmlformats.org/officeDocument/2006/relationships/image" Target="../media/fx_slide188_3.png"/></Relationships>
</file>

<file path=ppt/slides/_rels/slide108.xml.rels><?xml version="1.0" encoding="UTF-8" standalone="yes"?>
<Relationships xmlns="http://schemas.openxmlformats.org/package/2006/relationships"><Relationship Id="rId3" Type="http://schemas.openxmlformats.org/officeDocument/2006/relationships/image" Target="../media/fx_slide189_2.png"/><Relationship Id="rId2" Type="http://schemas.openxmlformats.org/officeDocument/2006/relationships/image" Target="../media/fx_slide189_1.png"/><Relationship Id="rId1" Type="http://schemas.openxmlformats.org/officeDocument/2006/relationships/slideLayout" Target="../slideLayouts/slideLayout10.xml"/><Relationship Id="rId6" Type="http://schemas.openxmlformats.org/officeDocument/2006/relationships/image" Target="../media/fx_slide189_5.png"/><Relationship Id="rId5" Type="http://schemas.openxmlformats.org/officeDocument/2006/relationships/image" Target="../media/fx_slide189_4.png"/><Relationship Id="rId4" Type="http://schemas.openxmlformats.org/officeDocument/2006/relationships/image" Target="../media/fx_slide189_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3" Type="http://schemas.openxmlformats.org/officeDocument/2006/relationships/image" Target="../media/fx_slide191_2.png"/><Relationship Id="rId2" Type="http://schemas.openxmlformats.org/officeDocument/2006/relationships/image" Target="../media/fx_slide191_1.png"/><Relationship Id="rId1" Type="http://schemas.openxmlformats.org/officeDocument/2006/relationships/slideLayout" Target="../slideLayouts/slideLayout10.xml"/><Relationship Id="rId5" Type="http://schemas.openxmlformats.org/officeDocument/2006/relationships/image" Target="../media/fx_slide191_4.png"/><Relationship Id="rId4" Type="http://schemas.openxmlformats.org/officeDocument/2006/relationships/image" Target="../media/fx_slide191_3.png"/></Relationships>
</file>

<file path=ppt/slides/_rels/slide111.xml.rels><?xml version="1.0" encoding="UTF-8" standalone="yes"?>
<Relationships xmlns="http://schemas.openxmlformats.org/package/2006/relationships"><Relationship Id="rId3" Type="http://schemas.openxmlformats.org/officeDocument/2006/relationships/image" Target="../media/fx_slide192_2.png"/><Relationship Id="rId2" Type="http://schemas.openxmlformats.org/officeDocument/2006/relationships/image" Target="../media/fx_slide192_1.png"/><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3" Type="http://schemas.openxmlformats.org/officeDocument/2006/relationships/image" Target="../media/fx_slide194_2.png"/><Relationship Id="rId2" Type="http://schemas.openxmlformats.org/officeDocument/2006/relationships/image" Target="../media/fx_slide194_1.png"/><Relationship Id="rId1" Type="http://schemas.openxmlformats.org/officeDocument/2006/relationships/slideLayout" Target="../slideLayouts/slideLayout10.xml"/><Relationship Id="rId5" Type="http://schemas.openxmlformats.org/officeDocument/2006/relationships/image" Target="../media/fx_slide194_4.png"/><Relationship Id="rId4" Type="http://schemas.openxmlformats.org/officeDocument/2006/relationships/image" Target="../media/fx_slide194_3.png"/></Relationships>
</file>

<file path=ppt/slides/_rels/slide114.xml.rels><?xml version="1.0" encoding="UTF-8" standalone="yes"?>
<Relationships xmlns="http://schemas.openxmlformats.org/package/2006/relationships"><Relationship Id="rId3" Type="http://schemas.openxmlformats.org/officeDocument/2006/relationships/image" Target="../media/fx_slide195_2.png"/><Relationship Id="rId2" Type="http://schemas.openxmlformats.org/officeDocument/2006/relationships/image" Target="../media/fx_slide195_1.png"/><Relationship Id="rId1" Type="http://schemas.openxmlformats.org/officeDocument/2006/relationships/slideLayout" Target="../slideLayouts/slideLayout10.xml"/><Relationship Id="rId4" Type="http://schemas.openxmlformats.org/officeDocument/2006/relationships/image" Target="../media/fx_slide195_3.png"/></Relationships>
</file>

<file path=ppt/slides/_rels/slide115.xml.rels><?xml version="1.0" encoding="UTF-8" standalone="yes"?>
<Relationships xmlns="http://schemas.openxmlformats.org/package/2006/relationships"><Relationship Id="rId3" Type="http://schemas.openxmlformats.org/officeDocument/2006/relationships/image" Target="../media/fx_slide196_2.png"/><Relationship Id="rId2" Type="http://schemas.openxmlformats.org/officeDocument/2006/relationships/image" Target="../media/fx_slide196_1.png"/><Relationship Id="rId1" Type="http://schemas.openxmlformats.org/officeDocument/2006/relationships/slideLayout" Target="../slideLayouts/slideLayout10.xml"/><Relationship Id="rId5" Type="http://schemas.openxmlformats.org/officeDocument/2006/relationships/image" Target="../media/fx_slide196_4.png"/><Relationship Id="rId4" Type="http://schemas.openxmlformats.org/officeDocument/2006/relationships/image" Target="../media/fx_slide196_3.png"/></Relationships>
</file>

<file path=ppt/slides/_rels/slide116.xml.rels><?xml version="1.0" encoding="UTF-8" standalone="yes"?>
<Relationships xmlns="http://schemas.openxmlformats.org/package/2006/relationships"><Relationship Id="rId3" Type="http://schemas.openxmlformats.org/officeDocument/2006/relationships/image" Target="../media/fx_slide197_2.png"/><Relationship Id="rId2" Type="http://schemas.openxmlformats.org/officeDocument/2006/relationships/image" Target="../media/fx_slide197_1.png"/><Relationship Id="rId1" Type="http://schemas.openxmlformats.org/officeDocument/2006/relationships/slideLayout" Target="../slideLayouts/slideLayout10.xml"/><Relationship Id="rId4" Type="http://schemas.openxmlformats.org/officeDocument/2006/relationships/image" Target="../media/fx_slide197_3.png"/></Relationships>
</file>

<file path=ppt/slides/_rels/slide117.xml.rels><?xml version="1.0" encoding="UTF-8" standalone="yes"?>
<Relationships xmlns="http://schemas.openxmlformats.org/package/2006/relationships"><Relationship Id="rId3" Type="http://schemas.openxmlformats.org/officeDocument/2006/relationships/image" Target="../media/fx_slide198_2.png"/><Relationship Id="rId7" Type="http://schemas.openxmlformats.org/officeDocument/2006/relationships/image" Target="../media/fx_slide198_6.png"/><Relationship Id="rId2" Type="http://schemas.openxmlformats.org/officeDocument/2006/relationships/image" Target="../media/fx_slide198_1.png"/><Relationship Id="rId1" Type="http://schemas.openxmlformats.org/officeDocument/2006/relationships/slideLayout" Target="../slideLayouts/slideLayout10.xml"/><Relationship Id="rId6" Type="http://schemas.openxmlformats.org/officeDocument/2006/relationships/image" Target="../media/fx_slide198_5.png"/><Relationship Id="rId5" Type="http://schemas.openxmlformats.org/officeDocument/2006/relationships/image" Target="../media/fx_slide198_4.png"/><Relationship Id="rId4" Type="http://schemas.openxmlformats.org/officeDocument/2006/relationships/image" Target="../media/fx_slide198_3.png"/></Relationships>
</file>

<file path=ppt/slides/_rels/slide118.xml.rels><?xml version="1.0" encoding="UTF-8" standalone="yes"?>
<Relationships xmlns="http://schemas.openxmlformats.org/package/2006/relationships"><Relationship Id="rId3" Type="http://schemas.openxmlformats.org/officeDocument/2006/relationships/image" Target="../media/fx_slide199_2.png"/><Relationship Id="rId2" Type="http://schemas.openxmlformats.org/officeDocument/2006/relationships/image" Target="../media/fx_slide199_1.png"/><Relationship Id="rId1" Type="http://schemas.openxmlformats.org/officeDocument/2006/relationships/slideLayout" Target="../slideLayouts/slideLayout10.xml"/><Relationship Id="rId4" Type="http://schemas.openxmlformats.org/officeDocument/2006/relationships/image" Target="../media/fx_slide199_3.png"/></Relationships>
</file>

<file path=ppt/slides/_rels/slide119.xml.rels><?xml version="1.0" encoding="UTF-8" standalone="yes"?>
<Relationships xmlns="http://schemas.openxmlformats.org/package/2006/relationships"><Relationship Id="rId3" Type="http://schemas.openxmlformats.org/officeDocument/2006/relationships/image" Target="../media/fx_slide200_2.png"/><Relationship Id="rId2" Type="http://schemas.openxmlformats.org/officeDocument/2006/relationships/image" Target="../media/fx_slide200_1.png"/><Relationship Id="rId1" Type="http://schemas.openxmlformats.org/officeDocument/2006/relationships/slideLayout" Target="../slideLayouts/slideLayout10.xml"/><Relationship Id="rId4" Type="http://schemas.openxmlformats.org/officeDocument/2006/relationships/image" Target="../media/fx_slide200_3.png"/></Relationships>
</file>

<file path=ppt/slides/_rels/slide1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8" Type="http://schemas.openxmlformats.org/officeDocument/2006/relationships/image" Target="../media/fx_slide203_7.png"/><Relationship Id="rId3" Type="http://schemas.openxmlformats.org/officeDocument/2006/relationships/image" Target="../media/fx_slide203_2.png"/><Relationship Id="rId7" Type="http://schemas.openxmlformats.org/officeDocument/2006/relationships/image" Target="../media/fx_slide203_6.png"/><Relationship Id="rId2" Type="http://schemas.openxmlformats.org/officeDocument/2006/relationships/image" Target="../media/fx_slide203_1.png"/><Relationship Id="rId1" Type="http://schemas.openxmlformats.org/officeDocument/2006/relationships/slideLayout" Target="../slideLayouts/slideLayout10.xml"/><Relationship Id="rId6" Type="http://schemas.openxmlformats.org/officeDocument/2006/relationships/image" Target="../media/fx_slide203_5.png"/><Relationship Id="rId5" Type="http://schemas.openxmlformats.org/officeDocument/2006/relationships/image" Target="../media/fx_slide203_4.png"/><Relationship Id="rId4" Type="http://schemas.openxmlformats.org/officeDocument/2006/relationships/image" Target="../media/fx_slide203_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3" Type="http://schemas.openxmlformats.org/officeDocument/2006/relationships/image" Target="../media/fx_slide205_2.png"/><Relationship Id="rId2" Type="http://schemas.openxmlformats.org/officeDocument/2006/relationships/image" Target="../media/fx_slide205_1.png"/><Relationship Id="rId1" Type="http://schemas.openxmlformats.org/officeDocument/2006/relationships/slideLayout" Target="../slideLayouts/slideLayout10.xml"/><Relationship Id="rId5" Type="http://schemas.openxmlformats.org/officeDocument/2006/relationships/image" Target="../media/fx_slide205_4.png"/><Relationship Id="rId4" Type="http://schemas.openxmlformats.org/officeDocument/2006/relationships/image" Target="../media/fx_slide205_3.png"/></Relationships>
</file>

<file path=ppt/slides/_rels/slide126.xml.rels><?xml version="1.0" encoding="UTF-8" standalone="yes"?>
<Relationships xmlns="http://schemas.openxmlformats.org/package/2006/relationships"><Relationship Id="rId3" Type="http://schemas.openxmlformats.org/officeDocument/2006/relationships/image" Target="../media/fx_slide206_2.png"/><Relationship Id="rId2" Type="http://schemas.openxmlformats.org/officeDocument/2006/relationships/image" Target="../media/fx_slide206_1.png"/><Relationship Id="rId1" Type="http://schemas.openxmlformats.org/officeDocument/2006/relationships/slideLayout" Target="../slideLayouts/slideLayout10.xml"/><Relationship Id="rId6" Type="http://schemas.openxmlformats.org/officeDocument/2006/relationships/image" Target="../media/fx_slide206_5.png"/><Relationship Id="rId5" Type="http://schemas.openxmlformats.org/officeDocument/2006/relationships/image" Target="../media/fx_slide206_4.png"/><Relationship Id="rId4" Type="http://schemas.openxmlformats.org/officeDocument/2006/relationships/image" Target="../media/fx_slide206_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3" Type="http://schemas.openxmlformats.org/officeDocument/2006/relationships/image" Target="../media/fx_slide208_2.png"/><Relationship Id="rId2" Type="http://schemas.openxmlformats.org/officeDocument/2006/relationships/image" Target="../media/fx_slide208_1.png"/><Relationship Id="rId1" Type="http://schemas.openxmlformats.org/officeDocument/2006/relationships/slideLayout" Target="../slideLayouts/slideLayout10.xml"/><Relationship Id="rId5" Type="http://schemas.openxmlformats.org/officeDocument/2006/relationships/image" Target="../media/fx_slide208_4.png"/><Relationship Id="rId4" Type="http://schemas.openxmlformats.org/officeDocument/2006/relationships/image" Target="../media/fx_slide208_3.png"/></Relationships>
</file>

<file path=ppt/slides/_rels/slide129.xml.rels><?xml version="1.0" encoding="UTF-8" standalone="yes"?>
<Relationships xmlns="http://schemas.openxmlformats.org/package/2006/relationships"><Relationship Id="rId2" Type="http://schemas.openxmlformats.org/officeDocument/2006/relationships/image" Target="../media/fx_slide209_1.png"/><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3" Type="http://schemas.openxmlformats.org/officeDocument/2006/relationships/image" Target="../media/fx_slide211_2.png"/><Relationship Id="rId7" Type="http://schemas.openxmlformats.org/officeDocument/2006/relationships/image" Target="../media/fx_slide211_6.png"/><Relationship Id="rId2" Type="http://schemas.openxmlformats.org/officeDocument/2006/relationships/image" Target="../media/fx_slide211_1.png"/><Relationship Id="rId1" Type="http://schemas.openxmlformats.org/officeDocument/2006/relationships/slideLayout" Target="../slideLayouts/slideLayout10.xml"/><Relationship Id="rId6" Type="http://schemas.openxmlformats.org/officeDocument/2006/relationships/image" Target="../media/fx_slide211_5.png"/><Relationship Id="rId5" Type="http://schemas.openxmlformats.org/officeDocument/2006/relationships/image" Target="../media/fx_slide211_4.png"/><Relationship Id="rId4" Type="http://schemas.openxmlformats.org/officeDocument/2006/relationships/image" Target="../media/fx_slide211_3.png"/></Relationships>
</file>

<file path=ppt/slides/_rels/slide132.xml.rels><?xml version="1.0" encoding="UTF-8" standalone="yes"?>
<Relationships xmlns="http://schemas.openxmlformats.org/package/2006/relationships"><Relationship Id="rId3" Type="http://schemas.openxmlformats.org/officeDocument/2006/relationships/image" Target="../media/fx_slide212_2.png"/><Relationship Id="rId2" Type="http://schemas.openxmlformats.org/officeDocument/2006/relationships/image" Target="../media/fx_slide212_1.png"/><Relationship Id="rId1" Type="http://schemas.openxmlformats.org/officeDocument/2006/relationships/slideLayout" Target="../slideLayouts/slideLayout10.xml"/><Relationship Id="rId5" Type="http://schemas.openxmlformats.org/officeDocument/2006/relationships/image" Target="../media/fx_slide212_4.png"/><Relationship Id="rId4" Type="http://schemas.openxmlformats.org/officeDocument/2006/relationships/image" Target="../media/fx_slide212_3.png"/></Relationships>
</file>

<file path=ppt/slides/_rels/slide133.xml.rels><?xml version="1.0" encoding="UTF-8" standalone="yes"?>
<Relationships xmlns="http://schemas.openxmlformats.org/package/2006/relationships"><Relationship Id="rId3" Type="http://schemas.openxmlformats.org/officeDocument/2006/relationships/image" Target="../media/fx_slide213_2.png"/><Relationship Id="rId2" Type="http://schemas.openxmlformats.org/officeDocument/2006/relationships/image" Target="../media/fx_slide213_1.png"/><Relationship Id="rId1" Type="http://schemas.openxmlformats.org/officeDocument/2006/relationships/slideLayout" Target="../slideLayouts/slideLayout10.xml"/><Relationship Id="rId4" Type="http://schemas.openxmlformats.org/officeDocument/2006/relationships/image" Target="../media/fx_slide213_3.png"/></Relationships>
</file>

<file path=ppt/slides/_rels/slide1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3" Type="http://schemas.openxmlformats.org/officeDocument/2006/relationships/image" Target="../media/fx_slide214_2.png"/><Relationship Id="rId2" Type="http://schemas.openxmlformats.org/officeDocument/2006/relationships/image" Target="../media/fx_slide214_1.png"/><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3" Type="http://schemas.openxmlformats.org/officeDocument/2006/relationships/image" Target="../media/fx_slide215_2.png"/><Relationship Id="rId2" Type="http://schemas.openxmlformats.org/officeDocument/2006/relationships/image" Target="../media/fx_slide215_1.png"/><Relationship Id="rId1" Type="http://schemas.openxmlformats.org/officeDocument/2006/relationships/slideLayout" Target="../slideLayouts/slideLayout10.xml"/><Relationship Id="rId5" Type="http://schemas.openxmlformats.org/officeDocument/2006/relationships/image" Target="../media/fx_slide215_4.png"/><Relationship Id="rId4" Type="http://schemas.openxmlformats.org/officeDocument/2006/relationships/image" Target="../media/fx_slide215_3.png"/></Relationships>
</file>

<file path=ppt/slides/_rels/slide137.xml.rels><?xml version="1.0" encoding="UTF-8" standalone="yes"?>
<Relationships xmlns="http://schemas.openxmlformats.org/package/2006/relationships"><Relationship Id="rId3" Type="http://schemas.openxmlformats.org/officeDocument/2006/relationships/image" Target="../media/fx_slide216_2.png"/><Relationship Id="rId2" Type="http://schemas.openxmlformats.org/officeDocument/2006/relationships/image" Target="../media/fx_slide216_1.png"/><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8" Type="http://schemas.openxmlformats.org/officeDocument/2006/relationships/image" Target="../media/fx_slide217_7.png"/><Relationship Id="rId3" Type="http://schemas.openxmlformats.org/officeDocument/2006/relationships/image" Target="../media/fx_slide217_2.png"/><Relationship Id="rId7" Type="http://schemas.openxmlformats.org/officeDocument/2006/relationships/image" Target="../media/fx_slide217_6.png"/><Relationship Id="rId2" Type="http://schemas.openxmlformats.org/officeDocument/2006/relationships/image" Target="../media/fx_slide217_1.png"/><Relationship Id="rId1" Type="http://schemas.openxmlformats.org/officeDocument/2006/relationships/slideLayout" Target="../slideLayouts/slideLayout6.xml"/><Relationship Id="rId6" Type="http://schemas.openxmlformats.org/officeDocument/2006/relationships/image" Target="../media/fx_slide217_5.png"/><Relationship Id="rId5" Type="http://schemas.openxmlformats.org/officeDocument/2006/relationships/image" Target="../media/fx_slide217_4.png"/><Relationship Id="rId4" Type="http://schemas.openxmlformats.org/officeDocument/2006/relationships/image" Target="../media/fx_slide217_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8" Type="http://schemas.openxmlformats.org/officeDocument/2006/relationships/image" Target="../media/fx_slide219_7.png"/><Relationship Id="rId3" Type="http://schemas.openxmlformats.org/officeDocument/2006/relationships/image" Target="../media/fx_slide219_2.png"/><Relationship Id="rId7" Type="http://schemas.openxmlformats.org/officeDocument/2006/relationships/image" Target="../media/fx_slide219_6.png"/><Relationship Id="rId2" Type="http://schemas.openxmlformats.org/officeDocument/2006/relationships/image" Target="../media/fx_slide219_1.png"/><Relationship Id="rId1" Type="http://schemas.openxmlformats.org/officeDocument/2006/relationships/slideLayout" Target="../slideLayouts/slideLayout8.xml"/><Relationship Id="rId6" Type="http://schemas.openxmlformats.org/officeDocument/2006/relationships/image" Target="../media/fx_slide219_5.png"/><Relationship Id="rId5" Type="http://schemas.openxmlformats.org/officeDocument/2006/relationships/image" Target="../media/fx_slide219_4.png"/><Relationship Id="rId4" Type="http://schemas.openxmlformats.org/officeDocument/2006/relationships/image" Target="../media/fx_slide219_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3" Type="http://schemas.openxmlformats.org/officeDocument/2006/relationships/image" Target="../media/fx_slide221_2.png"/><Relationship Id="rId2" Type="http://schemas.openxmlformats.org/officeDocument/2006/relationships/image" Target="../media/fx_slide221_1.png"/><Relationship Id="rId1" Type="http://schemas.openxmlformats.org/officeDocument/2006/relationships/slideLayout" Target="../slideLayouts/slideLayout8.xml"/><Relationship Id="rId4" Type="http://schemas.openxmlformats.org/officeDocument/2006/relationships/image" Target="../media/fx_slide221_3.png"/></Relationships>
</file>

<file path=ppt/slides/_rels/slide143.xml.rels><?xml version="1.0" encoding="UTF-8" standalone="yes"?>
<Relationships xmlns="http://schemas.openxmlformats.org/package/2006/relationships"><Relationship Id="rId3" Type="http://schemas.openxmlformats.org/officeDocument/2006/relationships/image" Target="../media/fx_slide222_2.png"/><Relationship Id="rId7" Type="http://schemas.openxmlformats.org/officeDocument/2006/relationships/image" Target="../media/fx_slide222_6.png"/><Relationship Id="rId2" Type="http://schemas.openxmlformats.org/officeDocument/2006/relationships/image" Target="../media/fx_slide222_1.png"/><Relationship Id="rId1" Type="http://schemas.openxmlformats.org/officeDocument/2006/relationships/slideLayout" Target="../slideLayouts/slideLayout10.xml"/><Relationship Id="rId6" Type="http://schemas.openxmlformats.org/officeDocument/2006/relationships/image" Target="../media/fx_slide222_5.png"/><Relationship Id="rId5" Type="http://schemas.openxmlformats.org/officeDocument/2006/relationships/image" Target="../media/fx_slide222_4.png"/><Relationship Id="rId4" Type="http://schemas.openxmlformats.org/officeDocument/2006/relationships/image" Target="../media/fx_slide222_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3" Type="http://schemas.openxmlformats.org/officeDocument/2006/relationships/image" Target="../media/fx_slide224_2.png"/><Relationship Id="rId2" Type="http://schemas.openxmlformats.org/officeDocument/2006/relationships/image" Target="../media/fx_slide224_1.png"/><Relationship Id="rId1" Type="http://schemas.openxmlformats.org/officeDocument/2006/relationships/slideLayout" Target="../slideLayouts/slideLayout10.xml"/><Relationship Id="rId6" Type="http://schemas.openxmlformats.org/officeDocument/2006/relationships/image" Target="../media/fx_slide224_5.png"/><Relationship Id="rId5" Type="http://schemas.openxmlformats.org/officeDocument/2006/relationships/image" Target="../media/fx_slide224_4.png"/><Relationship Id="rId4" Type="http://schemas.openxmlformats.org/officeDocument/2006/relationships/image" Target="../media/fx_slide224_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3" Type="http://schemas.openxmlformats.org/officeDocument/2006/relationships/image" Target="../media/fx_slide226_2.png"/><Relationship Id="rId2" Type="http://schemas.openxmlformats.org/officeDocument/2006/relationships/image" Target="../media/fx_slide226_1.png"/><Relationship Id="rId1" Type="http://schemas.openxmlformats.org/officeDocument/2006/relationships/slideLayout" Target="../slideLayouts/slideLayout10.xml"/><Relationship Id="rId4" Type="http://schemas.openxmlformats.org/officeDocument/2006/relationships/image" Target="../media/fx_slide226_3.png"/></Relationships>
</file>

<file path=ppt/slides/_rels/slide148.xml.rels><?xml version="1.0" encoding="UTF-8" standalone="yes"?>
<Relationships xmlns="http://schemas.openxmlformats.org/package/2006/relationships"><Relationship Id="rId3" Type="http://schemas.openxmlformats.org/officeDocument/2006/relationships/image" Target="../media/fx_slide227_2.png"/><Relationship Id="rId2" Type="http://schemas.openxmlformats.org/officeDocument/2006/relationships/image" Target="../media/fx_slide227_1.png"/><Relationship Id="rId1" Type="http://schemas.openxmlformats.org/officeDocument/2006/relationships/slideLayout" Target="../slideLayouts/slideLayout10.xml"/><Relationship Id="rId4" Type="http://schemas.openxmlformats.org/officeDocument/2006/relationships/image" Target="../media/fx_slide227_3.png"/></Relationships>
</file>

<file path=ppt/slides/_rels/slide149.xml.rels><?xml version="1.0" encoding="UTF-8" standalone="yes"?>
<Relationships xmlns="http://schemas.openxmlformats.org/package/2006/relationships"><Relationship Id="rId3" Type="http://schemas.openxmlformats.org/officeDocument/2006/relationships/image" Target="../media/fx_slide228_2.png"/><Relationship Id="rId2" Type="http://schemas.openxmlformats.org/officeDocument/2006/relationships/image" Target="../media/fx_slide228_1.png"/><Relationship Id="rId1" Type="http://schemas.openxmlformats.org/officeDocument/2006/relationships/slideLayout" Target="../slideLayouts/slideLayout10.xml"/><Relationship Id="rId4" Type="http://schemas.openxmlformats.org/officeDocument/2006/relationships/image" Target="../media/fx_slide228_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ub-1-1-2" descr="SubName">
            <a:hlinkClick r:id="rId19" action="ppaction://hlinksldjump"/>
          </p:cNvPr>
          <p:cNvSpPr txBox="1">
            <a:spLocks noChangeArrowheads="1"/>
          </p:cNvSpPr>
          <p:nvPr>
            <p:custDataLst>
              <p:tags r:id="rId1"/>
            </p:custDataLst>
          </p:nvPr>
        </p:nvSpPr>
        <p:spPr bwMode="auto">
          <a:xfrm>
            <a:off x="539551" y="1212879"/>
            <a:ext cx="4254517" cy="369332"/>
          </a:xfrm>
          <a:prstGeom prst="rect">
            <a:avLst/>
          </a:prstGeom>
          <a:noFill/>
          <a:ln>
            <a:noFill/>
          </a:ln>
        </p:spPr>
        <p:txBody>
          <a:bodyPr wrap="square" lIns="0" tIns="0" rIns="0" bIns="0" anchor="ctr">
            <a:spAutoFit/>
          </a:bodyPr>
          <a:lstStyle>
            <a:lvl1pPr eaLnBrk="0" hangingPunct="0">
              <a:defRPr kumimoji="1">
                <a:solidFill>
                  <a:schemeClr val="tx1"/>
                </a:solidFill>
                <a:latin typeface="Times New Roman" pitchFamily="18" charset="0"/>
                <a:ea typeface="新細明體" pitchFamily="18" charset="-120"/>
              </a:defRPr>
            </a:lvl1pPr>
            <a:lvl2pPr marL="742950" indent="-285750" eaLnBrk="0" hangingPunct="0">
              <a:defRPr kumimoji="1">
                <a:solidFill>
                  <a:schemeClr val="tx1"/>
                </a:solidFill>
                <a:latin typeface="Times New Roman" pitchFamily="18" charset="0"/>
                <a:ea typeface="新細明體" pitchFamily="18" charset="-120"/>
              </a:defRPr>
            </a:lvl2pPr>
            <a:lvl3pPr marL="1143000" indent="-228600" eaLnBrk="0" hangingPunct="0">
              <a:defRPr kumimoji="1">
                <a:solidFill>
                  <a:schemeClr val="tx1"/>
                </a:solidFill>
                <a:latin typeface="Times New Roman" pitchFamily="18" charset="0"/>
                <a:ea typeface="新細明體" pitchFamily="18" charset="-120"/>
              </a:defRPr>
            </a:lvl3pPr>
            <a:lvl4pPr marL="1600200" indent="-228600" eaLnBrk="0" hangingPunct="0">
              <a:defRPr kumimoji="1">
                <a:solidFill>
                  <a:schemeClr val="tx1"/>
                </a:solidFill>
                <a:latin typeface="Times New Roman" pitchFamily="18" charset="0"/>
                <a:ea typeface="新細明體" pitchFamily="18" charset="-120"/>
              </a:defRPr>
            </a:lvl4pPr>
            <a:lvl5pPr marL="2057400" indent="-228600" eaLnBrk="0" hangingPunct="0">
              <a:defRPr kumimoji="1">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9pPr>
          </a:lstStyle>
          <a:p>
            <a:pPr marL="0" lvl="1" indent="0"/>
            <a:r>
              <a:rPr kumimoji="0" lang="zh-TW" altLang="en-US" sz="2400" b="1" spc="-150" dirty="0">
                <a:latin typeface="Times New Roman"/>
                <a:ea typeface="微軟正黑體"/>
              </a:rPr>
              <a:t>第二部分　質點的曲線運動</a:t>
            </a:r>
          </a:p>
        </p:txBody>
      </p:sp>
      <p:sp>
        <p:nvSpPr>
          <p:cNvPr id="3" name="標題 2"/>
          <p:cNvSpPr>
            <a:spLocks noGrp="1"/>
          </p:cNvSpPr>
          <p:nvPr>
            <p:ph type="title"/>
          </p:nvPr>
        </p:nvSpPr>
        <p:spPr/>
        <p:txBody>
          <a:bodyPr/>
          <a:lstStyle/>
          <a:p>
            <a:endParaRPr lang="zh-TW" altLang="en-US"/>
          </a:p>
        </p:txBody>
      </p:sp>
      <p:grpSp>
        <p:nvGrpSpPr>
          <p:cNvPr id="47" name="群組 46"/>
          <p:cNvGrpSpPr/>
          <p:nvPr/>
        </p:nvGrpSpPr>
        <p:grpSpPr>
          <a:xfrm>
            <a:off x="939800" y="1765102"/>
            <a:ext cx="4383762" cy="369334"/>
            <a:chOff x="939800" y="2030965"/>
            <a:chExt cx="4383762" cy="369334"/>
          </a:xfrm>
        </p:grpSpPr>
        <p:sp>
          <p:nvSpPr>
            <p:cNvPr id="48" name="sub-1-2-1" descr="SubNo">
              <a:hlinkClick r:id="rId19" action="ppaction://hlinksldjump"/>
            </p:cNvPr>
            <p:cNvSpPr txBox="1">
              <a:spLocks noChangeArrowheads="1"/>
            </p:cNvSpPr>
            <p:nvPr>
              <p:custDataLst>
                <p:tags r:id="rId16"/>
              </p:custDataLst>
            </p:nvPr>
          </p:nvSpPr>
          <p:spPr bwMode="auto">
            <a:xfrm>
              <a:off x="939800" y="2030965"/>
              <a:ext cx="1065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kumimoji="1" sz="3200" b="1">
                  <a:solidFill>
                    <a:srgbClr val="1C1C1C"/>
                  </a:solidFill>
                  <a:latin typeface="Times New Roman" pitchFamily="18" charset="0"/>
                  <a:ea typeface="微軟正黑體" pitchFamily="34" charset="-120"/>
                </a:defRPr>
              </a:lvl1pPr>
              <a:lvl2pPr marL="742950" indent="-285750">
                <a:spcBef>
                  <a:spcPct val="20000"/>
                </a:spcBef>
                <a:buChar char="–"/>
                <a:defRPr sz="2800" b="1">
                  <a:solidFill>
                    <a:srgbClr val="006666"/>
                  </a:solidFill>
                  <a:latin typeface="Times New Roman" pitchFamily="18" charset="0"/>
                  <a:ea typeface="標楷體" pitchFamily="65" charset="-120"/>
                </a:defRPr>
              </a:lvl2pPr>
              <a:lvl3pPr marL="1143000" indent="-228600">
                <a:spcBef>
                  <a:spcPct val="20000"/>
                </a:spcBef>
                <a:buChar char="•"/>
                <a:defRPr kumimoji="1" sz="2400" b="1">
                  <a:solidFill>
                    <a:schemeClr val="tx1"/>
                  </a:solidFill>
                  <a:latin typeface="Times New Roman" pitchFamily="18" charset="0"/>
                  <a:ea typeface="標楷體" pitchFamily="65" charset="-120"/>
                </a:defRPr>
              </a:lvl3pPr>
              <a:lvl4pPr marL="1600200" indent="-228600">
                <a:spcBef>
                  <a:spcPct val="20000"/>
                </a:spcBef>
                <a:buChar char="–"/>
                <a:defRPr kumimoji="1" sz="2400" b="1">
                  <a:solidFill>
                    <a:schemeClr val="tx1"/>
                  </a:solidFill>
                  <a:latin typeface="Times New Roman" pitchFamily="18" charset="0"/>
                  <a:ea typeface="標楷體" pitchFamily="65" charset="-120"/>
                </a:defRPr>
              </a:lvl4pPr>
              <a:lvl5pPr marL="2057400" indent="-228600">
                <a:spcBef>
                  <a:spcPct val="20000"/>
                </a:spcBef>
                <a:buChar char="»"/>
                <a:defRPr kumimoji="1" sz="2400" b="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9pPr>
            </a:lstStyle>
            <a:p>
              <a:pPr eaLnBrk="1" hangingPunct="1">
                <a:spcBef>
                  <a:spcPct val="0"/>
                </a:spcBef>
                <a:buFontTx/>
                <a:buNone/>
              </a:pPr>
              <a:r>
                <a:rPr lang="en-US" altLang="zh-TW" sz="2400" dirty="0">
                  <a:latin typeface="Times New Roman"/>
                  <a:ea typeface="微軟正黑體"/>
                  <a:cs typeface="Arial" panose="020B0604020202020204" pitchFamily="34" charset="0"/>
                </a:rPr>
                <a:t>2-4</a:t>
              </a:r>
              <a:endParaRPr lang="zh-TW" altLang="en-US" sz="2400" dirty="0">
                <a:solidFill>
                  <a:schemeClr val="tx1"/>
                </a:solidFill>
                <a:latin typeface="Times New Roman"/>
                <a:ea typeface="微軟正黑體"/>
                <a:cs typeface="Arial" panose="020B0604020202020204" pitchFamily="34" charset="0"/>
              </a:endParaRPr>
            </a:p>
          </p:txBody>
        </p:sp>
        <p:sp>
          <p:nvSpPr>
            <p:cNvPr id="49" name="sub-1-2-2" descr="SubName">
              <a:hlinkClick r:id="rId19" action="ppaction://hlinksldjump"/>
            </p:cNvPr>
            <p:cNvSpPr txBox="1">
              <a:spLocks noChangeArrowheads="1"/>
            </p:cNvSpPr>
            <p:nvPr>
              <p:custDataLst>
                <p:tags r:id="rId17"/>
              </p:custDataLst>
            </p:nvPr>
          </p:nvSpPr>
          <p:spPr bwMode="auto">
            <a:xfrm>
              <a:off x="1691680" y="2030967"/>
              <a:ext cx="3631882" cy="369332"/>
            </a:xfrm>
            <a:prstGeom prst="rect">
              <a:avLst/>
            </a:prstGeom>
            <a:noFill/>
            <a:ln>
              <a:noFill/>
            </a:ln>
          </p:spPr>
          <p:txBody>
            <a:bodyPr wrap="square" lIns="0" tIns="0" rIns="0" bIns="0" anchor="ctr">
              <a:spAutoFit/>
            </a:bodyPr>
            <a:lstStyle>
              <a:lvl1pPr eaLnBrk="0" hangingPunct="0">
                <a:defRPr kumimoji="1">
                  <a:solidFill>
                    <a:schemeClr val="tx1"/>
                  </a:solidFill>
                  <a:latin typeface="Times New Roman" pitchFamily="18" charset="0"/>
                  <a:ea typeface="新細明體" pitchFamily="18" charset="-120"/>
                </a:defRPr>
              </a:lvl1pPr>
              <a:lvl2pPr marL="742950" indent="-285750" eaLnBrk="0" hangingPunct="0">
                <a:defRPr kumimoji="1">
                  <a:solidFill>
                    <a:schemeClr val="tx1"/>
                  </a:solidFill>
                  <a:latin typeface="Times New Roman" pitchFamily="18" charset="0"/>
                  <a:ea typeface="新細明體" pitchFamily="18" charset="-120"/>
                </a:defRPr>
              </a:lvl2pPr>
              <a:lvl3pPr marL="1143000" indent="-228600" eaLnBrk="0" hangingPunct="0">
                <a:defRPr kumimoji="1">
                  <a:solidFill>
                    <a:schemeClr val="tx1"/>
                  </a:solidFill>
                  <a:latin typeface="Times New Roman" pitchFamily="18" charset="0"/>
                  <a:ea typeface="新細明體" pitchFamily="18" charset="-120"/>
                </a:defRPr>
              </a:lvl3pPr>
              <a:lvl4pPr marL="1600200" indent="-228600" eaLnBrk="0" hangingPunct="0">
                <a:defRPr kumimoji="1">
                  <a:solidFill>
                    <a:schemeClr val="tx1"/>
                  </a:solidFill>
                  <a:latin typeface="Times New Roman" pitchFamily="18" charset="0"/>
                  <a:ea typeface="新細明體" pitchFamily="18" charset="-120"/>
                </a:defRPr>
              </a:lvl4pPr>
              <a:lvl5pPr marL="2057400" indent="-228600" eaLnBrk="0" hangingPunct="0">
                <a:defRPr kumimoji="1">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9pPr>
            </a:lstStyle>
            <a:p>
              <a:r>
                <a:rPr kumimoji="0" lang="zh-TW" altLang="en-US" sz="2400" b="1" spc="-150" dirty="0">
                  <a:latin typeface="Times New Roman"/>
                  <a:ea typeface="微軟正黑體"/>
                </a:rPr>
                <a:t>曲線運動的向量表示</a:t>
              </a:r>
            </a:p>
          </p:txBody>
        </p:sp>
      </p:grpSp>
      <p:cxnSp>
        <p:nvCxnSpPr>
          <p:cNvPr id="50" name="temp3"/>
          <p:cNvCxnSpPr/>
          <p:nvPr>
            <p:custDataLst>
              <p:tags r:id="rId2"/>
            </p:custDataLst>
          </p:nvPr>
        </p:nvCxnSpPr>
        <p:spPr bwMode="auto">
          <a:xfrm>
            <a:off x="984875" y="2119220"/>
            <a:ext cx="3291850" cy="15216"/>
          </a:xfrm>
          <a:prstGeom prst="line">
            <a:avLst/>
          </a:prstGeom>
          <a:solidFill>
            <a:schemeClr val="accent1"/>
          </a:solidFill>
          <a:ln w="22225" cap="flat" cmpd="sng" algn="ctr">
            <a:solidFill>
              <a:schemeClr val="tx1"/>
            </a:solidFill>
            <a:prstDash val="solid"/>
            <a:round/>
            <a:headEnd type="none" w="med" len="med"/>
            <a:tailEnd type="none" w="med" len="med"/>
          </a:ln>
          <a:effectLst/>
        </p:spPr>
      </p:cxnSp>
      <p:pic>
        <p:nvPicPr>
          <p:cNvPr id="51" name="temp4"/>
          <p:cNvPicPr>
            <a:picLocks noChangeAspect="1" noChangeArrowheads="1"/>
          </p:cNvPicPr>
          <p:nvPr>
            <p:custDataLst>
              <p:tags r:id="rId3"/>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539552" y="1755378"/>
            <a:ext cx="328240" cy="32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2" name="群組 51"/>
          <p:cNvGrpSpPr/>
          <p:nvPr/>
        </p:nvGrpSpPr>
        <p:grpSpPr>
          <a:xfrm>
            <a:off x="939800" y="2269370"/>
            <a:ext cx="4383762" cy="369334"/>
            <a:chOff x="939800" y="2030965"/>
            <a:chExt cx="4383762" cy="369334"/>
          </a:xfrm>
        </p:grpSpPr>
        <p:sp>
          <p:nvSpPr>
            <p:cNvPr id="53" name="sub-1-2-1" descr="SubNo">
              <a:hlinkClick r:id="rId19" action="ppaction://hlinksldjump"/>
            </p:cNvPr>
            <p:cNvSpPr txBox="1">
              <a:spLocks noChangeArrowheads="1"/>
            </p:cNvSpPr>
            <p:nvPr>
              <p:custDataLst>
                <p:tags r:id="rId14"/>
              </p:custDataLst>
            </p:nvPr>
          </p:nvSpPr>
          <p:spPr bwMode="auto">
            <a:xfrm>
              <a:off x="939800" y="2030965"/>
              <a:ext cx="1065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kumimoji="1" sz="3200" b="1">
                  <a:solidFill>
                    <a:srgbClr val="1C1C1C"/>
                  </a:solidFill>
                  <a:latin typeface="Times New Roman" pitchFamily="18" charset="0"/>
                  <a:ea typeface="微軟正黑體" pitchFamily="34" charset="-120"/>
                </a:defRPr>
              </a:lvl1pPr>
              <a:lvl2pPr marL="742950" indent="-285750">
                <a:spcBef>
                  <a:spcPct val="20000"/>
                </a:spcBef>
                <a:buChar char="–"/>
                <a:defRPr sz="2800" b="1">
                  <a:solidFill>
                    <a:srgbClr val="006666"/>
                  </a:solidFill>
                  <a:latin typeface="Times New Roman" pitchFamily="18" charset="0"/>
                  <a:ea typeface="標楷體" pitchFamily="65" charset="-120"/>
                </a:defRPr>
              </a:lvl2pPr>
              <a:lvl3pPr marL="1143000" indent="-228600">
                <a:spcBef>
                  <a:spcPct val="20000"/>
                </a:spcBef>
                <a:buChar char="•"/>
                <a:defRPr kumimoji="1" sz="2400" b="1">
                  <a:solidFill>
                    <a:schemeClr val="tx1"/>
                  </a:solidFill>
                  <a:latin typeface="Times New Roman" pitchFamily="18" charset="0"/>
                  <a:ea typeface="標楷體" pitchFamily="65" charset="-120"/>
                </a:defRPr>
              </a:lvl3pPr>
              <a:lvl4pPr marL="1600200" indent="-228600">
                <a:spcBef>
                  <a:spcPct val="20000"/>
                </a:spcBef>
                <a:buChar char="–"/>
                <a:defRPr kumimoji="1" sz="2400" b="1">
                  <a:solidFill>
                    <a:schemeClr val="tx1"/>
                  </a:solidFill>
                  <a:latin typeface="Times New Roman" pitchFamily="18" charset="0"/>
                  <a:ea typeface="標楷體" pitchFamily="65" charset="-120"/>
                </a:defRPr>
              </a:lvl4pPr>
              <a:lvl5pPr marL="2057400" indent="-228600">
                <a:spcBef>
                  <a:spcPct val="20000"/>
                </a:spcBef>
                <a:buChar char="»"/>
                <a:defRPr kumimoji="1" sz="2400" b="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9pPr>
            </a:lstStyle>
            <a:p>
              <a:pPr eaLnBrk="1" hangingPunct="1">
                <a:spcBef>
                  <a:spcPct val="0"/>
                </a:spcBef>
                <a:buFontTx/>
                <a:buNone/>
              </a:pPr>
              <a:r>
                <a:rPr lang="en-US" altLang="zh-TW" sz="2400" dirty="0">
                  <a:latin typeface="Times New Roman"/>
                  <a:ea typeface="微軟正黑體"/>
                  <a:cs typeface="Arial" panose="020B0604020202020204" pitchFamily="34" charset="0"/>
                </a:rPr>
                <a:t>2-5</a:t>
              </a:r>
              <a:endParaRPr lang="zh-TW" altLang="en-US" sz="2400" dirty="0">
                <a:solidFill>
                  <a:schemeClr val="tx1"/>
                </a:solidFill>
                <a:latin typeface="Times New Roman"/>
                <a:ea typeface="微軟正黑體"/>
                <a:cs typeface="Arial" panose="020B0604020202020204" pitchFamily="34" charset="0"/>
              </a:endParaRPr>
            </a:p>
          </p:txBody>
        </p:sp>
        <p:sp>
          <p:nvSpPr>
            <p:cNvPr id="54" name="sub-1-2-2" descr="SubName">
              <a:hlinkClick r:id="rId19" action="ppaction://hlinksldjump"/>
            </p:cNvPr>
            <p:cNvSpPr txBox="1">
              <a:spLocks noChangeArrowheads="1"/>
            </p:cNvSpPr>
            <p:nvPr>
              <p:custDataLst>
                <p:tags r:id="rId15"/>
              </p:custDataLst>
            </p:nvPr>
          </p:nvSpPr>
          <p:spPr bwMode="auto">
            <a:xfrm>
              <a:off x="1691680" y="2030967"/>
              <a:ext cx="3631882" cy="369332"/>
            </a:xfrm>
            <a:prstGeom prst="rect">
              <a:avLst/>
            </a:prstGeom>
            <a:noFill/>
            <a:ln>
              <a:noFill/>
            </a:ln>
          </p:spPr>
          <p:txBody>
            <a:bodyPr wrap="square" lIns="0" tIns="0" rIns="0" bIns="0" anchor="ctr">
              <a:spAutoFit/>
            </a:bodyPr>
            <a:lstStyle>
              <a:lvl1pPr eaLnBrk="0" hangingPunct="0">
                <a:defRPr kumimoji="1">
                  <a:solidFill>
                    <a:schemeClr val="tx1"/>
                  </a:solidFill>
                  <a:latin typeface="Times New Roman" pitchFamily="18" charset="0"/>
                  <a:ea typeface="新細明體" pitchFamily="18" charset="-120"/>
                </a:defRPr>
              </a:lvl1pPr>
              <a:lvl2pPr marL="742950" indent="-285750" eaLnBrk="0" hangingPunct="0">
                <a:defRPr kumimoji="1">
                  <a:solidFill>
                    <a:schemeClr val="tx1"/>
                  </a:solidFill>
                  <a:latin typeface="Times New Roman" pitchFamily="18" charset="0"/>
                  <a:ea typeface="新細明體" pitchFamily="18" charset="-120"/>
                </a:defRPr>
              </a:lvl2pPr>
              <a:lvl3pPr marL="1143000" indent="-228600" eaLnBrk="0" hangingPunct="0">
                <a:defRPr kumimoji="1">
                  <a:solidFill>
                    <a:schemeClr val="tx1"/>
                  </a:solidFill>
                  <a:latin typeface="Times New Roman" pitchFamily="18" charset="0"/>
                  <a:ea typeface="新細明體" pitchFamily="18" charset="-120"/>
                </a:defRPr>
              </a:lvl3pPr>
              <a:lvl4pPr marL="1600200" indent="-228600" eaLnBrk="0" hangingPunct="0">
                <a:defRPr kumimoji="1">
                  <a:solidFill>
                    <a:schemeClr val="tx1"/>
                  </a:solidFill>
                  <a:latin typeface="Times New Roman" pitchFamily="18" charset="0"/>
                  <a:ea typeface="新細明體" pitchFamily="18" charset="-120"/>
                </a:defRPr>
              </a:lvl4pPr>
              <a:lvl5pPr marL="2057400" indent="-228600" eaLnBrk="0" hangingPunct="0">
                <a:defRPr kumimoji="1">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9pPr>
            </a:lstStyle>
            <a:p>
              <a:r>
                <a:rPr kumimoji="0" lang="zh-TW" altLang="en-US" sz="2400" b="1" spc="-150" dirty="0">
                  <a:latin typeface="Times New Roman"/>
                  <a:ea typeface="微軟正黑體"/>
                </a:rPr>
                <a:t>曲線運動的直角座標</a:t>
              </a:r>
            </a:p>
          </p:txBody>
        </p:sp>
      </p:grpSp>
      <p:pic>
        <p:nvPicPr>
          <p:cNvPr id="55" name="temp4"/>
          <p:cNvPicPr>
            <a:picLocks noChangeAspect="1" noChangeArrowheads="1"/>
          </p:cNvPicPr>
          <p:nvPr>
            <p:custDataLst>
              <p:tags r:id="rId4"/>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539552" y="2259646"/>
            <a:ext cx="328240" cy="32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6" name="群組 55"/>
          <p:cNvGrpSpPr/>
          <p:nvPr/>
        </p:nvGrpSpPr>
        <p:grpSpPr>
          <a:xfrm>
            <a:off x="939800" y="2750204"/>
            <a:ext cx="4383762" cy="369334"/>
            <a:chOff x="939800" y="2030965"/>
            <a:chExt cx="4383762" cy="369334"/>
          </a:xfrm>
        </p:grpSpPr>
        <p:sp>
          <p:nvSpPr>
            <p:cNvPr id="57" name="sub-1-2-1" descr="SubNo">
              <a:hlinkClick r:id="rId19" action="ppaction://hlinksldjump"/>
            </p:cNvPr>
            <p:cNvSpPr txBox="1">
              <a:spLocks noChangeArrowheads="1"/>
            </p:cNvSpPr>
            <p:nvPr>
              <p:custDataLst>
                <p:tags r:id="rId12"/>
              </p:custDataLst>
            </p:nvPr>
          </p:nvSpPr>
          <p:spPr bwMode="auto">
            <a:xfrm>
              <a:off x="939800" y="2030965"/>
              <a:ext cx="1065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kumimoji="1" sz="3200" b="1">
                  <a:solidFill>
                    <a:srgbClr val="1C1C1C"/>
                  </a:solidFill>
                  <a:latin typeface="Times New Roman" pitchFamily="18" charset="0"/>
                  <a:ea typeface="微軟正黑體" pitchFamily="34" charset="-120"/>
                </a:defRPr>
              </a:lvl1pPr>
              <a:lvl2pPr marL="742950" indent="-285750">
                <a:spcBef>
                  <a:spcPct val="20000"/>
                </a:spcBef>
                <a:buChar char="–"/>
                <a:defRPr sz="2800" b="1">
                  <a:solidFill>
                    <a:srgbClr val="006666"/>
                  </a:solidFill>
                  <a:latin typeface="Times New Roman" pitchFamily="18" charset="0"/>
                  <a:ea typeface="標楷體" pitchFamily="65" charset="-120"/>
                </a:defRPr>
              </a:lvl2pPr>
              <a:lvl3pPr marL="1143000" indent="-228600">
                <a:spcBef>
                  <a:spcPct val="20000"/>
                </a:spcBef>
                <a:buChar char="•"/>
                <a:defRPr kumimoji="1" sz="2400" b="1">
                  <a:solidFill>
                    <a:schemeClr val="tx1"/>
                  </a:solidFill>
                  <a:latin typeface="Times New Roman" pitchFamily="18" charset="0"/>
                  <a:ea typeface="標楷體" pitchFamily="65" charset="-120"/>
                </a:defRPr>
              </a:lvl3pPr>
              <a:lvl4pPr marL="1600200" indent="-228600">
                <a:spcBef>
                  <a:spcPct val="20000"/>
                </a:spcBef>
                <a:buChar char="–"/>
                <a:defRPr kumimoji="1" sz="2400" b="1">
                  <a:solidFill>
                    <a:schemeClr val="tx1"/>
                  </a:solidFill>
                  <a:latin typeface="Times New Roman" pitchFamily="18" charset="0"/>
                  <a:ea typeface="標楷體" pitchFamily="65" charset="-120"/>
                </a:defRPr>
              </a:lvl4pPr>
              <a:lvl5pPr marL="2057400" indent="-228600">
                <a:spcBef>
                  <a:spcPct val="20000"/>
                </a:spcBef>
                <a:buChar char="»"/>
                <a:defRPr kumimoji="1" sz="2400" b="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9pPr>
            </a:lstStyle>
            <a:p>
              <a:pPr eaLnBrk="1" hangingPunct="1">
                <a:spcBef>
                  <a:spcPct val="0"/>
                </a:spcBef>
                <a:buFontTx/>
                <a:buNone/>
              </a:pPr>
              <a:r>
                <a:rPr lang="en-US" altLang="zh-TW" sz="2400" dirty="0">
                  <a:latin typeface="Times New Roman"/>
                  <a:ea typeface="微軟正黑體"/>
                  <a:cs typeface="Arial" panose="020B0604020202020204" pitchFamily="34" charset="0"/>
                </a:rPr>
                <a:t>2-6</a:t>
              </a:r>
              <a:endParaRPr lang="zh-TW" altLang="en-US" sz="2400" dirty="0">
                <a:solidFill>
                  <a:schemeClr val="tx1"/>
                </a:solidFill>
                <a:latin typeface="Times New Roman"/>
                <a:ea typeface="微軟正黑體"/>
                <a:cs typeface="Arial" panose="020B0604020202020204" pitchFamily="34" charset="0"/>
              </a:endParaRPr>
            </a:p>
          </p:txBody>
        </p:sp>
        <p:sp>
          <p:nvSpPr>
            <p:cNvPr id="58" name="sub-1-2-2" descr="SubName">
              <a:hlinkClick r:id="rId19" action="ppaction://hlinksldjump"/>
            </p:cNvPr>
            <p:cNvSpPr txBox="1">
              <a:spLocks noChangeArrowheads="1"/>
            </p:cNvSpPr>
            <p:nvPr>
              <p:custDataLst>
                <p:tags r:id="rId13"/>
              </p:custDataLst>
            </p:nvPr>
          </p:nvSpPr>
          <p:spPr bwMode="auto">
            <a:xfrm>
              <a:off x="1691680" y="2030967"/>
              <a:ext cx="3631882" cy="369332"/>
            </a:xfrm>
            <a:prstGeom prst="rect">
              <a:avLst/>
            </a:prstGeom>
            <a:noFill/>
            <a:ln>
              <a:noFill/>
            </a:ln>
          </p:spPr>
          <p:txBody>
            <a:bodyPr wrap="square" lIns="0" tIns="0" rIns="0" bIns="0" anchor="ctr">
              <a:spAutoFit/>
            </a:bodyPr>
            <a:lstStyle>
              <a:lvl1pPr eaLnBrk="0" hangingPunct="0">
                <a:defRPr kumimoji="1">
                  <a:solidFill>
                    <a:schemeClr val="tx1"/>
                  </a:solidFill>
                  <a:latin typeface="Times New Roman" pitchFamily="18" charset="0"/>
                  <a:ea typeface="新細明體" pitchFamily="18" charset="-120"/>
                </a:defRPr>
              </a:lvl1pPr>
              <a:lvl2pPr marL="742950" indent="-285750" eaLnBrk="0" hangingPunct="0">
                <a:defRPr kumimoji="1">
                  <a:solidFill>
                    <a:schemeClr val="tx1"/>
                  </a:solidFill>
                  <a:latin typeface="Times New Roman" pitchFamily="18" charset="0"/>
                  <a:ea typeface="新細明體" pitchFamily="18" charset="-120"/>
                </a:defRPr>
              </a:lvl2pPr>
              <a:lvl3pPr marL="1143000" indent="-228600" eaLnBrk="0" hangingPunct="0">
                <a:defRPr kumimoji="1">
                  <a:solidFill>
                    <a:schemeClr val="tx1"/>
                  </a:solidFill>
                  <a:latin typeface="Times New Roman" pitchFamily="18" charset="0"/>
                  <a:ea typeface="新細明體" pitchFamily="18" charset="-120"/>
                </a:defRPr>
              </a:lvl3pPr>
              <a:lvl4pPr marL="1600200" indent="-228600" eaLnBrk="0" hangingPunct="0">
                <a:defRPr kumimoji="1">
                  <a:solidFill>
                    <a:schemeClr val="tx1"/>
                  </a:solidFill>
                  <a:latin typeface="Times New Roman" pitchFamily="18" charset="0"/>
                  <a:ea typeface="新細明體" pitchFamily="18" charset="-120"/>
                </a:defRPr>
              </a:lvl4pPr>
              <a:lvl5pPr marL="2057400" indent="-228600" eaLnBrk="0" hangingPunct="0">
                <a:defRPr kumimoji="1">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9pPr>
            </a:lstStyle>
            <a:p>
              <a:r>
                <a:rPr kumimoji="0" lang="zh-TW" altLang="en-US" sz="2400" b="1" spc="-150" dirty="0">
                  <a:latin typeface="Times New Roman"/>
                  <a:ea typeface="微軟正黑體"/>
                </a:rPr>
                <a:t>拋射體運動</a:t>
              </a:r>
            </a:p>
          </p:txBody>
        </p:sp>
      </p:grpSp>
      <p:cxnSp>
        <p:nvCxnSpPr>
          <p:cNvPr id="59" name="temp3"/>
          <p:cNvCxnSpPr/>
          <p:nvPr>
            <p:custDataLst>
              <p:tags r:id="rId5"/>
            </p:custDataLst>
          </p:nvPr>
        </p:nvCxnSpPr>
        <p:spPr bwMode="auto">
          <a:xfrm>
            <a:off x="984875" y="3104322"/>
            <a:ext cx="2199539" cy="15214"/>
          </a:xfrm>
          <a:prstGeom prst="line">
            <a:avLst/>
          </a:prstGeom>
          <a:solidFill>
            <a:schemeClr val="accent1"/>
          </a:solidFill>
          <a:ln w="22225" cap="flat" cmpd="sng" algn="ctr">
            <a:solidFill>
              <a:schemeClr val="tx1"/>
            </a:solidFill>
            <a:prstDash val="solid"/>
            <a:round/>
            <a:headEnd type="none" w="med" len="med"/>
            <a:tailEnd type="none" w="med" len="med"/>
          </a:ln>
          <a:effectLst/>
        </p:spPr>
      </p:cxnSp>
      <p:pic>
        <p:nvPicPr>
          <p:cNvPr id="60" name="temp4"/>
          <p:cNvPicPr>
            <a:picLocks noChangeAspect="1" noChangeArrowheads="1"/>
          </p:cNvPicPr>
          <p:nvPr>
            <p:custDataLst>
              <p:tags r:id="rId6"/>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539552" y="2740480"/>
            <a:ext cx="328240" cy="32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1" name="群組 60"/>
          <p:cNvGrpSpPr/>
          <p:nvPr/>
        </p:nvGrpSpPr>
        <p:grpSpPr>
          <a:xfrm>
            <a:off x="939800" y="3241477"/>
            <a:ext cx="4632324" cy="369334"/>
            <a:chOff x="939800" y="2030965"/>
            <a:chExt cx="4632324" cy="369334"/>
          </a:xfrm>
        </p:grpSpPr>
        <p:sp>
          <p:nvSpPr>
            <p:cNvPr id="62" name="sub-1-2-1" descr="SubNo">
              <a:hlinkClick r:id="rId19" action="ppaction://hlinksldjump"/>
            </p:cNvPr>
            <p:cNvSpPr txBox="1">
              <a:spLocks noChangeArrowheads="1"/>
            </p:cNvSpPr>
            <p:nvPr>
              <p:custDataLst>
                <p:tags r:id="rId10"/>
              </p:custDataLst>
            </p:nvPr>
          </p:nvSpPr>
          <p:spPr bwMode="auto">
            <a:xfrm>
              <a:off x="939800" y="2030965"/>
              <a:ext cx="10658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Char char="•"/>
                <a:defRPr kumimoji="1" sz="3200" b="1">
                  <a:solidFill>
                    <a:srgbClr val="1C1C1C"/>
                  </a:solidFill>
                  <a:latin typeface="Times New Roman" pitchFamily="18" charset="0"/>
                  <a:ea typeface="微軟正黑體" pitchFamily="34" charset="-120"/>
                </a:defRPr>
              </a:lvl1pPr>
              <a:lvl2pPr marL="742950" indent="-285750">
                <a:spcBef>
                  <a:spcPct val="20000"/>
                </a:spcBef>
                <a:buChar char="–"/>
                <a:defRPr sz="2800" b="1">
                  <a:solidFill>
                    <a:srgbClr val="006666"/>
                  </a:solidFill>
                  <a:latin typeface="Times New Roman" pitchFamily="18" charset="0"/>
                  <a:ea typeface="標楷體" pitchFamily="65" charset="-120"/>
                </a:defRPr>
              </a:lvl2pPr>
              <a:lvl3pPr marL="1143000" indent="-228600">
                <a:spcBef>
                  <a:spcPct val="20000"/>
                </a:spcBef>
                <a:buChar char="•"/>
                <a:defRPr kumimoji="1" sz="2400" b="1">
                  <a:solidFill>
                    <a:schemeClr val="tx1"/>
                  </a:solidFill>
                  <a:latin typeface="Times New Roman" pitchFamily="18" charset="0"/>
                  <a:ea typeface="標楷體" pitchFamily="65" charset="-120"/>
                </a:defRPr>
              </a:lvl3pPr>
              <a:lvl4pPr marL="1600200" indent="-228600">
                <a:spcBef>
                  <a:spcPct val="20000"/>
                </a:spcBef>
                <a:buChar char="–"/>
                <a:defRPr kumimoji="1" sz="2400" b="1">
                  <a:solidFill>
                    <a:schemeClr val="tx1"/>
                  </a:solidFill>
                  <a:latin typeface="Times New Roman" pitchFamily="18" charset="0"/>
                  <a:ea typeface="標楷體" pitchFamily="65" charset="-120"/>
                </a:defRPr>
              </a:lvl4pPr>
              <a:lvl5pPr marL="2057400" indent="-228600">
                <a:spcBef>
                  <a:spcPct val="20000"/>
                </a:spcBef>
                <a:buChar char="»"/>
                <a:defRPr kumimoji="1" sz="2400" b="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buChar char="»"/>
                <a:defRPr kumimoji="1" sz="2400" b="1">
                  <a:solidFill>
                    <a:schemeClr val="tx1"/>
                  </a:solidFill>
                  <a:latin typeface="Times New Roman" pitchFamily="18" charset="0"/>
                  <a:ea typeface="標楷體" pitchFamily="65" charset="-120"/>
                </a:defRPr>
              </a:lvl9pPr>
            </a:lstStyle>
            <a:p>
              <a:pPr eaLnBrk="1" hangingPunct="1">
                <a:spcBef>
                  <a:spcPct val="0"/>
                </a:spcBef>
                <a:buFontTx/>
                <a:buNone/>
              </a:pPr>
              <a:r>
                <a:rPr lang="en-US" altLang="zh-TW" sz="2400" dirty="0">
                  <a:latin typeface="Times New Roman"/>
                  <a:ea typeface="微軟正黑體"/>
                  <a:cs typeface="Arial" panose="020B0604020202020204" pitchFamily="34" charset="0"/>
                </a:rPr>
                <a:t>2-7</a:t>
              </a:r>
              <a:endParaRPr lang="zh-TW" altLang="en-US" sz="2400" dirty="0">
                <a:solidFill>
                  <a:schemeClr val="tx1"/>
                </a:solidFill>
                <a:latin typeface="Times New Roman"/>
                <a:ea typeface="微軟正黑體"/>
                <a:cs typeface="Arial" panose="020B0604020202020204" pitchFamily="34" charset="0"/>
              </a:endParaRPr>
            </a:p>
          </p:txBody>
        </p:sp>
        <p:sp>
          <p:nvSpPr>
            <p:cNvPr id="63" name="sub-1-2-2" descr="SubName">
              <a:hlinkClick r:id="rId19" action="ppaction://hlinksldjump"/>
            </p:cNvPr>
            <p:cNvSpPr txBox="1">
              <a:spLocks noChangeArrowheads="1"/>
            </p:cNvSpPr>
            <p:nvPr>
              <p:custDataLst>
                <p:tags r:id="rId11"/>
              </p:custDataLst>
            </p:nvPr>
          </p:nvSpPr>
          <p:spPr bwMode="auto">
            <a:xfrm>
              <a:off x="1691679" y="2030967"/>
              <a:ext cx="3880445" cy="369332"/>
            </a:xfrm>
            <a:prstGeom prst="rect">
              <a:avLst/>
            </a:prstGeom>
            <a:noFill/>
            <a:ln>
              <a:noFill/>
            </a:ln>
          </p:spPr>
          <p:txBody>
            <a:bodyPr wrap="square" lIns="0" tIns="0" rIns="0" bIns="0" anchor="ctr">
              <a:spAutoFit/>
            </a:bodyPr>
            <a:lstStyle>
              <a:lvl1pPr eaLnBrk="0" hangingPunct="0">
                <a:defRPr kumimoji="1">
                  <a:solidFill>
                    <a:schemeClr val="tx1"/>
                  </a:solidFill>
                  <a:latin typeface="Times New Roman" pitchFamily="18" charset="0"/>
                  <a:ea typeface="新細明體" pitchFamily="18" charset="-120"/>
                </a:defRPr>
              </a:lvl1pPr>
              <a:lvl2pPr marL="742950" indent="-285750" eaLnBrk="0" hangingPunct="0">
                <a:defRPr kumimoji="1">
                  <a:solidFill>
                    <a:schemeClr val="tx1"/>
                  </a:solidFill>
                  <a:latin typeface="Times New Roman" pitchFamily="18" charset="0"/>
                  <a:ea typeface="新細明體" pitchFamily="18" charset="-120"/>
                </a:defRPr>
              </a:lvl2pPr>
              <a:lvl3pPr marL="1143000" indent="-228600" eaLnBrk="0" hangingPunct="0">
                <a:defRPr kumimoji="1">
                  <a:solidFill>
                    <a:schemeClr val="tx1"/>
                  </a:solidFill>
                  <a:latin typeface="Times New Roman" pitchFamily="18" charset="0"/>
                  <a:ea typeface="新細明體" pitchFamily="18" charset="-120"/>
                </a:defRPr>
              </a:lvl3pPr>
              <a:lvl4pPr marL="1600200" indent="-228600" eaLnBrk="0" hangingPunct="0">
                <a:defRPr kumimoji="1">
                  <a:solidFill>
                    <a:schemeClr val="tx1"/>
                  </a:solidFill>
                  <a:latin typeface="Times New Roman" pitchFamily="18" charset="0"/>
                  <a:ea typeface="新細明體" pitchFamily="18" charset="-120"/>
                </a:defRPr>
              </a:lvl4pPr>
              <a:lvl5pPr marL="2057400" indent="-228600" eaLnBrk="0" hangingPunct="0">
                <a:defRPr kumimoji="1">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新細明體" pitchFamily="18" charset="-120"/>
                </a:defRPr>
              </a:lvl9pPr>
            </a:lstStyle>
            <a:p>
              <a:r>
                <a:rPr kumimoji="0" lang="zh-TW" altLang="en-US" sz="2400" b="1" spc="-150" dirty="0">
                  <a:latin typeface="Times New Roman"/>
                  <a:ea typeface="微軟正黑體"/>
                </a:rPr>
                <a:t>曲線運動的極座標與圓柱座標</a:t>
              </a:r>
            </a:p>
          </p:txBody>
        </p:sp>
      </p:grpSp>
      <p:pic>
        <p:nvPicPr>
          <p:cNvPr id="64" name="temp4"/>
          <p:cNvPicPr>
            <a:picLocks noChangeAspect="1" noChangeArrowheads="1"/>
          </p:cNvPicPr>
          <p:nvPr>
            <p:custDataLst>
              <p:tags r:id="rId7"/>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539552" y="3231753"/>
            <a:ext cx="328240" cy="32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6" name="temp3"/>
          <p:cNvCxnSpPr/>
          <p:nvPr>
            <p:custDataLst>
              <p:tags r:id="rId8"/>
            </p:custDataLst>
          </p:nvPr>
        </p:nvCxnSpPr>
        <p:spPr bwMode="auto">
          <a:xfrm>
            <a:off x="984875" y="2608272"/>
            <a:ext cx="3291850" cy="15216"/>
          </a:xfrm>
          <a:prstGeom prst="line">
            <a:avLst/>
          </a:prstGeom>
          <a:solidFill>
            <a:schemeClr val="accent1"/>
          </a:solidFill>
          <a:ln w="22225" cap="flat" cmpd="sng" algn="ctr">
            <a:solidFill>
              <a:schemeClr val="tx1"/>
            </a:solidFill>
            <a:prstDash val="solid"/>
            <a:round/>
            <a:headEnd type="none" w="med" len="med"/>
            <a:tailEnd type="none" w="med" len="med"/>
          </a:ln>
          <a:effectLst/>
        </p:spPr>
      </p:cxnSp>
      <p:cxnSp>
        <p:nvCxnSpPr>
          <p:cNvPr id="67" name="temp3"/>
          <p:cNvCxnSpPr/>
          <p:nvPr>
            <p:custDataLst>
              <p:tags r:id="rId9"/>
            </p:custDataLst>
          </p:nvPr>
        </p:nvCxnSpPr>
        <p:spPr bwMode="auto">
          <a:xfrm>
            <a:off x="984875" y="3610811"/>
            <a:ext cx="4434850" cy="16386"/>
          </a:xfrm>
          <a:prstGeom prst="line">
            <a:avLst/>
          </a:prstGeom>
          <a:solidFill>
            <a:schemeClr val="accent1"/>
          </a:solidFill>
          <a:ln w="22225" cap="flat" cmpd="sng" algn="ctr">
            <a:solidFill>
              <a:schemeClr val="tx1"/>
            </a:solidFill>
            <a:prstDash val="solid"/>
            <a:round/>
            <a:headEnd type="none" w="med" len="med"/>
            <a:tailEnd type="none" w="med" len="med"/>
          </a:ln>
          <a:effectLst/>
        </p:spPr>
      </p:cxnSp>
      <p:sp>
        <p:nvSpPr>
          <p:cNvPr id="24" name="矩形 23">
            <a:hlinkClick r:id="rId19" action="ppaction://hlinksldjump"/>
          </p:cNvPr>
          <p:cNvSpPr/>
          <p:nvPr/>
        </p:nvSpPr>
        <p:spPr>
          <a:xfrm>
            <a:off x="984875" y="1752806"/>
            <a:ext cx="5454562" cy="369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hlinkClick r:id="rId19" action="ppaction://hlinksldjump"/>
          </p:cNvPr>
          <p:cNvSpPr/>
          <p:nvPr/>
        </p:nvSpPr>
        <p:spPr>
          <a:xfrm>
            <a:off x="984875" y="2242090"/>
            <a:ext cx="5454562" cy="369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hlinkClick r:id="rId21" action="ppaction://hlinksldjump"/>
          </p:cNvPr>
          <p:cNvSpPr/>
          <p:nvPr/>
        </p:nvSpPr>
        <p:spPr>
          <a:xfrm>
            <a:off x="984875" y="2742476"/>
            <a:ext cx="5454562" cy="369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hlinkClick r:id="rId22" action="ppaction://hlinksldjump"/>
          </p:cNvPr>
          <p:cNvSpPr/>
          <p:nvPr/>
        </p:nvSpPr>
        <p:spPr>
          <a:xfrm>
            <a:off x="984875" y="3257861"/>
            <a:ext cx="5454562" cy="369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hlinkClick r:id="rId19" action="ppaction://hlinksldjump"/>
          </p:cNvPr>
          <p:cNvSpPr/>
          <p:nvPr/>
        </p:nvSpPr>
        <p:spPr>
          <a:xfrm>
            <a:off x="539552" y="1212879"/>
            <a:ext cx="5454562" cy="369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94865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第 2 章　質點運動學：全章地圖</a:t>
            </a:r>
          </a:p>
        </p:txBody>
      </p:sp>
      <p:sp>
        <p:nvSpPr>
          <p:cNvPr id="11" name="S11"/>
          <p:cNvSpPr/>
          <p:nvPr/>
        </p:nvSpPr>
        <p:spPr>
          <a:xfrm>
            <a:off x="320040" y="868680"/>
            <a:ext cx="2697480" cy="2788920"/>
          </a:xfrm>
          <a:prstGeom prst="roundRect">
            <a:avLst/>
          </a:prstGeom>
          <a:solidFill>
            <a:srgbClr val="FFFFFF"/>
          </a:solidFill>
          <a:ln w="12700">
            <a:solidFill>
              <a:srgbClr val="D5DAE3"/>
            </a:solidFill>
          </a:ln>
        </p:spPr>
        <p:txBody>
          <a:bodyPr/>
          <a:lstStyle/>
          <a:p>
            <a:endParaRPr lang="zh-TW" altLang="en-US"/>
          </a:p>
        </p:txBody>
      </p:sp>
      <p:sp>
        <p:nvSpPr>
          <p:cNvPr id="12" name="T12"/>
          <p:cNvSpPr txBox="1"/>
          <p:nvPr/>
        </p:nvSpPr>
        <p:spPr>
          <a:xfrm>
            <a:off x="429768" y="914400"/>
            <a:ext cx="25146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E86AB"/>
                </a:solidFill>
                <a:latin typeface="Calibri"/>
                <a:ea typeface="微軟正黑體"/>
                <a:cs typeface="Calibri"/>
              </a:rPr>
              <a:t>第一部分</a:t>
            </a:r>
            <a:endParaRPr lang="zh-TW" sz="2400"/>
          </a:p>
        </p:txBody>
      </p:sp>
      <p:sp>
        <p:nvSpPr>
          <p:cNvPr id="13" name="T13"/>
          <p:cNvSpPr txBox="1"/>
          <p:nvPr/>
        </p:nvSpPr>
        <p:spPr>
          <a:xfrm>
            <a:off x="429768" y="1298448"/>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600" b="1" dirty="0">
                <a:solidFill>
                  <a:srgbClr val="2B3050"/>
                </a:solidFill>
                <a:latin typeface="Calibri"/>
                <a:ea typeface="微軟正黑體"/>
                <a:cs typeface="Calibri"/>
              </a:rPr>
              <a:t>直線運動</a:t>
            </a:r>
            <a:endParaRPr lang="zh-TW" sz="2600"/>
          </a:p>
        </p:txBody>
      </p:sp>
      <p:sp>
        <p:nvSpPr>
          <p:cNvPr id="14" name="T14"/>
          <p:cNvSpPr txBox="1"/>
          <p:nvPr/>
        </p:nvSpPr>
        <p:spPr>
          <a:xfrm>
            <a:off x="429768" y="1828800"/>
            <a:ext cx="2514600" cy="17830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2-1 位移、速度、</a:t>
            </a:r>
            <a:endParaRPr lang="zh-TW" sz="2400"/>
          </a:p>
          <a:p>
            <a:pPr algn="l">
              <a:lnSpc>
                <a:spcPct val="100000"/>
              </a:lnSpc>
              <a:buNone/>
            </a:pPr>
            <a:r>
              <a:rPr lang="zh-TW" altLang="en-US" sz="2400" b="0" dirty="0">
                <a:solidFill>
                  <a:srgbClr val="2B3050"/>
                </a:solidFill>
                <a:latin typeface="Calibri"/>
                <a:ea typeface="微軟正黑體"/>
                <a:cs typeface="Calibri"/>
              </a:rPr>
              <a:t>　　 加速度</a:t>
            </a:r>
            <a:endParaRPr lang="zh-TW" sz="2400"/>
          </a:p>
          <a:p>
            <a:pPr algn="l">
              <a:lnSpc>
                <a:spcPct val="100000"/>
              </a:lnSpc>
              <a:buNone/>
            </a:pPr>
            <a:r>
              <a:rPr lang="zh-TW" altLang="en-US" sz="2400" b="0" dirty="0">
                <a:solidFill>
                  <a:srgbClr val="2B3050"/>
                </a:solidFill>
                <a:latin typeface="Calibri"/>
                <a:ea typeface="微軟正黑體"/>
                <a:cs typeface="Calibri"/>
              </a:rPr>
              <a:t>2-2 圖解法</a:t>
            </a:r>
            <a:endParaRPr lang="zh-TW" sz="2400"/>
          </a:p>
          <a:p>
            <a:pPr algn="l">
              <a:lnSpc>
                <a:spcPct val="100000"/>
              </a:lnSpc>
              <a:buNone/>
            </a:pPr>
            <a:r>
              <a:rPr lang="zh-TW" altLang="en-US" sz="2400" b="0" dirty="0">
                <a:solidFill>
                  <a:srgbClr val="2B3050"/>
                </a:solidFill>
                <a:latin typeface="Calibri"/>
                <a:ea typeface="微軟正黑體"/>
                <a:cs typeface="Calibri"/>
              </a:rPr>
              <a:t>2-3 相依運動</a:t>
            </a:r>
            <a:endParaRPr lang="zh-TW" sz="2400"/>
          </a:p>
        </p:txBody>
      </p:sp>
      <p:sp>
        <p:nvSpPr>
          <p:cNvPr id="15" name="S15"/>
          <p:cNvSpPr/>
          <p:nvPr/>
        </p:nvSpPr>
        <p:spPr>
          <a:xfrm>
            <a:off x="3172968" y="868680"/>
            <a:ext cx="2697480" cy="2788920"/>
          </a:xfrm>
          <a:prstGeom prst="roundRect">
            <a:avLst/>
          </a:prstGeom>
          <a:solidFill>
            <a:srgbClr val="FFF4E6"/>
          </a:solidFill>
          <a:ln w="12700">
            <a:solidFill>
              <a:srgbClr val="E8871E"/>
            </a:solidFill>
          </a:ln>
        </p:spPr>
        <p:txBody>
          <a:bodyPr/>
          <a:lstStyle/>
          <a:p>
            <a:endParaRPr lang="zh-TW" altLang="en-US"/>
          </a:p>
        </p:txBody>
      </p:sp>
      <p:sp>
        <p:nvSpPr>
          <p:cNvPr id="16" name="T16"/>
          <p:cNvSpPr txBox="1"/>
          <p:nvPr/>
        </p:nvSpPr>
        <p:spPr>
          <a:xfrm>
            <a:off x="3282696" y="914400"/>
            <a:ext cx="25146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E8871E"/>
                </a:solidFill>
                <a:latin typeface="Calibri"/>
                <a:ea typeface="微軟正黑體"/>
                <a:cs typeface="Calibri"/>
              </a:rPr>
              <a:t>第二部分 ★本份</a:t>
            </a:r>
            <a:endParaRPr lang="zh-TW" sz="2400"/>
          </a:p>
        </p:txBody>
      </p:sp>
      <p:sp>
        <p:nvSpPr>
          <p:cNvPr id="17" name="T17"/>
          <p:cNvSpPr txBox="1"/>
          <p:nvPr/>
        </p:nvSpPr>
        <p:spPr>
          <a:xfrm>
            <a:off x="3282696" y="1298448"/>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600" b="1" dirty="0">
                <a:solidFill>
                  <a:srgbClr val="2B3050"/>
                </a:solidFill>
                <a:latin typeface="Calibri"/>
                <a:ea typeface="微軟正黑體"/>
                <a:cs typeface="Calibri"/>
              </a:rPr>
              <a:t>曲線運動</a:t>
            </a:r>
            <a:endParaRPr lang="zh-TW" sz="2600"/>
          </a:p>
        </p:txBody>
      </p:sp>
      <p:sp>
        <p:nvSpPr>
          <p:cNvPr id="18" name="T18"/>
          <p:cNvSpPr txBox="1"/>
          <p:nvPr/>
        </p:nvSpPr>
        <p:spPr>
          <a:xfrm>
            <a:off x="3282696" y="1828800"/>
            <a:ext cx="2514600" cy="17830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2-4 向量表示</a:t>
            </a:r>
            <a:endParaRPr lang="zh-TW" sz="2400"/>
          </a:p>
          <a:p>
            <a:pPr algn="l">
              <a:lnSpc>
                <a:spcPct val="100000"/>
              </a:lnSpc>
              <a:buNone/>
            </a:pPr>
            <a:r>
              <a:rPr lang="zh-TW" altLang="en-US" sz="2400" b="0" dirty="0">
                <a:solidFill>
                  <a:srgbClr val="2B3050"/>
                </a:solidFill>
                <a:latin typeface="Calibri"/>
                <a:ea typeface="微軟正黑體"/>
                <a:cs typeface="Calibri"/>
              </a:rPr>
              <a:t>2-5 直角座標</a:t>
            </a:r>
            <a:endParaRPr lang="zh-TW" sz="2400"/>
          </a:p>
          <a:p>
            <a:pPr algn="l">
              <a:lnSpc>
                <a:spcPct val="100000"/>
              </a:lnSpc>
              <a:buNone/>
            </a:pPr>
            <a:r>
              <a:rPr lang="zh-TW" altLang="en-US" sz="2400" b="0" dirty="0">
                <a:solidFill>
                  <a:srgbClr val="2B3050"/>
                </a:solidFill>
                <a:latin typeface="Calibri"/>
                <a:ea typeface="微軟正黑體"/>
                <a:cs typeface="Calibri"/>
              </a:rPr>
              <a:t>2-6 拋射體</a:t>
            </a:r>
            <a:endParaRPr lang="zh-TW" sz="2400"/>
          </a:p>
          <a:p>
            <a:pPr algn="l">
              <a:lnSpc>
                <a:spcPct val="100000"/>
              </a:lnSpc>
              <a:buNone/>
            </a:pPr>
            <a:r>
              <a:rPr lang="zh-TW" altLang="en-US" sz="2400" b="0" dirty="0">
                <a:solidFill>
                  <a:srgbClr val="2B3050"/>
                </a:solidFill>
                <a:latin typeface="Calibri"/>
                <a:ea typeface="微軟正黑體"/>
                <a:cs typeface="Calibri"/>
              </a:rPr>
              <a:t>2-7 極／圓柱座標</a:t>
            </a:r>
            <a:endParaRPr lang="zh-TW" sz="2400"/>
          </a:p>
        </p:txBody>
      </p:sp>
      <p:sp>
        <p:nvSpPr>
          <p:cNvPr id="19" name="S19"/>
          <p:cNvSpPr/>
          <p:nvPr/>
        </p:nvSpPr>
        <p:spPr>
          <a:xfrm>
            <a:off x="6025896" y="868680"/>
            <a:ext cx="2697480" cy="2788920"/>
          </a:xfrm>
          <a:prstGeom prst="roundRect">
            <a:avLst/>
          </a:prstGeom>
          <a:solidFill>
            <a:srgbClr val="FFFFFF"/>
          </a:solidFill>
          <a:ln w="12700">
            <a:solidFill>
              <a:srgbClr val="D5DAE3"/>
            </a:solidFill>
          </a:ln>
        </p:spPr>
        <p:txBody>
          <a:bodyPr/>
          <a:lstStyle/>
          <a:p>
            <a:endParaRPr lang="zh-TW" altLang="en-US"/>
          </a:p>
        </p:txBody>
      </p:sp>
      <p:sp>
        <p:nvSpPr>
          <p:cNvPr id="20" name="T20"/>
          <p:cNvSpPr txBox="1"/>
          <p:nvPr/>
        </p:nvSpPr>
        <p:spPr>
          <a:xfrm>
            <a:off x="6135624" y="914400"/>
            <a:ext cx="25146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3A9E5C"/>
                </a:solidFill>
                <a:latin typeface="Calibri"/>
                <a:ea typeface="微軟正黑體"/>
                <a:cs typeface="Calibri"/>
              </a:rPr>
              <a:t>第三部分</a:t>
            </a:r>
            <a:endParaRPr lang="zh-TW" sz="2400"/>
          </a:p>
        </p:txBody>
      </p:sp>
      <p:sp>
        <p:nvSpPr>
          <p:cNvPr id="21" name="T21"/>
          <p:cNvSpPr txBox="1"/>
          <p:nvPr/>
        </p:nvSpPr>
        <p:spPr>
          <a:xfrm>
            <a:off x="6135624" y="1298448"/>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座標與相對運動</a:t>
            </a:r>
            <a:endParaRPr lang="zh-TW" sz="2400"/>
          </a:p>
        </p:txBody>
      </p:sp>
      <p:sp>
        <p:nvSpPr>
          <p:cNvPr id="22" name="T22"/>
          <p:cNvSpPr txBox="1"/>
          <p:nvPr/>
        </p:nvSpPr>
        <p:spPr>
          <a:xfrm>
            <a:off x="6135624" y="1828800"/>
            <a:ext cx="2514600" cy="17830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2-8 切線法線座標</a:t>
            </a:r>
            <a:endParaRPr lang="zh-TW" sz="2400"/>
          </a:p>
          <a:p>
            <a:pPr algn="l">
              <a:lnSpc>
                <a:spcPct val="100000"/>
              </a:lnSpc>
              <a:buNone/>
            </a:pPr>
            <a:r>
              <a:rPr lang="zh-TW" altLang="en-US" sz="2400" b="0" dirty="0">
                <a:solidFill>
                  <a:srgbClr val="2B3050"/>
                </a:solidFill>
                <a:latin typeface="Calibri"/>
                <a:ea typeface="微軟正黑體"/>
                <a:cs typeface="Calibri"/>
              </a:rPr>
              <a:t>2-9 相對運動</a:t>
            </a:r>
            <a:endParaRPr lang="zh-TW" sz="2400"/>
          </a:p>
        </p:txBody>
      </p:sp>
      <p:sp>
        <p:nvSpPr>
          <p:cNvPr id="23" name="T23"/>
          <p:cNvSpPr txBox="1"/>
          <p:nvPr/>
        </p:nvSpPr>
        <p:spPr>
          <a:xfrm>
            <a:off x="320040" y="3794760"/>
            <a:ext cx="8403336" cy="960120"/>
          </a:xfrm>
          <a:prstGeom prst="roundRect">
            <a:avLst/>
          </a:prstGeom>
          <a:solidFill>
            <a:srgbClr val="E4E8F0"/>
          </a:solidFill>
          <a:ln>
            <a:noFill/>
          </a:ln>
        </p:spPr>
        <p:txBody>
          <a:bodyPr wrap="square" lIns="164592" tIns="82296" rIns="164592" bIns="82296" anchor="ctr">
            <a:noAutofit/>
          </a:bodyPr>
          <a:lstStyle/>
          <a:p>
            <a:pPr algn="l">
              <a:lnSpc>
                <a:spcPct val="100000"/>
              </a:lnSpc>
              <a:buNone/>
            </a:pPr>
            <a:r>
              <a:rPr lang="zh-TW" altLang="en-US" sz="2400" b="1" dirty="0">
                <a:solidFill>
                  <a:srgbClr val="2B3050"/>
                </a:solidFill>
                <a:latin typeface="Calibri"/>
                <a:ea typeface="微軟正黑體"/>
                <a:cs typeface="Calibri"/>
              </a:rPr>
              <a:t>先描述：在哪裡、跑多快、加速度多少</a:t>
            </a:r>
            <a:endParaRPr lang="zh-TW" sz="2400"/>
          </a:p>
          <a:p>
            <a:pPr algn="l">
              <a:lnSpc>
                <a:spcPct val="100000"/>
              </a:lnSpc>
              <a:buNone/>
            </a:pPr>
            <a:r>
              <a:rPr lang="zh-TW" altLang="en-US" sz="2400" b="0" dirty="0">
                <a:solidFill>
                  <a:srgbClr val="8A8F9C"/>
                </a:solidFill>
                <a:latin typeface="Calibri"/>
                <a:ea typeface="微軟正黑體"/>
                <a:cs typeface="Calibri"/>
              </a:rPr>
              <a:t>把同一套方法用在進給軸與手臂軌跡</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同一段運動，座標怎麼選？</a:t>
            </a:r>
          </a:p>
        </p:txBody>
      </p:sp>
      <p:sp>
        <p:nvSpPr>
          <p:cNvPr id="11" name="S11"/>
          <p:cNvSpPr/>
          <p:nvPr/>
        </p:nvSpPr>
        <p:spPr>
          <a:xfrm>
            <a:off x="320040" y="868680"/>
            <a:ext cx="2697480" cy="3364992"/>
          </a:xfrm>
          <a:prstGeom prst="roundRect">
            <a:avLst/>
          </a:prstGeom>
          <a:solidFill>
            <a:srgbClr val="FFFFFF"/>
          </a:solidFill>
          <a:ln w="12700">
            <a:solidFill>
              <a:srgbClr val="D5DAE3"/>
            </a:solidFill>
          </a:ln>
        </p:spPr>
        <p:txBody>
          <a:bodyPr/>
          <a:lstStyle/>
          <a:p>
            <a:endParaRPr lang="zh-TW" altLang="en-US"/>
          </a:p>
        </p:txBody>
      </p:sp>
      <p:sp>
        <p:nvSpPr>
          <p:cNvPr id="12" name="T12"/>
          <p:cNvSpPr txBox="1"/>
          <p:nvPr/>
        </p:nvSpPr>
        <p:spPr>
          <a:xfrm>
            <a:off x="320040" y="868680"/>
            <a:ext cx="2697480" cy="502920"/>
          </a:xfrm>
          <a:prstGeom prst="roundRect">
            <a:avLst/>
          </a:prstGeom>
          <a:solidFill>
            <a:srgbClr val="2E86AB"/>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直角座標</a:t>
            </a:r>
            <a:endParaRPr lang="zh-TW" sz="2400"/>
          </a:p>
        </p:txBody>
      </p:sp>
      <p:sp>
        <p:nvSpPr>
          <p:cNvPr id="13" name="T13"/>
          <p:cNvSpPr txBox="1"/>
          <p:nvPr/>
        </p:nvSpPr>
        <p:spPr>
          <a:xfrm>
            <a:off x="320040" y="1389888"/>
            <a:ext cx="2697480" cy="438912"/>
          </a:xfrm>
          <a:prstGeom prst="rect">
            <a:avLst/>
          </a:prstGeom>
          <a:noFill/>
          <a:ln>
            <a:noFill/>
          </a:ln>
        </p:spPr>
        <p:txBody>
          <a:bodyPr wrap="square" lIns="54864" tIns="27432" rIns="54864" bIns="27432" anchor="ctr">
            <a:noAutofit/>
          </a:bodyPr>
          <a:lstStyle/>
          <a:p>
            <a:pPr algn="ctr">
              <a:lnSpc>
                <a:spcPct val="100000"/>
              </a:lnSpc>
              <a:buNone/>
            </a:pPr>
            <a:r>
              <a:rPr lang="zh-TW" altLang="en-US" sz="2600" b="1" dirty="0">
                <a:solidFill>
                  <a:srgbClr val="2B3050"/>
                </a:solidFill>
                <a:latin typeface="Calibri"/>
                <a:ea typeface="微軟正黑體"/>
                <a:cs typeface="Calibri"/>
              </a:rPr>
              <a:t>x、y、z</a:t>
            </a:r>
            <a:endParaRPr lang="zh-TW" sz="2600"/>
          </a:p>
        </p:txBody>
      </p:sp>
      <p:sp>
        <p:nvSpPr>
          <p:cNvPr id="14" name="T14"/>
          <p:cNvSpPr txBox="1"/>
          <p:nvPr/>
        </p:nvSpPr>
        <p:spPr>
          <a:xfrm>
            <a:off x="429768" y="1847088"/>
            <a:ext cx="2478024" cy="402336"/>
          </a:xfrm>
          <a:prstGeom prst="roundRect">
            <a:avLst/>
          </a:prstGeom>
          <a:noFill/>
          <a:ln w="15875">
            <a:solidFill>
              <a:srgbClr val="2E86AB"/>
            </a:solidFill>
          </a:ln>
        </p:spPr>
        <p:txBody>
          <a:bodyPr wrap="square" lIns="18288" tIns="9144" rIns="18288" bIns="9144" anchor="ctr">
            <a:noAutofit/>
          </a:bodyPr>
          <a:lstStyle/>
          <a:p>
            <a:pPr algn="ctr">
              <a:lnSpc>
                <a:spcPct val="100000"/>
              </a:lnSpc>
              <a:buNone/>
            </a:pPr>
            <a:r>
              <a:rPr lang="zh-TW" altLang="en-US" sz="2400" b="0" dirty="0">
                <a:solidFill>
                  <a:srgbClr val="2E86AB"/>
                </a:solidFill>
                <a:latin typeface="Calibri"/>
                <a:ea typeface="微軟正黑體"/>
                <a:cs typeface="Calibri"/>
              </a:rPr>
              <a:t>課本 2-</a:t>
            </a:r>
            <a:r>
              <a:rPr lang="en-US" altLang="zh-TW" sz="2400" b="0" dirty="0">
                <a:solidFill>
                  <a:srgbClr val="2E86AB"/>
                </a:solidFill>
                <a:latin typeface="Calibri"/>
                <a:ea typeface="微軟正黑體"/>
                <a:cs typeface="Calibri"/>
              </a:rPr>
              <a:t>4~</a:t>
            </a:r>
            <a:r>
              <a:rPr lang="zh-TW" altLang="en-US" sz="2400" b="0" dirty="0">
                <a:solidFill>
                  <a:srgbClr val="2E86AB"/>
                </a:solidFill>
                <a:latin typeface="Calibri"/>
                <a:ea typeface="微軟正黑體"/>
                <a:cs typeface="Calibri"/>
              </a:rPr>
              <a:t>2-6</a:t>
            </a:r>
            <a:endParaRPr lang="zh-TW" sz="2400" dirty="0"/>
          </a:p>
        </p:txBody>
      </p:sp>
      <p:sp>
        <p:nvSpPr>
          <p:cNvPr id="15" name="T15"/>
          <p:cNvSpPr txBox="1"/>
          <p:nvPr/>
        </p:nvSpPr>
        <p:spPr>
          <a:xfrm>
            <a:off x="429768" y="2267712"/>
            <a:ext cx="25146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什麼時候用</a:t>
            </a:r>
            <a:endParaRPr lang="zh-TW" sz="2400"/>
          </a:p>
          <a:p>
            <a:pPr algn="l">
              <a:lnSpc>
                <a:spcPct val="100000"/>
              </a:lnSpc>
              <a:buNone/>
            </a:pPr>
            <a:r>
              <a:rPr lang="zh-TW" altLang="en-US" sz="2400" b="0" dirty="0">
                <a:solidFill>
                  <a:srgbClr val="2B3050"/>
                </a:solidFill>
                <a:latin typeface="Calibri"/>
                <a:ea typeface="微軟正黑體"/>
                <a:cs typeface="Calibri"/>
              </a:rPr>
              <a:t>直線、方格路徑</a:t>
            </a:r>
            <a:endParaRPr lang="zh-TW" sz="2400"/>
          </a:p>
        </p:txBody>
      </p:sp>
      <p:sp>
        <p:nvSpPr>
          <p:cNvPr id="16" name="T16"/>
          <p:cNvSpPr txBox="1"/>
          <p:nvPr/>
        </p:nvSpPr>
        <p:spPr>
          <a:xfrm>
            <a:off x="429768" y="3017520"/>
            <a:ext cx="2514600" cy="118872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實務對應</a:t>
            </a:r>
            <a:endParaRPr lang="zh-TW" sz="2400"/>
          </a:p>
          <a:p>
            <a:pPr algn="l">
              <a:lnSpc>
                <a:spcPct val="100000"/>
              </a:lnSpc>
              <a:buNone/>
            </a:pPr>
            <a:r>
              <a:rPr lang="zh-TW" altLang="en-US" sz="2400" b="0" dirty="0">
                <a:solidFill>
                  <a:srgbClr val="2E86AB"/>
                </a:solidFill>
                <a:latin typeface="Calibri"/>
                <a:ea typeface="微軟正黑體"/>
                <a:cs typeface="Calibri"/>
              </a:rPr>
              <a:t>三軸工具機</a:t>
            </a:r>
            <a:endParaRPr lang="zh-TW" sz="2400"/>
          </a:p>
          <a:p>
            <a:pPr algn="l">
              <a:lnSpc>
                <a:spcPct val="100000"/>
              </a:lnSpc>
              <a:buNone/>
            </a:pPr>
            <a:r>
              <a:rPr lang="zh-TW" altLang="en-US" sz="2400" b="0" dirty="0">
                <a:solidFill>
                  <a:srgbClr val="2E86AB"/>
                </a:solidFill>
                <a:latin typeface="Calibri"/>
                <a:ea typeface="微軟正黑體"/>
                <a:cs typeface="Calibri"/>
              </a:rPr>
              <a:t>X／Y／Z 進給軸</a:t>
            </a:r>
            <a:endParaRPr lang="zh-TW" sz="2400"/>
          </a:p>
        </p:txBody>
      </p:sp>
      <p:sp>
        <p:nvSpPr>
          <p:cNvPr id="17" name="S17"/>
          <p:cNvSpPr/>
          <p:nvPr/>
        </p:nvSpPr>
        <p:spPr>
          <a:xfrm>
            <a:off x="3172968" y="868680"/>
            <a:ext cx="2697480" cy="3364992"/>
          </a:xfrm>
          <a:prstGeom prst="roundRect">
            <a:avLst/>
          </a:prstGeom>
          <a:solidFill>
            <a:srgbClr val="FFFFFF"/>
          </a:solidFill>
          <a:ln w="12700">
            <a:solidFill>
              <a:srgbClr val="D5DAE3"/>
            </a:solidFill>
          </a:ln>
        </p:spPr>
        <p:txBody>
          <a:bodyPr/>
          <a:lstStyle/>
          <a:p>
            <a:endParaRPr lang="zh-TW" altLang="en-US"/>
          </a:p>
        </p:txBody>
      </p:sp>
      <p:sp>
        <p:nvSpPr>
          <p:cNvPr id="18" name="T18"/>
          <p:cNvSpPr txBox="1"/>
          <p:nvPr/>
        </p:nvSpPr>
        <p:spPr>
          <a:xfrm>
            <a:off x="3172968" y="868680"/>
            <a:ext cx="2697480" cy="502920"/>
          </a:xfrm>
          <a:prstGeom prst="roundRect">
            <a:avLst/>
          </a:prstGeom>
          <a:solidFill>
            <a:srgbClr val="E8871E"/>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極／圓柱座標</a:t>
            </a:r>
            <a:endParaRPr lang="zh-TW" sz="2400"/>
          </a:p>
        </p:txBody>
      </p:sp>
      <p:sp>
        <p:nvSpPr>
          <p:cNvPr id="19" name="T19"/>
          <p:cNvSpPr txBox="1"/>
          <p:nvPr/>
        </p:nvSpPr>
        <p:spPr>
          <a:xfrm>
            <a:off x="3172968" y="1389888"/>
            <a:ext cx="2697480" cy="438912"/>
          </a:xfrm>
          <a:prstGeom prst="rect">
            <a:avLst/>
          </a:prstGeom>
          <a:noFill/>
          <a:ln>
            <a:noFill/>
          </a:ln>
        </p:spPr>
        <p:txBody>
          <a:bodyPr wrap="square" lIns="54864" tIns="27432" rIns="54864" bIns="27432" anchor="ctr">
            <a:noAutofit/>
          </a:bodyPr>
          <a:lstStyle/>
          <a:p>
            <a:pPr algn="ctr">
              <a:lnSpc>
                <a:spcPct val="100000"/>
              </a:lnSpc>
              <a:buNone/>
            </a:pPr>
            <a:r>
              <a:rPr lang="zh-TW" altLang="en-US" sz="2600" b="1" dirty="0">
                <a:solidFill>
                  <a:srgbClr val="2B3050"/>
                </a:solidFill>
                <a:latin typeface="Calibri"/>
                <a:ea typeface="微軟正黑體"/>
                <a:cs typeface="Calibri"/>
              </a:rPr>
              <a:t>r、θ、z</a:t>
            </a:r>
            <a:endParaRPr lang="zh-TW" sz="2600"/>
          </a:p>
        </p:txBody>
      </p:sp>
      <p:sp>
        <p:nvSpPr>
          <p:cNvPr id="20" name="T20"/>
          <p:cNvSpPr txBox="1"/>
          <p:nvPr/>
        </p:nvSpPr>
        <p:spPr>
          <a:xfrm>
            <a:off x="3282696" y="1847088"/>
            <a:ext cx="2478024" cy="402336"/>
          </a:xfrm>
          <a:prstGeom prst="roundRect">
            <a:avLst/>
          </a:prstGeom>
          <a:noFill/>
          <a:ln w="15875">
            <a:solidFill>
              <a:srgbClr val="E8871E"/>
            </a:solidFill>
          </a:ln>
        </p:spPr>
        <p:txBody>
          <a:bodyPr wrap="square" lIns="18288" tIns="9144" rIns="18288" bIns="9144" anchor="ctr">
            <a:noAutofit/>
          </a:bodyPr>
          <a:lstStyle/>
          <a:p>
            <a:pPr algn="ctr">
              <a:lnSpc>
                <a:spcPct val="100000"/>
              </a:lnSpc>
              <a:buNone/>
            </a:pPr>
            <a:r>
              <a:rPr lang="zh-TW" altLang="en-US" sz="2400" b="0" dirty="0">
                <a:solidFill>
                  <a:srgbClr val="E8871E"/>
                </a:solidFill>
                <a:latin typeface="Calibri"/>
                <a:ea typeface="微軟正黑體"/>
                <a:cs typeface="Calibri"/>
              </a:rPr>
              <a:t>課本 2-7</a:t>
            </a:r>
            <a:endParaRPr lang="zh-TW" sz="2400"/>
          </a:p>
        </p:txBody>
      </p:sp>
      <p:sp>
        <p:nvSpPr>
          <p:cNvPr id="21" name="T21"/>
          <p:cNvSpPr txBox="1"/>
          <p:nvPr/>
        </p:nvSpPr>
        <p:spPr>
          <a:xfrm>
            <a:off x="3282696" y="2267712"/>
            <a:ext cx="25146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什麼時候用</a:t>
            </a:r>
            <a:endParaRPr lang="zh-TW" sz="2400"/>
          </a:p>
          <a:p>
            <a:pPr algn="l">
              <a:lnSpc>
                <a:spcPct val="100000"/>
              </a:lnSpc>
              <a:buNone/>
            </a:pPr>
            <a:r>
              <a:rPr lang="zh-TW" altLang="en-US" sz="2400" b="0" dirty="0">
                <a:solidFill>
                  <a:srgbClr val="2B3050"/>
                </a:solidFill>
                <a:latin typeface="Calibri"/>
                <a:ea typeface="微軟正黑體"/>
                <a:cs typeface="Calibri"/>
              </a:rPr>
              <a:t>繞著一個中心轉</a:t>
            </a:r>
            <a:endParaRPr lang="zh-TW" sz="2400"/>
          </a:p>
        </p:txBody>
      </p:sp>
      <p:sp>
        <p:nvSpPr>
          <p:cNvPr id="22" name="T22"/>
          <p:cNvSpPr txBox="1"/>
          <p:nvPr/>
        </p:nvSpPr>
        <p:spPr>
          <a:xfrm>
            <a:off x="3282696" y="3017520"/>
            <a:ext cx="2514600" cy="118872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實務對應</a:t>
            </a:r>
            <a:endParaRPr lang="zh-TW" sz="2400"/>
          </a:p>
          <a:p>
            <a:pPr algn="l">
              <a:lnSpc>
                <a:spcPct val="100000"/>
              </a:lnSpc>
              <a:buNone/>
            </a:pPr>
            <a:r>
              <a:rPr lang="zh-TW" altLang="en-US" sz="2400" b="0" dirty="0">
                <a:solidFill>
                  <a:srgbClr val="E8871E"/>
                </a:solidFill>
                <a:latin typeface="Calibri"/>
                <a:ea typeface="微軟正黑體"/>
                <a:cs typeface="Calibri"/>
              </a:rPr>
              <a:t>機器人旋轉關節</a:t>
            </a:r>
            <a:endParaRPr lang="zh-TW" sz="2400"/>
          </a:p>
          <a:p>
            <a:pPr algn="l">
              <a:lnSpc>
                <a:spcPct val="100000"/>
              </a:lnSpc>
              <a:buNone/>
            </a:pPr>
            <a:r>
              <a:rPr lang="zh-TW" altLang="en-US" sz="2400" b="0" dirty="0">
                <a:solidFill>
                  <a:srgbClr val="E8871E"/>
                </a:solidFill>
                <a:latin typeface="Calibri"/>
                <a:ea typeface="微軟正黑體"/>
                <a:cs typeface="Calibri"/>
              </a:rPr>
              <a:t>車床主軸</a:t>
            </a:r>
            <a:endParaRPr lang="zh-TW" sz="2400"/>
          </a:p>
        </p:txBody>
      </p:sp>
      <p:sp>
        <p:nvSpPr>
          <p:cNvPr id="23" name="S23"/>
          <p:cNvSpPr/>
          <p:nvPr/>
        </p:nvSpPr>
        <p:spPr>
          <a:xfrm>
            <a:off x="6025896" y="868680"/>
            <a:ext cx="2697480" cy="3364992"/>
          </a:xfrm>
          <a:prstGeom prst="roundRect">
            <a:avLst/>
          </a:prstGeom>
          <a:solidFill>
            <a:srgbClr val="FFFFFF"/>
          </a:solidFill>
          <a:ln w="12700">
            <a:solidFill>
              <a:srgbClr val="D5DAE3"/>
            </a:solidFill>
          </a:ln>
        </p:spPr>
        <p:txBody>
          <a:bodyPr/>
          <a:lstStyle/>
          <a:p>
            <a:endParaRPr lang="zh-TW" altLang="en-US"/>
          </a:p>
        </p:txBody>
      </p:sp>
      <p:sp>
        <p:nvSpPr>
          <p:cNvPr id="24" name="T24"/>
          <p:cNvSpPr txBox="1"/>
          <p:nvPr/>
        </p:nvSpPr>
        <p:spPr>
          <a:xfrm>
            <a:off x="6025896" y="868680"/>
            <a:ext cx="2697480" cy="502920"/>
          </a:xfrm>
          <a:prstGeom prst="roundRect">
            <a:avLst/>
          </a:prstGeom>
          <a:solidFill>
            <a:srgbClr val="3A9E5C"/>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切線法線座標</a:t>
            </a:r>
            <a:endParaRPr lang="zh-TW" sz="2400"/>
          </a:p>
        </p:txBody>
      </p:sp>
      <p:sp>
        <p:nvSpPr>
          <p:cNvPr id="25" name="T25"/>
          <p:cNvSpPr txBox="1"/>
          <p:nvPr/>
        </p:nvSpPr>
        <p:spPr>
          <a:xfrm>
            <a:off x="6025896" y="1389888"/>
            <a:ext cx="2697480" cy="438912"/>
          </a:xfrm>
          <a:prstGeom prst="rect">
            <a:avLst/>
          </a:prstGeom>
          <a:noFill/>
          <a:ln>
            <a:noFill/>
          </a:ln>
        </p:spPr>
        <p:txBody>
          <a:bodyPr wrap="square" lIns="54864" tIns="27432" rIns="54864" bIns="27432" anchor="ctr">
            <a:noAutofit/>
          </a:bodyPr>
          <a:lstStyle/>
          <a:p>
            <a:pPr algn="ctr">
              <a:lnSpc>
                <a:spcPct val="100000"/>
              </a:lnSpc>
              <a:buNone/>
            </a:pPr>
            <a:r>
              <a:rPr lang="zh-TW" altLang="en-US" sz="2600" b="1" dirty="0">
                <a:solidFill>
                  <a:srgbClr val="2B3050"/>
                </a:solidFill>
                <a:latin typeface="Calibri"/>
                <a:ea typeface="微軟正黑體"/>
                <a:cs typeface="Calibri"/>
              </a:rPr>
              <a:t>t、n</a:t>
            </a:r>
            <a:endParaRPr lang="zh-TW" sz="2600"/>
          </a:p>
        </p:txBody>
      </p:sp>
      <p:sp>
        <p:nvSpPr>
          <p:cNvPr id="26" name="T26"/>
          <p:cNvSpPr txBox="1"/>
          <p:nvPr/>
        </p:nvSpPr>
        <p:spPr>
          <a:xfrm>
            <a:off x="6135624" y="1847088"/>
            <a:ext cx="2478024" cy="402336"/>
          </a:xfrm>
          <a:prstGeom prst="roundRect">
            <a:avLst/>
          </a:prstGeom>
          <a:noFill/>
          <a:ln w="15875">
            <a:solidFill>
              <a:srgbClr val="3A9E5C"/>
            </a:solidFill>
          </a:ln>
        </p:spPr>
        <p:txBody>
          <a:bodyPr wrap="square" lIns="18288" tIns="9144" rIns="18288" bIns="9144" anchor="ctr">
            <a:noAutofit/>
          </a:bodyPr>
          <a:lstStyle/>
          <a:p>
            <a:pPr algn="ctr">
              <a:lnSpc>
                <a:spcPct val="100000"/>
              </a:lnSpc>
              <a:buNone/>
            </a:pPr>
            <a:r>
              <a:rPr lang="zh-TW" altLang="en-US" sz="2400" b="0" dirty="0">
                <a:solidFill>
                  <a:srgbClr val="3A9E5C"/>
                </a:solidFill>
                <a:latin typeface="Calibri"/>
                <a:ea typeface="微軟正黑體"/>
                <a:cs typeface="Calibri"/>
              </a:rPr>
              <a:t>課本 2-8</a:t>
            </a:r>
            <a:endParaRPr lang="zh-TW" sz="2400"/>
          </a:p>
        </p:txBody>
      </p:sp>
      <p:sp>
        <p:nvSpPr>
          <p:cNvPr id="27" name="T27"/>
          <p:cNvSpPr txBox="1"/>
          <p:nvPr/>
        </p:nvSpPr>
        <p:spPr>
          <a:xfrm>
            <a:off x="6135624" y="2267712"/>
            <a:ext cx="251460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什麼時候用</a:t>
            </a:r>
            <a:endParaRPr lang="zh-TW" sz="2400"/>
          </a:p>
          <a:p>
            <a:pPr algn="l">
              <a:lnSpc>
                <a:spcPct val="100000"/>
              </a:lnSpc>
              <a:buNone/>
            </a:pPr>
            <a:r>
              <a:rPr lang="zh-TW" altLang="en-US" sz="2400" b="0" dirty="0">
                <a:solidFill>
                  <a:srgbClr val="2B3050"/>
                </a:solidFill>
                <a:latin typeface="Calibri"/>
                <a:ea typeface="微軟正黑體"/>
                <a:cs typeface="Calibri"/>
              </a:rPr>
              <a:t>沿路徑看轉彎</a:t>
            </a:r>
            <a:endParaRPr lang="zh-TW" sz="2400"/>
          </a:p>
        </p:txBody>
      </p:sp>
      <p:sp>
        <p:nvSpPr>
          <p:cNvPr id="28" name="T28"/>
          <p:cNvSpPr txBox="1"/>
          <p:nvPr/>
        </p:nvSpPr>
        <p:spPr>
          <a:xfrm>
            <a:off x="6135624" y="3017520"/>
            <a:ext cx="2514600" cy="118872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實務對應</a:t>
            </a:r>
            <a:endParaRPr lang="zh-TW" sz="2400"/>
          </a:p>
          <a:p>
            <a:pPr algn="l">
              <a:lnSpc>
                <a:spcPct val="100000"/>
              </a:lnSpc>
              <a:buNone/>
            </a:pPr>
            <a:r>
              <a:rPr lang="zh-TW" altLang="en-US" sz="2400" b="0" dirty="0">
                <a:solidFill>
                  <a:srgbClr val="3A9E5C"/>
                </a:solidFill>
                <a:latin typeface="Calibri"/>
                <a:ea typeface="微軟正黑體"/>
                <a:cs typeface="Calibri"/>
              </a:rPr>
              <a:t>CNC 走圓弧時的</a:t>
            </a:r>
            <a:endParaRPr lang="zh-TW" sz="2400"/>
          </a:p>
          <a:p>
            <a:pPr algn="l">
              <a:lnSpc>
                <a:spcPct val="100000"/>
              </a:lnSpc>
              <a:buNone/>
            </a:pPr>
            <a:r>
              <a:rPr lang="zh-TW" altLang="en-US" sz="2400" b="0" dirty="0">
                <a:solidFill>
                  <a:srgbClr val="3A9E5C"/>
                </a:solidFill>
                <a:latin typeface="Calibri"/>
                <a:ea typeface="微軟正黑體"/>
                <a:cs typeface="Calibri"/>
              </a:rPr>
              <a:t>向心加速度限制</a:t>
            </a:r>
            <a:endParaRPr lang="zh-TW" sz="2400"/>
          </a:p>
        </p:txBody>
      </p:sp>
      <p:sp>
        <p:nvSpPr>
          <p:cNvPr id="29" name="T29"/>
          <p:cNvSpPr txBox="1"/>
          <p:nvPr/>
        </p:nvSpPr>
        <p:spPr>
          <a:xfrm>
            <a:off x="320040" y="4315968"/>
            <a:ext cx="8403336" cy="530352"/>
          </a:xfrm>
          <a:prstGeom prst="roundRect">
            <a:avLst/>
          </a:prstGeom>
          <a:solidFill>
            <a:srgbClr val="E4E8F0"/>
          </a:solidFill>
          <a:ln>
            <a:noFill/>
          </a:ln>
        </p:spPr>
        <p:txBody>
          <a:bodyPr wrap="square" lIns="164592" tIns="82296" rIns="164592" bIns="82296" anchor="ctr">
            <a:noAutofit/>
          </a:bodyPr>
          <a:lstStyle/>
          <a:p>
            <a:pPr algn="l">
              <a:lnSpc>
                <a:spcPct val="100000"/>
              </a:lnSpc>
              <a:buNone/>
            </a:pPr>
            <a:r>
              <a:rPr lang="zh-TW" altLang="en-US" sz="2400" b="1" dirty="0">
                <a:solidFill>
                  <a:srgbClr val="2B3050"/>
                </a:solidFill>
                <a:latin typeface="Calibri"/>
                <a:ea typeface="微軟正黑體"/>
                <a:cs typeface="Calibri"/>
              </a:rPr>
              <a:t>換座標不改答案，</a:t>
            </a:r>
            <a:r>
              <a:rPr lang="zh-TW" altLang="en-US" sz="2400" b="0" dirty="0">
                <a:solidFill>
                  <a:srgbClr val="8A8F9C"/>
                </a:solidFill>
                <a:latin typeface="Calibri"/>
                <a:ea typeface="微軟正黑體"/>
                <a:cs typeface="Calibri"/>
              </a:rPr>
              <a:t>挑對座標，題目短一半</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三種運動，差在速度的方向</a:t>
            </a:r>
          </a:p>
        </p:txBody>
      </p:sp>
      <p:sp>
        <p:nvSpPr>
          <p:cNvPr id="11" name="S11"/>
          <p:cNvSpPr/>
          <p:nvPr/>
        </p:nvSpPr>
        <p:spPr>
          <a:xfrm>
            <a:off x="320040" y="868680"/>
            <a:ext cx="2697480" cy="3246120"/>
          </a:xfrm>
          <a:prstGeom prst="roundRect">
            <a:avLst/>
          </a:prstGeom>
          <a:solidFill>
            <a:srgbClr val="FFFFFF"/>
          </a:solidFill>
          <a:ln w="12700">
            <a:solidFill>
              <a:srgbClr val="D5DAE3"/>
            </a:solidFill>
          </a:ln>
        </p:spPr>
        <p:txBody>
          <a:bodyPr/>
          <a:lstStyle/>
          <a:p>
            <a:endParaRPr lang="zh-TW" altLang="en-US"/>
          </a:p>
        </p:txBody>
      </p:sp>
      <p:sp>
        <p:nvSpPr>
          <p:cNvPr id="12" name="T12"/>
          <p:cNvSpPr txBox="1"/>
          <p:nvPr/>
        </p:nvSpPr>
        <p:spPr>
          <a:xfrm>
            <a:off x="429768" y="914400"/>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E86AB"/>
                </a:solidFill>
                <a:latin typeface="Calibri"/>
                <a:ea typeface="微軟正黑體"/>
                <a:cs typeface="Calibri"/>
              </a:rPr>
              <a:t>直線運動</a:t>
            </a:r>
            <a:endParaRPr lang="zh-TW" sz="2400"/>
          </a:p>
        </p:txBody>
      </p:sp>
      <p:sp>
        <p:nvSpPr>
          <p:cNvPr id="13" name="T13"/>
          <p:cNvSpPr txBox="1"/>
          <p:nvPr/>
        </p:nvSpPr>
        <p:spPr>
          <a:xfrm>
            <a:off x="429768" y="3657600"/>
            <a:ext cx="2478024" cy="402336"/>
          </a:xfrm>
          <a:prstGeom prst="roundRect">
            <a:avLst/>
          </a:prstGeom>
          <a:noFill/>
          <a:ln w="15875">
            <a:solidFill>
              <a:srgbClr val="2E86AB"/>
            </a:solidFill>
          </a:ln>
        </p:spPr>
        <p:txBody>
          <a:bodyPr wrap="square" lIns="18288" tIns="9144" rIns="18288" bIns="9144" anchor="ctr">
            <a:noAutofit/>
          </a:bodyPr>
          <a:lstStyle/>
          <a:p>
            <a:pPr algn="ctr">
              <a:lnSpc>
                <a:spcPct val="100000"/>
              </a:lnSpc>
              <a:buNone/>
            </a:pPr>
            <a:r>
              <a:rPr lang="zh-TW" altLang="en-US" sz="2400" b="0" dirty="0">
                <a:solidFill>
                  <a:srgbClr val="2E86AB"/>
                </a:solidFill>
                <a:latin typeface="Calibri"/>
                <a:ea typeface="微軟正黑體"/>
                <a:cs typeface="Calibri"/>
              </a:rPr>
              <a:t>課本 2-1～2-3</a:t>
            </a:r>
            <a:endParaRPr lang="zh-TW" sz="2400"/>
          </a:p>
        </p:txBody>
      </p:sp>
      <p:cxnSp>
        <p:nvCxnSpPr>
          <p:cNvPr id="14" name="L14"/>
          <p:cNvCxnSpPr/>
          <p:nvPr/>
        </p:nvCxnSpPr>
        <p:spPr>
          <a:xfrm>
            <a:off x="502920" y="2148840"/>
            <a:ext cx="2331720" cy="0"/>
          </a:xfrm>
          <a:prstGeom prst="line">
            <a:avLst/>
          </a:prstGeom>
          <a:ln w="12700">
            <a:solidFill>
              <a:srgbClr val="8A8F9C"/>
            </a:solidFill>
            <a:prstDash val="dash"/>
          </a:ln>
        </p:spPr>
      </p:cxnSp>
      <p:sp>
        <p:nvSpPr>
          <p:cNvPr id="15" name="S15"/>
          <p:cNvSpPr/>
          <p:nvPr/>
        </p:nvSpPr>
        <p:spPr>
          <a:xfrm>
            <a:off x="850392" y="2039112"/>
            <a:ext cx="219456" cy="219456"/>
          </a:xfrm>
          <a:prstGeom prst="ellipse">
            <a:avLst/>
          </a:prstGeom>
          <a:solidFill>
            <a:srgbClr val="2E86AB"/>
          </a:solidFill>
          <a:ln>
            <a:noFill/>
          </a:ln>
        </p:spPr>
        <p:txBody>
          <a:bodyPr/>
          <a:lstStyle/>
          <a:p>
            <a:endParaRPr lang="zh-TW" altLang="en-US"/>
          </a:p>
        </p:txBody>
      </p:sp>
      <p:cxnSp>
        <p:nvCxnSpPr>
          <p:cNvPr id="16" name="L16"/>
          <p:cNvCxnSpPr/>
          <p:nvPr/>
        </p:nvCxnSpPr>
        <p:spPr>
          <a:xfrm>
            <a:off x="1097280" y="2148840"/>
            <a:ext cx="1143000" cy="0"/>
          </a:xfrm>
          <a:prstGeom prst="line">
            <a:avLst/>
          </a:prstGeom>
          <a:ln w="38100">
            <a:solidFill>
              <a:srgbClr val="E8871E"/>
            </a:solidFill>
            <a:tailEnd type="triangle" w="med" len="med"/>
          </a:ln>
        </p:spPr>
      </p:cxnSp>
      <p:sp>
        <p:nvSpPr>
          <p:cNvPr id="17" name="T17"/>
          <p:cNvSpPr txBox="1"/>
          <p:nvPr/>
        </p:nvSpPr>
        <p:spPr>
          <a:xfrm>
            <a:off x="2057400" y="169164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E8871E"/>
                </a:solidFill>
                <a:latin typeface="Calibri"/>
                <a:ea typeface="微軟正黑體"/>
                <a:cs typeface="Calibri"/>
              </a:rPr>
              <a:t>v</a:t>
            </a:r>
            <a:endParaRPr lang="zh-TW" sz="2400"/>
          </a:p>
        </p:txBody>
      </p:sp>
      <p:cxnSp>
        <p:nvCxnSpPr>
          <p:cNvPr id="18" name="L18"/>
          <p:cNvCxnSpPr/>
          <p:nvPr/>
        </p:nvCxnSpPr>
        <p:spPr>
          <a:xfrm>
            <a:off x="960120" y="2560320"/>
            <a:ext cx="914400" cy="0"/>
          </a:xfrm>
          <a:prstGeom prst="line">
            <a:avLst/>
          </a:prstGeom>
          <a:ln w="38100">
            <a:solidFill>
              <a:srgbClr val="2E86AB"/>
            </a:solidFill>
            <a:tailEnd type="triangle" w="med" len="med"/>
          </a:ln>
        </p:spPr>
      </p:cxnSp>
      <p:sp>
        <p:nvSpPr>
          <p:cNvPr id="19" name="T19"/>
          <p:cNvSpPr txBox="1"/>
          <p:nvPr/>
        </p:nvSpPr>
        <p:spPr>
          <a:xfrm>
            <a:off x="1920240" y="237744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E86AB"/>
                </a:solidFill>
                <a:latin typeface="Calibri"/>
                <a:ea typeface="微軟正黑體"/>
                <a:cs typeface="Calibri"/>
              </a:rPr>
              <a:t>a</a:t>
            </a:r>
            <a:endParaRPr lang="zh-TW" sz="2400"/>
          </a:p>
        </p:txBody>
      </p:sp>
      <p:sp>
        <p:nvSpPr>
          <p:cNvPr id="20" name="T20"/>
          <p:cNvSpPr txBox="1"/>
          <p:nvPr/>
        </p:nvSpPr>
        <p:spPr>
          <a:xfrm>
            <a:off x="429768" y="2852928"/>
            <a:ext cx="251460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v、a 同一條線</a:t>
            </a:r>
            <a:endParaRPr lang="zh-TW" sz="2400"/>
          </a:p>
          <a:p>
            <a:pPr algn="l">
              <a:lnSpc>
                <a:spcPct val="100000"/>
              </a:lnSpc>
              <a:buNone/>
            </a:pPr>
            <a:r>
              <a:rPr lang="zh-TW" altLang="en-US" sz="2400" b="0" dirty="0">
                <a:solidFill>
                  <a:srgbClr val="2B3050"/>
                </a:solidFill>
                <a:latin typeface="Calibri"/>
                <a:ea typeface="微軟正黑體"/>
                <a:cs typeface="Calibri"/>
              </a:rPr>
              <a:t>一個 x 就夠</a:t>
            </a:r>
            <a:endParaRPr lang="zh-TW" sz="2400"/>
          </a:p>
        </p:txBody>
      </p:sp>
      <p:sp>
        <p:nvSpPr>
          <p:cNvPr id="21" name="S21"/>
          <p:cNvSpPr/>
          <p:nvPr/>
        </p:nvSpPr>
        <p:spPr>
          <a:xfrm>
            <a:off x="3172968" y="868680"/>
            <a:ext cx="2697480" cy="3246120"/>
          </a:xfrm>
          <a:prstGeom prst="roundRect">
            <a:avLst/>
          </a:prstGeom>
          <a:solidFill>
            <a:srgbClr val="FFFFFF"/>
          </a:solidFill>
          <a:ln w="12700">
            <a:solidFill>
              <a:srgbClr val="D5DAE3"/>
            </a:solidFill>
          </a:ln>
        </p:spPr>
        <p:txBody>
          <a:bodyPr/>
          <a:lstStyle/>
          <a:p>
            <a:endParaRPr lang="zh-TW" altLang="en-US"/>
          </a:p>
        </p:txBody>
      </p:sp>
      <p:sp>
        <p:nvSpPr>
          <p:cNvPr id="22" name="T22"/>
          <p:cNvSpPr txBox="1"/>
          <p:nvPr/>
        </p:nvSpPr>
        <p:spPr>
          <a:xfrm>
            <a:off x="3282696" y="914400"/>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E8871E"/>
                </a:solidFill>
                <a:latin typeface="Calibri"/>
                <a:ea typeface="微軟正黑體"/>
                <a:cs typeface="Calibri"/>
              </a:rPr>
              <a:t>曲線運動</a:t>
            </a:r>
            <a:endParaRPr lang="zh-TW" sz="2400"/>
          </a:p>
        </p:txBody>
      </p:sp>
      <p:sp>
        <p:nvSpPr>
          <p:cNvPr id="23" name="T23"/>
          <p:cNvSpPr txBox="1"/>
          <p:nvPr/>
        </p:nvSpPr>
        <p:spPr>
          <a:xfrm>
            <a:off x="3282696" y="3657600"/>
            <a:ext cx="2478024" cy="402336"/>
          </a:xfrm>
          <a:prstGeom prst="roundRect">
            <a:avLst/>
          </a:prstGeom>
          <a:noFill/>
          <a:ln w="15875">
            <a:solidFill>
              <a:srgbClr val="E8871E"/>
            </a:solidFill>
          </a:ln>
        </p:spPr>
        <p:txBody>
          <a:bodyPr wrap="square" lIns="18288" tIns="9144" rIns="18288" bIns="9144" anchor="ctr">
            <a:noAutofit/>
          </a:bodyPr>
          <a:lstStyle/>
          <a:p>
            <a:pPr algn="ctr">
              <a:lnSpc>
                <a:spcPct val="100000"/>
              </a:lnSpc>
              <a:buNone/>
            </a:pPr>
            <a:r>
              <a:rPr lang="zh-TW" altLang="en-US" sz="2400" b="0" dirty="0">
                <a:solidFill>
                  <a:srgbClr val="E8871E"/>
                </a:solidFill>
                <a:latin typeface="Calibri"/>
                <a:ea typeface="微軟正黑體"/>
                <a:cs typeface="Calibri"/>
              </a:rPr>
              <a:t>課本 2-4～2-6</a:t>
            </a:r>
            <a:endParaRPr lang="zh-TW" sz="2400"/>
          </a:p>
        </p:txBody>
      </p:sp>
      <p:sp>
        <p:nvSpPr>
          <p:cNvPr id="24" name="P24"/>
          <p:cNvSpPr/>
          <p:nvPr/>
        </p:nvSpPr>
        <p:spPr>
          <a:xfrm>
            <a:off x="3447288" y="1554480"/>
            <a:ext cx="2148840" cy="1325880"/>
          </a:xfrm>
          <a:custGeom>
            <a:avLst/>
            <a:gdLst/>
            <a:ahLst/>
            <a:cxnLst/>
            <a:rect l="0" t="0" r="r" b="b"/>
            <a:pathLst>
              <a:path w="2148840" h="1325880">
                <a:moveTo>
                  <a:pt x="0" y="1325880"/>
                </a:moveTo>
                <a:lnTo>
                  <a:pt x="71628" y="1154989"/>
                </a:lnTo>
                <a:lnTo>
                  <a:pt x="143256" y="995883"/>
                </a:lnTo>
                <a:lnTo>
                  <a:pt x="214884" y="848563"/>
                </a:lnTo>
                <a:lnTo>
                  <a:pt x="286512" y="713029"/>
                </a:lnTo>
                <a:lnTo>
                  <a:pt x="358140" y="589280"/>
                </a:lnTo>
                <a:lnTo>
                  <a:pt x="429768" y="477317"/>
                </a:lnTo>
                <a:lnTo>
                  <a:pt x="501396" y="377139"/>
                </a:lnTo>
                <a:lnTo>
                  <a:pt x="573024" y="288747"/>
                </a:lnTo>
                <a:lnTo>
                  <a:pt x="644652" y="212141"/>
                </a:lnTo>
                <a:lnTo>
                  <a:pt x="716280" y="147320"/>
                </a:lnTo>
                <a:lnTo>
                  <a:pt x="787908" y="94285"/>
                </a:lnTo>
                <a:lnTo>
                  <a:pt x="859536" y="53035"/>
                </a:lnTo>
                <a:lnTo>
                  <a:pt x="931164" y="23571"/>
                </a:lnTo>
                <a:lnTo>
                  <a:pt x="1002792" y="5893"/>
                </a:lnTo>
                <a:lnTo>
                  <a:pt x="1074420" y="0"/>
                </a:lnTo>
                <a:lnTo>
                  <a:pt x="1146048" y="5893"/>
                </a:lnTo>
                <a:lnTo>
                  <a:pt x="1217676" y="23571"/>
                </a:lnTo>
                <a:lnTo>
                  <a:pt x="1289304" y="53035"/>
                </a:lnTo>
                <a:lnTo>
                  <a:pt x="1360932" y="94285"/>
                </a:lnTo>
                <a:lnTo>
                  <a:pt x="1432560" y="147320"/>
                </a:lnTo>
                <a:lnTo>
                  <a:pt x="1504188" y="212141"/>
                </a:lnTo>
                <a:lnTo>
                  <a:pt x="1575816" y="288747"/>
                </a:lnTo>
                <a:lnTo>
                  <a:pt x="1647444" y="377139"/>
                </a:lnTo>
                <a:lnTo>
                  <a:pt x="1719072" y="477317"/>
                </a:lnTo>
                <a:lnTo>
                  <a:pt x="1790700" y="589280"/>
                </a:lnTo>
                <a:lnTo>
                  <a:pt x="1862328" y="713029"/>
                </a:lnTo>
                <a:lnTo>
                  <a:pt x="1933956" y="848563"/>
                </a:lnTo>
                <a:lnTo>
                  <a:pt x="2005584" y="995883"/>
                </a:lnTo>
                <a:lnTo>
                  <a:pt x="2077212" y="1154989"/>
                </a:lnTo>
                <a:lnTo>
                  <a:pt x="2148840" y="1325880"/>
                </a:lnTo>
              </a:path>
            </a:pathLst>
          </a:custGeom>
          <a:noFill/>
          <a:ln w="19050">
            <a:solidFill>
              <a:srgbClr val="2B3050"/>
            </a:solidFill>
          </a:ln>
        </p:spPr>
        <p:txBody>
          <a:bodyPr/>
          <a:lstStyle/>
          <a:p>
            <a:endParaRPr lang="zh-TW" altLang="en-US"/>
          </a:p>
        </p:txBody>
      </p:sp>
      <p:sp>
        <p:nvSpPr>
          <p:cNvPr id="25" name="S25"/>
          <p:cNvSpPr/>
          <p:nvPr/>
        </p:nvSpPr>
        <p:spPr>
          <a:xfrm>
            <a:off x="3991356" y="1666037"/>
            <a:ext cx="201168" cy="201168"/>
          </a:xfrm>
          <a:prstGeom prst="ellipse">
            <a:avLst/>
          </a:prstGeom>
          <a:solidFill>
            <a:srgbClr val="E8871E"/>
          </a:solidFill>
          <a:ln>
            <a:noFill/>
          </a:ln>
        </p:spPr>
        <p:txBody>
          <a:bodyPr/>
          <a:lstStyle/>
          <a:p>
            <a:endParaRPr lang="zh-TW" altLang="en-US"/>
          </a:p>
        </p:txBody>
      </p:sp>
      <p:cxnSp>
        <p:nvCxnSpPr>
          <p:cNvPr id="26" name="L26"/>
          <p:cNvCxnSpPr/>
          <p:nvPr/>
        </p:nvCxnSpPr>
        <p:spPr>
          <a:xfrm flipV="1">
            <a:off x="4091940" y="1275774"/>
            <a:ext cx="542394" cy="490847"/>
          </a:xfrm>
          <a:prstGeom prst="line">
            <a:avLst/>
          </a:prstGeom>
          <a:ln w="38100">
            <a:solidFill>
              <a:srgbClr val="E8871E"/>
            </a:solidFill>
            <a:tailEnd type="triangle" w="med" len="med"/>
          </a:ln>
        </p:spPr>
      </p:cxnSp>
      <p:sp>
        <p:nvSpPr>
          <p:cNvPr id="27" name="T27"/>
          <p:cNvSpPr txBox="1"/>
          <p:nvPr/>
        </p:nvSpPr>
        <p:spPr>
          <a:xfrm>
            <a:off x="4634334" y="955734"/>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E8871E"/>
                </a:solidFill>
                <a:latin typeface="Calibri"/>
                <a:ea typeface="微軟正黑體"/>
                <a:cs typeface="Calibri"/>
              </a:rPr>
              <a:t>v</a:t>
            </a:r>
            <a:endParaRPr lang="zh-TW" sz="2400"/>
          </a:p>
        </p:txBody>
      </p:sp>
      <p:cxnSp>
        <p:nvCxnSpPr>
          <p:cNvPr id="28" name="L28"/>
          <p:cNvCxnSpPr/>
          <p:nvPr/>
        </p:nvCxnSpPr>
        <p:spPr>
          <a:xfrm>
            <a:off x="4091940" y="1766621"/>
            <a:ext cx="0" cy="685800"/>
          </a:xfrm>
          <a:prstGeom prst="line">
            <a:avLst/>
          </a:prstGeom>
          <a:ln w="38100">
            <a:solidFill>
              <a:srgbClr val="2E86AB"/>
            </a:solidFill>
            <a:tailEnd type="triangle" w="med" len="med"/>
          </a:ln>
        </p:spPr>
      </p:cxnSp>
      <p:sp>
        <p:nvSpPr>
          <p:cNvPr id="29" name="T29"/>
          <p:cNvSpPr txBox="1"/>
          <p:nvPr/>
        </p:nvSpPr>
        <p:spPr>
          <a:xfrm>
            <a:off x="4137660" y="2269541"/>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E86AB"/>
                </a:solidFill>
                <a:latin typeface="Calibri"/>
                <a:ea typeface="微軟正黑體"/>
                <a:cs typeface="Calibri"/>
              </a:rPr>
              <a:t>a</a:t>
            </a:r>
            <a:endParaRPr lang="zh-TW" sz="2400"/>
          </a:p>
        </p:txBody>
      </p:sp>
      <p:sp>
        <p:nvSpPr>
          <p:cNvPr id="30" name="T30"/>
          <p:cNvSpPr txBox="1"/>
          <p:nvPr/>
        </p:nvSpPr>
        <p:spPr>
          <a:xfrm>
            <a:off x="3282696" y="2852928"/>
            <a:ext cx="251460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 沿切線</a:t>
            </a:r>
            <a:endParaRPr lang="zh-TW" sz="2400"/>
          </a:p>
          <a:p>
            <a:pPr algn="l">
              <a:lnSpc>
                <a:spcPct val="100000"/>
              </a:lnSpc>
              <a:buNone/>
            </a:pPr>
            <a:r>
              <a:rPr lang="zh-TW" altLang="en-US" sz="2400" b="0" dirty="0">
                <a:solidFill>
                  <a:srgbClr val="2B3050"/>
                </a:solidFill>
                <a:latin typeface="Calibri"/>
                <a:ea typeface="微軟正黑體"/>
                <a:cs typeface="Calibri"/>
              </a:rPr>
              <a:t>a 不必和 v 同向</a:t>
            </a:r>
            <a:endParaRPr lang="zh-TW" sz="2400"/>
          </a:p>
        </p:txBody>
      </p:sp>
      <p:sp>
        <p:nvSpPr>
          <p:cNvPr id="31" name="S31"/>
          <p:cNvSpPr/>
          <p:nvPr/>
        </p:nvSpPr>
        <p:spPr>
          <a:xfrm>
            <a:off x="6025896" y="868680"/>
            <a:ext cx="2697480" cy="3246120"/>
          </a:xfrm>
          <a:prstGeom prst="roundRect">
            <a:avLst/>
          </a:prstGeom>
          <a:solidFill>
            <a:srgbClr val="FFFFFF"/>
          </a:solidFill>
          <a:ln w="12700">
            <a:solidFill>
              <a:srgbClr val="D5DAE3"/>
            </a:solidFill>
          </a:ln>
        </p:spPr>
        <p:txBody>
          <a:bodyPr/>
          <a:lstStyle/>
          <a:p>
            <a:endParaRPr lang="zh-TW" altLang="en-US"/>
          </a:p>
        </p:txBody>
      </p:sp>
      <p:sp>
        <p:nvSpPr>
          <p:cNvPr id="32" name="T32"/>
          <p:cNvSpPr txBox="1"/>
          <p:nvPr/>
        </p:nvSpPr>
        <p:spPr>
          <a:xfrm>
            <a:off x="6135624" y="914400"/>
            <a:ext cx="2514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3A9E5C"/>
                </a:solidFill>
                <a:latin typeface="Calibri"/>
                <a:ea typeface="微軟正黑體"/>
                <a:cs typeface="Calibri"/>
              </a:rPr>
              <a:t>圓周運動</a:t>
            </a:r>
            <a:endParaRPr lang="zh-TW" sz="2400"/>
          </a:p>
        </p:txBody>
      </p:sp>
      <p:sp>
        <p:nvSpPr>
          <p:cNvPr id="33" name="T33"/>
          <p:cNvSpPr txBox="1"/>
          <p:nvPr/>
        </p:nvSpPr>
        <p:spPr>
          <a:xfrm>
            <a:off x="6135624" y="3657600"/>
            <a:ext cx="2478024" cy="402336"/>
          </a:xfrm>
          <a:prstGeom prst="roundRect">
            <a:avLst/>
          </a:prstGeom>
          <a:noFill/>
          <a:ln w="15875">
            <a:solidFill>
              <a:srgbClr val="3A9E5C"/>
            </a:solidFill>
          </a:ln>
        </p:spPr>
        <p:txBody>
          <a:bodyPr wrap="square" lIns="18288" tIns="9144" rIns="18288" bIns="9144" anchor="ctr">
            <a:noAutofit/>
          </a:bodyPr>
          <a:lstStyle/>
          <a:p>
            <a:pPr algn="ctr">
              <a:lnSpc>
                <a:spcPct val="100000"/>
              </a:lnSpc>
              <a:buNone/>
            </a:pPr>
            <a:r>
              <a:rPr lang="zh-TW" altLang="en-US" sz="2400" b="0" dirty="0">
                <a:solidFill>
                  <a:srgbClr val="3A9E5C"/>
                </a:solidFill>
                <a:latin typeface="Calibri"/>
                <a:ea typeface="微軟正黑體"/>
                <a:cs typeface="Calibri"/>
              </a:rPr>
              <a:t>課本 2-7、2-8</a:t>
            </a:r>
            <a:endParaRPr lang="zh-TW" sz="2400"/>
          </a:p>
        </p:txBody>
      </p:sp>
      <p:sp>
        <p:nvSpPr>
          <p:cNvPr id="34" name="S34"/>
          <p:cNvSpPr/>
          <p:nvPr/>
        </p:nvSpPr>
        <p:spPr>
          <a:xfrm>
            <a:off x="6716268" y="1490472"/>
            <a:ext cx="1316736" cy="1316736"/>
          </a:xfrm>
          <a:prstGeom prst="ellipse">
            <a:avLst/>
          </a:prstGeom>
          <a:noFill/>
          <a:ln w="12700">
            <a:solidFill>
              <a:srgbClr val="8A8F9C"/>
            </a:solidFill>
            <a:prstDash val="dash"/>
          </a:ln>
        </p:spPr>
        <p:txBody>
          <a:bodyPr/>
          <a:lstStyle/>
          <a:p>
            <a:endParaRPr lang="zh-TW" altLang="en-US"/>
          </a:p>
        </p:txBody>
      </p:sp>
      <p:sp>
        <p:nvSpPr>
          <p:cNvPr id="35" name="S35"/>
          <p:cNvSpPr/>
          <p:nvPr/>
        </p:nvSpPr>
        <p:spPr>
          <a:xfrm>
            <a:off x="7328916" y="2103120"/>
            <a:ext cx="91440" cy="91440"/>
          </a:xfrm>
          <a:prstGeom prst="ellipse">
            <a:avLst/>
          </a:prstGeom>
          <a:solidFill>
            <a:srgbClr val="2B3050"/>
          </a:solidFill>
          <a:ln>
            <a:noFill/>
          </a:ln>
        </p:spPr>
        <p:txBody>
          <a:bodyPr/>
          <a:lstStyle/>
          <a:p>
            <a:endParaRPr lang="zh-TW" altLang="en-US"/>
          </a:p>
        </p:txBody>
      </p:sp>
      <p:sp>
        <p:nvSpPr>
          <p:cNvPr id="36" name="S36"/>
          <p:cNvSpPr/>
          <p:nvPr/>
        </p:nvSpPr>
        <p:spPr>
          <a:xfrm>
            <a:off x="7660820" y="1518097"/>
            <a:ext cx="182880" cy="182880"/>
          </a:xfrm>
          <a:prstGeom prst="ellipse">
            <a:avLst/>
          </a:prstGeom>
          <a:solidFill>
            <a:srgbClr val="3A9E5C"/>
          </a:solidFill>
          <a:ln>
            <a:noFill/>
          </a:ln>
        </p:spPr>
        <p:txBody>
          <a:bodyPr/>
          <a:lstStyle/>
          <a:p>
            <a:endParaRPr lang="zh-TW" altLang="en-US"/>
          </a:p>
        </p:txBody>
      </p:sp>
      <p:cxnSp>
        <p:nvCxnSpPr>
          <p:cNvPr id="37" name="L37"/>
          <p:cNvCxnSpPr/>
          <p:nvPr/>
        </p:nvCxnSpPr>
        <p:spPr>
          <a:xfrm>
            <a:off x="7752260" y="1609537"/>
            <a:ext cx="524323" cy="367135"/>
          </a:xfrm>
          <a:prstGeom prst="line">
            <a:avLst/>
          </a:prstGeom>
          <a:ln w="38100">
            <a:solidFill>
              <a:srgbClr val="E8871E"/>
            </a:solidFill>
            <a:tailEnd type="triangle" w="med" len="med"/>
          </a:ln>
        </p:spPr>
      </p:cxnSp>
      <p:sp>
        <p:nvSpPr>
          <p:cNvPr id="38" name="T38"/>
          <p:cNvSpPr txBox="1"/>
          <p:nvPr/>
        </p:nvSpPr>
        <p:spPr>
          <a:xfrm>
            <a:off x="8255180" y="1929577"/>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E8871E"/>
                </a:solidFill>
                <a:latin typeface="Calibri"/>
                <a:ea typeface="微軟正黑體"/>
                <a:cs typeface="Calibri"/>
              </a:rPr>
              <a:t>v</a:t>
            </a:r>
            <a:endParaRPr lang="zh-TW" sz="2400"/>
          </a:p>
        </p:txBody>
      </p:sp>
      <p:cxnSp>
        <p:nvCxnSpPr>
          <p:cNvPr id="39" name="L39"/>
          <p:cNvCxnSpPr/>
          <p:nvPr/>
        </p:nvCxnSpPr>
        <p:spPr>
          <a:xfrm flipH="1">
            <a:off x="7516245" y="1609537"/>
            <a:ext cx="236015" cy="337065"/>
          </a:xfrm>
          <a:prstGeom prst="line">
            <a:avLst/>
          </a:prstGeom>
          <a:ln w="38100">
            <a:solidFill>
              <a:srgbClr val="2E86AB"/>
            </a:solidFill>
            <a:tailEnd type="triangle" w="med" len="med"/>
          </a:ln>
        </p:spPr>
      </p:cxnSp>
      <p:sp>
        <p:nvSpPr>
          <p:cNvPr id="40" name="T40"/>
          <p:cNvSpPr txBox="1"/>
          <p:nvPr/>
        </p:nvSpPr>
        <p:spPr>
          <a:xfrm>
            <a:off x="7420356" y="1737360"/>
            <a:ext cx="5486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E86AB"/>
                </a:solidFill>
                <a:latin typeface="Calibri"/>
                <a:ea typeface="微軟正黑體"/>
                <a:cs typeface="Calibri"/>
              </a:rPr>
              <a:t>aₙ</a:t>
            </a:r>
            <a:endParaRPr lang="zh-TW" sz="2400"/>
          </a:p>
        </p:txBody>
      </p:sp>
      <p:sp>
        <p:nvSpPr>
          <p:cNvPr id="41" name="T41"/>
          <p:cNvSpPr txBox="1"/>
          <p:nvPr/>
        </p:nvSpPr>
        <p:spPr>
          <a:xfrm>
            <a:off x="6135624" y="2852928"/>
            <a:ext cx="251460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方向一直在變</a:t>
            </a:r>
            <a:endParaRPr lang="zh-TW" sz="2400"/>
          </a:p>
          <a:p>
            <a:pPr algn="l">
              <a:lnSpc>
                <a:spcPct val="100000"/>
              </a:lnSpc>
              <a:buNone/>
            </a:pPr>
            <a:r>
              <a:rPr lang="zh-TW" altLang="en-US" sz="2400" b="0" dirty="0">
                <a:solidFill>
                  <a:srgbClr val="2B3050"/>
                </a:solidFill>
                <a:latin typeface="Calibri"/>
                <a:ea typeface="微軟正黑體"/>
                <a:cs typeface="Calibri"/>
              </a:rPr>
              <a:t>aₙ 指向圓心</a:t>
            </a:r>
            <a:endParaRPr lang="zh-TW" sz="2400"/>
          </a:p>
        </p:txBody>
      </p:sp>
      <mc:AlternateContent xmlns:mc="http://schemas.openxmlformats.org/markup-compatibility/2006" xmlns:a14="http://schemas.microsoft.com/office/drawing/2010/main">
        <mc:Choice Requires="a14">
          <p:sp>
            <p:nvSpPr>
              <p:cNvPr id="42" name="T42"/>
              <p:cNvSpPr txBox="1"/>
              <p:nvPr/>
            </p:nvSpPr>
            <p:spPr>
              <a:xfrm>
                <a:off x="320040" y="4169664"/>
                <a:ext cx="8403336" cy="749808"/>
              </a:xfrm>
              <a:prstGeom prst="roundRect">
                <a:avLst/>
              </a:prstGeom>
              <a:solidFill>
                <a:srgbClr val="E4E8F0"/>
              </a:solidFill>
              <a:ln>
                <a:noFill/>
              </a:ln>
            </p:spPr>
            <p:txBody>
              <a:bodyPr wrap="square" lIns="164592" tIns="82296" rIns="164592" bIns="82296" anchor="ctr">
                <a:noAutofit/>
              </a:bodyPr>
              <a:lstStyle/>
              <a:p>
                <a:pPr algn="l">
                  <a:lnSpc>
                    <a:spcPct val="100000"/>
                  </a:lnSpc>
                  <a:buNone/>
                </a:pPr>
                <a:r>
                  <a:rPr lang="zh-TW" altLang="en-US" sz="2400" b="1" dirty="0">
                    <a:solidFill>
                      <a:srgbClr val="2B3050"/>
                    </a:solidFill>
                    <a:latin typeface="Calibri"/>
                    <a:ea typeface="微軟正黑體"/>
                    <a:cs typeface="Calibri"/>
                  </a:rPr>
                  <a:t>共同點：</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num>
                      <m:den>
                        <m:r>
                          <a:rPr lang="en-US" altLang="zh-TW" sz="2400" b="0" i="1">
                            <a:solidFill>
                              <a:srgbClr val="2B3050"/>
                            </a:solidFill>
                            <a:latin typeface="Cambria Math" panose="02040503050406030204" pitchFamily="18" charset="0"/>
                            <a:ea typeface="Cambria Math"/>
                          </a:rPr>
                          <m:t>𝑑𝑡</m:t>
                        </m:r>
                      </m:den>
                    </m:f>
                  </m:oMath>
                </a14:m>
                <a:r>
                  <a:rPr lang="zh-TW" altLang="en-US" sz="2400" b="0" dirty="0">
                    <a:solidFill>
                      <a:srgbClr val="2B3050"/>
                    </a:solidFill>
                    <a:latin typeface="Calibri"/>
                    <a:ea typeface="微軟正黑體"/>
                    <a:cs typeface="Calibri"/>
                  </a:rPr>
                  <a:t>；差別只在方向怎麼變</a:t>
                </a:r>
                <a:endParaRPr lang="zh-TW" sz="2400"/>
              </a:p>
            </p:txBody>
          </p:sp>
        </mc:Choice>
        <mc:Fallback xmlns="">
          <p:pic>
            <p:nvPicPr>
              <p:cNvPr id="42" name="F42"/>
              <p:cNvPicPr/>
              <p:nvPr/>
            </p:nvPicPr>
            <p:blipFill>
              <a:blip r:embed="rId2"/>
              <a:stretch>
                <a:fillRect/>
              </a:stretch>
            </p:blipFill>
            <p:spPr>
              <a:xfrm>
                <a:off x="320040" y="4169664"/>
                <a:ext cx="8403336" cy="749808"/>
              </a:xfrm>
              <a:prstGeom prst="roundRect">
                <a:avLst/>
              </a:prstGeom>
              <a:solidFill>
                <a:srgbClr val="E4E8F0"/>
              </a:solid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00"/>
                                        <p:tgtEl>
                                          <p:spTgt spid="2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500"/>
                                        <p:tgtEl>
                                          <p:spTgt spid="3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500"/>
                                        <p:tgtEl>
                                          <p:spTgt spid="3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00"/>
                                        <p:tgtEl>
                                          <p:spTgt spid="3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500"/>
                                        <p:tgtEl>
                                          <p:spTgt spid="3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500"/>
                                        <p:tgtEl>
                                          <p:spTgt spid="3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00"/>
                                        <p:tgtEl>
                                          <p:spTgt spid="3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500"/>
                                        <p:tgtEl>
                                          <p:spTgt spid="4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500"/>
                                        <p:tgtEl>
                                          <p:spTgt spid="4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fade">
                                      <p:cBhvr>
                                        <p:cTn id="10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2-5　曲線運動的</a:t>
            </a:r>
            <a:r>
              <a:rPr lang="zh-TW" altLang="en-US" sz="3200" dirty="0">
                <a:highlight>
                  <a:srgbClr val="FFFF00"/>
                </a:highlight>
                <a:latin typeface="Calibri"/>
                <a:ea typeface="微軟正黑體"/>
              </a:rPr>
              <a:t>直角座標</a:t>
            </a:r>
          </a:p>
        </p:txBody>
      </p:sp>
      <p:sp>
        <p:nvSpPr>
          <p:cNvPr id="11" name="T11"/>
          <p:cNvSpPr txBox="1"/>
          <p:nvPr/>
        </p:nvSpPr>
        <p:spPr>
          <a:xfrm>
            <a:off x="365760" y="868680"/>
            <a:ext cx="44805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x、y、z 可以分開決定時，</a:t>
            </a:r>
            <a:endParaRPr lang="zh-TW" sz="2400"/>
          </a:p>
        </p:txBody>
      </p:sp>
      <p:sp>
        <p:nvSpPr>
          <p:cNvPr id="12" name="T12"/>
          <p:cNvSpPr txBox="1"/>
          <p:nvPr/>
        </p:nvSpPr>
        <p:spPr>
          <a:xfrm>
            <a:off x="365760" y="1307592"/>
            <a:ext cx="44805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用「固定的直角座標」最方便</a:t>
            </a:r>
            <a:endParaRPr lang="zh-TW" sz="2400"/>
          </a:p>
        </p:txBody>
      </p:sp>
      <p:sp>
        <p:nvSpPr>
          <p:cNvPr id="13" name="T13"/>
          <p:cNvSpPr txBox="1"/>
          <p:nvPr/>
        </p:nvSpPr>
        <p:spPr>
          <a:xfrm>
            <a:off x="365760" y="1746504"/>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單位向量：</a:t>
            </a:r>
            <a:r>
              <a:rPr lang="zh-TW" altLang="en-US" sz="2400" b="1" dirty="0">
                <a:solidFill>
                  <a:srgbClr val="1F8899"/>
                </a:solidFill>
                <a:latin typeface="Calibri"/>
                <a:ea typeface="微軟正黑體"/>
                <a:cs typeface="Calibri"/>
              </a:rPr>
              <a:t>i</a:t>
            </a:r>
            <a:r>
              <a:rPr lang="zh-TW" altLang="en-US" sz="2400" b="0" dirty="0">
                <a:solidFill>
                  <a:srgbClr val="2B3050"/>
                </a:solidFill>
                <a:latin typeface="Calibri"/>
                <a:ea typeface="微軟正黑體"/>
                <a:cs typeface="Calibri"/>
              </a:rPr>
              <a:t>、</a:t>
            </a:r>
            <a:r>
              <a:rPr lang="zh-TW" altLang="en-US" sz="2400" b="1" dirty="0">
                <a:solidFill>
                  <a:srgbClr val="C8901F"/>
                </a:solidFill>
                <a:latin typeface="Calibri"/>
                <a:ea typeface="微軟正黑體"/>
                <a:cs typeface="Calibri"/>
              </a:rPr>
              <a:t>j</a:t>
            </a:r>
            <a:r>
              <a:rPr lang="zh-TW" altLang="en-US" sz="2400" b="0" dirty="0">
                <a:solidFill>
                  <a:srgbClr val="2B3050"/>
                </a:solidFill>
                <a:latin typeface="Calibri"/>
                <a:ea typeface="微軟正黑體"/>
                <a:cs typeface="Calibri"/>
              </a:rPr>
              <a:t>、</a:t>
            </a:r>
            <a:r>
              <a:rPr lang="zh-TW" altLang="en-US" sz="2400" b="1" dirty="0">
                <a:solidFill>
                  <a:srgbClr val="D6006F"/>
                </a:solidFill>
                <a:latin typeface="Calibri"/>
                <a:ea typeface="微軟正黑體"/>
                <a:cs typeface="Calibri"/>
              </a:rPr>
              <a:t>k</a:t>
            </a:r>
            <a:endParaRPr lang="zh-TW" sz="2400"/>
          </a:p>
        </p:txBody>
      </p:sp>
      <p:sp>
        <p:nvSpPr>
          <p:cNvPr id="14" name="T14"/>
          <p:cNvSpPr txBox="1"/>
          <p:nvPr/>
        </p:nvSpPr>
        <p:spPr>
          <a:xfrm>
            <a:off x="365760" y="2203704"/>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位置向量拆成三個分量：</a:t>
            </a:r>
            <a:endParaRPr lang="zh-TW" sz="2400"/>
          </a:p>
        </p:txBody>
      </p:sp>
      <mc:AlternateContent xmlns:mc="http://schemas.openxmlformats.org/markup-compatibility/2006" xmlns:a14="http://schemas.microsoft.com/office/drawing/2010/main">
        <mc:Choice Requires="a14">
          <p:sp>
            <p:nvSpPr>
              <p:cNvPr id="15" name="T15"/>
              <p:cNvSpPr txBox="1"/>
              <p:nvPr/>
            </p:nvSpPr>
            <p:spPr>
              <a:xfrm>
                <a:off x="365760" y="2660904"/>
                <a:ext cx="448056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𝑥</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𝑦</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𝑧</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𝑘</m:t>
                          </m:r>
                        </m:e>
                      </m:acc>
                    </m:oMath>
                  </m:oMathPara>
                </a14:m>
                <a:endParaRPr lang="zh-TW" sz="2400"/>
              </a:p>
            </p:txBody>
          </p:sp>
        </mc:Choice>
        <mc:Fallback xmlns="">
          <p:pic>
            <p:nvPicPr>
              <p:cNvPr id="15" name="F15"/>
              <p:cNvPicPr/>
              <p:nvPr/>
            </p:nvPicPr>
            <p:blipFill>
              <a:blip r:embed="rId2"/>
              <a:stretch>
                <a:fillRect/>
              </a:stretch>
            </p:blipFill>
            <p:spPr>
              <a:xfrm>
                <a:off x="365760" y="2660904"/>
                <a:ext cx="4480560" cy="566928"/>
              </a:xfrm>
              <a:prstGeom prst="rect">
                <a:avLst/>
              </a:prstGeom>
              <a:noFill/>
              <a:ln>
                <a:noFill/>
              </a:ln>
            </p:spPr>
          </p:pic>
        </mc:Fallback>
      </mc:AlternateContent>
      <p:sp>
        <p:nvSpPr>
          <p:cNvPr id="16" name="T16"/>
          <p:cNvSpPr txBox="1"/>
          <p:nvPr/>
        </p:nvSpPr>
        <p:spPr>
          <a:xfrm>
            <a:off x="365760" y="3429000"/>
            <a:ext cx="4480560" cy="11887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z 方向的做法和 x、y 一樣</a:t>
            </a:r>
            <a:endParaRPr lang="zh-TW" sz="2400"/>
          </a:p>
          <a:p>
            <a:pPr algn="l">
              <a:lnSpc>
                <a:spcPct val="100000"/>
              </a:lnSpc>
              <a:buNone/>
            </a:pPr>
            <a:r>
              <a:rPr lang="zh-TW" altLang="en-US" sz="2400" b="0" dirty="0">
                <a:solidFill>
                  <a:srgbClr val="2B3050"/>
                </a:solidFill>
                <a:latin typeface="Calibri"/>
                <a:ea typeface="微軟正黑體"/>
                <a:cs typeface="Calibri"/>
              </a:rPr>
              <a:t>圖中只畫 x–y 平面</a:t>
            </a:r>
            <a:endParaRPr lang="zh-TW" sz="2400"/>
          </a:p>
        </p:txBody>
      </p:sp>
      <p:cxnSp>
        <p:nvCxnSpPr>
          <p:cNvPr id="17" name="L17"/>
          <p:cNvCxnSpPr/>
          <p:nvPr/>
        </p:nvCxnSpPr>
        <p:spPr>
          <a:xfrm>
            <a:off x="5212080" y="4023360"/>
            <a:ext cx="3108960" cy="0"/>
          </a:xfrm>
          <a:prstGeom prst="line">
            <a:avLst/>
          </a:prstGeom>
          <a:ln w="15875">
            <a:solidFill>
              <a:srgbClr val="2B3050"/>
            </a:solidFill>
            <a:tailEnd type="triangle" w="med" len="med"/>
          </a:ln>
        </p:spPr>
      </p:cxnSp>
      <p:cxnSp>
        <p:nvCxnSpPr>
          <p:cNvPr id="18" name="L18"/>
          <p:cNvCxnSpPr/>
          <p:nvPr/>
        </p:nvCxnSpPr>
        <p:spPr>
          <a:xfrm flipV="1">
            <a:off x="5394960" y="1097280"/>
            <a:ext cx="0" cy="3108960"/>
          </a:xfrm>
          <a:prstGeom prst="line">
            <a:avLst/>
          </a:prstGeom>
          <a:ln w="15875">
            <a:solidFill>
              <a:srgbClr val="2B3050"/>
            </a:solidFill>
            <a:tailEnd type="triangle" w="med" len="med"/>
          </a:ln>
        </p:spPr>
      </p:cxnSp>
      <p:sp>
        <p:nvSpPr>
          <p:cNvPr id="19" name="T19"/>
          <p:cNvSpPr txBox="1"/>
          <p:nvPr/>
        </p:nvSpPr>
        <p:spPr>
          <a:xfrm>
            <a:off x="8138160" y="397764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20" name="T20"/>
          <p:cNvSpPr txBox="1"/>
          <p:nvPr/>
        </p:nvSpPr>
        <p:spPr>
          <a:xfrm>
            <a:off x="5440680" y="9144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1" name="T21"/>
          <p:cNvSpPr txBox="1"/>
          <p:nvPr/>
        </p:nvSpPr>
        <p:spPr>
          <a:xfrm>
            <a:off x="5029200" y="39319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22" name="P22"/>
          <p:cNvSpPr/>
          <p:nvPr/>
        </p:nvSpPr>
        <p:spPr>
          <a:xfrm>
            <a:off x="5669280" y="1368247"/>
            <a:ext cx="2468880" cy="2289353"/>
          </a:xfrm>
          <a:custGeom>
            <a:avLst/>
            <a:gdLst/>
            <a:ahLst/>
            <a:cxnLst/>
            <a:rect l="0" t="0" r="r" b="b"/>
            <a:pathLst>
              <a:path w="2468880" h="2289353">
                <a:moveTo>
                  <a:pt x="0" y="2289353"/>
                </a:moveTo>
                <a:lnTo>
                  <a:pt x="32207" y="2133600"/>
                </a:lnTo>
                <a:lnTo>
                  <a:pt x="67869" y="1983334"/>
                </a:lnTo>
                <a:lnTo>
                  <a:pt x="106985" y="1838554"/>
                </a:lnTo>
                <a:lnTo>
                  <a:pt x="149555" y="1699260"/>
                </a:lnTo>
                <a:lnTo>
                  <a:pt x="195580" y="1565453"/>
                </a:lnTo>
                <a:lnTo>
                  <a:pt x="245059" y="1437132"/>
                </a:lnTo>
                <a:lnTo>
                  <a:pt x="297993" y="1314298"/>
                </a:lnTo>
                <a:lnTo>
                  <a:pt x="354381" y="1196950"/>
                </a:lnTo>
                <a:lnTo>
                  <a:pt x="414223" y="1085088"/>
                </a:lnTo>
                <a:lnTo>
                  <a:pt x="477520" y="978713"/>
                </a:lnTo>
                <a:lnTo>
                  <a:pt x="544271" y="877824"/>
                </a:lnTo>
                <a:lnTo>
                  <a:pt x="614477" y="782422"/>
                </a:lnTo>
                <a:lnTo>
                  <a:pt x="688137" y="692506"/>
                </a:lnTo>
                <a:lnTo>
                  <a:pt x="765251" y="608076"/>
                </a:lnTo>
                <a:lnTo>
                  <a:pt x="845820" y="529133"/>
                </a:lnTo>
                <a:lnTo>
                  <a:pt x="929843" y="455676"/>
                </a:lnTo>
                <a:lnTo>
                  <a:pt x="1017321" y="387706"/>
                </a:lnTo>
                <a:lnTo>
                  <a:pt x="1108253" y="325222"/>
                </a:lnTo>
                <a:lnTo>
                  <a:pt x="1202639" y="268224"/>
                </a:lnTo>
                <a:lnTo>
                  <a:pt x="1300480" y="216713"/>
                </a:lnTo>
                <a:lnTo>
                  <a:pt x="1401775" y="170688"/>
                </a:lnTo>
                <a:lnTo>
                  <a:pt x="1506525" y="130150"/>
                </a:lnTo>
                <a:lnTo>
                  <a:pt x="1614729" y="95098"/>
                </a:lnTo>
                <a:lnTo>
                  <a:pt x="1726387" y="65532"/>
                </a:lnTo>
                <a:lnTo>
                  <a:pt x="1841500" y="41453"/>
                </a:lnTo>
                <a:lnTo>
                  <a:pt x="1960067" y="22860"/>
                </a:lnTo>
                <a:lnTo>
                  <a:pt x="2082089" y="9754"/>
                </a:lnTo>
                <a:lnTo>
                  <a:pt x="2207565" y="2134"/>
                </a:lnTo>
                <a:lnTo>
                  <a:pt x="2336495" y="0"/>
                </a:lnTo>
                <a:lnTo>
                  <a:pt x="2468880" y="3353"/>
                </a:lnTo>
              </a:path>
            </a:pathLst>
          </a:custGeom>
          <a:noFill/>
          <a:ln w="19050">
            <a:solidFill>
              <a:srgbClr val="8A8F9C"/>
            </a:solidFill>
            <a:prstDash val="dash"/>
          </a:ln>
        </p:spPr>
        <p:txBody>
          <a:bodyPr/>
          <a:lstStyle/>
          <a:p>
            <a:endParaRPr lang="zh-TW" altLang="en-US"/>
          </a:p>
        </p:txBody>
      </p:sp>
      <p:cxnSp>
        <p:nvCxnSpPr>
          <p:cNvPr id="23" name="L23"/>
          <p:cNvCxnSpPr/>
          <p:nvPr/>
        </p:nvCxnSpPr>
        <p:spPr>
          <a:xfrm>
            <a:off x="5394960" y="4023360"/>
            <a:ext cx="457200" cy="0"/>
          </a:xfrm>
          <a:prstGeom prst="line">
            <a:avLst/>
          </a:prstGeom>
          <a:ln w="44450">
            <a:solidFill>
              <a:srgbClr val="1F8899"/>
            </a:solidFill>
            <a:tailEnd type="triangle" w="med" len="med"/>
          </a:ln>
        </p:spPr>
      </p:cxnSp>
      <p:cxnSp>
        <p:nvCxnSpPr>
          <p:cNvPr id="24" name="L24"/>
          <p:cNvCxnSpPr/>
          <p:nvPr/>
        </p:nvCxnSpPr>
        <p:spPr>
          <a:xfrm flipV="1">
            <a:off x="5394960" y="3566160"/>
            <a:ext cx="0" cy="457200"/>
          </a:xfrm>
          <a:prstGeom prst="line">
            <a:avLst/>
          </a:prstGeom>
          <a:ln w="44450">
            <a:solidFill>
              <a:srgbClr val="C8901F"/>
            </a:solidFill>
            <a:tailEnd type="triangle" w="med" len="med"/>
          </a:ln>
        </p:spPr>
      </p:cxnSp>
      <mc:AlternateContent xmlns:mc="http://schemas.openxmlformats.org/markup-compatibility/2006" xmlns:a14="http://schemas.microsoft.com/office/drawing/2010/main">
        <mc:Choice Requires="a14">
          <p:sp>
            <p:nvSpPr>
              <p:cNvPr id="25" name="T25"/>
              <p:cNvSpPr txBox="1"/>
              <p:nvPr/>
            </p:nvSpPr>
            <p:spPr>
              <a:xfrm>
                <a:off x="5532120" y="3584448"/>
                <a:ext cx="45720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𝑖</m:t>
                          </m:r>
                        </m:e>
                      </m:acc>
                    </m:oMath>
                  </m:oMathPara>
                </a14:m>
                <a:endParaRPr lang="zh-TW" sz="2400"/>
              </a:p>
            </p:txBody>
          </p:sp>
        </mc:Choice>
        <mc:Fallback xmlns="">
          <p:pic>
            <p:nvPicPr>
              <p:cNvPr id="25" name="F25"/>
              <p:cNvPicPr/>
              <p:nvPr/>
            </p:nvPicPr>
            <p:blipFill>
              <a:blip r:embed="rId3"/>
              <a:stretch>
                <a:fillRect/>
              </a:stretch>
            </p:blipFill>
            <p:spPr>
              <a:xfrm>
                <a:off x="5532120" y="3584448"/>
                <a:ext cx="457200" cy="38404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6" name="T26"/>
              <p:cNvSpPr txBox="1"/>
              <p:nvPr/>
            </p:nvSpPr>
            <p:spPr>
              <a:xfrm>
                <a:off x="4983480" y="3429000"/>
                <a:ext cx="45720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𝑗</m:t>
                          </m:r>
                        </m:e>
                      </m:acc>
                    </m:oMath>
                  </m:oMathPara>
                </a14:m>
                <a:endParaRPr lang="zh-TW" sz="2400"/>
              </a:p>
            </p:txBody>
          </p:sp>
        </mc:Choice>
        <mc:Fallback xmlns="">
          <p:pic>
            <p:nvPicPr>
              <p:cNvPr id="26" name="F26"/>
              <p:cNvPicPr/>
              <p:nvPr/>
            </p:nvPicPr>
            <p:blipFill>
              <a:blip r:embed="rId4"/>
              <a:stretch>
                <a:fillRect/>
              </a:stretch>
            </p:blipFill>
            <p:spPr>
              <a:xfrm>
                <a:off x="4983480" y="3429000"/>
                <a:ext cx="457200" cy="384048"/>
              </a:xfrm>
              <a:prstGeom prst="rect">
                <a:avLst/>
              </a:prstGeom>
              <a:noFill/>
              <a:ln>
                <a:noFill/>
              </a:ln>
            </p:spPr>
          </p:pic>
        </mc:Fallback>
      </mc:AlternateContent>
      <p:cxnSp>
        <p:nvCxnSpPr>
          <p:cNvPr id="27" name="L27"/>
          <p:cNvCxnSpPr/>
          <p:nvPr/>
        </p:nvCxnSpPr>
        <p:spPr>
          <a:xfrm>
            <a:off x="5394960" y="4041648"/>
            <a:ext cx="1382573" cy="0"/>
          </a:xfrm>
          <a:prstGeom prst="line">
            <a:avLst/>
          </a:prstGeom>
          <a:ln w="31750">
            <a:solidFill>
              <a:srgbClr val="1F8899"/>
            </a:solidFill>
            <a:tailEnd type="triangle" w="med" len="med"/>
          </a:ln>
        </p:spPr>
      </p:cxnSp>
      <mc:AlternateContent xmlns:mc="http://schemas.openxmlformats.org/markup-compatibility/2006" xmlns:a14="http://schemas.microsoft.com/office/drawing/2010/main">
        <mc:Choice Requires="a14">
          <p:sp>
            <p:nvSpPr>
              <p:cNvPr id="28" name="T28"/>
              <p:cNvSpPr txBox="1"/>
              <p:nvPr/>
            </p:nvSpPr>
            <p:spPr>
              <a:xfrm>
                <a:off x="6177686" y="4041648"/>
                <a:ext cx="82296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𝑥</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𝑖</m:t>
                          </m:r>
                        </m:e>
                      </m:acc>
                    </m:oMath>
                  </m:oMathPara>
                </a14:m>
                <a:endParaRPr lang="zh-TW" sz="2400"/>
              </a:p>
            </p:txBody>
          </p:sp>
        </mc:Choice>
        <mc:Fallback xmlns="">
          <p:pic>
            <p:nvPicPr>
              <p:cNvPr id="28" name="F28"/>
              <p:cNvPicPr/>
              <p:nvPr/>
            </p:nvPicPr>
            <p:blipFill>
              <a:blip r:embed="rId5"/>
              <a:stretch>
                <a:fillRect/>
              </a:stretch>
            </p:blipFill>
            <p:spPr>
              <a:xfrm>
                <a:off x="6177686" y="4041648"/>
                <a:ext cx="822960" cy="384048"/>
              </a:xfrm>
              <a:prstGeom prst="rect">
                <a:avLst/>
              </a:prstGeom>
              <a:noFill/>
              <a:ln>
                <a:noFill/>
              </a:ln>
            </p:spPr>
          </p:pic>
        </mc:Fallback>
      </mc:AlternateContent>
      <p:cxnSp>
        <p:nvCxnSpPr>
          <p:cNvPr id="29" name="L29"/>
          <p:cNvCxnSpPr/>
          <p:nvPr/>
        </p:nvCxnSpPr>
        <p:spPr>
          <a:xfrm flipV="1">
            <a:off x="6777533" y="1693469"/>
            <a:ext cx="0" cy="2329891"/>
          </a:xfrm>
          <a:prstGeom prst="line">
            <a:avLst/>
          </a:prstGeom>
          <a:ln w="31750">
            <a:solidFill>
              <a:srgbClr val="C8901F"/>
            </a:solidFill>
            <a:tailEnd type="triangle" w="med" len="med"/>
          </a:ln>
        </p:spPr>
      </p:cxnSp>
      <mc:AlternateContent xmlns:mc="http://schemas.openxmlformats.org/markup-compatibility/2006" xmlns:a14="http://schemas.microsoft.com/office/drawing/2010/main">
        <mc:Choice Requires="a14">
          <p:sp>
            <p:nvSpPr>
              <p:cNvPr id="30" name="T30"/>
              <p:cNvSpPr txBox="1"/>
              <p:nvPr/>
            </p:nvSpPr>
            <p:spPr>
              <a:xfrm>
                <a:off x="6823253" y="2675534"/>
                <a:ext cx="82296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C8901F"/>
                          </a:solidFill>
                          <a:latin typeface="Cambria Math" panose="02040503050406030204" pitchFamily="18" charset="0"/>
                          <a:ea typeface="Cambria Math"/>
                        </a:rPr>
                        <m:t>𝑦</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𝑗</m:t>
                          </m:r>
                        </m:e>
                      </m:acc>
                    </m:oMath>
                  </m:oMathPara>
                </a14:m>
                <a:endParaRPr lang="zh-TW" sz="2400"/>
              </a:p>
            </p:txBody>
          </p:sp>
        </mc:Choice>
        <mc:Fallback xmlns="">
          <p:pic>
            <p:nvPicPr>
              <p:cNvPr id="30" name="F30"/>
              <p:cNvPicPr/>
              <p:nvPr/>
            </p:nvPicPr>
            <p:blipFill>
              <a:blip r:embed="rId6"/>
              <a:stretch>
                <a:fillRect/>
              </a:stretch>
            </p:blipFill>
            <p:spPr>
              <a:xfrm>
                <a:off x="6823253" y="2675534"/>
                <a:ext cx="822960" cy="384048"/>
              </a:xfrm>
              <a:prstGeom prst="rect">
                <a:avLst/>
              </a:prstGeom>
              <a:noFill/>
              <a:ln>
                <a:noFill/>
              </a:ln>
            </p:spPr>
          </p:pic>
        </mc:Fallback>
      </mc:AlternateContent>
      <p:cxnSp>
        <p:nvCxnSpPr>
          <p:cNvPr id="31" name="L31"/>
          <p:cNvCxnSpPr/>
          <p:nvPr/>
        </p:nvCxnSpPr>
        <p:spPr>
          <a:xfrm flipV="1">
            <a:off x="5394960" y="1693469"/>
            <a:ext cx="1382573" cy="2329891"/>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32" name="T32"/>
              <p:cNvSpPr txBox="1"/>
              <p:nvPr/>
            </p:nvSpPr>
            <p:spPr>
              <a:xfrm>
                <a:off x="5583326" y="2538374"/>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oMath>
                  </m:oMathPara>
                </a14:m>
                <a:endParaRPr lang="zh-TW" sz="2400"/>
              </a:p>
            </p:txBody>
          </p:sp>
        </mc:Choice>
        <mc:Fallback xmlns="">
          <p:pic>
            <p:nvPicPr>
              <p:cNvPr id="32" name="F32"/>
              <p:cNvPicPr/>
              <p:nvPr/>
            </p:nvPicPr>
            <p:blipFill>
              <a:blip r:embed="rId7"/>
              <a:stretch>
                <a:fillRect/>
              </a:stretch>
            </p:blipFill>
            <p:spPr>
              <a:xfrm>
                <a:off x="5583326" y="2538374"/>
                <a:ext cx="548640" cy="411480"/>
              </a:xfrm>
              <a:prstGeom prst="rect">
                <a:avLst/>
              </a:prstGeom>
              <a:noFill/>
              <a:ln>
                <a:noFill/>
              </a:ln>
            </p:spPr>
          </p:pic>
        </mc:Fallback>
      </mc:AlternateContent>
      <p:sp>
        <p:nvSpPr>
          <p:cNvPr id="33" name="S33"/>
          <p:cNvSpPr/>
          <p:nvPr/>
        </p:nvSpPr>
        <p:spPr>
          <a:xfrm>
            <a:off x="6704381" y="1620317"/>
            <a:ext cx="146304" cy="146304"/>
          </a:xfrm>
          <a:prstGeom prst="ellipse">
            <a:avLst/>
          </a:prstGeom>
          <a:solidFill>
            <a:srgbClr val="2B3050"/>
          </a:solidFill>
          <a:ln>
            <a:noFill/>
          </a:ln>
        </p:spPr>
        <p:txBody>
          <a:bodyPr/>
          <a:lstStyle/>
          <a:p>
            <a:endParaRPr lang="zh-TW" altLang="en-US"/>
          </a:p>
        </p:txBody>
      </p:sp>
      <p:sp>
        <p:nvSpPr>
          <p:cNvPr id="34" name="T34"/>
          <p:cNvSpPr txBox="1"/>
          <p:nvPr/>
        </p:nvSpPr>
        <p:spPr>
          <a:xfrm>
            <a:off x="6823253" y="1281989"/>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2-5　速度與加速度（式 2-10）</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位置：</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𝑥</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𝑦</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𝑧</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速度：</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𝑥</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𝑦</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𝑧</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1F8899"/>
                    </a:solidFill>
                    <a:latin typeface="Calibri"/>
                    <a:ea typeface="微軟正黑體"/>
                    <a:cs typeface="Calibri"/>
                  </a:rPr>
                  <a:t>加速度：</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𝑥</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𝑦</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a14:m>
                <a:endParaRPr lang="zh-TW" sz="2400"/>
              </a:p>
            </p:txBody>
          </p:sp>
        </mc:Choice>
        <mc:Fallback xmlns="">
          <p:pic>
            <p:nvPicPr>
              <p:cNvPr id="14" name="F14"/>
              <p:cNvPicPr/>
              <p:nvPr/>
            </p:nvPicPr>
            <p:blipFill>
              <a:blip r:embed="rId5"/>
              <a:stretch>
                <a:fillRect/>
              </a:stretch>
            </p:blipFill>
            <p:spPr>
              <a:xfrm>
                <a:off x="365760" y="251460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06324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𝑧</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5" name="F15"/>
              <p:cNvPicPr/>
              <p:nvPr/>
            </p:nvPicPr>
            <p:blipFill>
              <a:blip r:embed="rId6"/>
              <a:stretch>
                <a:fillRect/>
              </a:stretch>
            </p:blipFill>
            <p:spPr>
              <a:xfrm>
                <a:off x="365760" y="3063240"/>
                <a:ext cx="7955280" cy="548640"/>
              </a:xfrm>
              <a:prstGeom prst="rect">
                <a:avLst/>
              </a:prstGeom>
              <a:noFill/>
              <a:ln>
                <a:noFill/>
              </a:ln>
            </p:spPr>
          </p:pic>
        </mc:Fallback>
      </mc:AlternateContent>
      <p:sp>
        <p:nvSpPr>
          <p:cNvPr id="16" name="T16"/>
          <p:cNvSpPr txBox="1"/>
          <p:nvPr/>
        </p:nvSpPr>
        <p:spPr>
          <a:xfrm>
            <a:off x="365760" y="3749040"/>
            <a:ext cx="7955280" cy="8686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上面一點＝對 t 微分一次；兩點＝微分兩次</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2-5　大小與方向</a:t>
            </a:r>
          </a:p>
        </p:txBody>
      </p:sp>
      <p:sp>
        <p:nvSpPr>
          <p:cNvPr id="11" name="T11"/>
          <p:cNvSpPr txBox="1"/>
          <p:nvPr/>
        </p:nvSpPr>
        <p:spPr>
          <a:xfrm>
            <a:off x="365760" y="868680"/>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i、j、k 大小、方向都不變</a:t>
            </a:r>
            <a:endParaRPr lang="zh-TW" sz="2400"/>
          </a:p>
        </p:txBody>
      </p:sp>
      <p:sp>
        <p:nvSpPr>
          <p:cNvPr id="12" name="T12"/>
          <p:cNvSpPr txBox="1"/>
          <p:nvPr/>
        </p:nvSpPr>
        <p:spPr>
          <a:xfrm>
            <a:off x="365760" y="1307592"/>
            <a:ext cx="45720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速度大小：</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548640" y="1617008"/>
                <a:ext cx="457200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𝑧</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dirty="0"/>
              </a:p>
            </p:txBody>
          </p:sp>
        </mc:Choice>
        <mc:Fallback xmlns="">
          <p:sp>
            <p:nvSpPr>
              <p:cNvPr id="13" name="T13"/>
              <p:cNvSpPr txBox="1">
                <a:spLocks noRot="1" noChangeAspect="1" noMove="1" noResize="1" noEditPoints="1" noAdjustHandles="1" noChangeArrowheads="1" noChangeShapeType="1" noTextEdit="1"/>
              </p:cNvSpPr>
              <p:nvPr/>
            </p:nvSpPr>
            <p:spPr>
              <a:xfrm>
                <a:off x="548640" y="1617008"/>
                <a:ext cx="4572000" cy="566928"/>
              </a:xfrm>
              <a:prstGeom prst="rect">
                <a:avLst/>
              </a:prstGeom>
              <a:blipFill>
                <a:blip r:embed="rId2"/>
                <a:stretch>
                  <a:fillRect b="-37634"/>
                </a:stretch>
              </a:blipFill>
              <a:ln>
                <a:noFill/>
              </a:ln>
            </p:spPr>
            <p:txBody>
              <a:bodyPr/>
              <a:lstStyle/>
              <a:p>
                <a:r>
                  <a:rPr lang="zh-TW" altLang="en-US">
                    <a:noFill/>
                  </a:rPr>
                  <a:t> </a:t>
                </a:r>
              </a:p>
            </p:txBody>
          </p:sp>
        </mc:Fallback>
      </mc:AlternateContent>
      <p:sp>
        <p:nvSpPr>
          <p:cNvPr id="14" name="T14"/>
          <p:cNvSpPr txBox="1"/>
          <p:nvPr/>
        </p:nvSpPr>
        <p:spPr>
          <a:xfrm>
            <a:off x="358445" y="2435372"/>
            <a:ext cx="45720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加速度大小：</a:t>
            </a:r>
            <a:endParaRPr lang="zh-TW" sz="2400" dirty="0"/>
          </a:p>
        </p:txBody>
      </p:sp>
      <mc:AlternateContent xmlns:mc="http://schemas.openxmlformats.org/markup-compatibility/2006" xmlns:a14="http://schemas.microsoft.com/office/drawing/2010/main">
        <mc:Choice Requires="a14">
          <p:sp>
            <p:nvSpPr>
              <p:cNvPr id="15" name="T15"/>
              <p:cNvSpPr txBox="1"/>
              <p:nvPr/>
            </p:nvSpPr>
            <p:spPr>
              <a:xfrm>
                <a:off x="440741" y="2751797"/>
                <a:ext cx="457200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𝑧</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dirty="0"/>
              </a:p>
            </p:txBody>
          </p:sp>
        </mc:Choice>
        <mc:Fallback xmlns="">
          <p:sp>
            <p:nvSpPr>
              <p:cNvPr id="15" name="T15"/>
              <p:cNvSpPr txBox="1">
                <a:spLocks noRot="1" noChangeAspect="1" noMove="1" noResize="1" noEditPoints="1" noAdjustHandles="1" noChangeArrowheads="1" noChangeShapeType="1" noTextEdit="1"/>
              </p:cNvSpPr>
              <p:nvPr/>
            </p:nvSpPr>
            <p:spPr>
              <a:xfrm>
                <a:off x="440741" y="2751797"/>
                <a:ext cx="4572000" cy="566928"/>
              </a:xfrm>
              <a:prstGeom prst="rect">
                <a:avLst/>
              </a:prstGeom>
              <a:blipFill>
                <a:blip r:embed="rId3"/>
                <a:stretch>
                  <a:fillRect b="-37634"/>
                </a:stretch>
              </a:blipFill>
              <a:ln>
                <a:noFill/>
              </a:ln>
            </p:spPr>
            <p:txBody>
              <a:bodyPr/>
              <a:lstStyle/>
              <a:p>
                <a:r>
                  <a:rPr lang="zh-TW" altLang="en-US">
                    <a:noFill/>
                  </a:rPr>
                  <a:t> </a:t>
                </a:r>
              </a:p>
            </p:txBody>
          </p:sp>
        </mc:Fallback>
      </mc:AlternateContent>
      <p:sp>
        <p:nvSpPr>
          <p:cNvPr id="16" name="T16"/>
          <p:cNvSpPr txBox="1"/>
          <p:nvPr/>
        </p:nvSpPr>
        <p:spPr>
          <a:xfrm>
            <a:off x="457201" y="3534109"/>
            <a:ext cx="4572000" cy="12344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速度：一定沿路徑切線</a:t>
            </a:r>
            <a:endParaRPr lang="zh-TW" sz="2400" dirty="0"/>
          </a:p>
          <a:p>
            <a:pPr algn="l">
              <a:lnSpc>
                <a:spcPct val="100000"/>
              </a:lnSpc>
              <a:buNone/>
            </a:pPr>
            <a:r>
              <a:rPr lang="zh-TW" altLang="en-US" sz="2400" b="0" dirty="0">
                <a:solidFill>
                  <a:srgbClr val="2B3050"/>
                </a:solidFill>
                <a:latin typeface="Calibri"/>
                <a:ea typeface="微軟正黑體"/>
                <a:cs typeface="Calibri"/>
              </a:rPr>
              <a:t>加速度：通常不沿切線</a:t>
            </a:r>
            <a:endParaRPr lang="zh-TW" sz="2400" dirty="0"/>
          </a:p>
          <a:p>
            <a:pPr algn="l">
              <a:lnSpc>
                <a:spcPct val="100000"/>
              </a:lnSpc>
              <a:buNone/>
            </a:pPr>
            <a:r>
              <a:rPr lang="zh-TW" altLang="en-US" sz="2400" b="0" dirty="0">
                <a:solidFill>
                  <a:srgbClr val="2B3050"/>
                </a:solidFill>
                <a:latin typeface="Calibri"/>
                <a:ea typeface="微軟正黑體"/>
                <a:cs typeface="Calibri"/>
              </a:rPr>
              <a:t>（指向彎曲的內側）</a:t>
            </a:r>
            <a:endParaRPr lang="zh-TW" sz="2400" dirty="0"/>
          </a:p>
        </p:txBody>
      </p:sp>
      <p:cxnSp>
        <p:nvCxnSpPr>
          <p:cNvPr id="17" name="L17"/>
          <p:cNvCxnSpPr/>
          <p:nvPr/>
        </p:nvCxnSpPr>
        <p:spPr>
          <a:xfrm>
            <a:off x="5212080" y="4114800"/>
            <a:ext cx="3108960" cy="0"/>
          </a:xfrm>
          <a:prstGeom prst="line">
            <a:avLst/>
          </a:prstGeom>
          <a:ln w="15875">
            <a:solidFill>
              <a:srgbClr val="2B3050"/>
            </a:solidFill>
            <a:tailEnd type="triangle" w="med" len="med"/>
          </a:ln>
        </p:spPr>
      </p:cxnSp>
      <p:cxnSp>
        <p:nvCxnSpPr>
          <p:cNvPr id="18" name="L18"/>
          <p:cNvCxnSpPr/>
          <p:nvPr/>
        </p:nvCxnSpPr>
        <p:spPr>
          <a:xfrm flipV="1">
            <a:off x="5303520" y="1097280"/>
            <a:ext cx="0" cy="3108960"/>
          </a:xfrm>
          <a:prstGeom prst="line">
            <a:avLst/>
          </a:prstGeom>
          <a:ln w="15875">
            <a:solidFill>
              <a:srgbClr val="2B3050"/>
            </a:solidFill>
            <a:tailEnd type="triangle" w="med" len="med"/>
          </a:ln>
        </p:spPr>
      </p:cxnSp>
      <p:sp>
        <p:nvSpPr>
          <p:cNvPr id="19" name="T19"/>
          <p:cNvSpPr txBox="1"/>
          <p:nvPr/>
        </p:nvSpPr>
        <p:spPr>
          <a:xfrm>
            <a:off x="8138160" y="40690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20" name="T20"/>
          <p:cNvSpPr txBox="1"/>
          <p:nvPr/>
        </p:nvSpPr>
        <p:spPr>
          <a:xfrm>
            <a:off x="5349240" y="9144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1" name="P21"/>
          <p:cNvSpPr/>
          <p:nvPr/>
        </p:nvSpPr>
        <p:spPr>
          <a:xfrm>
            <a:off x="5486400" y="1527962"/>
            <a:ext cx="2743200" cy="2312518"/>
          </a:xfrm>
          <a:custGeom>
            <a:avLst/>
            <a:gdLst/>
            <a:ahLst/>
            <a:cxnLst/>
            <a:rect l="0" t="0" r="r" b="b"/>
            <a:pathLst>
              <a:path w="2743200" h="2312518">
                <a:moveTo>
                  <a:pt x="0" y="2312518"/>
                </a:moveTo>
                <a:lnTo>
                  <a:pt x="44298" y="2144979"/>
                </a:lnTo>
                <a:lnTo>
                  <a:pt x="91846" y="1983740"/>
                </a:lnTo>
                <a:lnTo>
                  <a:pt x="142646" y="1828800"/>
                </a:lnTo>
                <a:lnTo>
                  <a:pt x="196698" y="1680159"/>
                </a:lnTo>
                <a:lnTo>
                  <a:pt x="254000" y="1537818"/>
                </a:lnTo>
                <a:lnTo>
                  <a:pt x="314554" y="1401775"/>
                </a:lnTo>
                <a:lnTo>
                  <a:pt x="378358" y="1272032"/>
                </a:lnTo>
                <a:lnTo>
                  <a:pt x="445414" y="1148588"/>
                </a:lnTo>
                <a:lnTo>
                  <a:pt x="515722" y="1031443"/>
                </a:lnTo>
                <a:lnTo>
                  <a:pt x="589280" y="920598"/>
                </a:lnTo>
                <a:lnTo>
                  <a:pt x="666090" y="816051"/>
                </a:lnTo>
                <a:lnTo>
                  <a:pt x="746150" y="717804"/>
                </a:lnTo>
                <a:lnTo>
                  <a:pt x="829462" y="625856"/>
                </a:lnTo>
                <a:lnTo>
                  <a:pt x="916026" y="540207"/>
                </a:lnTo>
                <a:lnTo>
                  <a:pt x="1005840" y="460858"/>
                </a:lnTo>
                <a:lnTo>
                  <a:pt x="1098906" y="387807"/>
                </a:lnTo>
                <a:lnTo>
                  <a:pt x="1195222" y="321056"/>
                </a:lnTo>
                <a:lnTo>
                  <a:pt x="1294790" y="260604"/>
                </a:lnTo>
                <a:lnTo>
                  <a:pt x="1397610" y="206451"/>
                </a:lnTo>
                <a:lnTo>
                  <a:pt x="1503680" y="158598"/>
                </a:lnTo>
                <a:lnTo>
                  <a:pt x="1613002" y="117043"/>
                </a:lnTo>
                <a:lnTo>
                  <a:pt x="1725574" y="81788"/>
                </a:lnTo>
                <a:lnTo>
                  <a:pt x="1841398" y="52832"/>
                </a:lnTo>
                <a:lnTo>
                  <a:pt x="1960474" y="30175"/>
                </a:lnTo>
                <a:lnTo>
                  <a:pt x="2082800" y="13818"/>
                </a:lnTo>
                <a:lnTo>
                  <a:pt x="2208378" y="3759"/>
                </a:lnTo>
                <a:lnTo>
                  <a:pt x="2337206" y="0"/>
                </a:lnTo>
                <a:lnTo>
                  <a:pt x="2469286" y="2540"/>
                </a:lnTo>
                <a:lnTo>
                  <a:pt x="2604618" y="11379"/>
                </a:lnTo>
                <a:lnTo>
                  <a:pt x="2743200" y="26518"/>
                </a:lnTo>
              </a:path>
            </a:pathLst>
          </a:custGeom>
          <a:noFill/>
          <a:ln w="25400">
            <a:solidFill>
              <a:srgbClr val="8A8F9C"/>
            </a:solidFill>
            <a:prstDash val="dash"/>
          </a:ln>
        </p:spPr>
        <p:txBody>
          <a:bodyPr/>
          <a:lstStyle/>
          <a:p>
            <a:endParaRPr lang="zh-TW" altLang="en-US"/>
          </a:p>
        </p:txBody>
      </p:sp>
      <p:sp>
        <p:nvSpPr>
          <p:cNvPr id="22" name="S22"/>
          <p:cNvSpPr/>
          <p:nvPr/>
        </p:nvSpPr>
        <p:spPr>
          <a:xfrm>
            <a:off x="5404104" y="3758184"/>
            <a:ext cx="164592" cy="164592"/>
          </a:xfrm>
          <a:prstGeom prst="ellipse">
            <a:avLst/>
          </a:prstGeom>
          <a:solidFill>
            <a:srgbClr val="2B3050"/>
          </a:solidFill>
          <a:ln>
            <a:noFill/>
          </a:ln>
        </p:spPr>
        <p:txBody>
          <a:bodyPr/>
          <a:lstStyle/>
          <a:p>
            <a:endParaRPr lang="zh-TW" altLang="en-US"/>
          </a:p>
        </p:txBody>
      </p:sp>
      <p:cxnSp>
        <p:nvCxnSpPr>
          <p:cNvPr id="23" name="L23"/>
          <p:cNvCxnSpPr/>
          <p:nvPr/>
        </p:nvCxnSpPr>
        <p:spPr>
          <a:xfrm flipV="1">
            <a:off x="6232550" y="1432626"/>
            <a:ext cx="736768" cy="813140"/>
          </a:xfrm>
          <a:prstGeom prst="line">
            <a:avLst/>
          </a:prstGeom>
          <a:ln w="38100">
            <a:solidFill>
              <a:srgbClr val="C8901F"/>
            </a:solidFill>
            <a:tailEnd type="triangle" w="med" len="med"/>
          </a:ln>
        </p:spPr>
      </p:cxnSp>
      <mc:AlternateContent xmlns:mc="http://schemas.openxmlformats.org/markup-compatibility/2006" xmlns:a14="http://schemas.microsoft.com/office/drawing/2010/main">
        <mc:Choice Requires="a14">
          <p:sp>
            <p:nvSpPr>
              <p:cNvPr id="24" name="T24"/>
              <p:cNvSpPr txBox="1"/>
              <p:nvPr/>
            </p:nvSpPr>
            <p:spPr>
              <a:xfrm>
                <a:off x="6969318" y="1158306"/>
                <a:ext cx="4572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24" name="F24"/>
              <p:cNvPicPr/>
              <p:nvPr/>
            </p:nvPicPr>
            <p:blipFill>
              <a:blip r:embed="rId4"/>
              <a:stretch>
                <a:fillRect/>
              </a:stretch>
            </p:blipFill>
            <p:spPr>
              <a:xfrm>
                <a:off x="6969318" y="1158306"/>
                <a:ext cx="457200" cy="411480"/>
              </a:xfrm>
              <a:prstGeom prst="rect">
                <a:avLst/>
              </a:prstGeom>
              <a:noFill/>
              <a:ln>
                <a:noFill/>
              </a:ln>
            </p:spPr>
          </p:pic>
        </mc:Fallback>
      </mc:AlternateContent>
      <p:cxnSp>
        <p:nvCxnSpPr>
          <p:cNvPr id="25" name="L25"/>
          <p:cNvCxnSpPr/>
          <p:nvPr/>
        </p:nvCxnSpPr>
        <p:spPr>
          <a:xfrm>
            <a:off x="6232550" y="2245766"/>
            <a:ext cx="736768" cy="0"/>
          </a:xfrm>
          <a:prstGeom prst="line">
            <a:avLst/>
          </a:prstGeom>
          <a:ln w="19050">
            <a:solidFill>
              <a:srgbClr val="C8901F"/>
            </a:solidFill>
            <a:prstDash val="dash"/>
            <a:tailEnd type="triangle" w="med" len="med"/>
          </a:ln>
        </p:spPr>
      </p:cxnSp>
      <p:cxnSp>
        <p:nvCxnSpPr>
          <p:cNvPr id="26" name="L26"/>
          <p:cNvCxnSpPr/>
          <p:nvPr/>
        </p:nvCxnSpPr>
        <p:spPr>
          <a:xfrm flipV="1">
            <a:off x="6969318" y="1432626"/>
            <a:ext cx="0" cy="813140"/>
          </a:xfrm>
          <a:prstGeom prst="line">
            <a:avLst/>
          </a:prstGeom>
          <a:ln w="19050">
            <a:solidFill>
              <a:srgbClr val="C8901F"/>
            </a:solidFill>
            <a:prstDash val="dash"/>
            <a:tailEnd type="triangle" w="med" len="med"/>
          </a:ln>
        </p:spPr>
      </p:cxnSp>
      <mc:AlternateContent xmlns:mc="http://schemas.openxmlformats.org/markup-compatibility/2006" xmlns:a14="http://schemas.microsoft.com/office/drawing/2010/main">
        <mc:Choice Requires="a14">
          <p:sp>
            <p:nvSpPr>
              <p:cNvPr id="27" name="T27"/>
              <p:cNvSpPr txBox="1"/>
              <p:nvPr/>
            </p:nvSpPr>
            <p:spPr>
              <a:xfrm>
                <a:off x="6415430" y="2245766"/>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𝑥</m:t>
                          </m:r>
                        </m:sub>
                      </m:sSub>
                    </m:oMath>
                  </m:oMathPara>
                </a14:m>
                <a:endParaRPr lang="zh-TW" sz="2400"/>
              </a:p>
            </p:txBody>
          </p:sp>
        </mc:Choice>
        <mc:Fallback xmlns="">
          <p:pic>
            <p:nvPicPr>
              <p:cNvPr id="27" name="F27"/>
              <p:cNvPicPr/>
              <p:nvPr/>
            </p:nvPicPr>
            <p:blipFill>
              <a:blip r:embed="rId5"/>
              <a:stretch>
                <a:fillRect/>
              </a:stretch>
            </p:blipFill>
            <p:spPr>
              <a:xfrm>
                <a:off x="6415430" y="2245766"/>
                <a:ext cx="731520" cy="38404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8" name="T28"/>
              <p:cNvSpPr txBox="1"/>
              <p:nvPr/>
            </p:nvSpPr>
            <p:spPr>
              <a:xfrm>
                <a:off x="6987606" y="1697126"/>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oMath>
                  </m:oMathPara>
                </a14:m>
                <a:endParaRPr lang="zh-TW" sz="2400"/>
              </a:p>
            </p:txBody>
          </p:sp>
        </mc:Choice>
        <mc:Fallback xmlns="">
          <p:pic>
            <p:nvPicPr>
              <p:cNvPr id="28" name="F28"/>
              <p:cNvPicPr/>
              <p:nvPr/>
            </p:nvPicPr>
            <p:blipFill>
              <a:blip r:embed="rId6"/>
              <a:stretch>
                <a:fillRect/>
              </a:stretch>
            </p:blipFill>
            <p:spPr>
              <a:xfrm>
                <a:off x="6987606" y="1697126"/>
                <a:ext cx="731520" cy="384048"/>
              </a:xfrm>
              <a:prstGeom prst="rect">
                <a:avLst/>
              </a:prstGeom>
              <a:noFill/>
              <a:ln>
                <a:noFill/>
              </a:ln>
            </p:spPr>
          </p:pic>
        </mc:Fallback>
      </mc:AlternateContent>
      <p:cxnSp>
        <p:nvCxnSpPr>
          <p:cNvPr id="29" name="L29"/>
          <p:cNvCxnSpPr/>
          <p:nvPr/>
        </p:nvCxnSpPr>
        <p:spPr>
          <a:xfrm>
            <a:off x="6232550" y="2245766"/>
            <a:ext cx="548640" cy="731520"/>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30" name="T30"/>
              <p:cNvSpPr txBox="1"/>
              <p:nvPr/>
            </p:nvSpPr>
            <p:spPr>
              <a:xfrm>
                <a:off x="6781190" y="2611526"/>
                <a:ext cx="4572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oMath>
                  </m:oMathPara>
                </a14:m>
                <a:endParaRPr lang="zh-TW" sz="2400"/>
              </a:p>
            </p:txBody>
          </p:sp>
        </mc:Choice>
        <mc:Fallback xmlns="">
          <p:pic>
            <p:nvPicPr>
              <p:cNvPr id="30" name="F30"/>
              <p:cNvPicPr/>
              <p:nvPr/>
            </p:nvPicPr>
            <p:blipFill>
              <a:blip r:embed="rId7"/>
              <a:stretch>
                <a:fillRect/>
              </a:stretch>
            </p:blipFill>
            <p:spPr>
              <a:xfrm>
                <a:off x="6781190" y="2611526"/>
                <a:ext cx="457200" cy="41148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0" presetClass="path" presetSubtype="0" fill="hold" grpId="0" nodeType="withEffect">
                                  <p:stCondLst>
                                    <p:cond delay="0"/>
                                  </p:stCondLst>
                                  <p:childTnLst>
                                    <p:animMotion origin="layout" path="M 0 0 L 0.00000 0.00000 L 0.00484 -0.03257 L 0.01004 -0.06392 L 0.01560 -0.09404 L 0.02151 -0.12294 L 0.02778 -0.15062 L 0.03440 -0.17707 L 0.04138 -0.20229 L 0.04871 -0.22629 L 0.05640 -0.24907 L 0.06444 -0.27062 L 0.07284 -0.29094 L 0.08160 -0.31004 E" pathEditMode="relative" ptsTypes="">
                                      <p:cBhvr>
                                        <p:cTn id="39" dur="1500" fill="hold"/>
                                        <p:tgtEl>
                                          <p:spTgt spid="22"/>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2-5 重點：曲線運動＝三個直線運動</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直角座標把曲線運動拆成 </a:t>
            </a:r>
            <a:r>
              <a:rPr lang="zh-TW" altLang="en-US" sz="2400" b="1" dirty="0">
                <a:solidFill>
                  <a:srgbClr val="D6006F"/>
                </a:solidFill>
                <a:latin typeface="Calibri"/>
                <a:ea typeface="微軟正黑體"/>
                <a:cs typeface="Calibri"/>
              </a:rPr>
              <a:t>x、y、z 三個直線運動</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640080" y="1417320"/>
                <a:ext cx="76809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𝑥</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𝑦</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𝑧</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2" name="F12"/>
              <p:cNvPicPr/>
              <p:nvPr/>
            </p:nvPicPr>
            <p:blipFill>
              <a:blip r:embed="rId2"/>
              <a:stretch>
                <a:fillRect/>
              </a:stretch>
            </p:blipFill>
            <p:spPr>
              <a:xfrm>
                <a:off x="640080" y="1417320"/>
                <a:ext cx="76809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640080" y="1965960"/>
                <a:ext cx="76809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𝑥</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𝑦</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𝑧</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3" name="F13"/>
              <p:cNvPicPr/>
              <p:nvPr/>
            </p:nvPicPr>
            <p:blipFill>
              <a:blip r:embed="rId3"/>
              <a:stretch>
                <a:fillRect/>
              </a:stretch>
            </p:blipFill>
            <p:spPr>
              <a:xfrm>
                <a:off x="640080" y="1965960"/>
                <a:ext cx="76809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640080" y="2514600"/>
                <a:ext cx="76809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𝑥</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𝑦</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𝑧</m:t>
                          </m:r>
                        </m:sub>
                      </m:sSub>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4" name="F14"/>
              <p:cNvPicPr/>
              <p:nvPr/>
            </p:nvPicPr>
            <p:blipFill>
              <a:blip r:embed="rId4"/>
              <a:stretch>
                <a:fillRect/>
              </a:stretch>
            </p:blipFill>
            <p:spPr>
              <a:xfrm>
                <a:off x="640080" y="2514600"/>
                <a:ext cx="7680960" cy="548640"/>
              </a:xfrm>
              <a:prstGeom prst="rect">
                <a:avLst/>
              </a:prstGeom>
              <a:noFill/>
              <a:ln>
                <a:noFill/>
              </a:ln>
            </p:spPr>
          </p:pic>
        </mc:Fallback>
      </mc:AlternateContent>
      <p:sp>
        <p:nvSpPr>
          <p:cNvPr id="15" name="T15"/>
          <p:cNvSpPr txBox="1"/>
          <p:nvPr/>
        </p:nvSpPr>
        <p:spPr>
          <a:xfrm>
            <a:off x="365760" y="3246120"/>
            <a:ext cx="3886200" cy="13716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每個方向各自計算</a:t>
            </a:r>
            <a:endParaRPr lang="zh-TW" sz="2400"/>
          </a:p>
          <a:p>
            <a:pPr algn="l">
              <a:lnSpc>
                <a:spcPct val="100000"/>
              </a:lnSpc>
              <a:buNone/>
            </a:pPr>
            <a:r>
              <a:rPr lang="zh-TW" altLang="en-US" sz="2400" b="0" dirty="0">
                <a:solidFill>
                  <a:srgbClr val="2B3050"/>
                </a:solidFill>
                <a:latin typeface="Calibri"/>
                <a:ea typeface="微軟正黑體"/>
                <a:cs typeface="Calibri"/>
              </a:rPr>
              <a:t>x 只管 x，y 只管 y</a:t>
            </a:r>
            <a:endParaRPr lang="zh-TW" sz="2400"/>
          </a:p>
        </p:txBody>
      </p:sp>
      <p:sp>
        <p:nvSpPr>
          <p:cNvPr id="16" name="T16"/>
          <p:cNvSpPr txBox="1"/>
          <p:nvPr/>
        </p:nvSpPr>
        <p:spPr>
          <a:xfrm>
            <a:off x="4434840" y="3246120"/>
            <a:ext cx="388620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前面直線運動的公式</a:t>
            </a:r>
            <a:endParaRPr lang="zh-TW" sz="2400"/>
          </a:p>
          <a:p>
            <a:pPr algn="l">
              <a:lnSpc>
                <a:spcPct val="100000"/>
              </a:lnSpc>
              <a:buNone/>
            </a:pPr>
            <a:r>
              <a:rPr lang="zh-TW" altLang="en-US" sz="2400" b="0" dirty="0">
                <a:solidFill>
                  <a:srgbClr val="2B3050"/>
                </a:solidFill>
                <a:latin typeface="Calibri"/>
                <a:ea typeface="微軟正黑體"/>
                <a:cs typeface="Calibri"/>
              </a:rPr>
              <a:t>可以直接套用在每個方向</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2-5 用到的微積分：為什麼可以分開微分？</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① 乘積法則：</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𝑥</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e>
                    </m:d>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𝑑𝑥</m:t>
                        </m:r>
                      </m:num>
                      <m:den>
                        <m:r>
                          <a:rPr lang="en-US" altLang="zh-TW" sz="2400" b="0" i="1">
                            <a:solidFill>
                              <a:srgbClr val="2B3050"/>
                            </a:solidFill>
                            <a:latin typeface="Cambria Math" panose="02040503050406030204" pitchFamily="18" charset="0"/>
                            <a:ea typeface="Cambria Math"/>
                          </a:rPr>
                          <m:t>𝑑𝑡</m:t>
                        </m:r>
                      </m:den>
                    </m:f>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𝑥</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num>
                      <m:den>
                        <m:r>
                          <a:rPr lang="en-US" altLang="zh-TW" sz="2400" b="0" i="1">
                            <a:solidFill>
                              <a:srgbClr val="2B3050"/>
                            </a:solidFill>
                            <a:latin typeface="Cambria Math" panose="02040503050406030204" pitchFamily="18" charset="0"/>
                            <a:ea typeface="Cambria Math"/>
                          </a:rPr>
                          <m:t>𝑑𝑡</m:t>
                        </m:r>
                      </m:den>
                    </m:f>
                  </m:oMath>
                </a14:m>
                <a:endParaRPr lang="zh-TW" sz="2400"/>
              </a:p>
            </p:txBody>
          </p:sp>
        </mc:Choice>
        <mc:Fallback xmlns="">
          <p:pic>
            <p:nvPicPr>
              <p:cNvPr id="11" name="F11"/>
              <p:cNvPicPr/>
              <p:nvPr/>
            </p:nvPicPr>
            <p:blipFill>
              <a:blip r:embed="rId2"/>
              <a:stretch>
                <a:fillRect/>
              </a:stretch>
            </p:blipFill>
            <p:spPr>
              <a:xfrm>
                <a:off x="365760" y="868680"/>
                <a:ext cx="795528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645920"/>
                <a:ext cx="795528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② 固定座標軸：</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0</m:t>
                    </m:r>
                  </m:oMath>
                </a14:m>
                <a:r>
                  <a:rPr lang="zh-TW" altLang="en-US" sz="2400" b="0" dirty="0">
                    <a:solidFill>
                      <a:srgbClr val="2B3050"/>
                    </a:solidFill>
                    <a:latin typeface="Calibri"/>
                    <a:ea typeface="微軟正黑體"/>
                    <a:cs typeface="Calibri"/>
                  </a:rPr>
                  <a:t>（i單位向量，大小</a:t>
                </a:r>
                <a:r>
                  <a:rPr lang="en-US" altLang="zh-TW" sz="2400" b="0" dirty="0">
                    <a:solidFill>
                      <a:srgbClr val="2B3050"/>
                    </a:solidFill>
                    <a:latin typeface="Calibri"/>
                    <a:ea typeface="微軟正黑體"/>
                    <a:cs typeface="Calibri"/>
                  </a:rPr>
                  <a:t>=1</a:t>
                </a:r>
                <a:r>
                  <a:rPr lang="zh-TW" altLang="en-US" sz="2400" b="0" dirty="0">
                    <a:solidFill>
                      <a:srgbClr val="2B3050"/>
                    </a:solidFill>
                    <a:latin typeface="Calibri"/>
                    <a:ea typeface="微軟正黑體"/>
                    <a:cs typeface="Calibri"/>
                  </a:rPr>
                  <a:t>）</a:t>
                </a:r>
                <a:endParaRPr lang="zh-TW" sz="2400" dirty="0"/>
              </a:p>
            </p:txBody>
          </p:sp>
        </mc:Choice>
        <mc:Fallback xmlns="">
          <p:sp>
            <p:nvSpPr>
              <p:cNvPr id="12" name="T12"/>
              <p:cNvSpPr txBox="1">
                <a:spLocks noRot="1" noChangeAspect="1" noMove="1" noResize="1" noEditPoints="1" noAdjustHandles="1" noChangeArrowheads="1" noChangeShapeType="1" noTextEdit="1"/>
              </p:cNvSpPr>
              <p:nvPr/>
            </p:nvSpPr>
            <p:spPr>
              <a:xfrm>
                <a:off x="365760" y="1645920"/>
                <a:ext cx="7955280" cy="777240"/>
              </a:xfrm>
              <a:prstGeom prst="rect">
                <a:avLst/>
              </a:prstGeom>
              <a:blipFill>
                <a:blip r:embed="rId3"/>
                <a:stretch>
                  <a:fillRect l="-1609"/>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13"/>
              <p:cNvSpPr txBox="1"/>
              <p:nvPr/>
            </p:nvSpPr>
            <p:spPr>
              <a:xfrm>
                <a:off x="365760" y="2423160"/>
                <a:ext cx="795528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③ 所以：</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𝑥</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e>
                    </m:d>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𝑥</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oMath>
                </a14:m>
                <a:r>
                  <a:rPr lang="zh-TW" altLang="en-US" sz="2400" b="0" dirty="0">
                    <a:solidFill>
                      <a:srgbClr val="2B3050"/>
                    </a:solidFill>
                    <a:latin typeface="Calibri"/>
                    <a:ea typeface="微軟正黑體"/>
                    <a:cs typeface="Calibri"/>
                  </a:rPr>
                  <a:t>　各分量自己微分</a:t>
                </a:r>
                <a:endParaRPr lang="zh-TW" sz="2400"/>
              </a:p>
            </p:txBody>
          </p:sp>
        </mc:Choice>
        <mc:Fallback xmlns="">
          <p:pic>
            <p:nvPicPr>
              <p:cNvPr id="13" name="F13"/>
              <p:cNvPicPr/>
              <p:nvPr/>
            </p:nvPicPr>
            <p:blipFill>
              <a:blip r:embed="rId4"/>
              <a:stretch>
                <a:fillRect/>
              </a:stretch>
            </p:blipFill>
            <p:spPr>
              <a:xfrm>
                <a:off x="365760" y="2423160"/>
                <a:ext cx="795528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108960"/>
                <a:ext cx="7955280" cy="6858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④ 大小：</a:t>
                </a:r>
                <a14:m>
                  <m:oMath xmlns:m="http://schemas.openxmlformats.org/officeDocument/2006/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𝑧</m:t>
                                </m:r>
                              </m:sub>
                            </m:sSub>
                          </m:e>
                          <m:sup>
                            <m:r>
                              <a:rPr lang="en-US" altLang="zh-TW" sz="2400" b="0" i="0">
                                <a:solidFill>
                                  <a:srgbClr val="2B3050"/>
                                </a:solidFill>
                                <a:latin typeface="Cambria Math" panose="02040503050406030204" pitchFamily="18" charset="0"/>
                                <a:ea typeface="Cambria Math"/>
                              </a:rPr>
                              <m:t>2</m:t>
                            </m:r>
                          </m:sup>
                        </m:sSup>
                      </m:e>
                    </m:rad>
                  </m:oMath>
                </a14:m>
                <a:endParaRPr lang="zh-TW" sz="2400"/>
              </a:p>
            </p:txBody>
          </p:sp>
        </mc:Choice>
        <mc:Fallback xmlns="">
          <p:sp>
            <p:nvSpPr>
              <p:cNvPr id="14" name="T14"/>
              <p:cNvSpPr txBox="1">
                <a:spLocks noRot="1" noChangeAspect="1" noMove="1" noResize="1" noEditPoints="1" noAdjustHandles="1" noChangeArrowheads="1" noChangeShapeType="1" noTextEdit="1"/>
              </p:cNvSpPr>
              <p:nvPr/>
            </p:nvSpPr>
            <p:spPr>
              <a:xfrm>
                <a:off x="365760" y="3108960"/>
                <a:ext cx="7955280" cy="685800"/>
              </a:xfrm>
              <a:prstGeom prst="rect">
                <a:avLst/>
              </a:prstGeom>
              <a:blipFill>
                <a:blip r:embed="rId5"/>
                <a:stretch>
                  <a:fillRect l="-1609" b="-13274"/>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T15"/>
              <p:cNvSpPr txBox="1"/>
              <p:nvPr/>
            </p:nvSpPr>
            <p:spPr>
              <a:xfrm>
                <a:off x="365760" y="3886200"/>
                <a:ext cx="7955280" cy="6858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a:t>
                </a:r>
                <a14:m>
                  <m:oMath xmlns:m="http://schemas.openxmlformats.org/officeDocument/2006/math">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𝑧</m:t>
                                </m:r>
                              </m:sub>
                            </m:sSub>
                          </m:e>
                          <m:sup>
                            <m:r>
                              <a:rPr lang="en-US" altLang="zh-TW" sz="2400" b="0" i="0">
                                <a:solidFill>
                                  <a:srgbClr val="2B3050"/>
                                </a:solidFill>
                                <a:latin typeface="Cambria Math" panose="02040503050406030204" pitchFamily="18" charset="0"/>
                                <a:ea typeface="Cambria Math"/>
                              </a:rPr>
                              <m:t>2</m:t>
                            </m:r>
                          </m:sup>
                        </m:sSup>
                      </m:e>
                    </m:rad>
                  </m:oMath>
                </a14:m>
                <a:endParaRPr lang="zh-TW" sz="2400" dirty="0"/>
              </a:p>
            </p:txBody>
          </p:sp>
        </mc:Choice>
        <mc:Fallback xmlns="">
          <p:pic>
            <p:nvPicPr>
              <p:cNvPr id="15" name="F15"/>
              <p:cNvPicPr/>
              <p:nvPr/>
            </p:nvPicPr>
            <p:blipFill>
              <a:blip r:embed="rId6"/>
              <a:stretch>
                <a:fillRect/>
              </a:stretch>
            </p:blipFill>
            <p:spPr>
              <a:xfrm>
                <a:off x="365760" y="3886200"/>
                <a:ext cx="7955280" cy="685800"/>
              </a:xfrm>
              <a:prstGeom prst="rect">
                <a:avLst/>
              </a:prstGeom>
              <a:noFill/>
              <a:ln>
                <a:noFill/>
              </a:ln>
            </p:spPr>
          </p:pic>
        </mc:Fallback>
      </mc:AlternateContent>
      <p:sp>
        <p:nvSpPr>
          <p:cNvPr id="4" name="文字方塊 3">
            <a:extLst>
              <a:ext uri="{FF2B5EF4-FFF2-40B4-BE49-F238E27FC236}">
                <a16:creationId xmlns:a16="http://schemas.microsoft.com/office/drawing/2014/main" id="{9C5DFF8B-4C8D-B589-9C57-FF432F650B21}"/>
              </a:ext>
            </a:extLst>
          </p:cNvPr>
          <p:cNvSpPr txBox="1"/>
          <p:nvPr/>
        </p:nvSpPr>
        <p:spPr>
          <a:xfrm>
            <a:off x="4940753" y="1429923"/>
            <a:ext cx="4623706" cy="369332"/>
          </a:xfrm>
          <a:prstGeom prst="rect">
            <a:avLst/>
          </a:prstGeom>
          <a:noFill/>
        </p:spPr>
        <p:txBody>
          <a:bodyPr wrap="square">
            <a:spAutoFit/>
          </a:bodyPr>
          <a:lstStyle/>
          <a:p>
            <a:r>
              <a:rPr lang="zh-TW" altLang="zh-TW" dirty="0"/>
              <a:t>前微後不微，加上前不微後微</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zh-TW" dirty="0"/>
              <a:t>如何分解曲線運動</a:t>
            </a:r>
            <a:endParaRPr lang="zh-TW" altLang="en-US" dirty="0"/>
          </a:p>
        </p:txBody>
      </p:sp>
      <p:pic>
        <p:nvPicPr>
          <p:cNvPr id="4" name="內容版面配置區 5" descr="r2.jpg">
            <a:extLst>
              <a:ext uri="{FF2B5EF4-FFF2-40B4-BE49-F238E27FC236}">
                <a16:creationId xmlns:a16="http://schemas.microsoft.com/office/drawing/2014/main" id="{D6020F7D-CF9B-1DCF-B409-E5570D354412}"/>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59786" y="1171621"/>
            <a:ext cx="4614890" cy="3700712"/>
          </a:xfrm>
        </p:spPr>
      </p:pic>
      <p:sp>
        <p:nvSpPr>
          <p:cNvPr id="5" name="文字方塊 4">
            <a:extLst>
              <a:ext uri="{FF2B5EF4-FFF2-40B4-BE49-F238E27FC236}">
                <a16:creationId xmlns:a16="http://schemas.microsoft.com/office/drawing/2014/main" id="{88BB6810-8F09-19D0-C3FE-6C76F38289F5}"/>
              </a:ext>
            </a:extLst>
          </p:cNvPr>
          <p:cNvSpPr txBox="1"/>
          <p:nvPr/>
        </p:nvSpPr>
        <p:spPr>
          <a:xfrm>
            <a:off x="4827703" y="2271935"/>
            <a:ext cx="3750689" cy="2308324"/>
          </a:xfrm>
          <a:prstGeom prst="rect">
            <a:avLst/>
          </a:prstGeom>
          <a:noFill/>
        </p:spPr>
        <p:txBody>
          <a:bodyPr wrap="square">
            <a:spAutoFit/>
          </a:bodyPr>
          <a:lstStyle/>
          <a:p>
            <a:pPr>
              <a:buNone/>
            </a:pPr>
            <a:r>
              <a:rPr lang="zh-TW" altLang="zh-TW" dirty="0"/>
              <a:t>例如「把球斜向上丟出去」，忽略空氣阻力：</a:t>
            </a:r>
          </a:p>
          <a:p>
            <a:pPr marL="342900" lvl="0" indent="-342900">
              <a:buFont typeface="Arial" panose="020B0604020202020204" pitchFamily="34" charset="0"/>
              <a:buChar char="•"/>
            </a:pPr>
            <a:r>
              <a:rPr lang="zh-TW" altLang="zh-TW" b="1" dirty="0"/>
              <a:t>水平方向 x</a:t>
            </a:r>
            <a:r>
              <a:rPr lang="zh-TW" altLang="zh-TW" dirty="0"/>
              <a:t>：速度不變，做等速度運動。</a:t>
            </a:r>
          </a:p>
          <a:p>
            <a:pPr marL="342900" lvl="0" indent="-342900">
              <a:buFont typeface="Arial" panose="020B0604020202020204" pitchFamily="34" charset="0"/>
              <a:buChar char="•"/>
            </a:pPr>
            <a:r>
              <a:rPr lang="zh-TW" altLang="zh-TW" b="1" dirty="0"/>
              <a:t>鉛直方向 y</a:t>
            </a:r>
            <a:r>
              <a:rPr lang="zh-TW" altLang="zh-TW" dirty="0"/>
              <a:t>：受重力影響，加速度向下；球先上升、再下降。</a:t>
            </a:r>
          </a:p>
          <a:p>
            <a:pPr marL="342900" lvl="0" indent="-342900">
              <a:buFont typeface="Arial" panose="020B0604020202020204" pitchFamily="34" charset="0"/>
              <a:buChar char="•"/>
            </a:pPr>
            <a:r>
              <a:rPr lang="zh-TW" altLang="zh-TW" b="1" dirty="0"/>
              <a:t>兩個方向合起來</a:t>
            </a:r>
            <a:r>
              <a:rPr lang="zh-TW" altLang="zh-TW" dirty="0"/>
              <a:t>：球就沿著拋物線運動。</a:t>
            </a:r>
          </a:p>
        </p:txBody>
      </p:sp>
    </p:spTree>
    <p:extLst>
      <p:ext uri="{BB962C8B-B14F-4D97-AF65-F5344CB8AC3E}">
        <p14:creationId xmlns:p14="http://schemas.microsoft.com/office/powerpoint/2010/main" val="1664527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47458"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880971" y="870316"/>
            <a:ext cx="3691029" cy="4085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9108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讀題</a:t>
            </a:r>
          </a:p>
        </p:txBody>
      </p:sp>
      <p:sp>
        <p:nvSpPr>
          <p:cNvPr id="11" name="T11"/>
          <p:cNvSpPr txBox="1"/>
          <p:nvPr/>
        </p:nvSpPr>
        <p:spPr>
          <a:xfrm>
            <a:off x="365760" y="868680"/>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0 s：質點在原點 O</a:t>
            </a:r>
            <a:endParaRPr lang="zh-TW" sz="2400"/>
          </a:p>
        </p:txBody>
      </p:sp>
      <p:sp>
        <p:nvSpPr>
          <p:cNvPr id="12" name="T12"/>
          <p:cNvSpPr txBox="1"/>
          <p:nvPr/>
        </p:nvSpPr>
        <p:spPr>
          <a:xfrm>
            <a:off x="365760" y="1307592"/>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2 s：在 A 點</a:t>
            </a:r>
            <a:endParaRPr lang="zh-TW" sz="2400"/>
          </a:p>
        </p:txBody>
      </p:sp>
      <p:sp>
        <p:nvSpPr>
          <p:cNvPr id="13" name="T13"/>
          <p:cNvSpPr txBox="1"/>
          <p:nvPr/>
        </p:nvSpPr>
        <p:spPr>
          <a:xfrm>
            <a:off x="365760" y="1746504"/>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（向右 2 m，向上 1.6 m）</a:t>
            </a:r>
            <a:endParaRPr lang="zh-TW" sz="2400"/>
          </a:p>
        </p:txBody>
      </p:sp>
      <p:sp>
        <p:nvSpPr>
          <p:cNvPr id="14" name="T14"/>
          <p:cNvSpPr txBox="1"/>
          <p:nvPr/>
        </p:nvSpPr>
        <p:spPr>
          <a:xfrm>
            <a:off x="365760" y="2185416"/>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4 s：在 B 點（向下 2.4 m）</a:t>
            </a:r>
            <a:endParaRPr lang="zh-TW" sz="2400"/>
          </a:p>
        </p:txBody>
      </p:sp>
      <p:sp>
        <p:nvSpPr>
          <p:cNvPr id="15" name="T15"/>
          <p:cNvSpPr txBox="1"/>
          <p:nvPr/>
        </p:nvSpPr>
        <p:spPr>
          <a:xfrm>
            <a:off x="365760" y="2624328"/>
            <a:ext cx="49377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a:t>
            </a:r>
            <a:r>
              <a:rPr lang="zh-TW" altLang="en-US" sz="2400" b="0" dirty="0">
                <a:solidFill>
                  <a:srgbClr val="2B3050"/>
                </a:solidFill>
                <a:latin typeface="Calibri"/>
                <a:ea typeface="微軟正黑體"/>
                <a:cs typeface="Calibri"/>
              </a:rPr>
              <a:t>(a) t = 2、4 s 的位置</a:t>
            </a:r>
            <a:endParaRPr lang="zh-TW" sz="2400"/>
          </a:p>
        </p:txBody>
      </p:sp>
      <p:sp>
        <p:nvSpPr>
          <p:cNvPr id="16" name="T16"/>
          <p:cNvSpPr txBox="1"/>
          <p:nvPr/>
        </p:nvSpPr>
        <p:spPr>
          <a:xfrm>
            <a:off x="365760" y="3063240"/>
            <a:ext cx="4937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(b) 2→4 s 的位移</a:t>
            </a:r>
            <a:endParaRPr lang="zh-TW" sz="2400"/>
          </a:p>
        </p:txBody>
      </p:sp>
      <p:sp>
        <p:nvSpPr>
          <p:cNvPr id="17" name="T17"/>
          <p:cNvSpPr txBox="1"/>
          <p:nvPr/>
        </p:nvSpPr>
        <p:spPr>
          <a:xfrm>
            <a:off x="365760" y="3474720"/>
            <a:ext cx="4937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(c) 2→4 s 的平均速度</a:t>
            </a:r>
            <a:endParaRPr lang="zh-TW" sz="2400"/>
          </a:p>
        </p:txBody>
      </p:sp>
      <p:sp>
        <p:nvSpPr>
          <p:cNvPr id="18" name="T18"/>
          <p:cNvSpPr txBox="1"/>
          <p:nvPr/>
        </p:nvSpPr>
        <p:spPr>
          <a:xfrm>
            <a:off x="365760" y="3886200"/>
            <a:ext cx="4937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(d) 0→4 s 的平均速度</a:t>
            </a:r>
            <a:endParaRPr lang="zh-TW" sz="2400"/>
          </a:p>
        </p:txBody>
      </p:sp>
      <p:cxnSp>
        <p:nvCxnSpPr>
          <p:cNvPr id="19" name="L19"/>
          <p:cNvCxnSpPr/>
          <p:nvPr/>
        </p:nvCxnSpPr>
        <p:spPr>
          <a:xfrm>
            <a:off x="5486400" y="2514600"/>
            <a:ext cx="2651760" cy="0"/>
          </a:xfrm>
          <a:prstGeom prst="line">
            <a:avLst/>
          </a:prstGeom>
          <a:ln w="15875">
            <a:solidFill>
              <a:srgbClr val="2B3050"/>
            </a:solidFill>
            <a:tailEnd type="triangle" w="med" len="med"/>
          </a:ln>
        </p:spPr>
      </p:cxnSp>
      <p:cxnSp>
        <p:nvCxnSpPr>
          <p:cNvPr id="20" name="L20"/>
          <p:cNvCxnSpPr/>
          <p:nvPr/>
        </p:nvCxnSpPr>
        <p:spPr>
          <a:xfrm flipV="1">
            <a:off x="6675120" y="1371600"/>
            <a:ext cx="0" cy="2560320"/>
          </a:xfrm>
          <a:prstGeom prst="line">
            <a:avLst/>
          </a:prstGeom>
          <a:ln w="15875">
            <a:solidFill>
              <a:srgbClr val="2B3050"/>
            </a:solidFill>
            <a:tailEnd type="triangle" w="med" len="med"/>
          </a:ln>
        </p:spPr>
      </p:cxnSp>
      <p:sp>
        <p:nvSpPr>
          <p:cNvPr id="21" name="T21"/>
          <p:cNvSpPr txBox="1"/>
          <p:nvPr/>
        </p:nvSpPr>
        <p:spPr>
          <a:xfrm>
            <a:off x="8092440" y="2331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22" name="T22"/>
          <p:cNvSpPr txBox="1"/>
          <p:nvPr/>
        </p:nvSpPr>
        <p:spPr>
          <a:xfrm>
            <a:off x="6720840" y="1188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3" name="S23"/>
          <p:cNvSpPr/>
          <p:nvPr/>
        </p:nvSpPr>
        <p:spPr>
          <a:xfrm>
            <a:off x="6629400" y="2468880"/>
            <a:ext cx="91440" cy="91440"/>
          </a:xfrm>
          <a:prstGeom prst="ellipse">
            <a:avLst/>
          </a:prstGeom>
          <a:solidFill>
            <a:srgbClr val="2B3050"/>
          </a:solidFill>
          <a:ln>
            <a:noFill/>
          </a:ln>
        </p:spPr>
        <p:txBody>
          <a:bodyPr/>
          <a:lstStyle/>
          <a:p>
            <a:endParaRPr lang="zh-TW" altLang="en-US"/>
          </a:p>
        </p:txBody>
      </p:sp>
      <p:sp>
        <p:nvSpPr>
          <p:cNvPr id="24" name="T24"/>
          <p:cNvSpPr txBox="1"/>
          <p:nvPr/>
        </p:nvSpPr>
        <p:spPr>
          <a:xfrm>
            <a:off x="6263640" y="25146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25" name="S25"/>
          <p:cNvSpPr/>
          <p:nvPr/>
        </p:nvSpPr>
        <p:spPr>
          <a:xfrm>
            <a:off x="7534656" y="1728216"/>
            <a:ext cx="109728" cy="109728"/>
          </a:xfrm>
          <a:prstGeom prst="ellipse">
            <a:avLst/>
          </a:prstGeom>
          <a:solidFill>
            <a:srgbClr val="D6006F"/>
          </a:solidFill>
          <a:ln>
            <a:noFill/>
          </a:ln>
        </p:spPr>
        <p:txBody>
          <a:bodyPr/>
          <a:lstStyle/>
          <a:p>
            <a:endParaRPr lang="zh-TW" altLang="en-US"/>
          </a:p>
        </p:txBody>
      </p:sp>
      <p:sp>
        <p:nvSpPr>
          <p:cNvPr id="26" name="T26"/>
          <p:cNvSpPr txBox="1"/>
          <p:nvPr/>
        </p:nvSpPr>
        <p:spPr>
          <a:xfrm>
            <a:off x="7635240" y="1371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A</a:t>
            </a:r>
            <a:endParaRPr lang="zh-TW" sz="2400"/>
          </a:p>
        </p:txBody>
      </p:sp>
      <p:sp>
        <p:nvSpPr>
          <p:cNvPr id="27" name="S27"/>
          <p:cNvSpPr/>
          <p:nvPr/>
        </p:nvSpPr>
        <p:spPr>
          <a:xfrm>
            <a:off x="6620256" y="3557016"/>
            <a:ext cx="109728" cy="109728"/>
          </a:xfrm>
          <a:prstGeom prst="ellipse">
            <a:avLst/>
          </a:prstGeom>
          <a:solidFill>
            <a:srgbClr val="D6006F"/>
          </a:solidFill>
          <a:ln>
            <a:noFill/>
          </a:ln>
        </p:spPr>
        <p:txBody>
          <a:bodyPr/>
          <a:lstStyle/>
          <a:p>
            <a:endParaRPr lang="zh-TW" altLang="en-US"/>
          </a:p>
        </p:txBody>
      </p:sp>
      <p:sp>
        <p:nvSpPr>
          <p:cNvPr id="28" name="T28"/>
          <p:cNvSpPr txBox="1"/>
          <p:nvPr/>
        </p:nvSpPr>
        <p:spPr>
          <a:xfrm>
            <a:off x="6766560" y="3383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B</a:t>
            </a:r>
            <a:endParaRPr lang="zh-TW" sz="2400"/>
          </a:p>
        </p:txBody>
      </p:sp>
      <p:sp>
        <p:nvSpPr>
          <p:cNvPr id="29" name="T29"/>
          <p:cNvSpPr txBox="1"/>
          <p:nvPr/>
        </p:nvSpPr>
        <p:spPr>
          <a:xfrm>
            <a:off x="7178040" y="1828800"/>
            <a:ext cx="12801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(2, 1.6)</a:t>
            </a:r>
            <a:endParaRPr lang="zh-TW" sz="2400"/>
          </a:p>
        </p:txBody>
      </p:sp>
      <p:sp>
        <p:nvSpPr>
          <p:cNvPr id="30" name="T30"/>
          <p:cNvSpPr txBox="1"/>
          <p:nvPr/>
        </p:nvSpPr>
        <p:spPr>
          <a:xfrm>
            <a:off x="7040880" y="3456432"/>
            <a:ext cx="13716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(0, −2.4)</a:t>
            </a:r>
            <a:endParaRPr lang="zh-TW"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位置向量從哪裡畫到哪裡？</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從原點 O 畫到質點所在的點</a:t>
            </a:r>
            <a:endParaRPr lang="zh-TW" sz="2400" dirty="0"/>
          </a:p>
        </p:txBody>
      </p:sp>
      <p:sp>
        <p:nvSpPr>
          <p:cNvPr id="15" name="S15"/>
          <p:cNvSpPr/>
          <p:nvPr/>
        </p:nvSpPr>
        <p:spPr>
          <a:xfrm>
            <a:off x="365760" y="1728216"/>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72821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71907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位移要怎麼算？</a:t>
            </a:r>
            <a:endParaRPr lang="zh-TW" sz="2400"/>
          </a:p>
        </p:txBody>
      </p:sp>
      <p:sp>
        <p:nvSpPr>
          <p:cNvPr id="18" name="T18"/>
          <p:cNvSpPr txBox="1"/>
          <p:nvPr/>
        </p:nvSpPr>
        <p:spPr>
          <a:xfrm>
            <a:off x="1188720" y="210312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末位置 − 初位置</a:t>
            </a:r>
            <a:r>
              <a:rPr lang="zh-TW" altLang="en-US" b="0" dirty="0">
                <a:solidFill>
                  <a:srgbClr val="D6006F"/>
                </a:solidFill>
                <a:latin typeface="Calibri"/>
                <a:ea typeface="微軟正黑體"/>
                <a:cs typeface="Calibri"/>
              </a:rPr>
              <a:t>（向量相減，分量各自減）</a:t>
            </a:r>
            <a:endParaRPr lang="zh-TW" dirty="0"/>
          </a:p>
        </p:txBody>
      </p:sp>
      <p:sp>
        <p:nvSpPr>
          <p:cNvPr id="19" name="S19"/>
          <p:cNvSpPr/>
          <p:nvPr/>
        </p:nvSpPr>
        <p:spPr>
          <a:xfrm>
            <a:off x="365760" y="2551176"/>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55117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54203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平均速度＝？</a:t>
            </a:r>
            <a:endParaRPr lang="zh-TW" sz="2400"/>
          </a:p>
        </p:txBody>
      </p:sp>
      <p:sp>
        <p:nvSpPr>
          <p:cNvPr id="22" name="T22"/>
          <p:cNvSpPr txBox="1"/>
          <p:nvPr/>
        </p:nvSpPr>
        <p:spPr>
          <a:xfrm>
            <a:off x="1188720" y="292608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位移 ÷ 時間（是</a:t>
            </a:r>
            <a:r>
              <a:rPr lang="zh-TW" altLang="en-US" sz="2400" b="0" dirty="0">
                <a:solidFill>
                  <a:srgbClr val="D6006F"/>
                </a:solidFill>
                <a:highlight>
                  <a:srgbClr val="FFFF00"/>
                </a:highlight>
                <a:latin typeface="Calibri"/>
                <a:ea typeface="微軟正黑體"/>
                <a:cs typeface="Calibri"/>
              </a:rPr>
              <a:t>向量</a:t>
            </a:r>
            <a:r>
              <a:rPr lang="zh-TW" altLang="en-US" sz="2400" b="0" dirty="0">
                <a:solidFill>
                  <a:srgbClr val="D6006F"/>
                </a:solidFill>
                <a:latin typeface="Calibri"/>
                <a:ea typeface="微軟正黑體"/>
                <a:cs typeface="Calibri"/>
              </a:rPr>
              <a:t>，不是路</a:t>
            </a:r>
            <a:r>
              <a:rPr lang="zh-TW" altLang="en-US" sz="2400" dirty="0">
                <a:solidFill>
                  <a:srgbClr val="D6006F"/>
                </a:solidFill>
                <a:latin typeface="Calibri"/>
                <a:ea typeface="微軟正黑體"/>
                <a:cs typeface="Calibri"/>
              </a:rPr>
              <a:t>徑長</a:t>
            </a:r>
            <a:r>
              <a:rPr lang="zh-TW" altLang="en-US" sz="2400" b="0" dirty="0">
                <a:solidFill>
                  <a:srgbClr val="D6006F"/>
                </a:solidFill>
                <a:latin typeface="Calibri"/>
                <a:ea typeface="微軟正黑體"/>
                <a:cs typeface="Calibri"/>
              </a:rPr>
              <a:t> ÷ 時間）</a:t>
            </a:r>
            <a:endParaRPr lang="zh-TW" sz="2400" dirty="0"/>
          </a:p>
        </p:txBody>
      </p:sp>
      <p:sp>
        <p:nvSpPr>
          <p:cNvPr id="23" name="S23"/>
          <p:cNvSpPr/>
          <p:nvPr/>
        </p:nvSpPr>
        <p:spPr>
          <a:xfrm>
            <a:off x="365760" y="3374136"/>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37413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36499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(d) 的起點在哪裡？</a:t>
            </a:r>
            <a:endParaRPr lang="zh-TW" sz="2400"/>
          </a:p>
        </p:txBody>
      </p:sp>
      <p:sp>
        <p:nvSpPr>
          <p:cNvPr id="26" name="T26"/>
          <p:cNvSpPr txBox="1"/>
          <p:nvPr/>
        </p:nvSpPr>
        <p:spPr>
          <a:xfrm>
            <a:off x="1188720" y="374904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t = 0 在原點；中間經過 A 不影響答案</a:t>
            </a:r>
            <a:endParaRPr lang="zh-TW" sz="2400"/>
          </a:p>
        </p:txBody>
      </p:sp>
      <p:cxnSp>
        <p:nvCxnSpPr>
          <p:cNvPr id="33" name="L11">
            <a:extLst>
              <a:ext uri="{FF2B5EF4-FFF2-40B4-BE49-F238E27FC236}">
                <a16:creationId xmlns:a16="http://schemas.microsoft.com/office/drawing/2014/main" id="{E3317A82-C458-578F-84F5-7A789C08C472}"/>
              </a:ext>
            </a:extLst>
          </p:cNvPr>
          <p:cNvCxnSpPr/>
          <p:nvPr/>
        </p:nvCxnSpPr>
        <p:spPr>
          <a:xfrm>
            <a:off x="5760720" y="1673570"/>
            <a:ext cx="2651760" cy="0"/>
          </a:xfrm>
          <a:prstGeom prst="line">
            <a:avLst/>
          </a:prstGeom>
          <a:ln w="15875">
            <a:solidFill>
              <a:srgbClr val="2B3050"/>
            </a:solidFill>
            <a:tailEnd type="triangle" w="med" len="med"/>
          </a:ln>
        </p:spPr>
      </p:cxnSp>
      <p:cxnSp>
        <p:nvCxnSpPr>
          <p:cNvPr id="34" name="L12">
            <a:extLst>
              <a:ext uri="{FF2B5EF4-FFF2-40B4-BE49-F238E27FC236}">
                <a16:creationId xmlns:a16="http://schemas.microsoft.com/office/drawing/2014/main" id="{D98A73A9-DB70-B55F-B8FF-003D61D133ED}"/>
              </a:ext>
            </a:extLst>
          </p:cNvPr>
          <p:cNvCxnSpPr/>
          <p:nvPr/>
        </p:nvCxnSpPr>
        <p:spPr>
          <a:xfrm flipV="1">
            <a:off x="6949440" y="530570"/>
            <a:ext cx="0" cy="2560320"/>
          </a:xfrm>
          <a:prstGeom prst="line">
            <a:avLst/>
          </a:prstGeom>
          <a:ln w="15875">
            <a:solidFill>
              <a:srgbClr val="2B3050"/>
            </a:solidFill>
            <a:tailEnd type="triangle" w="med" len="med"/>
          </a:ln>
        </p:spPr>
      </p:cxnSp>
      <p:sp>
        <p:nvSpPr>
          <p:cNvPr id="35" name="T13">
            <a:extLst>
              <a:ext uri="{FF2B5EF4-FFF2-40B4-BE49-F238E27FC236}">
                <a16:creationId xmlns:a16="http://schemas.microsoft.com/office/drawing/2014/main" id="{34AF396D-4D5F-95D6-91D6-20E4E9562420}"/>
              </a:ext>
            </a:extLst>
          </p:cNvPr>
          <p:cNvSpPr txBox="1"/>
          <p:nvPr/>
        </p:nvSpPr>
        <p:spPr>
          <a:xfrm>
            <a:off x="8366760" y="149069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36" name="T14">
            <a:extLst>
              <a:ext uri="{FF2B5EF4-FFF2-40B4-BE49-F238E27FC236}">
                <a16:creationId xmlns:a16="http://schemas.microsoft.com/office/drawing/2014/main" id="{59299ED8-277B-250B-1AC2-585518D7BE55}"/>
              </a:ext>
            </a:extLst>
          </p:cNvPr>
          <p:cNvSpPr txBox="1"/>
          <p:nvPr/>
        </p:nvSpPr>
        <p:spPr>
          <a:xfrm>
            <a:off x="6995160" y="34769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37" name="S15">
            <a:extLst>
              <a:ext uri="{FF2B5EF4-FFF2-40B4-BE49-F238E27FC236}">
                <a16:creationId xmlns:a16="http://schemas.microsoft.com/office/drawing/2014/main" id="{A65356ED-C6DD-F0BF-EFA6-F9F9599ECF84}"/>
              </a:ext>
            </a:extLst>
          </p:cNvPr>
          <p:cNvSpPr/>
          <p:nvPr/>
        </p:nvSpPr>
        <p:spPr>
          <a:xfrm>
            <a:off x="6903720" y="1627850"/>
            <a:ext cx="91440" cy="91440"/>
          </a:xfrm>
          <a:prstGeom prst="ellipse">
            <a:avLst/>
          </a:prstGeom>
          <a:solidFill>
            <a:srgbClr val="2B3050"/>
          </a:solidFill>
          <a:ln>
            <a:noFill/>
          </a:ln>
        </p:spPr>
        <p:txBody>
          <a:bodyPr/>
          <a:lstStyle/>
          <a:p>
            <a:endParaRPr lang="zh-TW" altLang="en-US"/>
          </a:p>
        </p:txBody>
      </p:sp>
      <p:sp>
        <p:nvSpPr>
          <p:cNvPr id="38" name="T16">
            <a:extLst>
              <a:ext uri="{FF2B5EF4-FFF2-40B4-BE49-F238E27FC236}">
                <a16:creationId xmlns:a16="http://schemas.microsoft.com/office/drawing/2014/main" id="{1EE8DD5C-C9AB-89E9-3632-2D91EE3BF0C2}"/>
              </a:ext>
            </a:extLst>
          </p:cNvPr>
          <p:cNvSpPr txBox="1"/>
          <p:nvPr/>
        </p:nvSpPr>
        <p:spPr>
          <a:xfrm>
            <a:off x="6537960" y="167357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39" name="S17">
            <a:extLst>
              <a:ext uri="{FF2B5EF4-FFF2-40B4-BE49-F238E27FC236}">
                <a16:creationId xmlns:a16="http://schemas.microsoft.com/office/drawing/2014/main" id="{69D0EF54-92F0-79BC-5B1A-A9BECA225997}"/>
              </a:ext>
            </a:extLst>
          </p:cNvPr>
          <p:cNvSpPr/>
          <p:nvPr/>
        </p:nvSpPr>
        <p:spPr>
          <a:xfrm>
            <a:off x="7808976" y="887186"/>
            <a:ext cx="109728" cy="109728"/>
          </a:xfrm>
          <a:prstGeom prst="ellipse">
            <a:avLst/>
          </a:prstGeom>
          <a:solidFill>
            <a:srgbClr val="D6006F"/>
          </a:solidFill>
          <a:ln>
            <a:noFill/>
          </a:ln>
        </p:spPr>
        <p:txBody>
          <a:bodyPr/>
          <a:lstStyle/>
          <a:p>
            <a:endParaRPr lang="zh-TW" altLang="en-US"/>
          </a:p>
        </p:txBody>
      </p:sp>
      <p:sp>
        <p:nvSpPr>
          <p:cNvPr id="40" name="T18">
            <a:extLst>
              <a:ext uri="{FF2B5EF4-FFF2-40B4-BE49-F238E27FC236}">
                <a16:creationId xmlns:a16="http://schemas.microsoft.com/office/drawing/2014/main" id="{F58865D4-8062-0268-CD2D-560962AB1B67}"/>
              </a:ext>
            </a:extLst>
          </p:cNvPr>
          <p:cNvSpPr txBox="1"/>
          <p:nvPr/>
        </p:nvSpPr>
        <p:spPr>
          <a:xfrm>
            <a:off x="7909560" y="53057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A</a:t>
            </a:r>
            <a:endParaRPr lang="zh-TW" sz="2400"/>
          </a:p>
        </p:txBody>
      </p:sp>
      <p:sp>
        <p:nvSpPr>
          <p:cNvPr id="41" name="S19">
            <a:extLst>
              <a:ext uri="{FF2B5EF4-FFF2-40B4-BE49-F238E27FC236}">
                <a16:creationId xmlns:a16="http://schemas.microsoft.com/office/drawing/2014/main" id="{47A2472C-9127-9D18-B606-AD60FD10A636}"/>
              </a:ext>
            </a:extLst>
          </p:cNvPr>
          <p:cNvSpPr/>
          <p:nvPr/>
        </p:nvSpPr>
        <p:spPr>
          <a:xfrm>
            <a:off x="6894576" y="2715986"/>
            <a:ext cx="109728" cy="109728"/>
          </a:xfrm>
          <a:prstGeom prst="ellipse">
            <a:avLst/>
          </a:prstGeom>
          <a:solidFill>
            <a:srgbClr val="D6006F"/>
          </a:solidFill>
          <a:ln>
            <a:noFill/>
          </a:ln>
        </p:spPr>
        <p:txBody>
          <a:bodyPr/>
          <a:lstStyle/>
          <a:p>
            <a:endParaRPr lang="zh-TW" altLang="en-US"/>
          </a:p>
        </p:txBody>
      </p:sp>
      <p:sp>
        <p:nvSpPr>
          <p:cNvPr id="42" name="T20">
            <a:extLst>
              <a:ext uri="{FF2B5EF4-FFF2-40B4-BE49-F238E27FC236}">
                <a16:creationId xmlns:a16="http://schemas.microsoft.com/office/drawing/2014/main" id="{9D3D7E9D-8D69-4A41-863F-10ABC5911EE9}"/>
              </a:ext>
            </a:extLst>
          </p:cNvPr>
          <p:cNvSpPr txBox="1"/>
          <p:nvPr/>
        </p:nvSpPr>
        <p:spPr>
          <a:xfrm>
            <a:off x="7040880" y="254225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B</a:t>
            </a:r>
            <a:endParaRPr lang="zh-TW" sz="2400"/>
          </a:p>
        </p:txBody>
      </p:sp>
      <p:cxnSp>
        <p:nvCxnSpPr>
          <p:cNvPr id="43" name="L21">
            <a:extLst>
              <a:ext uri="{FF2B5EF4-FFF2-40B4-BE49-F238E27FC236}">
                <a16:creationId xmlns:a16="http://schemas.microsoft.com/office/drawing/2014/main" id="{86827230-FF08-E6C1-40E3-3898B883EC4E}"/>
              </a:ext>
            </a:extLst>
          </p:cNvPr>
          <p:cNvCxnSpPr/>
          <p:nvPr/>
        </p:nvCxnSpPr>
        <p:spPr>
          <a:xfrm flipV="1">
            <a:off x="6949440" y="942050"/>
            <a:ext cx="914400" cy="731520"/>
          </a:xfrm>
          <a:prstGeom prst="line">
            <a:avLst/>
          </a:prstGeom>
          <a:ln w="31750">
            <a:solidFill>
              <a:srgbClr val="1F8899"/>
            </a:solidFill>
            <a:tailEnd type="triangle" w="med" len="med"/>
          </a:ln>
        </p:spPr>
      </p:cxnSp>
      <mc:AlternateContent xmlns:mc="http://schemas.openxmlformats.org/markup-compatibility/2006" xmlns:a14="http://schemas.microsoft.com/office/drawing/2010/main">
        <mc:Choice Requires="a14">
          <p:sp>
            <p:nvSpPr>
              <p:cNvPr id="44" name="T22">
                <a:extLst>
                  <a:ext uri="{FF2B5EF4-FFF2-40B4-BE49-F238E27FC236}">
                    <a16:creationId xmlns:a16="http://schemas.microsoft.com/office/drawing/2014/main" id="{21B0CA0A-C7A8-EAD8-711E-0C4FE137D00F}"/>
                  </a:ext>
                </a:extLst>
              </p:cNvPr>
              <p:cNvSpPr txBox="1"/>
              <p:nvPr/>
            </p:nvSpPr>
            <p:spPr>
              <a:xfrm>
                <a:off x="6812280" y="75917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e>
                        <m:sub>
                          <m:r>
                            <a:rPr lang="en-US" altLang="zh-TW" sz="2400" b="0" i="1">
                              <a:solidFill>
                                <a:srgbClr val="1F8899"/>
                              </a:solidFill>
                              <a:latin typeface="Cambria Math" panose="02040503050406030204" pitchFamily="18" charset="0"/>
                              <a:ea typeface="Cambria Math"/>
                            </a:rPr>
                            <m:t>𝐴</m:t>
                          </m:r>
                        </m:sub>
                      </m:sSub>
                    </m:oMath>
                  </m:oMathPara>
                </a14:m>
                <a:endParaRPr lang="zh-TW" sz="2400"/>
              </a:p>
            </p:txBody>
          </p:sp>
        </mc:Choice>
        <mc:Fallback xmlns="">
          <p:sp>
            <p:nvSpPr>
              <p:cNvPr id="44" name="T22">
                <a:extLst>
                  <a:ext uri="{FF2B5EF4-FFF2-40B4-BE49-F238E27FC236}">
                    <a16:creationId xmlns:a16="http://schemas.microsoft.com/office/drawing/2014/main" id="{21B0CA0A-C7A8-EAD8-711E-0C4FE137D00F}"/>
                  </a:ext>
                </a:extLst>
              </p:cNvPr>
              <p:cNvSpPr txBox="1">
                <a:spLocks noRot="1" noChangeAspect="1" noMove="1" noResize="1" noEditPoints="1" noAdjustHandles="1" noChangeArrowheads="1" noChangeShapeType="1" noTextEdit="1"/>
              </p:cNvSpPr>
              <p:nvPr/>
            </p:nvSpPr>
            <p:spPr>
              <a:xfrm>
                <a:off x="6812280" y="759170"/>
                <a:ext cx="731520" cy="411480"/>
              </a:xfrm>
              <a:prstGeom prst="rect">
                <a:avLst/>
              </a:prstGeom>
              <a:blipFill>
                <a:blip r:embed="rId2"/>
                <a:stretch>
                  <a:fillRect t="-25373" r="-20833" b="-11940"/>
                </a:stretch>
              </a:blipFill>
              <a:ln>
                <a:noFill/>
              </a:ln>
            </p:spPr>
            <p:txBody>
              <a:bodyPr/>
              <a:lstStyle/>
              <a:p>
                <a:r>
                  <a:rPr lang="zh-TW" altLang="en-US">
                    <a:noFill/>
                  </a:rPr>
                  <a:t> </a:t>
                </a:r>
              </a:p>
            </p:txBody>
          </p:sp>
        </mc:Fallback>
      </mc:AlternateContent>
      <p:cxnSp>
        <p:nvCxnSpPr>
          <p:cNvPr id="45" name="L23">
            <a:extLst>
              <a:ext uri="{FF2B5EF4-FFF2-40B4-BE49-F238E27FC236}">
                <a16:creationId xmlns:a16="http://schemas.microsoft.com/office/drawing/2014/main" id="{CFBDD40F-ACE2-EE60-47ED-68AE5B592D18}"/>
              </a:ext>
            </a:extLst>
          </p:cNvPr>
          <p:cNvCxnSpPr/>
          <p:nvPr/>
        </p:nvCxnSpPr>
        <p:spPr>
          <a:xfrm>
            <a:off x="6949440" y="1673570"/>
            <a:ext cx="0" cy="1060704"/>
          </a:xfrm>
          <a:prstGeom prst="line">
            <a:avLst/>
          </a:prstGeom>
          <a:ln w="31750">
            <a:solidFill>
              <a:srgbClr val="C8901F"/>
            </a:solidFill>
            <a:tailEnd type="triangle" w="med" len="med"/>
          </a:ln>
        </p:spPr>
      </p:cxnSp>
      <mc:AlternateContent xmlns:mc="http://schemas.openxmlformats.org/markup-compatibility/2006" xmlns:a14="http://schemas.microsoft.com/office/drawing/2010/main">
        <mc:Choice Requires="a14">
          <p:sp>
            <p:nvSpPr>
              <p:cNvPr id="46" name="T24">
                <a:extLst>
                  <a:ext uri="{FF2B5EF4-FFF2-40B4-BE49-F238E27FC236}">
                    <a16:creationId xmlns:a16="http://schemas.microsoft.com/office/drawing/2014/main" id="{C412D677-BF2F-289E-CDF7-8D98CC9A5F2E}"/>
                  </a:ext>
                </a:extLst>
              </p:cNvPr>
              <p:cNvSpPr txBox="1"/>
              <p:nvPr/>
            </p:nvSpPr>
            <p:spPr>
              <a:xfrm>
                <a:off x="6995160" y="208505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𝑟</m:t>
                              </m:r>
                            </m:e>
                          </m:acc>
                        </m:e>
                        <m:sub>
                          <m:r>
                            <a:rPr lang="en-US" altLang="zh-TW" sz="2400" b="0" i="1">
                              <a:solidFill>
                                <a:srgbClr val="C8901F"/>
                              </a:solidFill>
                              <a:latin typeface="Cambria Math" panose="02040503050406030204" pitchFamily="18" charset="0"/>
                              <a:ea typeface="Cambria Math"/>
                            </a:rPr>
                            <m:t>𝐵</m:t>
                          </m:r>
                        </m:sub>
                      </m:sSub>
                    </m:oMath>
                  </m:oMathPara>
                </a14:m>
                <a:endParaRPr lang="zh-TW" sz="2400"/>
              </a:p>
            </p:txBody>
          </p:sp>
        </mc:Choice>
        <mc:Fallback xmlns="">
          <p:sp>
            <p:nvSpPr>
              <p:cNvPr id="46" name="T24">
                <a:extLst>
                  <a:ext uri="{FF2B5EF4-FFF2-40B4-BE49-F238E27FC236}">
                    <a16:creationId xmlns:a16="http://schemas.microsoft.com/office/drawing/2014/main" id="{C412D677-BF2F-289E-CDF7-8D98CC9A5F2E}"/>
                  </a:ext>
                </a:extLst>
              </p:cNvPr>
              <p:cNvSpPr txBox="1">
                <a:spLocks noRot="1" noChangeAspect="1" noMove="1" noResize="1" noEditPoints="1" noAdjustHandles="1" noChangeArrowheads="1" noChangeShapeType="1" noTextEdit="1"/>
              </p:cNvSpPr>
              <p:nvPr/>
            </p:nvSpPr>
            <p:spPr>
              <a:xfrm>
                <a:off x="6995160" y="2085050"/>
                <a:ext cx="731520" cy="411480"/>
              </a:xfrm>
              <a:prstGeom prst="rect">
                <a:avLst/>
              </a:prstGeom>
              <a:blipFill>
                <a:blip r:embed="rId3"/>
                <a:stretch>
                  <a:fillRect t="-25000" r="-19167" b="-10294"/>
                </a:stretch>
              </a:blipFill>
              <a:ln>
                <a:no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500"/>
                                        <p:tgtEl>
                                          <p:spTgt spid="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500"/>
                                        <p:tgtEl>
                                          <p:spTgt spid="4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500"/>
                                        <p:tgtEl>
                                          <p:spTgt spid="4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43" grpId="0" animBg="1"/>
      <p:bldP spid="44" grpId="0" animBg="1"/>
      <p:bldP spid="45" grpId="0" animBg="1"/>
      <p:bldP spid="4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(a) 位置向量</a:t>
            </a:r>
          </a:p>
        </p:txBody>
      </p:sp>
      <p:cxnSp>
        <p:nvCxnSpPr>
          <p:cNvPr id="11" name="L11"/>
          <p:cNvCxnSpPr/>
          <p:nvPr/>
        </p:nvCxnSpPr>
        <p:spPr>
          <a:xfrm>
            <a:off x="5486400" y="2514600"/>
            <a:ext cx="2651760" cy="0"/>
          </a:xfrm>
          <a:prstGeom prst="line">
            <a:avLst/>
          </a:prstGeom>
          <a:ln w="15875">
            <a:solidFill>
              <a:srgbClr val="2B3050"/>
            </a:solidFill>
            <a:tailEnd type="triangle" w="med" len="med"/>
          </a:ln>
        </p:spPr>
      </p:cxnSp>
      <p:cxnSp>
        <p:nvCxnSpPr>
          <p:cNvPr id="12" name="L12"/>
          <p:cNvCxnSpPr/>
          <p:nvPr/>
        </p:nvCxnSpPr>
        <p:spPr>
          <a:xfrm flipV="1">
            <a:off x="6675120" y="1371600"/>
            <a:ext cx="0" cy="2560320"/>
          </a:xfrm>
          <a:prstGeom prst="line">
            <a:avLst/>
          </a:prstGeom>
          <a:ln w="15875">
            <a:solidFill>
              <a:srgbClr val="2B3050"/>
            </a:solidFill>
            <a:tailEnd type="triangle" w="med" len="med"/>
          </a:ln>
        </p:spPr>
      </p:cxnSp>
      <p:sp>
        <p:nvSpPr>
          <p:cNvPr id="13" name="T13"/>
          <p:cNvSpPr txBox="1"/>
          <p:nvPr/>
        </p:nvSpPr>
        <p:spPr>
          <a:xfrm>
            <a:off x="8092440" y="2331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6720840" y="1188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S15"/>
          <p:cNvSpPr/>
          <p:nvPr/>
        </p:nvSpPr>
        <p:spPr>
          <a:xfrm>
            <a:off x="6629400" y="2468880"/>
            <a:ext cx="91440" cy="91440"/>
          </a:xfrm>
          <a:prstGeom prst="ellipse">
            <a:avLst/>
          </a:prstGeom>
          <a:solidFill>
            <a:srgbClr val="2B3050"/>
          </a:solidFill>
          <a:ln>
            <a:noFill/>
          </a:ln>
        </p:spPr>
        <p:txBody>
          <a:bodyPr/>
          <a:lstStyle/>
          <a:p>
            <a:endParaRPr lang="zh-TW" altLang="en-US"/>
          </a:p>
        </p:txBody>
      </p:sp>
      <p:sp>
        <p:nvSpPr>
          <p:cNvPr id="16" name="T16"/>
          <p:cNvSpPr txBox="1"/>
          <p:nvPr/>
        </p:nvSpPr>
        <p:spPr>
          <a:xfrm>
            <a:off x="6263640" y="25146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17" name="S17"/>
          <p:cNvSpPr/>
          <p:nvPr/>
        </p:nvSpPr>
        <p:spPr>
          <a:xfrm>
            <a:off x="7534656" y="1728216"/>
            <a:ext cx="109728" cy="109728"/>
          </a:xfrm>
          <a:prstGeom prst="ellipse">
            <a:avLst/>
          </a:prstGeom>
          <a:solidFill>
            <a:srgbClr val="D6006F"/>
          </a:solidFill>
          <a:ln>
            <a:noFill/>
          </a:ln>
        </p:spPr>
        <p:txBody>
          <a:bodyPr/>
          <a:lstStyle/>
          <a:p>
            <a:endParaRPr lang="zh-TW" altLang="en-US"/>
          </a:p>
        </p:txBody>
      </p:sp>
      <p:sp>
        <p:nvSpPr>
          <p:cNvPr id="18" name="T18"/>
          <p:cNvSpPr txBox="1"/>
          <p:nvPr/>
        </p:nvSpPr>
        <p:spPr>
          <a:xfrm>
            <a:off x="7635240" y="1371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A</a:t>
            </a:r>
            <a:endParaRPr lang="zh-TW" sz="2400"/>
          </a:p>
        </p:txBody>
      </p:sp>
      <p:sp>
        <p:nvSpPr>
          <p:cNvPr id="19" name="S19"/>
          <p:cNvSpPr/>
          <p:nvPr/>
        </p:nvSpPr>
        <p:spPr>
          <a:xfrm>
            <a:off x="6620256" y="3557016"/>
            <a:ext cx="109728" cy="109728"/>
          </a:xfrm>
          <a:prstGeom prst="ellipse">
            <a:avLst/>
          </a:prstGeom>
          <a:solidFill>
            <a:srgbClr val="D6006F"/>
          </a:solidFill>
          <a:ln>
            <a:noFill/>
          </a:ln>
        </p:spPr>
        <p:txBody>
          <a:bodyPr/>
          <a:lstStyle/>
          <a:p>
            <a:endParaRPr lang="zh-TW" altLang="en-US"/>
          </a:p>
        </p:txBody>
      </p:sp>
      <p:sp>
        <p:nvSpPr>
          <p:cNvPr id="20" name="T20"/>
          <p:cNvSpPr txBox="1"/>
          <p:nvPr/>
        </p:nvSpPr>
        <p:spPr>
          <a:xfrm>
            <a:off x="6766560" y="3383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B</a:t>
            </a:r>
            <a:endParaRPr lang="zh-TW" sz="2400"/>
          </a:p>
        </p:txBody>
      </p:sp>
      <p:cxnSp>
        <p:nvCxnSpPr>
          <p:cNvPr id="21" name="L21"/>
          <p:cNvCxnSpPr/>
          <p:nvPr/>
        </p:nvCxnSpPr>
        <p:spPr>
          <a:xfrm flipV="1">
            <a:off x="6675120" y="1783080"/>
            <a:ext cx="914400" cy="731520"/>
          </a:xfrm>
          <a:prstGeom prst="line">
            <a:avLst/>
          </a:prstGeom>
          <a:ln w="31750">
            <a:solidFill>
              <a:srgbClr val="1F8899"/>
            </a:solidFill>
            <a:tailEnd type="triangle" w="med" len="med"/>
          </a:ln>
        </p:spPr>
      </p:cxnSp>
      <mc:AlternateContent xmlns:mc="http://schemas.openxmlformats.org/markup-compatibility/2006" xmlns:a14="http://schemas.microsoft.com/office/drawing/2010/main">
        <mc:Choice Requires="a14">
          <p:sp>
            <p:nvSpPr>
              <p:cNvPr id="22" name="T22"/>
              <p:cNvSpPr txBox="1"/>
              <p:nvPr/>
            </p:nvSpPr>
            <p:spPr>
              <a:xfrm>
                <a:off x="6537960" y="160020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e>
                        <m:sub>
                          <m:r>
                            <a:rPr lang="en-US" altLang="zh-TW" sz="2400" b="0" i="1">
                              <a:solidFill>
                                <a:srgbClr val="1F8899"/>
                              </a:solidFill>
                              <a:latin typeface="Cambria Math" panose="02040503050406030204" pitchFamily="18" charset="0"/>
                              <a:ea typeface="Cambria Math"/>
                            </a:rPr>
                            <m:t>𝐴</m:t>
                          </m:r>
                        </m:sub>
                      </m:sSub>
                    </m:oMath>
                  </m:oMathPara>
                </a14:m>
                <a:endParaRPr lang="zh-TW" sz="2400"/>
              </a:p>
            </p:txBody>
          </p:sp>
        </mc:Choice>
        <mc:Fallback xmlns="">
          <p:pic>
            <p:nvPicPr>
              <p:cNvPr id="22" name="F22"/>
              <p:cNvPicPr/>
              <p:nvPr/>
            </p:nvPicPr>
            <p:blipFill>
              <a:blip r:embed="rId2"/>
              <a:stretch>
                <a:fillRect/>
              </a:stretch>
            </p:blipFill>
            <p:spPr>
              <a:xfrm>
                <a:off x="6537960" y="1600200"/>
                <a:ext cx="731520" cy="411480"/>
              </a:xfrm>
              <a:prstGeom prst="rect">
                <a:avLst/>
              </a:prstGeom>
              <a:noFill/>
              <a:ln>
                <a:noFill/>
              </a:ln>
            </p:spPr>
          </p:pic>
        </mc:Fallback>
      </mc:AlternateContent>
      <p:cxnSp>
        <p:nvCxnSpPr>
          <p:cNvPr id="23" name="L23"/>
          <p:cNvCxnSpPr/>
          <p:nvPr/>
        </p:nvCxnSpPr>
        <p:spPr>
          <a:xfrm>
            <a:off x="6675120" y="2514600"/>
            <a:ext cx="0" cy="1060704"/>
          </a:xfrm>
          <a:prstGeom prst="line">
            <a:avLst/>
          </a:prstGeom>
          <a:ln w="31750">
            <a:solidFill>
              <a:srgbClr val="C8901F"/>
            </a:solidFill>
            <a:tailEnd type="triangle" w="med" len="med"/>
          </a:ln>
        </p:spPr>
      </p:cxnSp>
      <mc:AlternateContent xmlns:mc="http://schemas.openxmlformats.org/markup-compatibility/2006" xmlns:a14="http://schemas.microsoft.com/office/drawing/2010/main">
        <mc:Choice Requires="a14">
          <p:sp>
            <p:nvSpPr>
              <p:cNvPr id="24" name="T24"/>
              <p:cNvSpPr txBox="1"/>
              <p:nvPr/>
            </p:nvSpPr>
            <p:spPr>
              <a:xfrm>
                <a:off x="6720840" y="292608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𝑟</m:t>
                              </m:r>
                            </m:e>
                          </m:acc>
                        </m:e>
                        <m:sub>
                          <m:r>
                            <a:rPr lang="en-US" altLang="zh-TW" sz="2400" b="0" i="1">
                              <a:solidFill>
                                <a:srgbClr val="C8901F"/>
                              </a:solidFill>
                              <a:latin typeface="Cambria Math" panose="02040503050406030204" pitchFamily="18" charset="0"/>
                              <a:ea typeface="Cambria Math"/>
                            </a:rPr>
                            <m:t>𝐵</m:t>
                          </m:r>
                        </m:sub>
                      </m:sSub>
                    </m:oMath>
                  </m:oMathPara>
                </a14:m>
                <a:endParaRPr lang="zh-TW" sz="2400"/>
              </a:p>
            </p:txBody>
          </p:sp>
        </mc:Choice>
        <mc:Fallback xmlns="">
          <p:pic>
            <p:nvPicPr>
              <p:cNvPr id="24" name="F24"/>
              <p:cNvPicPr/>
              <p:nvPr/>
            </p:nvPicPr>
            <p:blipFill>
              <a:blip r:embed="rId3"/>
              <a:stretch>
                <a:fillRect/>
              </a:stretch>
            </p:blipFill>
            <p:spPr>
              <a:xfrm>
                <a:off x="6720840" y="2926080"/>
                <a:ext cx="731520" cy="411480"/>
              </a:xfrm>
              <a:prstGeom prst="rect">
                <a:avLst/>
              </a:prstGeom>
              <a:noFill/>
              <a:ln>
                <a:noFill/>
              </a:ln>
            </p:spPr>
          </p:pic>
        </mc:Fallback>
      </mc:AlternateContent>
      <p:sp>
        <p:nvSpPr>
          <p:cNvPr id="25" name="T25"/>
          <p:cNvSpPr txBox="1"/>
          <p:nvPr/>
        </p:nvSpPr>
        <p:spPr>
          <a:xfrm>
            <a:off x="365760" y="868680"/>
            <a:ext cx="51206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2 s，在 A 點：x = 2、y = 1.6</a:t>
            </a:r>
            <a:endParaRPr lang="zh-TW" sz="2400"/>
          </a:p>
        </p:txBody>
      </p:sp>
      <mc:AlternateContent xmlns:mc="http://schemas.openxmlformats.org/markup-compatibility/2006" xmlns:a14="http://schemas.microsoft.com/office/drawing/2010/main">
        <mc:Choice Requires="a14">
          <p:sp>
            <p:nvSpPr>
              <p:cNvPr id="26" name="T26"/>
              <p:cNvSpPr txBox="1"/>
              <p:nvPr/>
            </p:nvSpPr>
            <p:spPr>
              <a:xfrm>
                <a:off x="640080" y="1325880"/>
                <a:ext cx="49377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e>
                        <m:sub>
                          <m:r>
                            <a:rPr lang="en-US" altLang="zh-TW" sz="2400" b="0" i="1">
                              <a:solidFill>
                                <a:srgbClr val="1F8899"/>
                              </a:solidFill>
                              <a:latin typeface="Cambria Math" panose="02040503050406030204" pitchFamily="18" charset="0"/>
                              <a:ea typeface="Cambria Math"/>
                            </a:rPr>
                            <m:t>𝐴</m:t>
                          </m:r>
                        </m:sub>
                      </m:sSub>
                      <m:r>
                        <a:rPr lang="en-US" altLang="zh-TW" sz="2400" b="0" i="0">
                          <a:solidFill>
                            <a:srgbClr val="1F8899"/>
                          </a:solidFill>
                          <a:latin typeface="Cambria Math" panose="02040503050406030204" pitchFamily="18" charset="0"/>
                          <a:ea typeface="Cambria Math"/>
                        </a:rPr>
                        <m:t> = 2</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𝑖</m:t>
                          </m:r>
                        </m:e>
                      </m:acc>
                      <m:r>
                        <a:rPr lang="en-US" altLang="zh-TW" sz="2400" b="0" i="0">
                          <a:solidFill>
                            <a:srgbClr val="1F8899"/>
                          </a:solidFill>
                          <a:latin typeface="Cambria Math" panose="02040503050406030204" pitchFamily="18" charset="0"/>
                          <a:ea typeface="Cambria Math"/>
                        </a:rPr>
                        <m:t> + 1.6</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𝑗</m:t>
                          </m:r>
                        </m:e>
                      </m:acc>
                      <m:r>
                        <a:rPr lang="en-US" altLang="zh-TW" sz="2400" b="0" i="0">
                          <a:solidFill>
                            <a:srgbClr val="1F8899"/>
                          </a:solidFill>
                          <a:latin typeface="Cambria Math" panose="02040503050406030204" pitchFamily="18" charset="0"/>
                          <a:ea typeface="Cambria Math"/>
                        </a:rPr>
                        <m:t>　(</m:t>
                      </m:r>
                      <m:r>
                        <m:rPr>
                          <m:sty m:val="p"/>
                        </m:rPr>
                        <a:rPr lang="en-US" altLang="zh-TW" sz="2400" b="0" i="0">
                          <a:solidFill>
                            <a:srgbClr val="1F8899"/>
                          </a:solidFill>
                          <a:latin typeface="Cambria Math" panose="02040503050406030204" pitchFamily="18" charset="0"/>
                          <a:ea typeface="Cambria Math"/>
                        </a:rPr>
                        <m:t>m</m:t>
                      </m:r>
                      <m:r>
                        <a:rPr lang="en-US" altLang="zh-TW" sz="2400" b="0" i="0">
                          <a:solidFill>
                            <a:srgbClr val="1F8899"/>
                          </a:solidFill>
                          <a:latin typeface="Cambria Math" panose="02040503050406030204" pitchFamily="18" charset="0"/>
                          <a:ea typeface="Cambria Math"/>
                        </a:rPr>
                        <m:t>)</m:t>
                      </m:r>
                    </m:oMath>
                  </m:oMathPara>
                </a14:m>
                <a:endParaRPr lang="zh-TW" sz="2400"/>
              </a:p>
            </p:txBody>
          </p:sp>
        </mc:Choice>
        <mc:Fallback xmlns="">
          <p:pic>
            <p:nvPicPr>
              <p:cNvPr id="26" name="F26"/>
              <p:cNvPicPr/>
              <p:nvPr/>
            </p:nvPicPr>
            <p:blipFill>
              <a:blip r:embed="rId4"/>
              <a:stretch>
                <a:fillRect/>
              </a:stretch>
            </p:blipFill>
            <p:spPr>
              <a:xfrm>
                <a:off x="640080" y="1325880"/>
                <a:ext cx="4937760" cy="548640"/>
              </a:xfrm>
              <a:prstGeom prst="rect">
                <a:avLst/>
              </a:prstGeom>
              <a:noFill/>
              <a:ln>
                <a:noFill/>
              </a:ln>
            </p:spPr>
          </p:pic>
        </mc:Fallback>
      </mc:AlternateContent>
      <p:sp>
        <p:nvSpPr>
          <p:cNvPr id="27" name="T27"/>
          <p:cNvSpPr txBox="1"/>
          <p:nvPr/>
        </p:nvSpPr>
        <p:spPr>
          <a:xfrm>
            <a:off x="365760" y="2011680"/>
            <a:ext cx="51206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4 s，在 B 點：x = 0、y = −2.4</a:t>
            </a:r>
            <a:endParaRPr lang="zh-TW" sz="2400"/>
          </a:p>
        </p:txBody>
      </p:sp>
      <mc:AlternateContent xmlns:mc="http://schemas.openxmlformats.org/markup-compatibility/2006" xmlns:a14="http://schemas.microsoft.com/office/drawing/2010/main">
        <mc:Choice Requires="a14">
          <p:sp>
            <p:nvSpPr>
              <p:cNvPr id="28" name="T28"/>
              <p:cNvSpPr txBox="1"/>
              <p:nvPr/>
            </p:nvSpPr>
            <p:spPr>
              <a:xfrm>
                <a:off x="640080" y="2468880"/>
                <a:ext cx="49377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𝑟</m:t>
                              </m:r>
                            </m:e>
                          </m:acc>
                        </m:e>
                        <m:sub>
                          <m:r>
                            <a:rPr lang="en-US" altLang="zh-TW" sz="2400" b="0" i="1">
                              <a:solidFill>
                                <a:srgbClr val="C8901F"/>
                              </a:solidFill>
                              <a:latin typeface="Cambria Math" panose="02040503050406030204" pitchFamily="18" charset="0"/>
                              <a:ea typeface="Cambria Math"/>
                            </a:rPr>
                            <m:t>𝐵</m:t>
                          </m:r>
                        </m:sub>
                      </m:sSub>
                      <m:r>
                        <a:rPr lang="en-US" altLang="zh-TW" sz="2400" b="0" i="0">
                          <a:solidFill>
                            <a:srgbClr val="C8901F"/>
                          </a:solidFill>
                          <a:latin typeface="Cambria Math" panose="02040503050406030204" pitchFamily="18" charset="0"/>
                          <a:ea typeface="Cambria Math"/>
                        </a:rPr>
                        <m:t> = 0</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𝑖</m:t>
                          </m:r>
                        </m:e>
                      </m:acc>
                      <m:r>
                        <a:rPr lang="en-US" altLang="zh-TW" sz="2400" b="0" i="0">
                          <a:solidFill>
                            <a:srgbClr val="C8901F"/>
                          </a:solidFill>
                          <a:latin typeface="Cambria Math" panose="02040503050406030204" pitchFamily="18" charset="0"/>
                          <a:ea typeface="Cambria Math"/>
                        </a:rPr>
                        <m:t> − 2.4</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𝑗</m:t>
                          </m:r>
                        </m:e>
                      </m:acc>
                      <m:r>
                        <a:rPr lang="en-US" altLang="zh-TW" sz="2400" b="0" i="0">
                          <a:solidFill>
                            <a:srgbClr val="C8901F"/>
                          </a:solidFill>
                          <a:latin typeface="Cambria Math" panose="02040503050406030204" pitchFamily="18" charset="0"/>
                          <a:ea typeface="Cambria Math"/>
                        </a:rPr>
                        <m:t> = −2.4</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𝑗</m:t>
                          </m:r>
                        </m:e>
                      </m:acc>
                      <m:r>
                        <a:rPr lang="en-US" altLang="zh-TW" sz="2400" b="0" i="0">
                          <a:solidFill>
                            <a:srgbClr val="C8901F"/>
                          </a:solidFill>
                          <a:latin typeface="Cambria Math" panose="02040503050406030204" pitchFamily="18" charset="0"/>
                          <a:ea typeface="Cambria Math"/>
                        </a:rPr>
                        <m:t>　(</m:t>
                      </m:r>
                      <m:r>
                        <m:rPr>
                          <m:sty m:val="p"/>
                        </m:rPr>
                        <a:rPr lang="en-US" altLang="zh-TW" sz="2400" b="0" i="0">
                          <a:solidFill>
                            <a:srgbClr val="C8901F"/>
                          </a:solidFill>
                          <a:latin typeface="Cambria Math" panose="02040503050406030204" pitchFamily="18" charset="0"/>
                          <a:ea typeface="Cambria Math"/>
                        </a:rPr>
                        <m:t>m</m:t>
                      </m:r>
                      <m:r>
                        <a:rPr lang="en-US" altLang="zh-TW" sz="2400" b="0" i="0">
                          <a:solidFill>
                            <a:srgbClr val="C8901F"/>
                          </a:solidFill>
                          <a:latin typeface="Cambria Math" panose="02040503050406030204" pitchFamily="18" charset="0"/>
                          <a:ea typeface="Cambria Math"/>
                        </a:rPr>
                        <m:t>)</m:t>
                      </m:r>
                    </m:oMath>
                  </m:oMathPara>
                </a14:m>
                <a:endParaRPr lang="zh-TW" sz="2400"/>
              </a:p>
            </p:txBody>
          </p:sp>
        </mc:Choice>
        <mc:Fallback xmlns="">
          <p:pic>
            <p:nvPicPr>
              <p:cNvPr id="28" name="F28"/>
              <p:cNvPicPr/>
              <p:nvPr/>
            </p:nvPicPr>
            <p:blipFill>
              <a:blip r:embed="rId5"/>
              <a:stretch>
                <a:fillRect/>
              </a:stretch>
            </p:blipFill>
            <p:spPr>
              <a:xfrm>
                <a:off x="640080" y="2468880"/>
                <a:ext cx="4937760" cy="548640"/>
              </a:xfrm>
              <a:prstGeom prst="rect">
                <a:avLst/>
              </a:prstGeom>
              <a:noFill/>
              <a:ln>
                <a:noFill/>
              </a:ln>
            </p:spPr>
          </p:pic>
        </mc:Fallback>
      </mc:AlternateContent>
      <p:sp>
        <p:nvSpPr>
          <p:cNvPr id="29" name="T29"/>
          <p:cNvSpPr txBox="1"/>
          <p:nvPr/>
        </p:nvSpPr>
        <p:spPr>
          <a:xfrm>
            <a:off x="365760" y="3291840"/>
            <a:ext cx="5029200" cy="11887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y 在原點下方 → 取負號</a:t>
            </a:r>
            <a:endParaRPr lang="zh-TW" sz="2400"/>
          </a:p>
          <a:p>
            <a:pPr algn="l">
              <a:lnSpc>
                <a:spcPct val="100000"/>
              </a:lnSpc>
              <a:buNone/>
            </a:pPr>
            <a:r>
              <a:rPr lang="zh-TW" altLang="en-US" sz="2400" b="0" dirty="0">
                <a:solidFill>
                  <a:srgbClr val="2B3050"/>
                </a:solidFill>
                <a:latin typeface="Calibri"/>
                <a:ea typeface="微軟正黑體"/>
                <a:cs typeface="Calibri"/>
              </a:rPr>
              <a:t>位置向量的分量＝點的座標</a:t>
            </a:r>
            <a:endParaRPr lang="zh-TW" sz="2400"/>
          </a:p>
        </p:txBody>
      </p:sp>
      <p:sp>
        <p:nvSpPr>
          <p:cNvPr id="4" name="文字方塊 3">
            <a:extLst>
              <a:ext uri="{FF2B5EF4-FFF2-40B4-BE49-F238E27FC236}">
                <a16:creationId xmlns:a16="http://schemas.microsoft.com/office/drawing/2014/main" id="{B82CD32D-A8E4-D388-A4D6-BC0707CA6E5A}"/>
              </a:ext>
            </a:extLst>
          </p:cNvPr>
          <p:cNvSpPr txBox="1"/>
          <p:nvPr/>
        </p:nvSpPr>
        <p:spPr>
          <a:xfrm>
            <a:off x="4363267" y="387085"/>
            <a:ext cx="4623706" cy="461665"/>
          </a:xfrm>
          <a:prstGeom prst="rect">
            <a:avLst/>
          </a:prstGeom>
          <a:noFill/>
        </p:spPr>
        <p:txBody>
          <a:bodyPr wrap="square">
            <a:spAutoFit/>
          </a:bodyPr>
          <a:lstStyle/>
          <a:p>
            <a:pPr algn="l">
              <a:lnSpc>
                <a:spcPct val="100000"/>
              </a:lnSpc>
              <a:buNone/>
            </a:pPr>
            <a:r>
              <a:rPr lang="zh-TW" altLang="en-US" sz="2400" b="0" dirty="0">
                <a:solidFill>
                  <a:srgbClr val="D6006F"/>
                </a:solidFill>
                <a:latin typeface="Calibri"/>
                <a:ea typeface="微軟正黑體"/>
                <a:cs typeface="Calibri"/>
              </a:rPr>
              <a:t>→ 從原點 O 畫到質點所在的點</a:t>
            </a:r>
            <a:endParaRPr lang="zh-TW" alt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(b) 位移（t = 2 → 4 s）</a:t>
            </a:r>
          </a:p>
        </p:txBody>
      </p:sp>
      <p:cxnSp>
        <p:nvCxnSpPr>
          <p:cNvPr id="11" name="L11"/>
          <p:cNvCxnSpPr/>
          <p:nvPr/>
        </p:nvCxnSpPr>
        <p:spPr>
          <a:xfrm>
            <a:off x="5486400" y="2514600"/>
            <a:ext cx="2651760" cy="0"/>
          </a:xfrm>
          <a:prstGeom prst="line">
            <a:avLst/>
          </a:prstGeom>
          <a:ln w="15875">
            <a:solidFill>
              <a:srgbClr val="2B3050"/>
            </a:solidFill>
            <a:tailEnd type="triangle" w="med" len="med"/>
          </a:ln>
        </p:spPr>
      </p:cxnSp>
      <p:cxnSp>
        <p:nvCxnSpPr>
          <p:cNvPr id="12" name="L12"/>
          <p:cNvCxnSpPr/>
          <p:nvPr/>
        </p:nvCxnSpPr>
        <p:spPr>
          <a:xfrm flipV="1">
            <a:off x="6675120" y="1371600"/>
            <a:ext cx="0" cy="2560320"/>
          </a:xfrm>
          <a:prstGeom prst="line">
            <a:avLst/>
          </a:prstGeom>
          <a:ln w="15875">
            <a:solidFill>
              <a:srgbClr val="2B3050"/>
            </a:solidFill>
            <a:tailEnd type="triangle" w="med" len="med"/>
          </a:ln>
        </p:spPr>
      </p:cxnSp>
      <p:sp>
        <p:nvSpPr>
          <p:cNvPr id="13" name="T13"/>
          <p:cNvSpPr txBox="1"/>
          <p:nvPr/>
        </p:nvSpPr>
        <p:spPr>
          <a:xfrm>
            <a:off x="8092440" y="2331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6720840" y="1188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S15"/>
          <p:cNvSpPr/>
          <p:nvPr/>
        </p:nvSpPr>
        <p:spPr>
          <a:xfrm>
            <a:off x="6629400" y="2468880"/>
            <a:ext cx="91440" cy="91440"/>
          </a:xfrm>
          <a:prstGeom prst="ellipse">
            <a:avLst/>
          </a:prstGeom>
          <a:solidFill>
            <a:srgbClr val="2B3050"/>
          </a:solidFill>
          <a:ln>
            <a:noFill/>
          </a:ln>
        </p:spPr>
        <p:txBody>
          <a:bodyPr/>
          <a:lstStyle/>
          <a:p>
            <a:endParaRPr lang="zh-TW" altLang="en-US"/>
          </a:p>
        </p:txBody>
      </p:sp>
      <p:sp>
        <p:nvSpPr>
          <p:cNvPr id="16" name="T16"/>
          <p:cNvSpPr txBox="1"/>
          <p:nvPr/>
        </p:nvSpPr>
        <p:spPr>
          <a:xfrm>
            <a:off x="6263640" y="25146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17" name="S17"/>
          <p:cNvSpPr/>
          <p:nvPr/>
        </p:nvSpPr>
        <p:spPr>
          <a:xfrm>
            <a:off x="7534656" y="1728216"/>
            <a:ext cx="109728" cy="109728"/>
          </a:xfrm>
          <a:prstGeom prst="ellipse">
            <a:avLst/>
          </a:prstGeom>
          <a:solidFill>
            <a:srgbClr val="D6006F"/>
          </a:solidFill>
          <a:ln>
            <a:noFill/>
          </a:ln>
        </p:spPr>
        <p:txBody>
          <a:bodyPr/>
          <a:lstStyle/>
          <a:p>
            <a:endParaRPr lang="zh-TW" altLang="en-US"/>
          </a:p>
        </p:txBody>
      </p:sp>
      <p:sp>
        <p:nvSpPr>
          <p:cNvPr id="18" name="T18"/>
          <p:cNvSpPr txBox="1"/>
          <p:nvPr/>
        </p:nvSpPr>
        <p:spPr>
          <a:xfrm>
            <a:off x="7635240" y="1371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A</a:t>
            </a:r>
            <a:endParaRPr lang="zh-TW" sz="2400"/>
          </a:p>
        </p:txBody>
      </p:sp>
      <p:sp>
        <p:nvSpPr>
          <p:cNvPr id="19" name="S19"/>
          <p:cNvSpPr/>
          <p:nvPr/>
        </p:nvSpPr>
        <p:spPr>
          <a:xfrm>
            <a:off x="6620256" y="3557016"/>
            <a:ext cx="109728" cy="109728"/>
          </a:xfrm>
          <a:prstGeom prst="ellipse">
            <a:avLst/>
          </a:prstGeom>
          <a:solidFill>
            <a:srgbClr val="D6006F"/>
          </a:solidFill>
          <a:ln>
            <a:noFill/>
          </a:ln>
        </p:spPr>
        <p:txBody>
          <a:bodyPr/>
          <a:lstStyle/>
          <a:p>
            <a:endParaRPr lang="zh-TW" altLang="en-US"/>
          </a:p>
        </p:txBody>
      </p:sp>
      <p:sp>
        <p:nvSpPr>
          <p:cNvPr id="20" name="T20"/>
          <p:cNvSpPr txBox="1"/>
          <p:nvPr/>
        </p:nvSpPr>
        <p:spPr>
          <a:xfrm>
            <a:off x="6766560" y="3383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B</a:t>
            </a:r>
            <a:endParaRPr lang="zh-TW" sz="2400"/>
          </a:p>
        </p:txBody>
      </p:sp>
      <p:cxnSp>
        <p:nvCxnSpPr>
          <p:cNvPr id="21" name="L21"/>
          <p:cNvCxnSpPr/>
          <p:nvPr/>
        </p:nvCxnSpPr>
        <p:spPr>
          <a:xfrm flipV="1">
            <a:off x="6675120" y="1783080"/>
            <a:ext cx="914400" cy="731520"/>
          </a:xfrm>
          <a:prstGeom prst="line">
            <a:avLst/>
          </a:prstGeom>
          <a:ln w="19050">
            <a:solidFill>
              <a:srgbClr val="1F8899"/>
            </a:solidFill>
            <a:tailEnd type="triangle" w="med" len="med"/>
          </a:ln>
        </p:spPr>
      </p:cxnSp>
      <p:cxnSp>
        <p:nvCxnSpPr>
          <p:cNvPr id="22" name="L22"/>
          <p:cNvCxnSpPr/>
          <p:nvPr/>
        </p:nvCxnSpPr>
        <p:spPr>
          <a:xfrm>
            <a:off x="6675120" y="2514600"/>
            <a:ext cx="0" cy="1060704"/>
          </a:xfrm>
          <a:prstGeom prst="line">
            <a:avLst/>
          </a:prstGeom>
          <a:ln w="19050">
            <a:solidFill>
              <a:srgbClr val="C8901F"/>
            </a:solidFill>
            <a:tailEnd type="triangle" w="med" len="med"/>
          </a:ln>
        </p:spPr>
      </p:cxnSp>
      <p:cxnSp>
        <p:nvCxnSpPr>
          <p:cNvPr id="23" name="L23"/>
          <p:cNvCxnSpPr/>
          <p:nvPr/>
        </p:nvCxnSpPr>
        <p:spPr>
          <a:xfrm flipH="1">
            <a:off x="6702552" y="1783080"/>
            <a:ext cx="886968" cy="1773936"/>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24" name="T24"/>
              <p:cNvSpPr txBox="1"/>
              <p:nvPr/>
            </p:nvSpPr>
            <p:spPr>
              <a:xfrm>
                <a:off x="7269480" y="260604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D6006F"/>
                          </a:solidFill>
                          <a:latin typeface="Cambria Math" panose="02040503050406030204" pitchFamily="18" charset="0"/>
                          <a:ea typeface="Cambria Math"/>
                        </a:rPr>
                        <m:t>Δ</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oMath>
                  </m:oMathPara>
                </a14:m>
                <a:endParaRPr lang="zh-TW" sz="2400"/>
              </a:p>
            </p:txBody>
          </p:sp>
        </mc:Choice>
        <mc:Fallback xmlns="">
          <p:pic>
            <p:nvPicPr>
              <p:cNvPr id="24" name="F24"/>
              <p:cNvPicPr/>
              <p:nvPr/>
            </p:nvPicPr>
            <p:blipFill>
              <a:blip r:embed="rId2"/>
              <a:stretch>
                <a:fillRect/>
              </a:stretch>
            </p:blipFill>
            <p:spPr>
              <a:xfrm>
                <a:off x="7269480" y="2606040"/>
                <a:ext cx="73152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5" name="T25"/>
              <p:cNvSpPr txBox="1"/>
              <p:nvPr/>
            </p:nvSpPr>
            <p:spPr>
              <a:xfrm>
                <a:off x="365760" y="868680"/>
                <a:ext cx="539496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1">
                              <a:solidFill>
                                <a:srgbClr val="2B3050"/>
                              </a:solidFill>
                              <a:latin typeface="Cambria Math" panose="02040503050406030204" pitchFamily="18" charset="0"/>
                              <a:ea typeface="Cambria Math"/>
                            </a:rPr>
                            <m:t>𝐵</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1">
                              <a:solidFill>
                                <a:srgbClr val="2B3050"/>
                              </a:solidFill>
                              <a:latin typeface="Cambria Math" panose="02040503050406030204" pitchFamily="18" charset="0"/>
                              <a:ea typeface="Cambria Math"/>
                            </a:rPr>
                            <m:t>𝐴</m:t>
                          </m:r>
                        </m:sub>
                      </m:sSub>
                    </m:oMath>
                  </m:oMathPara>
                </a14:m>
                <a:endParaRPr lang="zh-TW" sz="2400"/>
              </a:p>
            </p:txBody>
          </p:sp>
        </mc:Choice>
        <mc:Fallback xmlns="">
          <p:pic>
            <p:nvPicPr>
              <p:cNvPr id="25" name="F25"/>
              <p:cNvPicPr/>
              <p:nvPr/>
            </p:nvPicPr>
            <p:blipFill>
              <a:blip r:embed="rId3"/>
              <a:stretch>
                <a:fillRect/>
              </a:stretch>
            </p:blipFill>
            <p:spPr>
              <a:xfrm>
                <a:off x="365760" y="868680"/>
                <a:ext cx="539496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6" name="T26"/>
              <p:cNvSpPr txBox="1"/>
              <p:nvPr/>
            </p:nvSpPr>
            <p:spPr>
              <a:xfrm>
                <a:off x="365760" y="1435608"/>
                <a:ext cx="539496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0 − 2</m:t>
                          </m:r>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−2.4 − 1.6</m:t>
                          </m:r>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m:oMathPara>
                </a14:m>
                <a:endParaRPr lang="zh-TW" sz="2400"/>
              </a:p>
            </p:txBody>
          </p:sp>
        </mc:Choice>
        <mc:Fallback xmlns="">
          <p:pic>
            <p:nvPicPr>
              <p:cNvPr id="26" name="F26"/>
              <p:cNvPicPr/>
              <p:nvPr/>
            </p:nvPicPr>
            <p:blipFill>
              <a:blip r:embed="rId4"/>
              <a:stretch>
                <a:fillRect/>
              </a:stretch>
            </p:blipFill>
            <p:spPr>
              <a:xfrm>
                <a:off x="365760" y="1435608"/>
                <a:ext cx="539496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7" name="T27"/>
              <p:cNvSpPr txBox="1"/>
              <p:nvPr/>
            </p:nvSpPr>
            <p:spPr>
              <a:xfrm>
                <a:off x="365760" y="2002536"/>
                <a:ext cx="539496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− 4</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oMath>
                  </m:oMathPara>
                </a14:m>
                <a:endParaRPr lang="zh-TW" sz="2400"/>
              </a:p>
            </p:txBody>
          </p:sp>
        </mc:Choice>
        <mc:Fallback xmlns="">
          <p:pic>
            <p:nvPicPr>
              <p:cNvPr id="27" name="F27"/>
              <p:cNvPicPr/>
              <p:nvPr/>
            </p:nvPicPr>
            <p:blipFill>
              <a:blip r:embed="rId5"/>
              <a:stretch>
                <a:fillRect/>
              </a:stretch>
            </p:blipFill>
            <p:spPr>
              <a:xfrm>
                <a:off x="365760" y="2002536"/>
                <a:ext cx="539496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8" name="T28"/>
              <p:cNvSpPr txBox="1"/>
              <p:nvPr/>
            </p:nvSpPr>
            <p:spPr>
              <a:xfrm>
                <a:off x="365760" y="2743200"/>
                <a:ext cx="5394960" cy="6858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2</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4</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4.47 </m:t>
                      </m:r>
                      <m:r>
                        <m:rPr>
                          <m:sty m:val="p"/>
                        </m:rPr>
                        <a:rPr lang="en-US" altLang="zh-TW" sz="2400" b="0" i="0">
                          <a:solidFill>
                            <a:srgbClr val="2B3050"/>
                          </a:solidFill>
                          <a:latin typeface="Cambria Math" panose="02040503050406030204" pitchFamily="18" charset="0"/>
                          <a:ea typeface="Cambria Math"/>
                        </a:rPr>
                        <m:t>m</m:t>
                      </m:r>
                    </m:oMath>
                  </m:oMathPara>
                </a14:m>
                <a:endParaRPr lang="zh-TW" sz="2400"/>
              </a:p>
            </p:txBody>
          </p:sp>
        </mc:Choice>
        <mc:Fallback xmlns="">
          <p:pic>
            <p:nvPicPr>
              <p:cNvPr id="28" name="F28"/>
              <p:cNvPicPr/>
              <p:nvPr/>
            </p:nvPicPr>
            <p:blipFill>
              <a:blip r:embed="rId6"/>
              <a:stretch>
                <a:fillRect/>
              </a:stretch>
            </p:blipFill>
            <p:spPr>
              <a:xfrm>
                <a:off x="365760" y="2743200"/>
                <a:ext cx="5394960" cy="685800"/>
              </a:xfrm>
              <a:prstGeom prst="roundRect">
                <a:avLst/>
              </a:prstGeom>
              <a:solidFill>
                <a:srgbClr val="E8F4F6"/>
              </a:solidFill>
              <a:ln w="19050">
                <a:solidFill>
                  <a:srgbClr val="1F8899"/>
                </a:solidFill>
              </a:ln>
            </p:spPr>
          </p:pic>
        </mc:Fallback>
      </mc:AlternateContent>
      <p:sp>
        <p:nvSpPr>
          <p:cNvPr id="29" name="T29"/>
          <p:cNvSpPr txBox="1"/>
          <p:nvPr/>
        </p:nvSpPr>
        <p:spPr>
          <a:xfrm>
            <a:off x="365760" y="3566160"/>
            <a:ext cx="5394960"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箭頭：從「初」位置 A 指向「末」位置 B</a:t>
            </a:r>
            <a:endParaRPr lang="zh-TW" sz="2400"/>
          </a:p>
        </p:txBody>
      </p:sp>
      <p:sp>
        <p:nvSpPr>
          <p:cNvPr id="4" name="文字方塊 3">
            <a:extLst>
              <a:ext uri="{FF2B5EF4-FFF2-40B4-BE49-F238E27FC236}">
                <a16:creationId xmlns:a16="http://schemas.microsoft.com/office/drawing/2014/main" id="{3CDB3F4C-3752-67BF-3C38-7F90071F14AE}"/>
              </a:ext>
            </a:extLst>
          </p:cNvPr>
          <p:cNvSpPr txBox="1"/>
          <p:nvPr/>
        </p:nvSpPr>
        <p:spPr>
          <a:xfrm>
            <a:off x="5760720" y="336756"/>
            <a:ext cx="2705099" cy="738664"/>
          </a:xfrm>
          <a:prstGeom prst="rect">
            <a:avLst/>
          </a:prstGeom>
          <a:noFill/>
        </p:spPr>
        <p:txBody>
          <a:bodyPr wrap="square">
            <a:spAutoFit/>
          </a:bodyPr>
          <a:lstStyle/>
          <a:p>
            <a:pPr algn="l">
              <a:lnSpc>
                <a:spcPct val="100000"/>
              </a:lnSpc>
              <a:buNone/>
            </a:pPr>
            <a:r>
              <a:rPr lang="zh-TW" altLang="en-US" sz="2400" b="0" dirty="0">
                <a:solidFill>
                  <a:srgbClr val="D6006F"/>
                </a:solidFill>
                <a:latin typeface="Calibri"/>
                <a:ea typeface="微軟正黑體"/>
                <a:cs typeface="Calibri"/>
              </a:rPr>
              <a:t>→ 末位置 − 初位置</a:t>
            </a:r>
            <a:r>
              <a:rPr lang="zh-TW" altLang="en-US" sz="1800" b="0" dirty="0">
                <a:solidFill>
                  <a:srgbClr val="D6006F"/>
                </a:solidFill>
                <a:latin typeface="Calibri"/>
                <a:ea typeface="微軟正黑體"/>
                <a:cs typeface="Calibri"/>
              </a:rPr>
              <a:t>（向量相減，分量各自減）</a:t>
            </a:r>
            <a:endParaRPr lang="zh-TW" altLang="zh-TW"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(c) 平均速度（t = 2 → 4 s）</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4 − 2 = 2 </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− 4</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num>
                        <m:den>
                          <m:r>
                            <a:rPr lang="en-US" altLang="zh-TW" sz="2400" b="0" i="0">
                              <a:solidFill>
                                <a:srgbClr val="2B3050"/>
                              </a:solidFill>
                              <a:latin typeface="Cambria Math" panose="02040503050406030204" pitchFamily="18" charset="0"/>
                              <a:ea typeface="Cambria Math"/>
                            </a:rPr>
                            <m:t>2</m:t>
                          </m:r>
                        </m:den>
                      </m:f>
                    </m:oMath>
                  </m:oMathPara>
                </a14:m>
                <a:endParaRPr lang="zh-TW" sz="2400"/>
              </a:p>
            </p:txBody>
          </p:sp>
        </mc:Choice>
        <mc:Fallback xmlns="">
          <p:pic>
            <p:nvPicPr>
              <p:cNvPr id="12" name="F12"/>
              <p:cNvPicPr/>
              <p:nvPr/>
            </p:nvPicPr>
            <p:blipFill>
              <a:blip r:embed="rId3"/>
              <a:stretch>
                <a:fillRect/>
              </a:stretch>
            </p:blipFill>
            <p:spPr>
              <a:xfrm>
                <a:off x="365760" y="141732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8600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−1</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r>
                        <a:rPr lang="en-US" altLang="zh-TW" sz="2400" b="0" i="0">
                          <a:solidFill>
                            <a:srgbClr val="2B3050"/>
                          </a:solidFill>
                          <a:latin typeface="Cambria Math" panose="02040503050406030204" pitchFamily="18" charset="0"/>
                          <a:ea typeface="Cambria Math"/>
                        </a:rPr>
                        <m:t>)</m:t>
                      </m:r>
                    </m:oMath>
                  </m:oMathPara>
                </a14:m>
                <a:endParaRPr lang="zh-TW" sz="2400"/>
              </a:p>
            </p:txBody>
          </p:sp>
        </mc:Choice>
        <mc:Fallback xmlns="">
          <p:pic>
            <p:nvPicPr>
              <p:cNvPr id="13" name="F13"/>
              <p:cNvPicPr/>
              <p:nvPr/>
            </p:nvPicPr>
            <p:blipFill>
              <a:blip r:embed="rId4"/>
              <a:stretch>
                <a:fillRect/>
              </a:stretch>
            </p:blipFill>
            <p:spPr>
              <a:xfrm>
                <a:off x="365760" y="2286000"/>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971800"/>
                <a:ext cx="7955280" cy="5486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endParaRPr lang="zh-TW" sz="2400"/>
              </a:p>
            </p:txBody>
          </p:sp>
        </mc:Choice>
        <mc:Fallback xmlns="">
          <p:pic>
            <p:nvPicPr>
              <p:cNvPr id="14" name="F14"/>
              <p:cNvPicPr/>
              <p:nvPr/>
            </p:nvPicPr>
            <p:blipFill>
              <a:blip r:embed="rId5"/>
              <a:stretch>
                <a:fillRect/>
              </a:stretch>
            </p:blipFill>
            <p:spPr>
              <a:xfrm>
                <a:off x="365760" y="2971800"/>
                <a:ext cx="7955280" cy="548640"/>
              </a:xfrm>
              <a:prstGeom prst="roundRect">
                <a:avLst/>
              </a:prstGeom>
              <a:solidFill>
                <a:srgbClr val="FDECF4"/>
              </a:solidFill>
              <a:ln w="19050">
                <a:solidFill>
                  <a:srgbClr val="D6006F"/>
                </a:solid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657600"/>
                <a:ext cx="7955280" cy="8686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大小 </a:t>
                </a:r>
                <a14:m>
                  <m:oMath xmlns:m="http://schemas.openxmlformats.org/officeDocument/2006/math">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2</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2.24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r>
                  <a:rPr lang="zh-TW" altLang="en-US" sz="2400" b="0" dirty="0">
                    <a:solidFill>
                      <a:srgbClr val="2B3050"/>
                    </a:solidFill>
                    <a:latin typeface="Calibri"/>
                    <a:ea typeface="微軟正黑體"/>
                    <a:cs typeface="Calibri"/>
                  </a:rPr>
                  <a:t>，方向與 Δr 相同</a:t>
                </a:r>
                <a:endParaRPr lang="zh-TW" sz="2400"/>
              </a:p>
            </p:txBody>
          </p:sp>
        </mc:Choice>
        <mc:Fallback xmlns="">
          <p:pic>
            <p:nvPicPr>
              <p:cNvPr id="15" name="F15"/>
              <p:cNvPicPr/>
              <p:nvPr/>
            </p:nvPicPr>
            <p:blipFill>
              <a:blip r:embed="rId6"/>
              <a:stretch>
                <a:fillRect/>
              </a:stretch>
            </p:blipFill>
            <p:spPr>
              <a:xfrm>
                <a:off x="365760" y="3657600"/>
                <a:ext cx="7955280" cy="868680"/>
              </a:xfrm>
              <a:prstGeom prst="roundRect">
                <a:avLst/>
              </a:prstGeom>
              <a:solidFill>
                <a:srgbClr val="E8F4F6"/>
              </a:solidFill>
              <a:ln w="19050">
                <a:solidFill>
                  <a:srgbClr val="1F8899"/>
                </a:solidFill>
              </a:ln>
            </p:spPr>
          </p:pic>
        </mc:Fallback>
      </mc:AlternateContent>
      <p:sp>
        <p:nvSpPr>
          <p:cNvPr id="4" name="文字方塊 3">
            <a:extLst>
              <a:ext uri="{FF2B5EF4-FFF2-40B4-BE49-F238E27FC236}">
                <a16:creationId xmlns:a16="http://schemas.microsoft.com/office/drawing/2014/main" id="{C98EAF32-0BD4-AE97-7D46-0E5900BD381D}"/>
              </a:ext>
            </a:extLst>
          </p:cNvPr>
          <p:cNvSpPr txBox="1"/>
          <p:nvPr/>
        </p:nvSpPr>
        <p:spPr>
          <a:xfrm>
            <a:off x="5871482" y="818495"/>
            <a:ext cx="4623706" cy="461665"/>
          </a:xfrm>
          <a:prstGeom prst="rect">
            <a:avLst/>
          </a:prstGeom>
          <a:noFill/>
        </p:spPr>
        <p:txBody>
          <a:bodyPr wrap="square">
            <a:spAutoFit/>
          </a:bodyPr>
          <a:lstStyle/>
          <a:p>
            <a:r>
              <a:rPr lang="zh-TW" altLang="en-US" sz="2400" b="0" dirty="0">
                <a:solidFill>
                  <a:srgbClr val="D6006F"/>
                </a:solidFill>
                <a:latin typeface="Calibri"/>
                <a:ea typeface="微軟正黑體"/>
                <a:cs typeface="Calibri"/>
              </a:rPr>
              <a:t>位移 ÷ 時間 </a:t>
            </a:r>
            <a:r>
              <a:rPr lang="en-US" altLang="zh-TW" sz="2400" b="0" dirty="0">
                <a:solidFill>
                  <a:srgbClr val="D6006F"/>
                </a:solidFill>
                <a:latin typeface="Calibri"/>
                <a:ea typeface="微軟正黑體"/>
                <a:cs typeface="Calibri"/>
              </a:rPr>
              <a:t>=</a:t>
            </a:r>
            <a:r>
              <a:rPr lang="zh-TW" altLang="en-US" sz="2400" b="0" dirty="0">
                <a:solidFill>
                  <a:srgbClr val="D6006F"/>
                </a:solidFill>
                <a:latin typeface="Calibri"/>
                <a:ea typeface="微軟正黑體"/>
                <a:cs typeface="Calibri"/>
              </a:rPr>
              <a:t>向量</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(d) 平均速度（t = 0 → 4 s）</a:t>
            </a:r>
          </a:p>
        </p:txBody>
      </p:sp>
      <p:cxnSp>
        <p:nvCxnSpPr>
          <p:cNvPr id="11" name="L11"/>
          <p:cNvCxnSpPr/>
          <p:nvPr/>
        </p:nvCxnSpPr>
        <p:spPr>
          <a:xfrm>
            <a:off x="5486400" y="2514600"/>
            <a:ext cx="2651760" cy="0"/>
          </a:xfrm>
          <a:prstGeom prst="line">
            <a:avLst/>
          </a:prstGeom>
          <a:ln w="15875">
            <a:solidFill>
              <a:srgbClr val="2B3050"/>
            </a:solidFill>
            <a:tailEnd type="triangle" w="med" len="med"/>
          </a:ln>
        </p:spPr>
      </p:cxnSp>
      <p:cxnSp>
        <p:nvCxnSpPr>
          <p:cNvPr id="12" name="L12"/>
          <p:cNvCxnSpPr/>
          <p:nvPr/>
        </p:nvCxnSpPr>
        <p:spPr>
          <a:xfrm flipV="1">
            <a:off x="6675120" y="1371600"/>
            <a:ext cx="0" cy="2560320"/>
          </a:xfrm>
          <a:prstGeom prst="line">
            <a:avLst/>
          </a:prstGeom>
          <a:ln w="15875">
            <a:solidFill>
              <a:srgbClr val="2B3050"/>
            </a:solidFill>
            <a:tailEnd type="triangle" w="med" len="med"/>
          </a:ln>
        </p:spPr>
      </p:cxnSp>
      <p:sp>
        <p:nvSpPr>
          <p:cNvPr id="13" name="T13"/>
          <p:cNvSpPr txBox="1"/>
          <p:nvPr/>
        </p:nvSpPr>
        <p:spPr>
          <a:xfrm>
            <a:off x="8092440" y="2331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6720840" y="11887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S15"/>
          <p:cNvSpPr/>
          <p:nvPr/>
        </p:nvSpPr>
        <p:spPr>
          <a:xfrm>
            <a:off x="6629400" y="2468880"/>
            <a:ext cx="91440" cy="91440"/>
          </a:xfrm>
          <a:prstGeom prst="ellipse">
            <a:avLst/>
          </a:prstGeom>
          <a:solidFill>
            <a:srgbClr val="2B3050"/>
          </a:solidFill>
          <a:ln>
            <a:noFill/>
          </a:ln>
        </p:spPr>
        <p:txBody>
          <a:bodyPr/>
          <a:lstStyle/>
          <a:p>
            <a:endParaRPr lang="zh-TW" altLang="en-US"/>
          </a:p>
        </p:txBody>
      </p:sp>
      <p:sp>
        <p:nvSpPr>
          <p:cNvPr id="16" name="T16"/>
          <p:cNvSpPr txBox="1"/>
          <p:nvPr/>
        </p:nvSpPr>
        <p:spPr>
          <a:xfrm>
            <a:off x="6263640" y="25146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t>
            </a:r>
            <a:endParaRPr lang="zh-TW" sz="2400"/>
          </a:p>
        </p:txBody>
      </p:sp>
      <p:sp>
        <p:nvSpPr>
          <p:cNvPr id="17" name="S17"/>
          <p:cNvSpPr/>
          <p:nvPr/>
        </p:nvSpPr>
        <p:spPr>
          <a:xfrm>
            <a:off x="7534656" y="1728216"/>
            <a:ext cx="109728" cy="109728"/>
          </a:xfrm>
          <a:prstGeom prst="ellipse">
            <a:avLst/>
          </a:prstGeom>
          <a:solidFill>
            <a:srgbClr val="D6006F"/>
          </a:solidFill>
          <a:ln>
            <a:noFill/>
          </a:ln>
        </p:spPr>
        <p:txBody>
          <a:bodyPr/>
          <a:lstStyle/>
          <a:p>
            <a:endParaRPr lang="zh-TW" altLang="en-US"/>
          </a:p>
        </p:txBody>
      </p:sp>
      <p:sp>
        <p:nvSpPr>
          <p:cNvPr id="18" name="T18"/>
          <p:cNvSpPr txBox="1"/>
          <p:nvPr/>
        </p:nvSpPr>
        <p:spPr>
          <a:xfrm>
            <a:off x="7635240" y="1371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A</a:t>
            </a:r>
            <a:endParaRPr lang="zh-TW" sz="2400"/>
          </a:p>
        </p:txBody>
      </p:sp>
      <p:sp>
        <p:nvSpPr>
          <p:cNvPr id="19" name="S19"/>
          <p:cNvSpPr/>
          <p:nvPr/>
        </p:nvSpPr>
        <p:spPr>
          <a:xfrm>
            <a:off x="6620256" y="3557016"/>
            <a:ext cx="109728" cy="109728"/>
          </a:xfrm>
          <a:prstGeom prst="ellipse">
            <a:avLst/>
          </a:prstGeom>
          <a:solidFill>
            <a:srgbClr val="D6006F"/>
          </a:solidFill>
          <a:ln>
            <a:noFill/>
          </a:ln>
        </p:spPr>
        <p:txBody>
          <a:bodyPr/>
          <a:lstStyle/>
          <a:p>
            <a:endParaRPr lang="zh-TW" altLang="en-US"/>
          </a:p>
        </p:txBody>
      </p:sp>
      <p:sp>
        <p:nvSpPr>
          <p:cNvPr id="20" name="T20"/>
          <p:cNvSpPr txBox="1"/>
          <p:nvPr/>
        </p:nvSpPr>
        <p:spPr>
          <a:xfrm>
            <a:off x="6766560" y="3383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B</a:t>
            </a:r>
            <a:endParaRPr lang="zh-TW" sz="2400"/>
          </a:p>
        </p:txBody>
      </p:sp>
      <p:sp>
        <p:nvSpPr>
          <p:cNvPr id="21" name="P21"/>
          <p:cNvSpPr/>
          <p:nvPr/>
        </p:nvSpPr>
        <p:spPr>
          <a:xfrm>
            <a:off x="6675120" y="1783080"/>
            <a:ext cx="914400" cy="1828800"/>
          </a:xfrm>
          <a:custGeom>
            <a:avLst/>
            <a:gdLst/>
            <a:ahLst/>
            <a:cxnLst/>
            <a:rect l="0" t="0" r="r" b="b"/>
            <a:pathLst>
              <a:path w="914400" h="1828800">
                <a:moveTo>
                  <a:pt x="0" y="731520"/>
                </a:moveTo>
                <a:lnTo>
                  <a:pt x="914400" y="0"/>
                </a:lnTo>
                <a:lnTo>
                  <a:pt x="18288" y="1828800"/>
                </a:lnTo>
              </a:path>
            </a:pathLst>
          </a:custGeom>
          <a:noFill/>
          <a:ln w="19050">
            <a:solidFill>
              <a:srgbClr val="8A8F9C"/>
            </a:solidFill>
            <a:prstDash val="dash"/>
          </a:ln>
        </p:spPr>
        <p:txBody>
          <a:bodyPr/>
          <a:lstStyle/>
          <a:p>
            <a:endParaRPr lang="zh-TW" altLang="en-US"/>
          </a:p>
        </p:txBody>
      </p:sp>
      <p:cxnSp>
        <p:nvCxnSpPr>
          <p:cNvPr id="22" name="L22"/>
          <p:cNvCxnSpPr/>
          <p:nvPr/>
        </p:nvCxnSpPr>
        <p:spPr>
          <a:xfrm>
            <a:off x="6675120" y="2514600"/>
            <a:ext cx="0" cy="1060704"/>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23" name="T23"/>
              <p:cNvSpPr txBox="1"/>
              <p:nvPr/>
            </p:nvSpPr>
            <p:spPr>
              <a:xfrm>
                <a:off x="365760" y="868680"/>
                <a:ext cx="539496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起點在原點：</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0</m:t>
                    </m:r>
                  </m:oMath>
                </a14:m>
                <a:endParaRPr lang="zh-TW" sz="2400"/>
              </a:p>
            </p:txBody>
          </p:sp>
        </mc:Choice>
        <mc:Fallback xmlns="">
          <p:pic>
            <p:nvPicPr>
              <p:cNvPr id="23" name="F23"/>
              <p:cNvPicPr/>
              <p:nvPr/>
            </p:nvPicPr>
            <p:blipFill>
              <a:blip r:embed="rId2"/>
              <a:stretch>
                <a:fillRect/>
              </a:stretch>
            </p:blipFill>
            <p:spPr>
              <a:xfrm>
                <a:off x="365760" y="868680"/>
                <a:ext cx="53949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4" name="T24"/>
              <p:cNvSpPr txBox="1"/>
              <p:nvPr/>
            </p:nvSpPr>
            <p:spPr>
              <a:xfrm>
                <a:off x="365760" y="1371600"/>
                <a:ext cx="53949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1">
                              <a:solidFill>
                                <a:srgbClr val="2B3050"/>
                              </a:solidFill>
                              <a:latin typeface="Cambria Math" panose="02040503050406030204" pitchFamily="18" charset="0"/>
                              <a:ea typeface="Cambria Math"/>
                            </a:rPr>
                            <m:t>𝐵</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−2.4</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oMath>
                  </m:oMathPara>
                </a14:m>
                <a:endParaRPr lang="zh-TW" sz="2400"/>
              </a:p>
            </p:txBody>
          </p:sp>
        </mc:Choice>
        <mc:Fallback xmlns="">
          <p:pic>
            <p:nvPicPr>
              <p:cNvPr id="24" name="F24"/>
              <p:cNvPicPr/>
              <p:nvPr/>
            </p:nvPicPr>
            <p:blipFill>
              <a:blip r:embed="rId3"/>
              <a:stretch>
                <a:fillRect/>
              </a:stretch>
            </p:blipFill>
            <p:spPr>
              <a:xfrm>
                <a:off x="365760" y="1371600"/>
                <a:ext cx="53949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5" name="T25"/>
              <p:cNvSpPr txBox="1"/>
              <p:nvPr/>
            </p:nvSpPr>
            <p:spPr>
              <a:xfrm>
                <a:off x="365760" y="1920240"/>
                <a:ext cx="539496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4 − 0 = 4 </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25" name="F25"/>
              <p:cNvPicPr/>
              <p:nvPr/>
            </p:nvPicPr>
            <p:blipFill>
              <a:blip r:embed="rId4"/>
              <a:stretch>
                <a:fillRect/>
              </a:stretch>
            </p:blipFill>
            <p:spPr>
              <a:xfrm>
                <a:off x="365760" y="1920240"/>
                <a:ext cx="53949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6" name="T26"/>
              <p:cNvSpPr txBox="1"/>
              <p:nvPr/>
            </p:nvSpPr>
            <p:spPr>
              <a:xfrm>
                <a:off x="365760" y="2423160"/>
                <a:ext cx="539496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−2.4</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num>
                        <m:den>
                          <m:r>
                            <a:rPr lang="en-US" altLang="zh-TW" sz="2400" b="0" i="0">
                              <a:solidFill>
                                <a:srgbClr val="2B3050"/>
                              </a:solidFill>
                              <a:latin typeface="Cambria Math" panose="02040503050406030204" pitchFamily="18" charset="0"/>
                              <a:ea typeface="Cambria Math"/>
                            </a:rPr>
                            <m:t>4</m:t>
                          </m:r>
                        </m:den>
                      </m:f>
                      <m:r>
                        <a:rPr lang="en-US" altLang="zh-TW" sz="2400" b="0" i="0">
                          <a:solidFill>
                            <a:srgbClr val="2B3050"/>
                          </a:solidFill>
                          <a:latin typeface="Cambria Math" panose="02040503050406030204" pitchFamily="18" charset="0"/>
                          <a:ea typeface="Cambria Math"/>
                        </a:rPr>
                        <m:t> = −0.6</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r>
                        <a:rPr lang="en-US" altLang="zh-TW" sz="2400" b="0" i="0">
                          <a:solidFill>
                            <a:srgbClr val="2B3050"/>
                          </a:solidFill>
                          <a:latin typeface="Cambria Math" panose="02040503050406030204" pitchFamily="18" charset="0"/>
                          <a:ea typeface="Cambria Math"/>
                        </a:rPr>
                        <m:t>)</m:t>
                      </m:r>
                    </m:oMath>
                  </m:oMathPara>
                </a14:m>
                <a:endParaRPr lang="zh-TW" sz="2400"/>
              </a:p>
            </p:txBody>
          </p:sp>
        </mc:Choice>
        <mc:Fallback xmlns="">
          <p:pic>
            <p:nvPicPr>
              <p:cNvPr id="26" name="F26"/>
              <p:cNvPicPr/>
              <p:nvPr/>
            </p:nvPicPr>
            <p:blipFill>
              <a:blip r:embed="rId5"/>
              <a:stretch>
                <a:fillRect/>
              </a:stretch>
            </p:blipFill>
            <p:spPr>
              <a:xfrm>
                <a:off x="365760" y="2423160"/>
                <a:ext cx="5394960" cy="822960"/>
              </a:xfrm>
              <a:prstGeom prst="rect">
                <a:avLst/>
              </a:prstGeom>
              <a:noFill/>
              <a:ln>
                <a:noFill/>
              </a:ln>
            </p:spPr>
          </p:pic>
        </mc:Fallback>
      </mc:AlternateContent>
      <p:sp>
        <p:nvSpPr>
          <p:cNvPr id="27" name="T27"/>
          <p:cNvSpPr txBox="1"/>
          <p:nvPr/>
        </p:nvSpPr>
        <p:spPr>
          <a:xfrm>
            <a:off x="365760" y="3429000"/>
            <a:ext cx="5394960" cy="105156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實際路線 O→A→B（虛線）</a:t>
            </a:r>
            <a:endParaRPr lang="zh-TW" sz="2400"/>
          </a:p>
          <a:p>
            <a:pPr algn="l">
              <a:lnSpc>
                <a:spcPct val="100000"/>
              </a:lnSpc>
              <a:buNone/>
            </a:pPr>
            <a:r>
              <a:rPr lang="zh-TW" altLang="en-US" sz="2400" b="0" dirty="0">
                <a:solidFill>
                  <a:srgbClr val="2B3050"/>
                </a:solidFill>
                <a:latin typeface="Calibri"/>
                <a:ea typeface="微軟正黑體"/>
                <a:cs typeface="Calibri"/>
              </a:rPr>
              <a:t>平均速度只看頭尾 O→B</a:t>
            </a:r>
            <a:endParaRPr lang="zh-TW" sz="2400"/>
          </a:p>
        </p:txBody>
      </p:sp>
      <p:sp>
        <p:nvSpPr>
          <p:cNvPr id="4" name="文字方塊 3">
            <a:extLst>
              <a:ext uri="{FF2B5EF4-FFF2-40B4-BE49-F238E27FC236}">
                <a16:creationId xmlns:a16="http://schemas.microsoft.com/office/drawing/2014/main" id="{BFD42FE6-543E-0716-C4AF-539D7FB01A11}"/>
              </a:ext>
            </a:extLst>
          </p:cNvPr>
          <p:cNvSpPr txBox="1"/>
          <p:nvPr/>
        </p:nvSpPr>
        <p:spPr>
          <a:xfrm>
            <a:off x="559254" y="4468507"/>
            <a:ext cx="4623706" cy="369332"/>
          </a:xfrm>
          <a:prstGeom prst="rect">
            <a:avLst/>
          </a:prstGeom>
          <a:noFill/>
        </p:spPr>
        <p:txBody>
          <a:bodyPr wrap="square">
            <a:spAutoFit/>
          </a:bodyPr>
          <a:lstStyle/>
          <a:p>
            <a:r>
              <a:rPr lang="zh-TW" altLang="zh-TW" dirty="0"/>
              <a:t>跟出發時相比，最後移到哪裡？</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2-13　本題用到的公式</a:t>
            </a:r>
          </a:p>
        </p:txBody>
      </p:sp>
      <p:sp>
        <p:nvSpPr>
          <p:cNvPr id="11" name="T11"/>
          <p:cNvSpPr txBox="1"/>
          <p:nvPr/>
        </p:nvSpPr>
        <p:spPr>
          <a:xfrm>
            <a:off x="365760" y="896112"/>
            <a:ext cx="2103120" cy="7040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位移</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7040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0">
                              <a:solidFill>
                                <a:srgbClr val="2B3050"/>
                              </a:solidFill>
                              <a:latin typeface="Cambria Math" panose="02040503050406030204" pitchFamily="18" charset="0"/>
                              <a:ea typeface="Cambria Math"/>
                            </a:rPr>
                            <m:t>2</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0">
                              <a:solidFill>
                                <a:srgbClr val="2B3050"/>
                              </a:solidFill>
                              <a:latin typeface="Cambria Math" panose="02040503050406030204" pitchFamily="18" charset="0"/>
                              <a:ea typeface="Cambria Math"/>
                            </a:rPr>
                            <m:t>1</m:t>
                          </m:r>
                        </m:sub>
                      </m:sSub>
                    </m:oMath>
                  </m:oMathPara>
                </a14:m>
                <a:endParaRPr lang="zh-TW" sz="2400"/>
              </a:p>
              <a:p>
                <a:pPr algn="l">
                  <a:lnSpc>
                    <a:spcPct val="100000"/>
                  </a:lnSpc>
                  <a:buNone/>
                </a:pPr>
                <a:r>
                  <a:rPr lang="zh-TW" altLang="en-US" sz="2400" b="0" dirty="0">
                    <a:solidFill>
                      <a:srgbClr val="2B3050"/>
                    </a:solidFill>
                    <a:latin typeface="Calibri"/>
                    <a:ea typeface="微軟正黑體"/>
                    <a:cs typeface="Calibri"/>
                  </a:rPr>
                  <a:t>　分量各自相減</a:t>
                </a:r>
                <a:endParaRPr lang="zh-TW" sz="2400"/>
              </a:p>
            </p:txBody>
          </p:sp>
        </mc:Choice>
        <mc:Fallback xmlns="">
          <p:pic>
            <p:nvPicPr>
              <p:cNvPr id="12" name="F12"/>
              <p:cNvPicPr/>
              <p:nvPr/>
            </p:nvPicPr>
            <p:blipFill>
              <a:blip r:embed="rId2"/>
              <a:stretch>
                <a:fillRect/>
              </a:stretch>
            </p:blipFill>
            <p:spPr>
              <a:xfrm>
                <a:off x="2560320" y="896112"/>
                <a:ext cx="5760720" cy="704088"/>
              </a:xfrm>
              <a:prstGeom prst="roundRect">
                <a:avLst/>
              </a:prstGeom>
              <a:solidFill>
                <a:srgbClr val="E8F4F6"/>
              </a:solidFill>
              <a:ln>
                <a:noFill/>
              </a:ln>
            </p:spPr>
          </p:pic>
        </mc:Fallback>
      </mc:AlternateContent>
      <p:sp>
        <p:nvSpPr>
          <p:cNvPr id="13" name="T13"/>
          <p:cNvSpPr txBox="1"/>
          <p:nvPr/>
        </p:nvSpPr>
        <p:spPr>
          <a:xfrm>
            <a:off x="365760" y="1673352"/>
            <a:ext cx="2103120" cy="8412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平均速度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673352"/>
                <a:ext cx="5760720" cy="8412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oMath>
                  </m:oMathPara>
                </a14:m>
                <a:endParaRPr lang="zh-TW" sz="2400"/>
              </a:p>
            </p:txBody>
          </p:sp>
        </mc:Choice>
        <mc:Fallback xmlns="">
          <p:pic>
            <p:nvPicPr>
              <p:cNvPr id="14" name="F14"/>
              <p:cNvPicPr/>
              <p:nvPr/>
            </p:nvPicPr>
            <p:blipFill>
              <a:blip r:embed="rId3"/>
              <a:stretch>
                <a:fillRect/>
              </a:stretch>
            </p:blipFill>
            <p:spPr>
              <a:xfrm>
                <a:off x="2560320" y="1673352"/>
                <a:ext cx="5760720" cy="841248"/>
              </a:xfrm>
              <a:prstGeom prst="roundRect">
                <a:avLst/>
              </a:prstGeom>
              <a:solidFill>
                <a:srgbClr val="E8F4F6"/>
              </a:solidFill>
              <a:ln>
                <a:noFill/>
              </a:ln>
            </p:spPr>
          </p:pic>
        </mc:Fallback>
      </mc:AlternateContent>
      <p:sp>
        <p:nvSpPr>
          <p:cNvPr id="15" name="T15"/>
          <p:cNvSpPr txBox="1"/>
          <p:nvPr/>
        </p:nvSpPr>
        <p:spPr>
          <a:xfrm>
            <a:off x="365760" y="2587752"/>
            <a:ext cx="2103120" cy="7498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向量大小</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587752"/>
                <a:ext cx="5760720" cy="7498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𝐴</m:t>
                          </m:r>
                        </m:e>
                      </m:acc>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𝐴</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𝐴</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16" name="F16"/>
              <p:cNvPicPr/>
              <p:nvPr/>
            </p:nvPicPr>
            <p:blipFill>
              <a:blip r:embed="rId4"/>
              <a:stretch>
                <a:fillRect/>
              </a:stretch>
            </p:blipFill>
            <p:spPr>
              <a:xfrm>
                <a:off x="2560320" y="2587752"/>
                <a:ext cx="5760720" cy="749808"/>
              </a:xfrm>
              <a:prstGeom prst="roundRect">
                <a:avLst/>
              </a:prstGeom>
              <a:solidFill>
                <a:srgbClr val="E8F4F6"/>
              </a:solidFill>
              <a:ln>
                <a:noFill/>
              </a:ln>
            </p:spPr>
          </p:pic>
        </mc:Fallback>
      </mc:AlternateContent>
      <p:sp>
        <p:nvSpPr>
          <p:cNvPr id="17" name="T17"/>
          <p:cNvSpPr txBox="1"/>
          <p:nvPr/>
        </p:nvSpPr>
        <p:spPr>
          <a:xfrm>
            <a:off x="365760" y="3410712"/>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提醒</a:t>
            </a:r>
            <a:endParaRPr lang="zh-TW" sz="2400"/>
          </a:p>
        </p:txBody>
      </p:sp>
      <p:sp>
        <p:nvSpPr>
          <p:cNvPr id="18" name="T18"/>
          <p:cNvSpPr txBox="1"/>
          <p:nvPr/>
        </p:nvSpPr>
        <p:spPr>
          <a:xfrm>
            <a:off x="2560320" y="3410712"/>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本題不用微分：平均值只需頭、尾兩點</a:t>
            </a:r>
            <a:endParaRPr lang="zh-TW" sz="2400"/>
          </a:p>
        </p:txBody>
      </p:sp>
      <p:sp>
        <p:nvSpPr>
          <p:cNvPr id="19" name="T19"/>
          <p:cNvSpPr txBox="1"/>
          <p:nvPr/>
        </p:nvSpPr>
        <p:spPr>
          <a:xfrm>
            <a:off x="365760" y="4142232"/>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42232"/>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平均看頭尾，中間路線不管</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讀題</a:t>
            </a:r>
          </a:p>
        </p:txBody>
      </p:sp>
      <p:sp>
        <p:nvSpPr>
          <p:cNvPr id="11" name="T11"/>
          <p:cNvSpPr txBox="1"/>
          <p:nvPr/>
        </p:nvSpPr>
        <p:spPr>
          <a:xfrm>
            <a:off x="365760" y="868680"/>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質點從 A 點「靜止」出發</a:t>
            </a:r>
            <a:endParaRPr lang="zh-TW" sz="2400"/>
          </a:p>
        </p:txBody>
      </p:sp>
      <p:sp>
        <p:nvSpPr>
          <p:cNvPr id="12" name="T12"/>
          <p:cNvSpPr txBox="1"/>
          <p:nvPr/>
        </p:nvSpPr>
        <p:spPr>
          <a:xfrm>
            <a:off x="365760" y="1307592"/>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10 s 後到 B：</a:t>
            </a:r>
            <a:endParaRPr lang="zh-TW" sz="2400"/>
          </a:p>
        </p:txBody>
      </p:sp>
      <p:sp>
        <p:nvSpPr>
          <p:cNvPr id="13" name="T13"/>
          <p:cNvSpPr txBox="1"/>
          <p:nvPr/>
        </p:nvSpPr>
        <p:spPr>
          <a:xfrm>
            <a:off x="365760" y="1746504"/>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　速度 100 m/s，向右</a:t>
            </a:r>
            <a:endParaRPr lang="zh-TW" sz="2400"/>
          </a:p>
        </p:txBody>
      </p:sp>
      <p:sp>
        <p:nvSpPr>
          <p:cNvPr id="14" name="T14"/>
          <p:cNvSpPr txBox="1"/>
          <p:nvPr/>
        </p:nvSpPr>
        <p:spPr>
          <a:xfrm>
            <a:off x="365760" y="2185416"/>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再 16 s 後到 C：</a:t>
            </a:r>
            <a:endParaRPr lang="zh-TW" sz="2400"/>
          </a:p>
        </p:txBody>
      </p:sp>
      <p:sp>
        <p:nvSpPr>
          <p:cNvPr id="15" name="T15"/>
          <p:cNvSpPr txBox="1"/>
          <p:nvPr/>
        </p:nvSpPr>
        <p:spPr>
          <a:xfrm>
            <a:off x="365760" y="2624328"/>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速度 240 m/s，向左上 30°</a:t>
            </a:r>
            <a:endParaRPr lang="zh-TW" sz="2400"/>
          </a:p>
        </p:txBody>
      </p:sp>
      <p:sp>
        <p:nvSpPr>
          <p:cNvPr id="16" name="T16"/>
          <p:cNvSpPr txBox="1"/>
          <p:nvPr/>
        </p:nvSpPr>
        <p:spPr>
          <a:xfrm>
            <a:off x="365760" y="306324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a:t>
            </a:r>
            <a:r>
              <a:rPr lang="zh-TW" altLang="en-US" sz="2400" b="0" dirty="0">
                <a:solidFill>
                  <a:srgbClr val="2B3050"/>
                </a:solidFill>
                <a:latin typeface="Calibri"/>
                <a:ea typeface="微軟正黑體"/>
                <a:cs typeface="Calibri"/>
              </a:rPr>
              <a:t>(a) A→B 平均加速度</a:t>
            </a:r>
            <a:endParaRPr lang="zh-TW" sz="2400"/>
          </a:p>
        </p:txBody>
      </p:sp>
      <p:sp>
        <p:nvSpPr>
          <p:cNvPr id="17" name="T17"/>
          <p:cNvSpPr txBox="1"/>
          <p:nvPr/>
        </p:nvSpPr>
        <p:spPr>
          <a:xfrm>
            <a:off x="365760" y="3520440"/>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(b) B→C 平均加速度</a:t>
            </a:r>
            <a:endParaRPr lang="zh-TW" sz="2400"/>
          </a:p>
        </p:txBody>
      </p:sp>
      <p:sp>
        <p:nvSpPr>
          <p:cNvPr id="18" name="T18"/>
          <p:cNvSpPr txBox="1"/>
          <p:nvPr/>
        </p:nvSpPr>
        <p:spPr>
          <a:xfrm>
            <a:off x="365760" y="3959352"/>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（大小及方向）</a:t>
            </a:r>
            <a:endParaRPr lang="zh-TW" sz="2400"/>
          </a:p>
        </p:txBody>
      </p:sp>
      <p:sp>
        <p:nvSpPr>
          <p:cNvPr id="19" name="P19"/>
          <p:cNvSpPr/>
          <p:nvPr/>
        </p:nvSpPr>
        <p:spPr>
          <a:xfrm>
            <a:off x="5120640" y="2408506"/>
            <a:ext cx="2743200" cy="1706294"/>
          </a:xfrm>
          <a:custGeom>
            <a:avLst/>
            <a:gdLst/>
            <a:ahLst/>
            <a:cxnLst/>
            <a:rect l="0" t="0" r="r" b="b"/>
            <a:pathLst>
              <a:path w="2743200" h="1706294">
                <a:moveTo>
                  <a:pt x="0" y="1706294"/>
                </a:moveTo>
                <a:lnTo>
                  <a:pt x="1828800" y="1706294"/>
                </a:lnTo>
                <a:lnTo>
                  <a:pt x="1828800" y="1706294"/>
                </a:lnTo>
                <a:lnTo>
                  <a:pt x="1908495" y="1702814"/>
                </a:lnTo>
                <a:lnTo>
                  <a:pt x="1987584" y="1692402"/>
                </a:lnTo>
                <a:lnTo>
                  <a:pt x="2065464" y="1675136"/>
                </a:lnTo>
                <a:lnTo>
                  <a:pt x="2141543" y="1651149"/>
                </a:lnTo>
                <a:lnTo>
                  <a:pt x="2215242" y="1620621"/>
                </a:lnTo>
                <a:lnTo>
                  <a:pt x="2286000" y="1583787"/>
                </a:lnTo>
                <a:lnTo>
                  <a:pt x="2353278" y="1540926"/>
                </a:lnTo>
                <a:lnTo>
                  <a:pt x="2416565" y="1492365"/>
                </a:lnTo>
                <a:lnTo>
                  <a:pt x="2475378" y="1438472"/>
                </a:lnTo>
                <a:lnTo>
                  <a:pt x="2529271" y="1379659"/>
                </a:lnTo>
                <a:lnTo>
                  <a:pt x="2577833" y="1316372"/>
                </a:lnTo>
                <a:lnTo>
                  <a:pt x="2620694" y="1249094"/>
                </a:lnTo>
                <a:lnTo>
                  <a:pt x="2657528" y="1178336"/>
                </a:lnTo>
                <a:lnTo>
                  <a:pt x="2688055" y="1104637"/>
                </a:lnTo>
                <a:lnTo>
                  <a:pt x="2712043" y="1028558"/>
                </a:lnTo>
                <a:lnTo>
                  <a:pt x="2729308" y="950678"/>
                </a:lnTo>
                <a:lnTo>
                  <a:pt x="2739720" y="871589"/>
                </a:lnTo>
                <a:lnTo>
                  <a:pt x="2743200" y="791894"/>
                </a:lnTo>
                <a:lnTo>
                  <a:pt x="2739720" y="712198"/>
                </a:lnTo>
                <a:lnTo>
                  <a:pt x="2729308" y="633110"/>
                </a:lnTo>
                <a:lnTo>
                  <a:pt x="2712043" y="555229"/>
                </a:lnTo>
                <a:lnTo>
                  <a:pt x="2688055" y="479150"/>
                </a:lnTo>
                <a:lnTo>
                  <a:pt x="2657528" y="405451"/>
                </a:lnTo>
                <a:lnTo>
                  <a:pt x="2620694" y="334694"/>
                </a:lnTo>
                <a:lnTo>
                  <a:pt x="2577833" y="267415"/>
                </a:lnTo>
                <a:lnTo>
                  <a:pt x="2529271" y="204129"/>
                </a:lnTo>
                <a:lnTo>
                  <a:pt x="2475378" y="145315"/>
                </a:lnTo>
                <a:lnTo>
                  <a:pt x="2416565" y="91423"/>
                </a:lnTo>
                <a:lnTo>
                  <a:pt x="2353278" y="42861"/>
                </a:lnTo>
                <a:lnTo>
                  <a:pt x="2286000" y="0"/>
                </a:lnTo>
              </a:path>
            </a:pathLst>
          </a:custGeom>
          <a:noFill/>
          <a:ln w="25400">
            <a:solidFill>
              <a:srgbClr val="2B3050"/>
            </a:solidFill>
          </a:ln>
        </p:spPr>
        <p:txBody>
          <a:bodyPr/>
          <a:lstStyle/>
          <a:p>
            <a:endParaRPr lang="zh-TW" altLang="en-US"/>
          </a:p>
        </p:txBody>
      </p:sp>
      <p:sp>
        <p:nvSpPr>
          <p:cNvPr id="20" name="S20"/>
          <p:cNvSpPr/>
          <p:nvPr/>
        </p:nvSpPr>
        <p:spPr>
          <a:xfrm>
            <a:off x="5065776" y="4059936"/>
            <a:ext cx="109728" cy="109728"/>
          </a:xfrm>
          <a:prstGeom prst="ellipse">
            <a:avLst/>
          </a:prstGeom>
          <a:solidFill>
            <a:srgbClr val="2B3050"/>
          </a:solidFill>
          <a:ln>
            <a:noFill/>
          </a:ln>
        </p:spPr>
        <p:txBody>
          <a:bodyPr/>
          <a:lstStyle/>
          <a:p>
            <a:endParaRPr lang="zh-TW" altLang="en-US"/>
          </a:p>
        </p:txBody>
      </p:sp>
      <p:sp>
        <p:nvSpPr>
          <p:cNvPr id="21" name="T21"/>
          <p:cNvSpPr txBox="1"/>
          <p:nvPr/>
        </p:nvSpPr>
        <p:spPr>
          <a:xfrm>
            <a:off x="4983480" y="3657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sp>
        <p:nvSpPr>
          <p:cNvPr id="22" name="S22"/>
          <p:cNvSpPr/>
          <p:nvPr/>
        </p:nvSpPr>
        <p:spPr>
          <a:xfrm>
            <a:off x="6894576" y="4059936"/>
            <a:ext cx="109728" cy="109728"/>
          </a:xfrm>
          <a:prstGeom prst="ellipse">
            <a:avLst/>
          </a:prstGeom>
          <a:solidFill>
            <a:srgbClr val="2B3050"/>
          </a:solidFill>
          <a:ln>
            <a:noFill/>
          </a:ln>
        </p:spPr>
        <p:txBody>
          <a:bodyPr/>
          <a:lstStyle/>
          <a:p>
            <a:endParaRPr lang="zh-TW" altLang="en-US"/>
          </a:p>
        </p:txBody>
      </p:sp>
      <p:sp>
        <p:nvSpPr>
          <p:cNvPr id="23" name="T23"/>
          <p:cNvSpPr txBox="1"/>
          <p:nvPr/>
        </p:nvSpPr>
        <p:spPr>
          <a:xfrm>
            <a:off x="6583680" y="36576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B</a:t>
            </a:r>
            <a:endParaRPr lang="zh-TW" sz="2400"/>
          </a:p>
        </p:txBody>
      </p:sp>
      <p:sp>
        <p:nvSpPr>
          <p:cNvPr id="24" name="S24"/>
          <p:cNvSpPr/>
          <p:nvPr/>
        </p:nvSpPr>
        <p:spPr>
          <a:xfrm>
            <a:off x="7351776" y="2353642"/>
            <a:ext cx="109728" cy="109728"/>
          </a:xfrm>
          <a:prstGeom prst="ellipse">
            <a:avLst/>
          </a:prstGeom>
          <a:solidFill>
            <a:srgbClr val="2B3050"/>
          </a:solidFill>
          <a:ln>
            <a:noFill/>
          </a:ln>
        </p:spPr>
        <p:txBody>
          <a:bodyPr/>
          <a:lstStyle/>
          <a:p>
            <a:endParaRPr lang="zh-TW" altLang="en-US"/>
          </a:p>
        </p:txBody>
      </p:sp>
      <p:sp>
        <p:nvSpPr>
          <p:cNvPr id="25" name="T25"/>
          <p:cNvSpPr txBox="1"/>
          <p:nvPr/>
        </p:nvSpPr>
        <p:spPr>
          <a:xfrm>
            <a:off x="7498080" y="2362786"/>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C</a:t>
            </a:r>
            <a:endParaRPr lang="zh-TW" sz="2400"/>
          </a:p>
        </p:txBody>
      </p:sp>
      <p:cxnSp>
        <p:nvCxnSpPr>
          <p:cNvPr id="26" name="L26"/>
          <p:cNvCxnSpPr/>
          <p:nvPr/>
        </p:nvCxnSpPr>
        <p:spPr>
          <a:xfrm>
            <a:off x="6949440" y="4114800"/>
            <a:ext cx="685800" cy="0"/>
          </a:xfrm>
          <a:prstGeom prst="line">
            <a:avLst/>
          </a:prstGeom>
          <a:ln w="31750">
            <a:solidFill>
              <a:srgbClr val="1F8899"/>
            </a:solidFill>
            <a:tailEnd type="triangle" w="med" len="med"/>
          </a:ln>
        </p:spPr>
      </p:cxnSp>
      <p:sp>
        <p:nvSpPr>
          <p:cNvPr id="27" name="T27"/>
          <p:cNvSpPr txBox="1"/>
          <p:nvPr/>
        </p:nvSpPr>
        <p:spPr>
          <a:xfrm>
            <a:off x="7223760" y="4069080"/>
            <a:ext cx="11887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100 m/s</a:t>
            </a:r>
            <a:endParaRPr lang="zh-TW" sz="2400"/>
          </a:p>
        </p:txBody>
      </p:sp>
      <p:cxnSp>
        <p:nvCxnSpPr>
          <p:cNvPr id="28" name="L28"/>
          <p:cNvCxnSpPr/>
          <p:nvPr/>
        </p:nvCxnSpPr>
        <p:spPr>
          <a:xfrm>
            <a:off x="6654341" y="1974166"/>
            <a:ext cx="752299" cy="434340"/>
          </a:xfrm>
          <a:prstGeom prst="line">
            <a:avLst/>
          </a:prstGeom>
          <a:ln w="31750">
            <a:solidFill>
              <a:srgbClr val="D6006F"/>
            </a:solidFill>
            <a:headEnd type="triangle" w="med" len="med"/>
          </a:ln>
        </p:spPr>
      </p:cxnSp>
      <p:cxnSp>
        <p:nvCxnSpPr>
          <p:cNvPr id="29" name="L29"/>
          <p:cNvCxnSpPr/>
          <p:nvPr/>
        </p:nvCxnSpPr>
        <p:spPr>
          <a:xfrm flipH="1">
            <a:off x="6720840" y="2408506"/>
            <a:ext cx="685800" cy="0"/>
          </a:xfrm>
          <a:prstGeom prst="line">
            <a:avLst/>
          </a:prstGeom>
          <a:ln w="12700">
            <a:solidFill>
              <a:srgbClr val="8A8F9C"/>
            </a:solidFill>
            <a:prstDash val="dash"/>
          </a:ln>
        </p:spPr>
      </p:cxnSp>
      <p:sp>
        <p:nvSpPr>
          <p:cNvPr id="30" name="T30"/>
          <p:cNvSpPr txBox="1"/>
          <p:nvPr/>
        </p:nvSpPr>
        <p:spPr>
          <a:xfrm>
            <a:off x="6334301" y="1516966"/>
            <a:ext cx="12801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240 m/s</a:t>
            </a:r>
            <a:endParaRPr lang="zh-TW" sz="2400"/>
          </a:p>
        </p:txBody>
      </p:sp>
      <p:sp>
        <p:nvSpPr>
          <p:cNvPr id="31" name="T31"/>
          <p:cNvSpPr txBox="1"/>
          <p:nvPr/>
        </p:nvSpPr>
        <p:spPr>
          <a:xfrm>
            <a:off x="6263640" y="2179906"/>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30°</a:t>
            </a:r>
            <a:endParaRPr lang="zh-TW"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平均加速度的定義是什麼？</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速度「向量」的變化 ÷ 時間</a:t>
            </a:r>
            <a:endParaRPr lang="zh-TW" sz="2400"/>
          </a:p>
        </p:txBody>
      </p:sp>
      <p:sp>
        <p:nvSpPr>
          <p:cNvPr id="15" name="S15"/>
          <p:cNvSpPr/>
          <p:nvPr/>
        </p:nvSpPr>
        <p:spPr>
          <a:xfrm>
            <a:off x="365760" y="1691640"/>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6916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6824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「靜止出發」告訴我們什麼？</a:t>
            </a:r>
            <a:endParaRPr lang="zh-TW" sz="2400"/>
          </a:p>
        </p:txBody>
      </p:sp>
      <p:sp>
        <p:nvSpPr>
          <p:cNvPr id="18" name="T18"/>
          <p:cNvSpPr txBox="1"/>
          <p:nvPr/>
        </p:nvSpPr>
        <p:spPr>
          <a:xfrm>
            <a:off x="1188720" y="20665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A 點速度 = 0</a:t>
            </a:r>
            <a:endParaRPr lang="zh-TW" sz="2400"/>
          </a:p>
        </p:txBody>
      </p:sp>
      <p:sp>
        <p:nvSpPr>
          <p:cNvPr id="19" name="S19"/>
          <p:cNvSpPr/>
          <p:nvPr/>
        </p:nvSpPr>
        <p:spPr>
          <a:xfrm>
            <a:off x="365760" y="2478024"/>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4780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4688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C 點速度怎麼寫成分量？</a:t>
            </a:r>
            <a:endParaRPr lang="zh-TW" sz="2400"/>
          </a:p>
        </p:txBody>
      </p:sp>
      <p:sp>
        <p:nvSpPr>
          <p:cNvPr id="22" name="T22"/>
          <p:cNvSpPr txBox="1"/>
          <p:nvPr/>
        </p:nvSpPr>
        <p:spPr>
          <a:xfrm>
            <a:off x="1188720" y="28529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向左：x 分量為負；向上：y 分量為正</a:t>
            </a:r>
            <a:endParaRPr lang="zh-TW" sz="2400"/>
          </a:p>
        </p:txBody>
      </p:sp>
      <p:sp>
        <p:nvSpPr>
          <p:cNvPr id="23" name="S23"/>
          <p:cNvSpPr/>
          <p:nvPr/>
        </p:nvSpPr>
        <p:spPr>
          <a:xfrm>
            <a:off x="365760" y="3264408"/>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26440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25526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可以用 (240 − 100) ÷ 16 嗎？</a:t>
            </a:r>
            <a:endParaRPr lang="zh-TW" sz="2400"/>
          </a:p>
        </p:txBody>
      </p:sp>
      <p:sp>
        <p:nvSpPr>
          <p:cNvPr id="26" name="T26"/>
          <p:cNvSpPr txBox="1"/>
          <p:nvPr/>
        </p:nvSpPr>
        <p:spPr>
          <a:xfrm>
            <a:off x="1188720" y="363931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不行！那只算到速率變化，忽略方向改變</a:t>
            </a:r>
            <a:endParaRPr lang="zh-TW" sz="2400"/>
          </a:p>
        </p:txBody>
      </p:sp>
      <p:sp>
        <p:nvSpPr>
          <p:cNvPr id="27" name="S27"/>
          <p:cNvSpPr/>
          <p:nvPr/>
        </p:nvSpPr>
        <p:spPr>
          <a:xfrm>
            <a:off x="365760" y="4050792"/>
            <a:ext cx="365760" cy="365760"/>
          </a:xfrm>
          <a:prstGeom prst="ellipse">
            <a:avLst/>
          </a:prstGeom>
          <a:solidFill>
            <a:srgbClr val="1F8899"/>
          </a:solidFill>
          <a:ln>
            <a:noFill/>
          </a:ln>
        </p:spPr>
        <p:txBody>
          <a:bodyPr/>
          <a:lstStyle/>
          <a:p>
            <a:endParaRPr lang="zh-TW" altLang="en-US"/>
          </a:p>
        </p:txBody>
      </p:sp>
      <p:sp>
        <p:nvSpPr>
          <p:cNvPr id="28" name="T28"/>
          <p:cNvSpPr txBox="1"/>
          <p:nvPr/>
        </p:nvSpPr>
        <p:spPr>
          <a:xfrm>
            <a:off x="365760" y="40507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9" name="T29"/>
          <p:cNvSpPr txBox="1"/>
          <p:nvPr/>
        </p:nvSpPr>
        <p:spPr>
          <a:xfrm>
            <a:off x="822960" y="40416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平均加速度會沿著路徑嗎？</a:t>
            </a:r>
            <a:endParaRPr lang="zh-TW" sz="2400"/>
          </a:p>
        </p:txBody>
      </p:sp>
      <p:sp>
        <p:nvSpPr>
          <p:cNvPr id="30" name="T30"/>
          <p:cNvSpPr txBox="1"/>
          <p:nvPr/>
        </p:nvSpPr>
        <p:spPr>
          <a:xfrm>
            <a:off x="1188720" y="44256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不一定，它和 Δv 同方向</a:t>
            </a:r>
            <a:endParaRPr lang="zh-TW" sz="2400"/>
          </a:p>
        </p:txBody>
      </p:sp>
      <p:pic>
        <p:nvPicPr>
          <p:cNvPr id="4" name="圖片 3" descr="The diagram shows a vector diagram with two velocities: one at 240 m/s at an angle of 30ￂﾰ, and another at 100 m/s, presumably forming a right triangle.&#10;&#10;AI 產生的內容可能不正確。">
            <a:extLst>
              <a:ext uri="{FF2B5EF4-FFF2-40B4-BE49-F238E27FC236}">
                <a16:creationId xmlns:a16="http://schemas.microsoft.com/office/drawing/2014/main" id="{E300F98F-5E50-9DE2-92EE-A23910C1155A}"/>
              </a:ext>
            </a:extLst>
          </p:cNvPr>
          <p:cNvPicPr>
            <a:picLocks noChangeAspect="1"/>
          </p:cNvPicPr>
          <p:nvPr/>
        </p:nvPicPr>
        <p:blipFill>
          <a:blip r:embed="rId2"/>
          <a:stretch>
            <a:fillRect/>
          </a:stretch>
        </p:blipFill>
        <p:spPr>
          <a:xfrm>
            <a:off x="5758493" y="768955"/>
            <a:ext cx="2024793" cy="16041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步驟 1：寫出三個速度向量</a:t>
            </a:r>
          </a:p>
        </p:txBody>
      </p:sp>
      <mc:AlternateContent xmlns:mc="http://schemas.openxmlformats.org/markup-compatibility/2006" xmlns:a14="http://schemas.microsoft.com/office/drawing/2010/main">
        <mc:Choice Requires="a14">
          <p:sp>
            <p:nvSpPr>
              <p:cNvPr id="11" name="T11"/>
              <p:cNvSpPr txBox="1"/>
              <p:nvPr/>
            </p:nvSpPr>
            <p:spPr>
              <a:xfrm>
                <a:off x="365760" y="868680"/>
                <a:ext cx="585216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 靜止：</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𝐴</m:t>
                        </m:r>
                      </m:sub>
                    </m:sSub>
                    <m:r>
                      <a:rPr lang="en-US" altLang="zh-TW" sz="2400" b="0" i="0">
                        <a:solidFill>
                          <a:srgbClr val="2B3050"/>
                        </a:solidFill>
                        <a:latin typeface="Cambria Math" panose="02040503050406030204" pitchFamily="18" charset="0"/>
                        <a:ea typeface="Cambria Math"/>
                      </a:rPr>
                      <m:t> = 0</m:t>
                    </m:r>
                  </m:oMath>
                </a14:m>
                <a:endParaRPr lang="zh-TW" sz="2400"/>
              </a:p>
            </p:txBody>
          </p:sp>
        </mc:Choice>
        <mc:Fallback xmlns="">
          <p:pic>
            <p:nvPicPr>
              <p:cNvPr id="11" name="F11"/>
              <p:cNvPicPr/>
              <p:nvPr/>
            </p:nvPicPr>
            <p:blipFill>
              <a:blip r:embed="rId2"/>
              <a:stretch>
                <a:fillRect/>
              </a:stretch>
            </p:blipFill>
            <p:spPr>
              <a:xfrm>
                <a:off x="365760" y="868680"/>
                <a:ext cx="58521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585216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B 向右：</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𝐵</m:t>
                        </m:r>
                      </m:sub>
                    </m:sSub>
                    <m:r>
                      <a:rPr lang="en-US" altLang="zh-TW" sz="2400" b="0" i="0">
                        <a:solidFill>
                          <a:srgbClr val="2B3050"/>
                        </a:solidFill>
                        <a:latin typeface="Cambria Math" panose="02040503050406030204" pitchFamily="18" charset="0"/>
                        <a:ea typeface="Cambria Math"/>
                      </a:rPr>
                      <m:t> = 100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r>
                      <a:rPr lang="en-US" altLang="zh-TW" sz="2400" b="0" i="0">
                        <a:solidFill>
                          <a:srgbClr val="2B3050"/>
                        </a:solidFill>
                        <a:latin typeface="Cambria Math" panose="02040503050406030204" pitchFamily="18" charset="0"/>
                        <a:ea typeface="Cambria Math"/>
                      </a:rPr>
                      <m:t>)</m:t>
                    </m:r>
                  </m:oMath>
                </a14:m>
                <a:endParaRPr lang="zh-TW" sz="2400"/>
              </a:p>
            </p:txBody>
          </p:sp>
        </mc:Choice>
        <mc:Fallback xmlns="">
          <p:pic>
            <p:nvPicPr>
              <p:cNvPr id="12" name="F12"/>
              <p:cNvPicPr/>
              <p:nvPr/>
            </p:nvPicPr>
            <p:blipFill>
              <a:blip r:embed="rId3"/>
              <a:stretch>
                <a:fillRect/>
              </a:stretch>
            </p:blipFill>
            <p:spPr>
              <a:xfrm>
                <a:off x="365760" y="1371600"/>
                <a:ext cx="58521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74520"/>
                <a:ext cx="585216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C：</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𝐶</m:t>
                        </m:r>
                      </m:sub>
                    </m:sSub>
                    <m:r>
                      <a:rPr lang="en-US" altLang="zh-TW" sz="2400" b="0" i="0">
                        <a:solidFill>
                          <a:srgbClr val="2B3050"/>
                        </a:solidFill>
                        <a:latin typeface="Cambria Math" panose="02040503050406030204" pitchFamily="18" charset="0"/>
                        <a:ea typeface="Cambria Math"/>
                      </a:rPr>
                      <m:t> = −240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30°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+ 240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a14:m>
                <a:endParaRPr lang="zh-TW" sz="2400" dirty="0"/>
              </a:p>
            </p:txBody>
          </p:sp>
        </mc:Choice>
        <mc:Fallback xmlns="">
          <p:pic>
            <p:nvPicPr>
              <p:cNvPr id="13" name="F13"/>
              <p:cNvPicPr/>
              <p:nvPr/>
            </p:nvPicPr>
            <p:blipFill>
              <a:blip r:embed="rId4"/>
              <a:stretch>
                <a:fillRect/>
              </a:stretch>
            </p:blipFill>
            <p:spPr>
              <a:xfrm>
                <a:off x="365760" y="1874520"/>
                <a:ext cx="58521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423160"/>
                <a:ext cx="58521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−240</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0.866</m:t>
                          </m:r>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+ 240</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0.5</m:t>
                          </m:r>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m:oMathPara>
                </a14:m>
                <a:endParaRPr lang="zh-TW" sz="2400"/>
              </a:p>
            </p:txBody>
          </p:sp>
        </mc:Choice>
        <mc:Fallback xmlns="">
          <p:pic>
            <p:nvPicPr>
              <p:cNvPr id="14" name="F14"/>
              <p:cNvPicPr/>
              <p:nvPr/>
            </p:nvPicPr>
            <p:blipFill>
              <a:blip r:embed="rId5"/>
              <a:stretch>
                <a:fillRect/>
              </a:stretch>
            </p:blipFill>
            <p:spPr>
              <a:xfrm>
                <a:off x="365760" y="2423160"/>
                <a:ext cx="58521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2971800"/>
                <a:ext cx="58521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−207.8</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+ 120</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r>
                        <a:rPr lang="en-US" altLang="zh-TW" sz="2400" b="0" i="0">
                          <a:solidFill>
                            <a:srgbClr val="D6006F"/>
                          </a:solidFill>
                          <a:latin typeface="Cambria Math" panose="02040503050406030204" pitchFamily="18" charset="0"/>
                          <a:ea typeface="Cambria Math"/>
                        </a:rPr>
                        <m:t>)</m:t>
                      </m:r>
                    </m:oMath>
                  </m:oMathPara>
                </a14:m>
                <a:endParaRPr lang="zh-TW" sz="2400" dirty="0"/>
              </a:p>
            </p:txBody>
          </p:sp>
        </mc:Choice>
        <mc:Fallback xmlns="">
          <p:pic>
            <p:nvPicPr>
              <p:cNvPr id="15" name="F15"/>
              <p:cNvPicPr/>
              <p:nvPr/>
            </p:nvPicPr>
            <p:blipFill>
              <a:blip r:embed="rId6"/>
              <a:stretch>
                <a:fillRect/>
              </a:stretch>
            </p:blipFill>
            <p:spPr>
              <a:xfrm>
                <a:off x="365760" y="2971800"/>
                <a:ext cx="5852160" cy="548640"/>
              </a:xfrm>
              <a:prstGeom prst="rect">
                <a:avLst/>
              </a:prstGeom>
              <a:noFill/>
              <a:ln>
                <a:noFill/>
              </a:ln>
            </p:spPr>
          </p:pic>
        </mc:Fallback>
      </mc:AlternateContent>
      <p:sp>
        <p:nvSpPr>
          <p:cNvPr id="16" name="T16"/>
          <p:cNvSpPr txBox="1"/>
          <p:nvPr/>
        </p:nvSpPr>
        <p:spPr>
          <a:xfrm>
            <a:off x="6217920" y="4091940"/>
            <a:ext cx="21031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C 點速度分解</a:t>
            </a:r>
            <a:endParaRPr lang="zh-TW" sz="2400" dirty="0"/>
          </a:p>
        </p:txBody>
      </p:sp>
      <p:cxnSp>
        <p:nvCxnSpPr>
          <p:cNvPr id="17" name="L17"/>
          <p:cNvCxnSpPr/>
          <p:nvPr/>
        </p:nvCxnSpPr>
        <p:spPr>
          <a:xfrm>
            <a:off x="6281928" y="2651760"/>
            <a:ext cx="1581912" cy="914400"/>
          </a:xfrm>
          <a:prstGeom prst="line">
            <a:avLst/>
          </a:prstGeom>
          <a:ln w="31750">
            <a:solidFill>
              <a:srgbClr val="D6006F"/>
            </a:solidFill>
            <a:headEnd type="triangle" w="med" len="med"/>
          </a:ln>
        </p:spPr>
      </p:cxnSp>
      <p:cxnSp>
        <p:nvCxnSpPr>
          <p:cNvPr id="18" name="L18"/>
          <p:cNvCxnSpPr/>
          <p:nvPr/>
        </p:nvCxnSpPr>
        <p:spPr>
          <a:xfrm flipH="1">
            <a:off x="6281928" y="3566160"/>
            <a:ext cx="1581912" cy="0"/>
          </a:xfrm>
          <a:prstGeom prst="line">
            <a:avLst/>
          </a:prstGeom>
          <a:ln w="25400">
            <a:solidFill>
              <a:srgbClr val="1F8899"/>
            </a:solidFill>
            <a:tailEnd type="triangle" w="med" len="med"/>
          </a:ln>
        </p:spPr>
      </p:cxnSp>
      <p:cxnSp>
        <p:nvCxnSpPr>
          <p:cNvPr id="19" name="L19"/>
          <p:cNvCxnSpPr/>
          <p:nvPr/>
        </p:nvCxnSpPr>
        <p:spPr>
          <a:xfrm flipV="1">
            <a:off x="6281928" y="2651760"/>
            <a:ext cx="0" cy="914400"/>
          </a:xfrm>
          <a:prstGeom prst="line">
            <a:avLst/>
          </a:prstGeom>
          <a:ln w="25400">
            <a:solidFill>
              <a:srgbClr val="C8901F"/>
            </a:solidFill>
            <a:tailEnd type="triangle" w="med" len="med"/>
          </a:ln>
        </p:spPr>
      </p:cxnSp>
      <p:sp>
        <p:nvSpPr>
          <p:cNvPr id="20" name="T20"/>
          <p:cNvSpPr txBox="1"/>
          <p:nvPr/>
        </p:nvSpPr>
        <p:spPr>
          <a:xfrm>
            <a:off x="6446520" y="3566160"/>
            <a:ext cx="13716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−207.8</a:t>
            </a:r>
            <a:endParaRPr lang="zh-TW" sz="2400"/>
          </a:p>
        </p:txBody>
      </p:sp>
      <p:sp>
        <p:nvSpPr>
          <p:cNvPr id="21" name="T21"/>
          <p:cNvSpPr txBox="1"/>
          <p:nvPr/>
        </p:nvSpPr>
        <p:spPr>
          <a:xfrm>
            <a:off x="5486400" y="2880360"/>
            <a:ext cx="8229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120</a:t>
            </a:r>
            <a:endParaRPr lang="zh-TW" sz="2400"/>
          </a:p>
        </p:txBody>
      </p:sp>
      <p:sp>
        <p:nvSpPr>
          <p:cNvPr id="22" name="T22"/>
          <p:cNvSpPr txBox="1"/>
          <p:nvPr/>
        </p:nvSpPr>
        <p:spPr>
          <a:xfrm>
            <a:off x="7178040" y="3154680"/>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30°</a:t>
            </a:r>
            <a:endParaRPr lang="zh-TW" sz="2400"/>
          </a:p>
        </p:txBody>
      </p:sp>
      <p:sp>
        <p:nvSpPr>
          <p:cNvPr id="23" name="T23"/>
          <p:cNvSpPr txBox="1"/>
          <p:nvPr/>
        </p:nvSpPr>
        <p:spPr>
          <a:xfrm>
            <a:off x="365760" y="3657600"/>
            <a:ext cx="5120640"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分量的正負看方向，不看角度</a:t>
            </a:r>
            <a:endParaRPr lang="zh-TW" sz="2400"/>
          </a:p>
        </p:txBody>
      </p:sp>
      <p:pic>
        <p:nvPicPr>
          <p:cNvPr id="4" name="圖片 3" descr="The diagram shows a vector diagram with two velocities: one at 240 m/s at an angle of 30ￂﾰ, and another at 100 m/s, presumably forming a right triangle.&#10;&#10;AI 產生的內容可能不正確。">
            <a:extLst>
              <a:ext uri="{FF2B5EF4-FFF2-40B4-BE49-F238E27FC236}">
                <a16:creationId xmlns:a16="http://schemas.microsoft.com/office/drawing/2014/main" id="{732FF7A0-6FCE-5631-4720-09ECF794F862}"/>
              </a:ext>
            </a:extLst>
          </p:cNvPr>
          <p:cNvPicPr>
            <a:picLocks noChangeAspect="1"/>
          </p:cNvPicPr>
          <p:nvPr/>
        </p:nvPicPr>
        <p:blipFill>
          <a:blip r:embed="rId7"/>
          <a:stretch>
            <a:fillRect/>
          </a:stretch>
        </p:blipFill>
        <p:spPr>
          <a:xfrm>
            <a:off x="6126480" y="1031255"/>
            <a:ext cx="2103120" cy="1666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(a) A → B 的平均加速度</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10 </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5986718"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𝐵</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𝐴</m:t>
                              </m:r>
                            </m:sub>
                          </m:sSub>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100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− 0</m:t>
                          </m:r>
                        </m:num>
                        <m:den>
                          <m:r>
                            <a:rPr lang="en-US" altLang="zh-TW" sz="2400" b="0" i="0">
                              <a:solidFill>
                                <a:srgbClr val="2B3050"/>
                              </a:solidFill>
                              <a:latin typeface="Cambria Math" panose="02040503050406030204" pitchFamily="18" charset="0"/>
                              <a:ea typeface="Cambria Math"/>
                            </a:rPr>
                            <m:t>10</m:t>
                          </m:r>
                        </m:den>
                      </m:f>
                    </m:oMath>
                  </m:oMathPara>
                </a14:m>
                <a:endParaRPr lang="zh-TW" sz="2400" dirty="0"/>
              </a:p>
            </p:txBody>
          </p:sp>
        </mc:Choice>
        <mc:Fallback xmlns="">
          <p:sp>
            <p:nvSpPr>
              <p:cNvPr id="12" name="T12"/>
              <p:cNvSpPr txBox="1">
                <a:spLocks noRot="1" noChangeAspect="1" noMove="1" noResize="1" noEditPoints="1" noAdjustHandles="1" noChangeArrowheads="1" noChangeShapeType="1" noTextEdit="1"/>
              </p:cNvSpPr>
              <p:nvPr/>
            </p:nvSpPr>
            <p:spPr>
              <a:xfrm>
                <a:off x="365760" y="1371600"/>
                <a:ext cx="5986718" cy="868680"/>
              </a:xfrm>
              <a:prstGeom prst="rect">
                <a:avLst/>
              </a:prstGeom>
              <a:blipFill>
                <a:blip r:embed="rId3"/>
                <a:stretch>
                  <a:fillRect/>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13"/>
              <p:cNvSpPr txBox="1"/>
              <p:nvPr/>
            </p:nvSpPr>
            <p:spPr>
              <a:xfrm>
                <a:off x="365760" y="224028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10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s</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m:t>
                      </m:r>
                    </m:oMath>
                  </m:oMathPara>
                </a14:m>
                <a:endParaRPr lang="zh-TW" sz="2400"/>
              </a:p>
            </p:txBody>
          </p:sp>
        </mc:Choice>
        <mc:Fallback xmlns="">
          <p:pic>
            <p:nvPicPr>
              <p:cNvPr id="13" name="F13"/>
              <p:cNvPicPr/>
              <p:nvPr/>
            </p:nvPicPr>
            <p:blipFill>
              <a:blip r:embed="rId4"/>
              <a:stretch>
                <a:fillRect/>
              </a:stretch>
            </p:blipFill>
            <p:spPr>
              <a:xfrm>
                <a:off x="365760" y="2240280"/>
                <a:ext cx="7955280" cy="566928"/>
              </a:xfrm>
              <a:prstGeom prst="rect">
                <a:avLst/>
              </a:prstGeom>
              <a:noFill/>
              <a:ln>
                <a:noFill/>
              </a:ln>
            </p:spPr>
          </p:pic>
        </mc:Fallback>
      </mc:AlternateContent>
      <p:sp>
        <p:nvSpPr>
          <p:cNvPr id="14" name="T14"/>
          <p:cNvSpPr txBox="1"/>
          <p:nvPr/>
        </p:nvSpPr>
        <p:spPr>
          <a:xfrm>
            <a:off x="365760" y="3017520"/>
            <a:ext cx="7955280" cy="59436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大小 10 m/s²，方向向右</a:t>
            </a:r>
            <a:endParaRPr lang="zh-TW" sz="2400"/>
          </a:p>
        </p:txBody>
      </p:sp>
      <p:sp>
        <p:nvSpPr>
          <p:cNvPr id="15" name="T15"/>
          <p:cNvSpPr txBox="1"/>
          <p:nvPr/>
        </p:nvSpPr>
        <p:spPr>
          <a:xfrm>
            <a:off x="365760" y="3749040"/>
            <a:ext cx="795528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直線加速：速度方向不變，加速度與速度同向</a:t>
            </a:r>
            <a:endParaRPr lang="zh-TW" sz="2400"/>
          </a:p>
        </p:txBody>
      </p:sp>
      <p:pic>
        <p:nvPicPr>
          <p:cNvPr id="4" name="圖片 3" descr="The diagram shows a vector diagram with two velocities: one at 240 m/s at an angle of 30ￂﾰ, and another at 100 m/s, presumably forming a right triangle.&#10;&#10;AI 產生的內容可能不正確。">
            <a:extLst>
              <a:ext uri="{FF2B5EF4-FFF2-40B4-BE49-F238E27FC236}">
                <a16:creationId xmlns:a16="http://schemas.microsoft.com/office/drawing/2014/main" id="{9C27B43F-E8FB-0012-4FB4-F4238E540957}"/>
              </a:ext>
            </a:extLst>
          </p:cNvPr>
          <p:cNvPicPr>
            <a:picLocks noChangeAspect="1"/>
          </p:cNvPicPr>
          <p:nvPr/>
        </p:nvPicPr>
        <p:blipFill>
          <a:blip r:embed="rId5"/>
          <a:stretch>
            <a:fillRect/>
          </a:stretch>
        </p:blipFill>
        <p:spPr>
          <a:xfrm>
            <a:off x="6123878" y="1027097"/>
            <a:ext cx="2425762" cy="19218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(b) 先求速度變化 Δv</a:t>
            </a:r>
          </a:p>
        </p:txBody>
      </p:sp>
      <mc:AlternateContent xmlns:mc="http://schemas.openxmlformats.org/markup-compatibility/2006" xmlns:a14="http://schemas.microsoft.com/office/drawing/2010/main">
        <mc:Choice Requires="a14">
          <p:sp>
            <p:nvSpPr>
              <p:cNvPr id="11" name="T11"/>
              <p:cNvSpPr txBox="1"/>
              <p:nvPr/>
            </p:nvSpPr>
            <p:spPr>
              <a:xfrm>
                <a:off x="365760" y="868680"/>
                <a:ext cx="512064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highlight>
                                <a:srgbClr val="FFFF00"/>
                              </a:highlight>
                              <a:latin typeface="Cambria Math" panose="02040503050406030204" pitchFamily="18" charset="0"/>
                              <a:ea typeface="Cambria Math"/>
                            </a:rPr>
                          </m:ctrlPr>
                        </m:sSubPr>
                        <m:e>
                          <m:acc>
                            <m:accPr>
                              <m:chr m:val="⃗"/>
                              <m:ctrlPr>
                                <a:rPr lang="en-US" altLang="zh-TW" sz="2400" b="0" i="1">
                                  <a:solidFill>
                                    <a:srgbClr val="2B3050"/>
                                  </a:solidFill>
                                  <a:highlight>
                                    <a:srgbClr val="FFFF00"/>
                                  </a:highlight>
                                  <a:latin typeface="Cambria Math" panose="02040503050406030204" pitchFamily="18" charset="0"/>
                                  <a:ea typeface="Cambria Math"/>
                                </a:rPr>
                              </m:ctrlPr>
                            </m:accPr>
                            <m:e>
                              <m:r>
                                <a:rPr lang="en-US" altLang="zh-TW" sz="2400" b="0" i="1">
                                  <a:solidFill>
                                    <a:srgbClr val="2B3050"/>
                                  </a:solidFill>
                                  <a:highlight>
                                    <a:srgbClr val="FFFF00"/>
                                  </a:highlight>
                                  <a:latin typeface="Cambria Math" panose="02040503050406030204" pitchFamily="18" charset="0"/>
                                  <a:ea typeface="Cambria Math"/>
                                </a:rPr>
                                <m:t>𝑣</m:t>
                              </m:r>
                            </m:e>
                          </m:acc>
                        </m:e>
                        <m:sub>
                          <m:r>
                            <a:rPr lang="en-US" altLang="zh-TW" sz="2400" b="0" i="1">
                              <a:solidFill>
                                <a:srgbClr val="2B3050"/>
                              </a:solidFill>
                              <a:highlight>
                                <a:srgbClr val="FFFF00"/>
                              </a:highlight>
                              <a:latin typeface="Cambria Math" panose="02040503050406030204" pitchFamily="18" charset="0"/>
                              <a:ea typeface="Cambria Math"/>
                            </a:rPr>
                            <m:t>𝐶</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𝐵</m:t>
                          </m:r>
                        </m:sub>
                      </m:sSub>
                    </m:oMath>
                  </m:oMathPara>
                </a14:m>
                <a:endParaRPr lang="zh-TW" sz="2400" dirty="0"/>
              </a:p>
            </p:txBody>
          </p:sp>
        </mc:Choice>
        <mc:Fallback xmlns="">
          <p:sp>
            <p:nvSpPr>
              <p:cNvPr id="11" name="T11"/>
              <p:cNvSpPr txBox="1">
                <a:spLocks noRot="1" noChangeAspect="1" noMove="1" noResize="1" noEditPoints="1" noAdjustHandles="1" noChangeArrowheads="1" noChangeShapeType="1" noTextEdit="1"/>
              </p:cNvSpPr>
              <p:nvPr/>
            </p:nvSpPr>
            <p:spPr>
              <a:xfrm>
                <a:off x="365760" y="868680"/>
                <a:ext cx="5120640" cy="530352"/>
              </a:xfrm>
              <a:prstGeom prst="rect">
                <a:avLst/>
              </a:prstGeom>
              <a:blipFill>
                <a:blip r:embed="rId2"/>
                <a:stretch>
                  <a:fillRect t="-19540"/>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T12"/>
              <p:cNvSpPr txBox="1"/>
              <p:nvPr/>
            </p:nvSpPr>
            <p:spPr>
              <a:xfrm>
                <a:off x="365760" y="1399032"/>
                <a:ext cx="512064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highlight>
                                <a:srgbClr val="FFFF00"/>
                              </a:highlight>
                              <a:latin typeface="Cambria Math" panose="02040503050406030204" pitchFamily="18" charset="0"/>
                              <a:ea typeface="Cambria Math"/>
                            </a:rPr>
                          </m:ctrlPr>
                        </m:dPr>
                        <m:e>
                          <m:r>
                            <a:rPr lang="en-US" altLang="zh-TW" sz="2400" b="0" i="0">
                              <a:solidFill>
                                <a:srgbClr val="2B3050"/>
                              </a:solidFill>
                              <a:highlight>
                                <a:srgbClr val="FFFF00"/>
                              </a:highlight>
                              <a:latin typeface="Cambria Math" panose="02040503050406030204" pitchFamily="18" charset="0"/>
                              <a:ea typeface="Cambria Math"/>
                            </a:rPr>
                            <m:t>−207.8</m:t>
                          </m:r>
                          <m:acc>
                            <m:accPr>
                              <m:chr m:val="⃗"/>
                              <m:ctrlPr>
                                <a:rPr lang="en-US" altLang="zh-TW" sz="2400" b="0" i="1">
                                  <a:solidFill>
                                    <a:srgbClr val="2B3050"/>
                                  </a:solidFill>
                                  <a:highlight>
                                    <a:srgbClr val="FFFF00"/>
                                  </a:highlight>
                                  <a:latin typeface="Cambria Math" panose="02040503050406030204" pitchFamily="18" charset="0"/>
                                  <a:ea typeface="Cambria Math"/>
                                </a:rPr>
                              </m:ctrlPr>
                            </m:accPr>
                            <m:e>
                              <m:r>
                                <a:rPr lang="en-US" altLang="zh-TW" sz="2400" b="0" i="1">
                                  <a:solidFill>
                                    <a:srgbClr val="2B3050"/>
                                  </a:solidFill>
                                  <a:highlight>
                                    <a:srgbClr val="FFFF00"/>
                                  </a:highlight>
                                  <a:latin typeface="Cambria Math" panose="02040503050406030204" pitchFamily="18" charset="0"/>
                                  <a:ea typeface="Cambria Math"/>
                                </a:rPr>
                                <m:t>𝑖</m:t>
                              </m:r>
                            </m:e>
                          </m:acc>
                          <m:r>
                            <a:rPr lang="en-US" altLang="zh-TW" sz="2400" b="0" i="0">
                              <a:solidFill>
                                <a:srgbClr val="2B3050"/>
                              </a:solidFill>
                              <a:highlight>
                                <a:srgbClr val="FFFF00"/>
                              </a:highlight>
                              <a:latin typeface="Cambria Math" panose="02040503050406030204" pitchFamily="18" charset="0"/>
                              <a:ea typeface="Cambria Math"/>
                            </a:rPr>
                            <m:t> + 120</m:t>
                          </m:r>
                          <m:acc>
                            <m:accPr>
                              <m:chr m:val="⃗"/>
                              <m:ctrlPr>
                                <a:rPr lang="en-US" altLang="zh-TW" sz="2400" b="0" i="1">
                                  <a:solidFill>
                                    <a:srgbClr val="2B3050"/>
                                  </a:solidFill>
                                  <a:highlight>
                                    <a:srgbClr val="FFFF00"/>
                                  </a:highlight>
                                  <a:latin typeface="Cambria Math" panose="02040503050406030204" pitchFamily="18" charset="0"/>
                                  <a:ea typeface="Cambria Math"/>
                                </a:rPr>
                              </m:ctrlPr>
                            </m:accPr>
                            <m:e>
                              <m:r>
                                <a:rPr lang="en-US" altLang="zh-TW" sz="2400" b="0" i="1">
                                  <a:solidFill>
                                    <a:srgbClr val="2B3050"/>
                                  </a:solidFill>
                                  <a:highlight>
                                    <a:srgbClr val="FFFF00"/>
                                  </a:highlight>
                                  <a:latin typeface="Cambria Math" panose="02040503050406030204" pitchFamily="18" charset="0"/>
                                  <a:ea typeface="Cambria Math"/>
                                </a:rPr>
                                <m:t>𝑗</m:t>
                              </m:r>
                            </m:e>
                          </m:acc>
                        </m:e>
                      </m:d>
                      <m:r>
                        <a:rPr lang="en-US" altLang="zh-TW" sz="2400" b="0" i="0">
                          <a:solidFill>
                            <a:srgbClr val="2B3050"/>
                          </a:solidFill>
                          <a:latin typeface="Cambria Math" panose="02040503050406030204" pitchFamily="18" charset="0"/>
                          <a:ea typeface="Cambria Math"/>
                        </a:rPr>
                        <m:t> − 100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oMath>
                  </m:oMathPara>
                </a14:m>
                <a:endParaRPr lang="zh-TW" sz="2400" dirty="0"/>
              </a:p>
            </p:txBody>
          </p:sp>
        </mc:Choice>
        <mc:Fallback xmlns="">
          <p:sp>
            <p:nvSpPr>
              <p:cNvPr id="12" name="T12"/>
              <p:cNvSpPr txBox="1">
                <a:spLocks noRot="1" noChangeAspect="1" noMove="1" noResize="1" noEditPoints="1" noAdjustHandles="1" noChangeArrowheads="1" noChangeShapeType="1" noTextEdit="1"/>
              </p:cNvSpPr>
              <p:nvPr/>
            </p:nvSpPr>
            <p:spPr>
              <a:xfrm>
                <a:off x="365760" y="1399032"/>
                <a:ext cx="5120640" cy="566928"/>
              </a:xfrm>
              <a:prstGeom prst="rect">
                <a:avLst/>
              </a:prstGeom>
              <a:blipFill>
                <a:blip r:embed="rId3"/>
                <a:stretch>
                  <a:fillRect t="-18280"/>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512064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−207.8 − 100</m:t>
                          </m:r>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+ 120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m:oMathPara>
                </a14:m>
                <a:endParaRPr lang="zh-TW" sz="2400"/>
              </a:p>
            </p:txBody>
          </p:sp>
        </mc:Choice>
        <mc:Fallback xmlns="">
          <p:pic>
            <p:nvPicPr>
              <p:cNvPr id="13" name="F13"/>
              <p:cNvPicPr/>
              <p:nvPr/>
            </p:nvPicPr>
            <p:blipFill>
              <a:blip r:embed="rId4"/>
              <a:stretch>
                <a:fillRect/>
              </a:stretch>
            </p:blipFill>
            <p:spPr>
              <a:xfrm>
                <a:off x="365760" y="1965960"/>
                <a:ext cx="512064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32888"/>
                <a:ext cx="512064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−307.8</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+ 120</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r>
                        <a:rPr lang="en-US" altLang="zh-TW" sz="2400" b="0" i="0">
                          <a:solidFill>
                            <a:srgbClr val="D6006F"/>
                          </a:solidFill>
                          <a:latin typeface="Cambria Math" panose="02040503050406030204" pitchFamily="18" charset="0"/>
                          <a:ea typeface="Cambria Math"/>
                        </a:rPr>
                        <m:t>)</m:t>
                      </m:r>
                    </m:oMath>
                  </m:oMathPara>
                </a14:m>
                <a:endParaRPr lang="zh-TW" sz="2400"/>
              </a:p>
            </p:txBody>
          </p:sp>
        </mc:Choice>
        <mc:Fallback xmlns="">
          <p:pic>
            <p:nvPicPr>
              <p:cNvPr id="14" name="F14"/>
              <p:cNvPicPr/>
              <p:nvPr/>
            </p:nvPicPr>
            <p:blipFill>
              <a:blip r:embed="rId5"/>
              <a:stretch>
                <a:fillRect/>
              </a:stretch>
            </p:blipFill>
            <p:spPr>
              <a:xfrm>
                <a:off x="365760" y="2532888"/>
                <a:ext cx="5120640" cy="566928"/>
              </a:xfrm>
              <a:prstGeom prst="rect">
                <a:avLst/>
              </a:prstGeom>
              <a:noFill/>
              <a:ln>
                <a:noFill/>
              </a:ln>
            </p:spPr>
          </p:pic>
        </mc:Fallback>
      </mc:AlternateContent>
      <p:sp>
        <p:nvSpPr>
          <p:cNvPr id="15" name="T15"/>
          <p:cNvSpPr txBox="1"/>
          <p:nvPr/>
        </p:nvSpPr>
        <p:spPr>
          <a:xfrm>
            <a:off x="5486400" y="914400"/>
            <a:ext cx="28346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速度向量圖</a:t>
            </a:r>
            <a:endParaRPr lang="zh-TW" sz="2400"/>
          </a:p>
        </p:txBody>
      </p:sp>
      <p:cxnSp>
        <p:nvCxnSpPr>
          <p:cNvPr id="16" name="L16"/>
          <p:cNvCxnSpPr/>
          <p:nvPr/>
        </p:nvCxnSpPr>
        <p:spPr>
          <a:xfrm>
            <a:off x="7406640" y="3291840"/>
            <a:ext cx="822960" cy="0"/>
          </a:xfrm>
          <a:prstGeom prst="line">
            <a:avLst/>
          </a:prstGeom>
          <a:ln w="31750">
            <a:solidFill>
              <a:srgbClr val="1F8899"/>
            </a:solidFill>
            <a:tailEnd type="triangle" w="med" len="med"/>
          </a:ln>
        </p:spPr>
      </p:cxnSp>
      <mc:AlternateContent xmlns:mc="http://schemas.openxmlformats.org/markup-compatibility/2006" xmlns:a14="http://schemas.microsoft.com/office/drawing/2010/main">
        <mc:Choice Requires="a14">
          <p:sp>
            <p:nvSpPr>
              <p:cNvPr id="17" name="T17"/>
              <p:cNvSpPr txBox="1"/>
              <p:nvPr/>
            </p:nvSpPr>
            <p:spPr>
              <a:xfrm>
                <a:off x="7726680" y="3310128"/>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𝑣</m:t>
                              </m:r>
                            </m:e>
                          </m:acc>
                        </m:e>
                        <m:sub>
                          <m:r>
                            <a:rPr lang="en-US" altLang="zh-TW" sz="2400" b="0" i="1">
                              <a:solidFill>
                                <a:srgbClr val="1F8899"/>
                              </a:solidFill>
                              <a:latin typeface="Cambria Math" panose="02040503050406030204" pitchFamily="18" charset="0"/>
                              <a:ea typeface="Cambria Math"/>
                            </a:rPr>
                            <m:t>𝐵</m:t>
                          </m:r>
                        </m:sub>
                      </m:sSub>
                    </m:oMath>
                  </m:oMathPara>
                </a14:m>
                <a:endParaRPr lang="zh-TW" sz="2400"/>
              </a:p>
            </p:txBody>
          </p:sp>
        </mc:Choice>
        <mc:Fallback xmlns="">
          <p:pic>
            <p:nvPicPr>
              <p:cNvPr id="17" name="F17"/>
              <p:cNvPicPr/>
              <p:nvPr/>
            </p:nvPicPr>
            <p:blipFill>
              <a:blip r:embed="rId6"/>
              <a:stretch>
                <a:fillRect/>
              </a:stretch>
            </p:blipFill>
            <p:spPr>
              <a:xfrm>
                <a:off x="7726680" y="3310128"/>
                <a:ext cx="731520" cy="411480"/>
              </a:xfrm>
              <a:prstGeom prst="rect">
                <a:avLst/>
              </a:prstGeom>
              <a:noFill/>
              <a:ln>
                <a:noFill/>
              </a:ln>
            </p:spPr>
          </p:pic>
        </mc:Fallback>
      </mc:AlternateContent>
      <p:cxnSp>
        <p:nvCxnSpPr>
          <p:cNvPr id="18" name="L18"/>
          <p:cNvCxnSpPr/>
          <p:nvPr/>
        </p:nvCxnSpPr>
        <p:spPr>
          <a:xfrm>
            <a:off x="5696529" y="2304288"/>
            <a:ext cx="1710111" cy="987552"/>
          </a:xfrm>
          <a:prstGeom prst="line">
            <a:avLst/>
          </a:prstGeom>
          <a:ln w="31750">
            <a:solidFill>
              <a:srgbClr val="C8901F"/>
            </a:solidFill>
            <a:headEnd type="triangle" w="med" len="med"/>
          </a:ln>
        </p:spPr>
      </p:cxnSp>
      <mc:AlternateContent xmlns:mc="http://schemas.openxmlformats.org/markup-compatibility/2006" xmlns:a14="http://schemas.microsoft.com/office/drawing/2010/main">
        <mc:Choice Requires="a14">
          <p:sp>
            <p:nvSpPr>
              <p:cNvPr id="19" name="T19"/>
              <p:cNvSpPr txBox="1"/>
              <p:nvPr/>
            </p:nvSpPr>
            <p:spPr>
              <a:xfrm>
                <a:off x="6172200" y="301752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e>
                        <m:sub>
                          <m:r>
                            <a:rPr lang="en-US" altLang="zh-TW" sz="2400" b="0" i="1">
                              <a:solidFill>
                                <a:srgbClr val="C8901F"/>
                              </a:solidFill>
                              <a:latin typeface="Cambria Math" panose="02040503050406030204" pitchFamily="18" charset="0"/>
                              <a:ea typeface="Cambria Math"/>
                            </a:rPr>
                            <m:t>𝐶</m:t>
                          </m:r>
                        </m:sub>
                      </m:sSub>
                    </m:oMath>
                  </m:oMathPara>
                </a14:m>
                <a:endParaRPr lang="zh-TW" sz="2400"/>
              </a:p>
            </p:txBody>
          </p:sp>
        </mc:Choice>
        <mc:Fallback xmlns="">
          <p:pic>
            <p:nvPicPr>
              <p:cNvPr id="19" name="F19"/>
              <p:cNvPicPr/>
              <p:nvPr/>
            </p:nvPicPr>
            <p:blipFill>
              <a:blip r:embed="rId7"/>
              <a:stretch>
                <a:fillRect/>
              </a:stretch>
            </p:blipFill>
            <p:spPr>
              <a:xfrm>
                <a:off x="6172200" y="3017520"/>
                <a:ext cx="731520" cy="411480"/>
              </a:xfrm>
              <a:prstGeom prst="rect">
                <a:avLst/>
              </a:prstGeom>
              <a:noFill/>
              <a:ln>
                <a:noFill/>
              </a:ln>
            </p:spPr>
          </p:pic>
        </mc:Fallback>
      </mc:AlternateContent>
      <p:cxnSp>
        <p:nvCxnSpPr>
          <p:cNvPr id="20" name="L20"/>
          <p:cNvCxnSpPr/>
          <p:nvPr/>
        </p:nvCxnSpPr>
        <p:spPr>
          <a:xfrm>
            <a:off x="5723961" y="2304288"/>
            <a:ext cx="2505639" cy="987552"/>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1" name="T21"/>
              <p:cNvSpPr txBox="1"/>
              <p:nvPr/>
            </p:nvSpPr>
            <p:spPr>
              <a:xfrm>
                <a:off x="6720840" y="2194560"/>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D6006F"/>
                          </a:solidFill>
                          <a:latin typeface="Cambria Math" panose="02040503050406030204" pitchFamily="18" charset="0"/>
                          <a:ea typeface="Cambria Math"/>
                        </a:rPr>
                        <m:t>Δ</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𝑣</m:t>
                          </m:r>
                        </m:e>
                      </m:acc>
                    </m:oMath>
                  </m:oMathPara>
                </a14:m>
                <a:endParaRPr lang="zh-TW" sz="2400"/>
              </a:p>
            </p:txBody>
          </p:sp>
        </mc:Choice>
        <mc:Fallback xmlns="">
          <p:pic>
            <p:nvPicPr>
              <p:cNvPr id="21" name="F21"/>
              <p:cNvPicPr/>
              <p:nvPr/>
            </p:nvPicPr>
            <p:blipFill>
              <a:blip r:embed="rId8"/>
              <a:stretch>
                <a:fillRect/>
              </a:stretch>
            </p:blipFill>
            <p:spPr>
              <a:xfrm>
                <a:off x="6720840" y="2194560"/>
                <a:ext cx="731520" cy="411480"/>
              </a:xfrm>
              <a:prstGeom prst="rect">
                <a:avLst/>
              </a:prstGeom>
              <a:noFill/>
              <a:ln>
                <a:noFill/>
              </a:ln>
            </p:spPr>
          </p:pic>
        </mc:Fallback>
      </mc:AlternateContent>
      <p:sp>
        <p:nvSpPr>
          <p:cNvPr id="22" name="T22"/>
          <p:cNvSpPr txBox="1"/>
          <p:nvPr/>
        </p:nvSpPr>
        <p:spPr>
          <a:xfrm>
            <a:off x="365760" y="3291840"/>
            <a:ext cx="5120640" cy="118872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Δv：從 vB 的箭頭尖</a:t>
            </a:r>
            <a:endParaRPr lang="zh-TW" sz="2400"/>
          </a:p>
          <a:p>
            <a:pPr algn="l">
              <a:lnSpc>
                <a:spcPct val="100000"/>
              </a:lnSpc>
              <a:buNone/>
            </a:pPr>
            <a:r>
              <a:rPr lang="zh-TW" altLang="en-US" sz="2400" b="0" dirty="0">
                <a:solidFill>
                  <a:srgbClr val="2B3050"/>
                </a:solidFill>
                <a:latin typeface="Calibri"/>
                <a:ea typeface="微軟正黑體"/>
                <a:cs typeface="Calibri"/>
              </a:rPr>
              <a:t>指到 vC 的箭頭尖</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(b) 再除以時間</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16 </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−307.8</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+ 120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num>
                        <m:den>
                          <m:r>
                            <a:rPr lang="en-US" altLang="zh-TW" sz="2400" b="0" i="0">
                              <a:solidFill>
                                <a:srgbClr val="2B3050"/>
                              </a:solidFill>
                              <a:latin typeface="Cambria Math" panose="02040503050406030204" pitchFamily="18" charset="0"/>
                              <a:ea typeface="Cambria Math"/>
                            </a:rPr>
                            <m:t>16</m:t>
                          </m:r>
                        </m:den>
                      </m:f>
                    </m:oMath>
                  </m:oMathPara>
                </a14:m>
                <a:endParaRPr lang="zh-TW" sz="2400"/>
              </a:p>
            </p:txBody>
          </p:sp>
        </mc:Choice>
        <mc:Fallback xmlns="">
          <p:pic>
            <p:nvPicPr>
              <p:cNvPr id="12" name="F12"/>
              <p:cNvPicPr/>
              <p:nvPr/>
            </p:nvPicPr>
            <p:blipFill>
              <a:blip r:embed="rId3"/>
              <a:stretch>
                <a:fillRect/>
              </a:stretch>
            </p:blipFill>
            <p:spPr>
              <a:xfrm>
                <a:off x="365760" y="137160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402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−307.8</m:t>
                          </m:r>
                        </m:num>
                        <m:den>
                          <m:r>
                            <a:rPr lang="en-US" altLang="zh-TW" sz="2400" b="0" i="0">
                              <a:solidFill>
                                <a:srgbClr val="2B3050"/>
                              </a:solidFill>
                              <a:latin typeface="Cambria Math" panose="02040503050406030204" pitchFamily="18" charset="0"/>
                              <a:ea typeface="Cambria Math"/>
                            </a:rPr>
                            <m:t>16</m:t>
                          </m:r>
                        </m:den>
                      </m:f>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120</m:t>
                          </m:r>
                        </m:num>
                        <m:den>
                          <m:r>
                            <a:rPr lang="en-US" altLang="zh-TW" sz="2400" b="0" i="0">
                              <a:solidFill>
                                <a:srgbClr val="2B3050"/>
                              </a:solidFill>
                              <a:latin typeface="Cambria Math" panose="02040503050406030204" pitchFamily="18" charset="0"/>
                              <a:ea typeface="Cambria Math"/>
                            </a:rPr>
                            <m:t>16</m:t>
                          </m:r>
                        </m:den>
                      </m:f>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m:oMathPara>
                </a14:m>
                <a:endParaRPr lang="zh-TW" sz="2400"/>
              </a:p>
            </p:txBody>
          </p:sp>
        </mc:Choice>
        <mc:Fallback xmlns="">
          <p:pic>
            <p:nvPicPr>
              <p:cNvPr id="13" name="F13"/>
              <p:cNvPicPr/>
              <p:nvPr/>
            </p:nvPicPr>
            <p:blipFill>
              <a:blip r:embed="rId4"/>
              <a:stretch>
                <a:fillRect/>
              </a:stretch>
            </p:blipFill>
            <p:spPr>
              <a:xfrm>
                <a:off x="365760" y="22402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10896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−19.24</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+ 7.5</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m:t>
                      </m:r>
                    </m:oMath>
                  </m:oMathPara>
                </a14:m>
                <a:endParaRPr lang="zh-TW" sz="2400"/>
              </a:p>
            </p:txBody>
          </p:sp>
        </mc:Choice>
        <mc:Fallback xmlns="">
          <p:pic>
            <p:nvPicPr>
              <p:cNvPr id="14" name="F14"/>
              <p:cNvPicPr/>
              <p:nvPr/>
            </p:nvPicPr>
            <p:blipFill>
              <a:blip r:embed="rId5"/>
              <a:stretch>
                <a:fillRect/>
              </a:stretch>
            </p:blipFill>
            <p:spPr>
              <a:xfrm>
                <a:off x="365760" y="3108960"/>
                <a:ext cx="7955280" cy="566928"/>
              </a:xfrm>
              <a:prstGeom prst="rect">
                <a:avLst/>
              </a:prstGeom>
              <a:noFill/>
              <a:ln>
                <a:noFill/>
              </a:ln>
            </p:spPr>
          </p:pic>
        </mc:Fallback>
      </mc:AlternateContent>
      <p:sp>
        <p:nvSpPr>
          <p:cNvPr id="15" name="T15"/>
          <p:cNvSpPr txBox="1"/>
          <p:nvPr/>
        </p:nvSpPr>
        <p:spPr>
          <a:xfrm>
            <a:off x="365760" y="3840480"/>
            <a:ext cx="7955280" cy="6858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每個分量各自除以 16</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(b) 大小與方向</a:t>
            </a:r>
          </a:p>
        </p:txBody>
      </p:sp>
      <mc:AlternateContent xmlns:mc="http://schemas.openxmlformats.org/markup-compatibility/2006" xmlns:a14="http://schemas.microsoft.com/office/drawing/2010/main">
        <mc:Choice Requires="a14">
          <p:sp>
            <p:nvSpPr>
              <p:cNvPr id="11" name="T11"/>
              <p:cNvSpPr txBox="1"/>
              <p:nvPr/>
            </p:nvSpPr>
            <p:spPr>
              <a:xfrm>
                <a:off x="365760" y="868680"/>
                <a:ext cx="530352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−19.24</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7.5</m:t>
                              </m:r>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11" name="F11"/>
              <p:cNvPicPr/>
              <p:nvPr/>
            </p:nvPicPr>
            <p:blipFill>
              <a:blip r:embed="rId2"/>
              <a:stretch>
                <a:fillRect/>
              </a:stretch>
            </p:blipFill>
            <p:spPr>
              <a:xfrm>
                <a:off x="365760" y="868680"/>
                <a:ext cx="530352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63040"/>
                <a:ext cx="530352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370.2 + 56.3</m:t>
                          </m:r>
                        </m:e>
                      </m:rad>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426.4</m:t>
                          </m:r>
                        </m:e>
                      </m:rad>
                    </m:oMath>
                  </m:oMathPara>
                </a14:m>
                <a:endParaRPr lang="zh-TW" sz="2400"/>
              </a:p>
            </p:txBody>
          </p:sp>
        </mc:Choice>
        <mc:Fallback xmlns="">
          <p:pic>
            <p:nvPicPr>
              <p:cNvPr id="12" name="F12"/>
              <p:cNvPicPr/>
              <p:nvPr/>
            </p:nvPicPr>
            <p:blipFill>
              <a:blip r:embed="rId3"/>
              <a:stretch>
                <a:fillRect/>
              </a:stretch>
            </p:blipFill>
            <p:spPr>
              <a:xfrm>
                <a:off x="365760" y="1463040"/>
                <a:ext cx="530352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029968"/>
                <a:ext cx="53035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20.6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3" name="F13"/>
              <p:cNvPicPr/>
              <p:nvPr/>
            </p:nvPicPr>
            <p:blipFill>
              <a:blip r:embed="rId4"/>
              <a:stretch>
                <a:fillRect/>
              </a:stretch>
            </p:blipFill>
            <p:spPr>
              <a:xfrm>
                <a:off x="365760" y="2029968"/>
                <a:ext cx="53035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78608"/>
                <a:ext cx="53035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tan</m:t>
                          </m:r>
                        </m:e>
                        <m:sup>
                          <m:r>
                            <a:rPr lang="en-US" altLang="zh-TW" sz="2400" b="0" i="0">
                              <a:solidFill>
                                <a:srgbClr val="2B3050"/>
                              </a:solidFill>
                              <a:latin typeface="Cambria Math" panose="02040503050406030204" pitchFamily="18" charset="0"/>
                              <a:ea typeface="Cambria Math"/>
                            </a:rPr>
                            <m:t>−1</m:t>
                          </m:r>
                        </m:sup>
                      </m:sSup>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7.5</m:t>
                              </m:r>
                            </m:num>
                            <m:den>
                              <m:r>
                                <a:rPr lang="en-US" altLang="zh-TW" sz="2400" b="0" i="0">
                                  <a:solidFill>
                                    <a:srgbClr val="2B3050"/>
                                  </a:solidFill>
                                  <a:latin typeface="Cambria Math" panose="02040503050406030204" pitchFamily="18" charset="0"/>
                                  <a:ea typeface="Cambria Math"/>
                                </a:rPr>
                                <m:t>19.24</m:t>
                              </m:r>
                            </m:den>
                          </m:f>
                        </m:e>
                      </m:d>
                      <m:r>
                        <a:rPr lang="en-US" altLang="zh-TW" sz="2400" b="0" i="0">
                          <a:solidFill>
                            <a:srgbClr val="2B3050"/>
                          </a:solidFill>
                          <a:latin typeface="Cambria Math" panose="02040503050406030204" pitchFamily="18" charset="0"/>
                          <a:ea typeface="Cambria Math"/>
                        </a:rPr>
                        <m:t> = 21.3°</m:t>
                      </m:r>
                    </m:oMath>
                  </m:oMathPara>
                </a14:m>
                <a:endParaRPr lang="zh-TW" sz="2400"/>
              </a:p>
            </p:txBody>
          </p:sp>
        </mc:Choice>
        <mc:Fallback xmlns="">
          <p:pic>
            <p:nvPicPr>
              <p:cNvPr id="14" name="F14"/>
              <p:cNvPicPr/>
              <p:nvPr/>
            </p:nvPicPr>
            <p:blipFill>
              <a:blip r:embed="rId5"/>
              <a:stretch>
                <a:fillRect/>
              </a:stretch>
            </p:blipFill>
            <p:spPr>
              <a:xfrm>
                <a:off x="365760" y="2578608"/>
                <a:ext cx="5303520" cy="868680"/>
              </a:xfrm>
              <a:prstGeom prst="rect">
                <a:avLst/>
              </a:prstGeom>
              <a:noFill/>
              <a:ln>
                <a:noFill/>
              </a:ln>
            </p:spPr>
          </p:pic>
        </mc:Fallback>
      </mc:AlternateContent>
      <p:cxnSp>
        <p:nvCxnSpPr>
          <p:cNvPr id="15" name="L15"/>
          <p:cNvCxnSpPr/>
          <p:nvPr/>
        </p:nvCxnSpPr>
        <p:spPr>
          <a:xfrm flipH="1">
            <a:off x="6199632" y="3291840"/>
            <a:ext cx="1755648" cy="0"/>
          </a:xfrm>
          <a:prstGeom prst="line">
            <a:avLst/>
          </a:prstGeom>
          <a:ln w="25400">
            <a:solidFill>
              <a:srgbClr val="1F8899"/>
            </a:solidFill>
            <a:prstDash val="dash"/>
            <a:tailEnd type="triangle" w="med" len="med"/>
          </a:ln>
        </p:spPr>
      </p:cxnSp>
      <p:sp>
        <p:nvSpPr>
          <p:cNvPr id="16" name="T16"/>
          <p:cNvSpPr txBox="1"/>
          <p:nvPr/>
        </p:nvSpPr>
        <p:spPr>
          <a:xfrm>
            <a:off x="6492240" y="3291840"/>
            <a:ext cx="12801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−19.24</a:t>
            </a:r>
            <a:endParaRPr lang="zh-TW" sz="2400"/>
          </a:p>
        </p:txBody>
      </p:sp>
      <p:cxnSp>
        <p:nvCxnSpPr>
          <p:cNvPr id="17" name="L17"/>
          <p:cNvCxnSpPr/>
          <p:nvPr/>
        </p:nvCxnSpPr>
        <p:spPr>
          <a:xfrm flipV="1">
            <a:off x="6199632" y="2606040"/>
            <a:ext cx="0" cy="685800"/>
          </a:xfrm>
          <a:prstGeom prst="line">
            <a:avLst/>
          </a:prstGeom>
          <a:ln w="25400">
            <a:solidFill>
              <a:srgbClr val="C8901F"/>
            </a:solidFill>
            <a:prstDash val="dash"/>
            <a:tailEnd type="triangle" w="med" len="med"/>
          </a:ln>
        </p:spPr>
      </p:cxnSp>
      <p:sp>
        <p:nvSpPr>
          <p:cNvPr id="18" name="T18"/>
          <p:cNvSpPr txBox="1"/>
          <p:nvPr/>
        </p:nvSpPr>
        <p:spPr>
          <a:xfrm>
            <a:off x="5577840" y="2697480"/>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7.5</a:t>
            </a:r>
            <a:endParaRPr lang="zh-TW" sz="2400"/>
          </a:p>
        </p:txBody>
      </p:sp>
      <p:cxnSp>
        <p:nvCxnSpPr>
          <p:cNvPr id="19" name="L19"/>
          <p:cNvCxnSpPr/>
          <p:nvPr/>
        </p:nvCxnSpPr>
        <p:spPr>
          <a:xfrm>
            <a:off x="6199632" y="2606040"/>
            <a:ext cx="1755648" cy="685800"/>
          </a:xfrm>
          <a:prstGeom prst="line">
            <a:avLst/>
          </a:prstGeom>
          <a:ln w="38100">
            <a:solidFill>
              <a:srgbClr val="D6006F"/>
            </a:solidFill>
            <a:headEnd type="triangle" w="med" len="med"/>
          </a:ln>
        </p:spPr>
      </p:cxnSp>
      <p:sp>
        <p:nvSpPr>
          <p:cNvPr id="20" name="T20"/>
          <p:cNvSpPr txBox="1"/>
          <p:nvPr/>
        </p:nvSpPr>
        <p:spPr>
          <a:xfrm>
            <a:off x="7269480" y="2542032"/>
            <a:ext cx="8686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21.3°</a:t>
            </a:r>
            <a:endParaRPr lang="zh-TW" sz="2400"/>
          </a:p>
        </p:txBody>
      </p:sp>
      <p:sp>
        <p:nvSpPr>
          <p:cNvPr id="21" name="T21"/>
          <p:cNvSpPr txBox="1"/>
          <p:nvPr/>
        </p:nvSpPr>
        <p:spPr>
          <a:xfrm>
            <a:off x="365760" y="3840480"/>
            <a:ext cx="7955280" cy="6400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20.6 m/s²，向左上，與 −x 軸夾 21.3°</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錯誤算法的 240、100 從哪來？</a:t>
            </a:r>
          </a:p>
        </p:txBody>
      </p:sp>
      <p:sp>
        <p:nvSpPr>
          <p:cNvPr id="11" name="T11"/>
          <p:cNvSpPr txBox="1"/>
          <p:nvPr/>
        </p:nvSpPr>
        <p:spPr>
          <a:xfrm>
            <a:off x="365760" y="868680"/>
            <a:ext cx="256032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B 點速率</a:t>
            </a:r>
            <a:endParaRPr lang="zh-TW" sz="2400"/>
          </a:p>
        </p:txBody>
      </p:sp>
      <p:sp>
        <p:nvSpPr>
          <p:cNvPr id="12" name="T12"/>
          <p:cNvSpPr txBox="1"/>
          <p:nvPr/>
        </p:nvSpPr>
        <p:spPr>
          <a:xfrm>
            <a:off x="36576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1F8899"/>
                </a:solidFill>
                <a:latin typeface="Calibri"/>
                <a:ea typeface="微軟正黑體"/>
                <a:cs typeface="Calibri"/>
              </a:rPr>
              <a:t>100 m/s 向右</a:t>
            </a:r>
            <a:endParaRPr lang="zh-TW" sz="2400"/>
          </a:p>
        </p:txBody>
      </p:sp>
      <p:sp>
        <p:nvSpPr>
          <p:cNvPr id="13" name="T13"/>
          <p:cNvSpPr txBox="1"/>
          <p:nvPr/>
        </p:nvSpPr>
        <p:spPr>
          <a:xfrm>
            <a:off x="3063240" y="868680"/>
            <a:ext cx="2560320" cy="45720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C 點速率</a:t>
            </a:r>
            <a:endParaRPr lang="zh-TW" sz="2400"/>
          </a:p>
        </p:txBody>
      </p:sp>
      <p:sp>
        <p:nvSpPr>
          <p:cNvPr id="14" name="T14"/>
          <p:cNvSpPr txBox="1"/>
          <p:nvPr/>
        </p:nvSpPr>
        <p:spPr>
          <a:xfrm>
            <a:off x="306324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D6006F"/>
                </a:solidFill>
                <a:latin typeface="Calibri"/>
                <a:ea typeface="微軟正黑體"/>
                <a:cs typeface="Calibri"/>
              </a:rPr>
              <a:t>240 m/s 左上</a:t>
            </a:r>
            <a:endParaRPr lang="zh-TW" sz="2400"/>
          </a:p>
        </p:txBody>
      </p:sp>
      <p:sp>
        <p:nvSpPr>
          <p:cNvPr id="15" name="T15"/>
          <p:cNvSpPr txBox="1"/>
          <p:nvPr/>
        </p:nvSpPr>
        <p:spPr>
          <a:xfrm>
            <a:off x="5760720" y="868680"/>
            <a:ext cx="2560320" cy="457200"/>
          </a:xfrm>
          <a:prstGeom prst="roundRect">
            <a:avLst/>
          </a:prstGeom>
          <a:solidFill>
            <a:srgbClr val="C8901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B→C 時間</a:t>
            </a:r>
            <a:endParaRPr lang="zh-TW" sz="2400"/>
          </a:p>
        </p:txBody>
      </p:sp>
      <p:sp>
        <p:nvSpPr>
          <p:cNvPr id="16" name="T16"/>
          <p:cNvSpPr txBox="1"/>
          <p:nvPr/>
        </p:nvSpPr>
        <p:spPr>
          <a:xfrm>
            <a:off x="576072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C8901F"/>
                </a:solidFill>
                <a:latin typeface="Calibri"/>
                <a:ea typeface="微軟正黑體"/>
                <a:cs typeface="Calibri"/>
              </a:rPr>
              <a:t>16 s</a:t>
            </a:r>
            <a:endParaRPr lang="zh-TW" sz="2400"/>
          </a:p>
        </p:txBody>
      </p:sp>
      <p:sp>
        <p:nvSpPr>
          <p:cNvPr id="17" name="T17"/>
          <p:cNvSpPr txBox="1"/>
          <p:nvPr/>
        </p:nvSpPr>
        <p:spPr>
          <a:xfrm>
            <a:off x="365760" y="1874520"/>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0392B"/>
                </a:solidFill>
                <a:latin typeface="Calibri"/>
                <a:ea typeface="微軟正黑體"/>
                <a:cs typeface="Calibri"/>
              </a:rPr>
              <a:t>錯誤算法：只拿「大小」相減</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365760" y="2313432"/>
                <a:ext cx="795528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240 − 100</m:t>
                        </m:r>
                      </m:num>
                      <m:den>
                        <m:r>
                          <a:rPr lang="en-US" altLang="zh-TW" sz="2400" b="0" i="0">
                            <a:solidFill>
                              <a:srgbClr val="2B3050"/>
                            </a:solidFill>
                            <a:latin typeface="Cambria Math" panose="02040503050406030204" pitchFamily="18" charset="0"/>
                            <a:ea typeface="Cambria Math"/>
                          </a:rPr>
                          <m:t>16</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140</m:t>
                        </m:r>
                      </m:num>
                      <m:den>
                        <m:r>
                          <a:rPr lang="en-US" altLang="zh-TW" sz="2400" b="0" i="0">
                            <a:solidFill>
                              <a:srgbClr val="2B3050"/>
                            </a:solidFill>
                            <a:latin typeface="Cambria Math" panose="02040503050406030204" pitchFamily="18" charset="0"/>
                            <a:ea typeface="Cambria Math"/>
                          </a:rPr>
                          <m:t>16</m:t>
                        </m:r>
                      </m:den>
                    </m:f>
                    <m:r>
                      <a:rPr lang="en-US" altLang="zh-TW" sz="2400" b="0" i="0">
                        <a:solidFill>
                          <a:srgbClr val="2B3050"/>
                        </a:solidFill>
                        <a:latin typeface="Cambria Math" panose="02040503050406030204" pitchFamily="18" charset="0"/>
                        <a:ea typeface="Cambria Math"/>
                      </a:rPr>
                      <m:t> = 8.75 </m:t>
                    </m:r>
                  </m:oMath>
                </a14:m>
                <a:r>
                  <a:rPr lang="zh-TW" altLang="en-US" sz="2400" b="0" dirty="0">
                    <a:solidFill>
                      <a:srgbClr val="2B3050"/>
                    </a:solidFill>
                    <a:latin typeface="Calibri"/>
                    <a:ea typeface="微軟正黑體"/>
                    <a:cs typeface="Calibri"/>
                  </a:rPr>
                  <a:t>← C 速率減 B 速率</a:t>
                </a:r>
                <a:endParaRPr lang="zh-TW" sz="2400"/>
              </a:p>
            </p:txBody>
          </p:sp>
        </mc:Choice>
        <mc:Fallback xmlns="">
          <p:pic>
            <p:nvPicPr>
              <p:cNvPr id="18" name="F18"/>
              <p:cNvPicPr/>
              <p:nvPr/>
            </p:nvPicPr>
            <p:blipFill>
              <a:blip r:embed="rId2"/>
              <a:stretch>
                <a:fillRect/>
              </a:stretch>
            </p:blipFill>
            <p:spPr>
              <a:xfrm>
                <a:off x="365760" y="2313432"/>
                <a:ext cx="7955280" cy="868680"/>
              </a:xfrm>
              <a:prstGeom prst="rect">
                <a:avLst/>
              </a:prstGeom>
              <a:noFill/>
              <a:ln>
                <a:noFill/>
              </a:ln>
            </p:spPr>
          </p:pic>
        </mc:Fallback>
      </mc:AlternateContent>
      <p:sp>
        <p:nvSpPr>
          <p:cNvPr id="19" name="T19"/>
          <p:cNvSpPr txBox="1"/>
          <p:nvPr/>
        </p:nvSpPr>
        <p:spPr>
          <a:xfrm>
            <a:off x="365760" y="3182112"/>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問題：B 向右、C 向左上，方向不一樣，不能直接相減</a:t>
            </a:r>
            <a:endParaRPr lang="zh-TW" sz="2400"/>
          </a:p>
        </p:txBody>
      </p:sp>
      <p:sp>
        <p:nvSpPr>
          <p:cNvPr id="20" name="T20"/>
          <p:cNvSpPr txBox="1"/>
          <p:nvPr/>
        </p:nvSpPr>
        <p:spPr>
          <a:xfrm>
            <a:off x="365760" y="3639312"/>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F8F4E"/>
                </a:solidFill>
                <a:latin typeface="Calibri"/>
                <a:ea typeface="微軟正黑體"/>
                <a:cs typeface="Calibri"/>
              </a:rPr>
              <a:t>正確算法：速度「向量」相減</a:t>
            </a:r>
            <a:endParaRPr lang="zh-TW" sz="2400"/>
          </a:p>
        </p:txBody>
      </p:sp>
      <mc:AlternateContent xmlns:mc="http://schemas.openxmlformats.org/markup-compatibility/2006" xmlns:a14="http://schemas.microsoft.com/office/drawing/2010/main">
        <mc:Choice Requires="a14">
          <p:sp>
            <p:nvSpPr>
              <p:cNvPr id="21" name="T21"/>
              <p:cNvSpPr txBox="1"/>
              <p:nvPr/>
            </p:nvSpPr>
            <p:spPr>
              <a:xfrm>
                <a:off x="365760" y="4078224"/>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307.8</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120</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330.4，330.4 ÷ 16 = 20.6</m:t>
                      </m:r>
                    </m:oMath>
                  </m:oMathPara>
                </a14:m>
                <a:endParaRPr lang="zh-TW" sz="2400"/>
              </a:p>
            </p:txBody>
          </p:sp>
        </mc:Choice>
        <mc:Fallback xmlns="">
          <p:pic>
            <p:nvPicPr>
              <p:cNvPr id="21" name="F21"/>
              <p:cNvPicPr/>
              <p:nvPr/>
            </p:nvPicPr>
            <p:blipFill>
              <a:blip r:embed="rId3"/>
              <a:stretch>
                <a:fillRect/>
              </a:stretch>
            </p:blipFill>
            <p:spPr>
              <a:xfrm>
                <a:off x="365760" y="4078224"/>
                <a:ext cx="7955280" cy="566928"/>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觀念整理：方向改變也有加速度</a:t>
            </a:r>
          </a:p>
        </p:txBody>
      </p:sp>
      <p:sp>
        <p:nvSpPr>
          <p:cNvPr id="11" name="P11"/>
          <p:cNvSpPr/>
          <p:nvPr/>
        </p:nvSpPr>
        <p:spPr>
          <a:xfrm>
            <a:off x="4937760" y="2454226"/>
            <a:ext cx="2560320" cy="1706294"/>
          </a:xfrm>
          <a:custGeom>
            <a:avLst/>
            <a:gdLst/>
            <a:ahLst/>
            <a:cxnLst/>
            <a:rect l="0" t="0" r="r" b="b"/>
            <a:pathLst>
              <a:path w="2560320" h="1706294">
                <a:moveTo>
                  <a:pt x="0" y="1706294"/>
                </a:moveTo>
                <a:lnTo>
                  <a:pt x="1645920" y="1706294"/>
                </a:lnTo>
                <a:lnTo>
                  <a:pt x="1645920" y="1706294"/>
                </a:lnTo>
                <a:lnTo>
                  <a:pt x="1725615" y="1702814"/>
                </a:lnTo>
                <a:lnTo>
                  <a:pt x="1804704" y="1692402"/>
                </a:lnTo>
                <a:lnTo>
                  <a:pt x="1882584" y="1675136"/>
                </a:lnTo>
                <a:lnTo>
                  <a:pt x="1958663" y="1651149"/>
                </a:lnTo>
                <a:lnTo>
                  <a:pt x="2032362" y="1620621"/>
                </a:lnTo>
                <a:lnTo>
                  <a:pt x="2103120" y="1583787"/>
                </a:lnTo>
                <a:lnTo>
                  <a:pt x="2170398" y="1540926"/>
                </a:lnTo>
                <a:lnTo>
                  <a:pt x="2233685" y="1492365"/>
                </a:lnTo>
                <a:lnTo>
                  <a:pt x="2292498" y="1438472"/>
                </a:lnTo>
                <a:lnTo>
                  <a:pt x="2346391" y="1379659"/>
                </a:lnTo>
                <a:lnTo>
                  <a:pt x="2394953" y="1316372"/>
                </a:lnTo>
                <a:lnTo>
                  <a:pt x="2437814" y="1249094"/>
                </a:lnTo>
                <a:lnTo>
                  <a:pt x="2474648" y="1178336"/>
                </a:lnTo>
                <a:lnTo>
                  <a:pt x="2505175" y="1104637"/>
                </a:lnTo>
                <a:lnTo>
                  <a:pt x="2529163" y="1028558"/>
                </a:lnTo>
                <a:lnTo>
                  <a:pt x="2546428" y="950678"/>
                </a:lnTo>
                <a:lnTo>
                  <a:pt x="2556840" y="871589"/>
                </a:lnTo>
                <a:lnTo>
                  <a:pt x="2560320" y="791894"/>
                </a:lnTo>
                <a:lnTo>
                  <a:pt x="2556840" y="712198"/>
                </a:lnTo>
                <a:lnTo>
                  <a:pt x="2546428" y="633110"/>
                </a:lnTo>
                <a:lnTo>
                  <a:pt x="2529163" y="555229"/>
                </a:lnTo>
                <a:lnTo>
                  <a:pt x="2505175" y="479150"/>
                </a:lnTo>
                <a:lnTo>
                  <a:pt x="2474648" y="405451"/>
                </a:lnTo>
                <a:lnTo>
                  <a:pt x="2437814" y="334694"/>
                </a:lnTo>
                <a:lnTo>
                  <a:pt x="2394953" y="267415"/>
                </a:lnTo>
                <a:lnTo>
                  <a:pt x="2346391" y="204129"/>
                </a:lnTo>
                <a:lnTo>
                  <a:pt x="2292498" y="145315"/>
                </a:lnTo>
                <a:lnTo>
                  <a:pt x="2233685" y="91423"/>
                </a:lnTo>
                <a:lnTo>
                  <a:pt x="2170398" y="42861"/>
                </a:lnTo>
                <a:lnTo>
                  <a:pt x="2103120" y="0"/>
                </a:lnTo>
              </a:path>
            </a:pathLst>
          </a:custGeom>
          <a:noFill/>
          <a:ln w="25400">
            <a:solidFill>
              <a:srgbClr val="2B3050"/>
            </a:solidFill>
          </a:ln>
        </p:spPr>
        <p:txBody>
          <a:bodyPr/>
          <a:lstStyle/>
          <a:p>
            <a:endParaRPr lang="zh-TW" altLang="en-US"/>
          </a:p>
        </p:txBody>
      </p:sp>
      <p:sp>
        <p:nvSpPr>
          <p:cNvPr id="12" name="S12"/>
          <p:cNvSpPr/>
          <p:nvPr/>
        </p:nvSpPr>
        <p:spPr>
          <a:xfrm>
            <a:off x="4882896" y="4105656"/>
            <a:ext cx="109728" cy="109728"/>
          </a:xfrm>
          <a:prstGeom prst="ellipse">
            <a:avLst/>
          </a:prstGeom>
          <a:solidFill>
            <a:srgbClr val="2B3050"/>
          </a:solidFill>
          <a:ln>
            <a:noFill/>
          </a:ln>
        </p:spPr>
        <p:txBody>
          <a:bodyPr/>
          <a:lstStyle/>
          <a:p>
            <a:endParaRPr lang="zh-TW" altLang="en-US"/>
          </a:p>
        </p:txBody>
      </p:sp>
      <p:sp>
        <p:nvSpPr>
          <p:cNvPr id="13" name="T13"/>
          <p:cNvSpPr txBox="1"/>
          <p:nvPr/>
        </p:nvSpPr>
        <p:spPr>
          <a:xfrm>
            <a:off x="4800600" y="37033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sp>
        <p:nvSpPr>
          <p:cNvPr id="14" name="S14"/>
          <p:cNvSpPr/>
          <p:nvPr/>
        </p:nvSpPr>
        <p:spPr>
          <a:xfrm>
            <a:off x="6528816" y="4105656"/>
            <a:ext cx="109728" cy="109728"/>
          </a:xfrm>
          <a:prstGeom prst="ellipse">
            <a:avLst/>
          </a:prstGeom>
          <a:solidFill>
            <a:srgbClr val="2B3050"/>
          </a:solidFill>
          <a:ln>
            <a:noFill/>
          </a:ln>
        </p:spPr>
        <p:txBody>
          <a:bodyPr/>
          <a:lstStyle/>
          <a:p>
            <a:endParaRPr lang="zh-TW" altLang="en-US"/>
          </a:p>
        </p:txBody>
      </p:sp>
      <p:sp>
        <p:nvSpPr>
          <p:cNvPr id="15" name="T15"/>
          <p:cNvSpPr txBox="1"/>
          <p:nvPr/>
        </p:nvSpPr>
        <p:spPr>
          <a:xfrm>
            <a:off x="6217920" y="37033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B</a:t>
            </a:r>
            <a:endParaRPr lang="zh-TW" sz="2400"/>
          </a:p>
        </p:txBody>
      </p:sp>
      <p:sp>
        <p:nvSpPr>
          <p:cNvPr id="16" name="S16"/>
          <p:cNvSpPr/>
          <p:nvPr/>
        </p:nvSpPr>
        <p:spPr>
          <a:xfrm>
            <a:off x="6986016" y="2399362"/>
            <a:ext cx="109728" cy="109728"/>
          </a:xfrm>
          <a:prstGeom prst="ellipse">
            <a:avLst/>
          </a:prstGeom>
          <a:solidFill>
            <a:srgbClr val="2B3050"/>
          </a:solidFill>
          <a:ln>
            <a:noFill/>
          </a:ln>
        </p:spPr>
        <p:txBody>
          <a:bodyPr/>
          <a:lstStyle/>
          <a:p>
            <a:endParaRPr lang="zh-TW" altLang="en-US"/>
          </a:p>
        </p:txBody>
      </p:sp>
      <p:sp>
        <p:nvSpPr>
          <p:cNvPr id="17" name="T17"/>
          <p:cNvSpPr txBox="1"/>
          <p:nvPr/>
        </p:nvSpPr>
        <p:spPr>
          <a:xfrm>
            <a:off x="7132320" y="2408506"/>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C</a:t>
            </a:r>
            <a:endParaRPr lang="zh-TW" sz="2400"/>
          </a:p>
        </p:txBody>
      </p:sp>
      <p:cxnSp>
        <p:nvCxnSpPr>
          <p:cNvPr id="18" name="L18"/>
          <p:cNvCxnSpPr/>
          <p:nvPr/>
        </p:nvCxnSpPr>
        <p:spPr>
          <a:xfrm>
            <a:off x="6583680" y="4160520"/>
            <a:ext cx="731520" cy="0"/>
          </a:xfrm>
          <a:prstGeom prst="line">
            <a:avLst/>
          </a:prstGeom>
          <a:ln w="38100">
            <a:solidFill>
              <a:srgbClr val="1F8899"/>
            </a:solidFill>
            <a:tailEnd type="triangle" w="med" len="med"/>
          </a:ln>
        </p:spPr>
      </p:cxnSp>
      <p:sp>
        <p:nvSpPr>
          <p:cNvPr id="19" name="T19"/>
          <p:cNvSpPr txBox="1"/>
          <p:nvPr/>
        </p:nvSpPr>
        <p:spPr>
          <a:xfrm>
            <a:off x="6949440" y="4187952"/>
            <a:ext cx="12801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10 m/s²</a:t>
            </a:r>
            <a:endParaRPr lang="zh-TW" sz="2400"/>
          </a:p>
        </p:txBody>
      </p:sp>
      <p:cxnSp>
        <p:nvCxnSpPr>
          <p:cNvPr id="20" name="L20"/>
          <p:cNvCxnSpPr/>
          <p:nvPr/>
        </p:nvCxnSpPr>
        <p:spPr>
          <a:xfrm>
            <a:off x="6103748" y="2088854"/>
            <a:ext cx="937132" cy="365373"/>
          </a:xfrm>
          <a:prstGeom prst="line">
            <a:avLst/>
          </a:prstGeom>
          <a:ln w="38100">
            <a:solidFill>
              <a:srgbClr val="D6006F"/>
            </a:solidFill>
            <a:headEnd type="triangle" w="med" len="med"/>
          </a:ln>
        </p:spPr>
      </p:cxnSp>
      <p:sp>
        <p:nvSpPr>
          <p:cNvPr id="21" name="T21"/>
          <p:cNvSpPr txBox="1"/>
          <p:nvPr/>
        </p:nvSpPr>
        <p:spPr>
          <a:xfrm>
            <a:off x="5577840" y="1585546"/>
            <a:ext cx="14630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20.6 m/s²</a:t>
            </a:r>
            <a:endParaRPr lang="zh-TW" sz="2400"/>
          </a:p>
        </p:txBody>
      </p:sp>
      <p:sp>
        <p:nvSpPr>
          <p:cNvPr id="22" name="T22"/>
          <p:cNvSpPr txBox="1"/>
          <p:nvPr/>
        </p:nvSpPr>
        <p:spPr>
          <a:xfrm>
            <a:off x="365760" y="868680"/>
            <a:ext cx="44805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0392B"/>
                </a:solidFill>
                <a:latin typeface="Calibri"/>
                <a:ea typeface="微軟正黑體"/>
                <a:cs typeface="Calibri"/>
              </a:rPr>
              <a:t>錯誤算法：</a:t>
            </a:r>
            <a:endParaRPr lang="zh-TW" sz="2400"/>
          </a:p>
        </p:txBody>
      </p:sp>
      <p:sp>
        <p:nvSpPr>
          <p:cNvPr id="23" name="T23"/>
          <p:cNvSpPr txBox="1"/>
          <p:nvPr/>
        </p:nvSpPr>
        <p:spPr>
          <a:xfrm>
            <a:off x="365760" y="1280160"/>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(C 速率 − B 速率) ÷ 16 s</a:t>
            </a:r>
            <a:endParaRPr lang="zh-TW" sz="2400"/>
          </a:p>
        </p:txBody>
      </p:sp>
      <p:sp>
        <p:nvSpPr>
          <p:cNvPr id="24" name="T24"/>
          <p:cNvSpPr txBox="1"/>
          <p:nvPr/>
        </p:nvSpPr>
        <p:spPr>
          <a:xfrm>
            <a:off x="365760" y="1737360"/>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 (240 − 100) ÷ 16 = 8.75</a:t>
            </a:r>
            <a:endParaRPr lang="zh-TW" sz="2400"/>
          </a:p>
        </p:txBody>
      </p:sp>
      <p:sp>
        <p:nvSpPr>
          <p:cNvPr id="25" name="T25"/>
          <p:cNvSpPr txBox="1"/>
          <p:nvPr/>
        </p:nvSpPr>
        <p:spPr>
          <a:xfrm>
            <a:off x="365760" y="2194560"/>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只算到「速率」的變化</a:t>
            </a:r>
            <a:endParaRPr lang="zh-TW" sz="2400"/>
          </a:p>
        </p:txBody>
      </p:sp>
      <p:sp>
        <p:nvSpPr>
          <p:cNvPr id="26" name="T26"/>
          <p:cNvSpPr txBox="1"/>
          <p:nvPr/>
        </p:nvSpPr>
        <p:spPr>
          <a:xfrm>
            <a:off x="365760" y="2651760"/>
            <a:ext cx="44805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F8F4E"/>
                </a:solidFill>
                <a:latin typeface="Calibri"/>
                <a:ea typeface="微軟正黑體"/>
                <a:cs typeface="Calibri"/>
              </a:rPr>
              <a:t>正確算法：</a:t>
            </a:r>
            <a:endParaRPr lang="zh-TW" sz="2400"/>
          </a:p>
        </p:txBody>
      </p:sp>
      <p:sp>
        <p:nvSpPr>
          <p:cNvPr id="27" name="T27"/>
          <p:cNvSpPr txBox="1"/>
          <p:nvPr/>
        </p:nvSpPr>
        <p:spPr>
          <a:xfrm>
            <a:off x="365760" y="3063240"/>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用速度向量相減 → 20.6</a:t>
            </a:r>
            <a:endParaRPr lang="zh-TW" sz="2400"/>
          </a:p>
        </p:txBody>
      </p:sp>
      <p:sp>
        <p:nvSpPr>
          <p:cNvPr id="28" name="T28"/>
          <p:cNvSpPr txBox="1"/>
          <p:nvPr/>
        </p:nvSpPr>
        <p:spPr>
          <a:xfrm>
            <a:off x="365760" y="3520440"/>
            <a:ext cx="44805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方向改變也會產生加速度</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2-14　本題用到的公式</a:t>
            </a:r>
          </a:p>
        </p:txBody>
      </p:sp>
      <p:sp>
        <p:nvSpPr>
          <p:cNvPr id="11" name="T11"/>
          <p:cNvSpPr txBox="1"/>
          <p:nvPr/>
        </p:nvSpPr>
        <p:spPr>
          <a:xfrm>
            <a:off x="365760" y="896112"/>
            <a:ext cx="2103120" cy="7498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平均加速度</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7498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e>
                        <m:sub>
                          <m:r>
                            <m:rPr>
                              <m:sty m:val="p"/>
                            </m:rPr>
                            <a:rPr lang="en-US" altLang="zh-TW" sz="2400" b="0" i="0">
                              <a:solidFill>
                                <a:srgbClr val="2B3050"/>
                              </a:solidFill>
                              <a:latin typeface="Cambria Math" panose="02040503050406030204" pitchFamily="18" charset="0"/>
                              <a:ea typeface="Cambria Math"/>
                            </a:rPr>
                            <m:t>av</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m:rPr>
                              <m:sty m:val="p"/>
                            </m:rPr>
                            <a:rPr lang="en-US" altLang="zh-TW" sz="2400" b="0" i="0">
                              <a:solidFill>
                                <a:srgbClr val="2B3050"/>
                              </a:solidFill>
                              <a:latin typeface="Cambria Math" panose="02040503050406030204" pitchFamily="18" charset="0"/>
                              <a:ea typeface="Cambria Math"/>
                            </a:rPr>
                            <m:t>Δ</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0">
                                  <a:solidFill>
                                    <a:srgbClr val="2B3050"/>
                                  </a:solidFill>
                                  <a:latin typeface="Cambria Math" panose="02040503050406030204" pitchFamily="18" charset="0"/>
                                  <a:ea typeface="Cambria Math"/>
                                </a:rPr>
                                <m:t>2</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0">
                                  <a:solidFill>
                                    <a:srgbClr val="2B3050"/>
                                  </a:solidFill>
                                  <a:latin typeface="Cambria Math" panose="02040503050406030204" pitchFamily="18" charset="0"/>
                                  <a:ea typeface="Cambria Math"/>
                                </a:rPr>
                                <m:t>1</m:t>
                              </m:r>
                            </m:sub>
                          </m:sSub>
                        </m:num>
                        <m:den>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𝑡</m:t>
                          </m:r>
                        </m:den>
                      </m:f>
                    </m:oMath>
                  </m:oMathPara>
                </a14:m>
                <a:endParaRPr lang="zh-TW" sz="2400"/>
              </a:p>
            </p:txBody>
          </p:sp>
        </mc:Choice>
        <mc:Fallback xmlns="">
          <p:pic>
            <p:nvPicPr>
              <p:cNvPr id="12" name="F12"/>
              <p:cNvPicPr/>
              <p:nvPr/>
            </p:nvPicPr>
            <p:blipFill>
              <a:blip r:embed="rId2"/>
              <a:stretch>
                <a:fillRect/>
              </a:stretch>
            </p:blipFill>
            <p:spPr>
              <a:xfrm>
                <a:off x="2560320" y="896112"/>
                <a:ext cx="5760720" cy="749808"/>
              </a:xfrm>
              <a:prstGeom prst="roundRect">
                <a:avLst/>
              </a:prstGeom>
              <a:solidFill>
                <a:srgbClr val="E8F4F6"/>
              </a:solidFill>
              <a:ln>
                <a:noFill/>
              </a:ln>
            </p:spPr>
          </p:pic>
        </mc:Fallback>
      </mc:AlternateContent>
      <p:sp>
        <p:nvSpPr>
          <p:cNvPr id="13" name="T13"/>
          <p:cNvSpPr txBox="1"/>
          <p:nvPr/>
        </p:nvSpPr>
        <p:spPr>
          <a:xfrm>
            <a:off x="365760" y="171907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速度分解</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71907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 xmlns:m="http://schemas.openxmlformats.org/officeDocument/2006/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oMath>
                </a14:m>
                <a:r>
                  <a:rPr lang="zh-TW" altLang="en-US" sz="2400" b="0" dirty="0">
                    <a:solidFill>
                      <a:srgbClr val="2B3050"/>
                    </a:solidFill>
                    <a:latin typeface="Calibri"/>
                    <a:ea typeface="微軟正黑體"/>
                    <a:cs typeface="Calibri"/>
                  </a:rPr>
                  <a:t>（水平）、</a:t>
                </a:r>
                <a14:m>
                  <m:oMath xmlns:m="http://schemas.openxmlformats.org/officeDocument/2006/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oMath>
                </a14:m>
                <a:r>
                  <a:rPr lang="zh-TW" altLang="en-US" sz="2400" b="0" dirty="0">
                    <a:solidFill>
                      <a:srgbClr val="2B3050"/>
                    </a:solidFill>
                    <a:latin typeface="Calibri"/>
                    <a:ea typeface="微軟正黑體"/>
                    <a:cs typeface="Calibri"/>
                  </a:rPr>
                  <a:t>（垂直）</a:t>
                </a:r>
                <a:endParaRPr lang="zh-TW" sz="2400"/>
              </a:p>
              <a:p>
                <a:pPr algn="l">
                  <a:lnSpc>
                    <a:spcPct val="100000"/>
                  </a:lnSpc>
                  <a:buNone/>
                </a:pPr>
                <a:r>
                  <a:rPr lang="zh-TW" altLang="en-US" sz="2400" b="0" dirty="0">
                    <a:solidFill>
                      <a:srgbClr val="2B3050"/>
                    </a:solidFill>
                    <a:latin typeface="Calibri"/>
                    <a:ea typeface="微軟正黑體"/>
                    <a:cs typeface="Calibri"/>
                  </a:rPr>
                  <a:t>正負由方向決定</a:t>
                </a:r>
                <a:endParaRPr lang="zh-TW" sz="2400"/>
              </a:p>
            </p:txBody>
          </p:sp>
        </mc:Choice>
        <mc:Fallback xmlns="">
          <p:pic>
            <p:nvPicPr>
              <p:cNvPr id="14" name="F14"/>
              <p:cNvPicPr/>
              <p:nvPr/>
            </p:nvPicPr>
            <p:blipFill>
              <a:blip r:embed="rId3"/>
              <a:stretch>
                <a:fillRect/>
              </a:stretch>
            </p:blipFill>
            <p:spPr>
              <a:xfrm>
                <a:off x="2560320" y="1719072"/>
                <a:ext cx="5760720" cy="795528"/>
              </a:xfrm>
              <a:prstGeom prst="roundRect">
                <a:avLst/>
              </a:prstGeom>
              <a:solidFill>
                <a:srgbClr val="E8F4F6"/>
              </a:solidFill>
              <a:ln>
                <a:noFill/>
              </a:ln>
            </p:spPr>
          </p:pic>
        </mc:Fallback>
      </mc:AlternateContent>
      <p:sp>
        <p:nvSpPr>
          <p:cNvPr id="15" name="T15"/>
          <p:cNvSpPr txBox="1"/>
          <p:nvPr/>
        </p:nvSpPr>
        <p:spPr>
          <a:xfrm>
            <a:off x="365760" y="2587752"/>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大小</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587752"/>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16" name="F16"/>
              <p:cNvPicPr/>
              <p:nvPr/>
            </p:nvPicPr>
            <p:blipFill>
              <a:blip r:embed="rId4"/>
              <a:stretch>
                <a:fillRect/>
              </a:stretch>
            </p:blipFill>
            <p:spPr>
              <a:xfrm>
                <a:off x="2560320" y="2587752"/>
                <a:ext cx="5760720" cy="612648"/>
              </a:xfrm>
              <a:prstGeom prst="roundRect">
                <a:avLst/>
              </a:prstGeom>
              <a:solidFill>
                <a:srgbClr val="E8F4F6"/>
              </a:solidFill>
              <a:ln>
                <a:noFill/>
              </a:ln>
            </p:spPr>
          </p:pic>
        </mc:Fallback>
      </mc:AlternateContent>
      <p:sp>
        <p:nvSpPr>
          <p:cNvPr id="17" name="T17"/>
          <p:cNvSpPr txBox="1"/>
          <p:nvPr/>
        </p:nvSpPr>
        <p:spPr>
          <a:xfrm>
            <a:off x="365760" y="327355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方向角</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27355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tan</m:t>
                          </m:r>
                        </m:e>
                        <m:sup>
                          <m:r>
                            <a:rPr lang="en-US" altLang="zh-TW" sz="2400" b="0" i="0">
                              <a:solidFill>
                                <a:srgbClr val="2B3050"/>
                              </a:solidFill>
                              <a:latin typeface="Cambria Math" panose="02040503050406030204" pitchFamily="18" charset="0"/>
                              <a:ea typeface="Cambria Math"/>
                            </a:rPr>
                            <m:t>−1</m:t>
                          </m:r>
                        </m:sup>
                      </m:sSup>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m:t>
                              </m:r>
                            </m:num>
                            <m:den>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m:t>
                              </m:r>
                            </m:den>
                          </m:f>
                        </m:e>
                      </m:d>
                    </m:oMath>
                  </m:oMathPara>
                </a14:m>
                <a:endParaRPr lang="zh-TW" sz="2400"/>
              </a:p>
            </p:txBody>
          </p:sp>
        </mc:Choice>
        <mc:Fallback xmlns="">
          <p:pic>
            <p:nvPicPr>
              <p:cNvPr id="18" name="F18"/>
              <p:cNvPicPr/>
              <p:nvPr/>
            </p:nvPicPr>
            <p:blipFill>
              <a:blip r:embed="rId5"/>
              <a:stretch>
                <a:fillRect/>
              </a:stretch>
            </p:blipFill>
            <p:spPr>
              <a:xfrm>
                <a:off x="2560320" y="3273552"/>
                <a:ext cx="5760720" cy="795528"/>
              </a:xfrm>
              <a:prstGeom prst="roundRect">
                <a:avLst/>
              </a:prstGeom>
              <a:solidFill>
                <a:srgbClr val="E8F4F6"/>
              </a:solidFill>
              <a:ln>
                <a:noFill/>
              </a:ln>
            </p:spPr>
          </p:pic>
        </mc:Fallback>
      </mc:AlternateContent>
      <p:sp>
        <p:nvSpPr>
          <p:cNvPr id="19" name="T19"/>
          <p:cNvSpPr txBox="1"/>
          <p:nvPr/>
        </p:nvSpPr>
        <p:spPr>
          <a:xfrm>
            <a:off x="365760" y="4142232"/>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42232"/>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大小相減會騙人，向量相減才算數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拋射體運動</a:t>
            </a:r>
          </a:p>
        </p:txBody>
      </p:sp>
      <p:sp>
        <p:nvSpPr>
          <p:cNvPr id="11" name="T11"/>
          <p:cNvSpPr txBox="1"/>
          <p:nvPr/>
        </p:nvSpPr>
        <p:spPr>
          <a:xfrm>
            <a:off x="365760" y="868680"/>
            <a:ext cx="4846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只受重力：加速度只在垂直方向</a:t>
            </a:r>
            <a:endParaRPr lang="zh-TW" sz="2400" dirty="0"/>
          </a:p>
        </p:txBody>
      </p:sp>
      <p:sp>
        <p:nvSpPr>
          <p:cNvPr id="12" name="T12"/>
          <p:cNvSpPr txBox="1"/>
          <p:nvPr/>
        </p:nvSpPr>
        <p:spPr>
          <a:xfrm>
            <a:off x="365760" y="1307592"/>
            <a:ext cx="4846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其他方向：等速運動 </a:t>
            </a:r>
            <a:r>
              <a:rPr lang="en-US" altLang="zh-TW" sz="2400" b="0" dirty="0">
                <a:solidFill>
                  <a:srgbClr val="2B3050"/>
                </a:solidFill>
                <a:latin typeface="Calibri"/>
                <a:ea typeface="微軟正黑體"/>
                <a:cs typeface="Calibri"/>
              </a:rPr>
              <a:t>(</a:t>
            </a:r>
            <a:r>
              <a:rPr lang="en-US" altLang="zh-TW" sz="2400" b="0" dirty="0">
                <a:solidFill>
                  <a:srgbClr val="2B3050"/>
                </a:solidFill>
                <a:highlight>
                  <a:srgbClr val="FFFF00"/>
                </a:highlight>
                <a:latin typeface="Calibri"/>
                <a:ea typeface="微軟正黑體"/>
                <a:cs typeface="Calibri"/>
              </a:rPr>
              <a:t>a=0)</a:t>
            </a:r>
            <a:endParaRPr lang="zh-TW" sz="2400" dirty="0">
              <a:highlight>
                <a:srgbClr val="FFFF00"/>
              </a:highlight>
            </a:endParaRPr>
          </a:p>
        </p:txBody>
      </p:sp>
      <mc:AlternateContent xmlns:mc="http://schemas.openxmlformats.org/markup-compatibility/2006" xmlns:a14="http://schemas.microsoft.com/office/drawing/2010/main">
        <mc:Choice Requires="a14">
          <p:sp>
            <p:nvSpPr>
              <p:cNvPr id="13" name="T13"/>
              <p:cNvSpPr txBox="1"/>
              <p:nvPr/>
            </p:nvSpPr>
            <p:spPr>
              <a:xfrm>
                <a:off x="365760" y="1746504"/>
                <a:ext cx="484632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水平：</a:t>
                </a:r>
                <a14:m>
                  <m:oMath xmlns:m="http://schemas.openxmlformats.org/officeDocument/2006/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𝑥</m:t>
                        </m:r>
                      </m:sub>
                    </m:sSub>
                    <m:r>
                      <a:rPr lang="en-US" altLang="zh-TW" sz="2400" b="0" i="0">
                        <a:solidFill>
                          <a:srgbClr val="1F8899"/>
                        </a:solidFill>
                        <a:latin typeface="Cambria Math" panose="02040503050406030204" pitchFamily="18" charset="0"/>
                        <a:ea typeface="Cambria Math"/>
                      </a:rPr>
                      <m:t> =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r>
                      <a:rPr lang="en-US" altLang="zh-TW" sz="2400" b="0" i="0">
                        <a:solidFill>
                          <a:srgbClr val="1F8899"/>
                        </a:solidFill>
                        <a:latin typeface="Cambria Math" panose="02040503050406030204" pitchFamily="18" charset="0"/>
                        <a:ea typeface="Cambria Math"/>
                      </a:rPr>
                      <m:t>，</m:t>
                    </m:r>
                    <m:r>
                      <a:rPr lang="en-US" altLang="zh-TW" sz="2400" b="0" i="1">
                        <a:solidFill>
                          <a:srgbClr val="1F8899"/>
                        </a:solidFill>
                        <a:latin typeface="Cambria Math" panose="02040503050406030204" pitchFamily="18" charset="0"/>
                        <a:ea typeface="Cambria Math"/>
                      </a:rPr>
                      <m:t>𝑥</m:t>
                    </m:r>
                    <m:r>
                      <a:rPr lang="en-US" altLang="zh-TW" sz="2400" b="0" i="0">
                        <a:solidFill>
                          <a:srgbClr val="1F8899"/>
                        </a:solidFill>
                        <a:latin typeface="Cambria Math" panose="02040503050406030204" pitchFamily="18" charset="0"/>
                        <a:ea typeface="Cambria Math"/>
                      </a:rPr>
                      <m:t> =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𝑥</m:t>
                        </m:r>
                      </m:e>
                      <m:sub>
                        <m:r>
                          <a:rPr lang="en-US" altLang="zh-TW" sz="2400" b="0" i="0">
                            <a:solidFill>
                              <a:srgbClr val="1F8899"/>
                            </a:solidFill>
                            <a:latin typeface="Cambria Math" panose="02040503050406030204" pitchFamily="18" charset="0"/>
                            <a:ea typeface="Cambria Math"/>
                          </a:rPr>
                          <m:t>0</m:t>
                        </m:r>
                      </m:sub>
                    </m:sSub>
                    <m:r>
                      <a:rPr lang="en-US" altLang="zh-TW" sz="2400" b="0" i="0">
                        <a:solidFill>
                          <a:srgbClr val="1F8899"/>
                        </a:solidFill>
                        <a:latin typeface="Cambria Math" panose="02040503050406030204" pitchFamily="18" charset="0"/>
                        <a:ea typeface="Cambria Math"/>
                      </a:rPr>
                      <m:t> +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r>
                      <a:rPr lang="en-US" altLang="zh-TW" sz="2400" b="0" i="1">
                        <a:solidFill>
                          <a:srgbClr val="1F8899"/>
                        </a:solidFill>
                        <a:latin typeface="Cambria Math" panose="02040503050406030204" pitchFamily="18" charset="0"/>
                        <a:ea typeface="Cambria Math"/>
                      </a:rPr>
                      <m:t>𝑡</m:t>
                    </m:r>
                  </m:oMath>
                </a14:m>
                <a:endParaRPr lang="zh-TW" sz="2400" dirty="0"/>
              </a:p>
            </p:txBody>
          </p:sp>
        </mc:Choice>
        <mc:Fallback xmlns="">
          <p:pic>
            <p:nvPicPr>
              <p:cNvPr id="13" name="F13"/>
              <p:cNvPicPr/>
              <p:nvPr/>
            </p:nvPicPr>
            <p:blipFill>
              <a:blip r:embed="rId2"/>
              <a:stretch>
                <a:fillRect/>
              </a:stretch>
            </p:blipFill>
            <p:spPr>
              <a:xfrm>
                <a:off x="365760" y="1746504"/>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295144"/>
                <a:ext cx="484632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垂直：</a:t>
                </a:r>
                <a14:m>
                  <m:oMath xmlns:m="http://schemas.openxmlformats.org/officeDocument/2006/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𝑔𝑡</m:t>
                    </m:r>
                  </m:oMath>
                </a14:m>
                <a:endParaRPr lang="zh-TW" sz="2400" dirty="0"/>
              </a:p>
            </p:txBody>
          </p:sp>
        </mc:Choice>
        <mc:Fallback xmlns="">
          <p:pic>
            <p:nvPicPr>
              <p:cNvPr id="14" name="F14"/>
              <p:cNvPicPr/>
              <p:nvPr/>
            </p:nvPicPr>
            <p:blipFill>
              <a:blip r:embed="rId3"/>
              <a:stretch>
                <a:fillRect/>
              </a:stretch>
            </p:blipFill>
            <p:spPr>
              <a:xfrm>
                <a:off x="365760" y="2295144"/>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2843784"/>
                <a:ext cx="484632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C8901F"/>
                          </a:solidFill>
                          <a:latin typeface="Cambria Math" panose="02040503050406030204" pitchFamily="18" charset="0"/>
                          <a:ea typeface="Cambria Math"/>
                        </a:rPr>
                        <m:t>　　　</m:t>
                      </m:r>
                      <m:r>
                        <a:rPr lang="en-US" altLang="zh-TW" sz="2400" b="0" i="1">
                          <a:solidFill>
                            <a:srgbClr val="C8901F"/>
                          </a:solidFill>
                          <a:latin typeface="Cambria Math" panose="02040503050406030204" pitchFamily="18" charset="0"/>
                          <a:ea typeface="Cambria Math"/>
                        </a:rPr>
                        <m:t>𝑦</m:t>
                      </m:r>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𝑦</m:t>
                          </m:r>
                        </m:e>
                        <m:sub>
                          <m:r>
                            <a:rPr lang="en-US" altLang="zh-TW" sz="2400" b="0" i="0">
                              <a:solidFill>
                                <a:srgbClr val="C8901F"/>
                              </a:solidFill>
                              <a:latin typeface="Cambria Math" panose="02040503050406030204" pitchFamily="18" charset="0"/>
                              <a:ea typeface="Cambria Math"/>
                            </a:rPr>
                            <m:t>0</m:t>
                          </m:r>
                        </m:sub>
                      </m:sSub>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r>
                        <a:rPr lang="en-US" altLang="zh-TW" sz="2400" b="0" i="1">
                          <a:solidFill>
                            <a:srgbClr val="C8901F"/>
                          </a:solidFill>
                          <a:latin typeface="Cambria Math" panose="02040503050406030204" pitchFamily="18" charset="0"/>
                          <a:ea typeface="Cambria Math"/>
                        </a:rPr>
                        <m:t>𝑡</m:t>
                      </m:r>
                      <m:r>
                        <a:rPr lang="en-US" altLang="zh-TW" sz="2400" b="0" i="0">
                          <a:solidFill>
                            <a:srgbClr val="C8901F"/>
                          </a:solidFill>
                          <a:latin typeface="Cambria Math" panose="02040503050406030204" pitchFamily="18" charset="0"/>
                          <a:ea typeface="Cambria Math"/>
                        </a:rPr>
                        <m:t> − </m:t>
                      </m:r>
                      <m:f>
                        <m:fPr>
                          <m:ctrlPr>
                            <a:rPr lang="en-US" altLang="zh-TW" sz="2400" b="0" i="0">
                              <a:solidFill>
                                <a:srgbClr val="C8901F"/>
                              </a:solidFill>
                              <a:latin typeface="Cambria Math" panose="02040503050406030204" pitchFamily="18" charset="0"/>
                              <a:ea typeface="Cambria Math"/>
                            </a:rPr>
                          </m:ctrlPr>
                        </m:fPr>
                        <m:num>
                          <m:r>
                            <a:rPr lang="en-US" altLang="zh-TW" sz="2400" b="0" i="0">
                              <a:solidFill>
                                <a:srgbClr val="C8901F"/>
                              </a:solidFill>
                              <a:latin typeface="Cambria Math" panose="02040503050406030204" pitchFamily="18" charset="0"/>
                              <a:ea typeface="Cambria Math"/>
                            </a:rPr>
                            <m:t>1</m:t>
                          </m:r>
                        </m:num>
                        <m:den>
                          <m:r>
                            <a:rPr lang="en-US" altLang="zh-TW" sz="2400" b="0" i="0">
                              <a:solidFill>
                                <a:srgbClr val="C8901F"/>
                              </a:solidFill>
                              <a:latin typeface="Cambria Math" panose="02040503050406030204" pitchFamily="18" charset="0"/>
                              <a:ea typeface="Cambria Math"/>
                            </a:rPr>
                            <m:t>2</m:t>
                          </m:r>
                        </m:den>
                      </m:f>
                      <m:r>
                        <a:rPr lang="en-US" altLang="zh-TW" sz="2400" b="0" i="1">
                          <a:solidFill>
                            <a:srgbClr val="C8901F"/>
                          </a:solidFill>
                          <a:latin typeface="Cambria Math" panose="02040503050406030204" pitchFamily="18" charset="0"/>
                          <a:ea typeface="Cambria Math"/>
                        </a:rPr>
                        <m:t>𝑔</m:t>
                      </m:r>
                      <m:sSup>
                        <m:sSupPr>
                          <m:ctrlPr>
                            <a:rPr lang="en-US" altLang="zh-TW" sz="2400" b="0" i="1">
                              <a:solidFill>
                                <a:srgbClr val="C8901F"/>
                              </a:solidFill>
                              <a:latin typeface="Cambria Math" panose="02040503050406030204" pitchFamily="18" charset="0"/>
                              <a:ea typeface="Cambria Math"/>
                            </a:rPr>
                          </m:ctrlPr>
                        </m:sSupPr>
                        <m:e>
                          <m:r>
                            <a:rPr lang="en-US" altLang="zh-TW" sz="2400" b="0" i="1">
                              <a:solidFill>
                                <a:srgbClr val="C8901F"/>
                              </a:solidFill>
                              <a:latin typeface="Cambria Math" panose="02040503050406030204" pitchFamily="18" charset="0"/>
                              <a:ea typeface="Cambria Math"/>
                            </a:rPr>
                            <m:t>𝑡</m:t>
                          </m:r>
                        </m:e>
                        <m:sup>
                          <m:r>
                            <a:rPr lang="en-US" altLang="zh-TW" sz="2400" b="0" i="0">
                              <a:solidFill>
                                <a:srgbClr val="C8901F"/>
                              </a:solidFill>
                              <a:latin typeface="Cambria Math" panose="02040503050406030204" pitchFamily="18" charset="0"/>
                              <a:ea typeface="Cambria Math"/>
                            </a:rPr>
                            <m:t>2</m:t>
                          </m:r>
                        </m:sup>
                      </m:sSup>
                    </m:oMath>
                  </m:oMathPara>
                </a14:m>
                <a:endParaRPr lang="zh-TW" sz="2400"/>
              </a:p>
            </p:txBody>
          </p:sp>
        </mc:Choice>
        <mc:Fallback xmlns="">
          <p:pic>
            <p:nvPicPr>
              <p:cNvPr id="15" name="F15"/>
              <p:cNvPicPr/>
              <p:nvPr/>
            </p:nvPicPr>
            <p:blipFill>
              <a:blip r:embed="rId4"/>
              <a:stretch>
                <a:fillRect/>
              </a:stretch>
            </p:blipFill>
            <p:spPr>
              <a:xfrm>
                <a:off x="365760" y="2843784"/>
                <a:ext cx="484632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365760" y="3621024"/>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C8901F"/>
                          </a:solidFill>
                          <a:latin typeface="Cambria Math" panose="02040503050406030204" pitchFamily="18" charset="0"/>
                          <a:ea typeface="Cambria Math"/>
                        </a:rPr>
                        <m:t>　　　</m:t>
                      </m:r>
                      <m:sSup>
                        <m:sSupPr>
                          <m:ctrlPr>
                            <a:rPr lang="en-US" altLang="zh-TW" sz="2400" b="0" i="1">
                              <a:solidFill>
                                <a:srgbClr val="C8901F"/>
                              </a:solidFill>
                              <a:latin typeface="Cambria Math" panose="02040503050406030204" pitchFamily="18" charset="0"/>
                              <a:ea typeface="Cambria Math"/>
                            </a:rPr>
                          </m:ctrlPr>
                        </m:sSupPr>
                        <m:e>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m:t>
                      </m:r>
                      <m:sSup>
                        <m:sSupPr>
                          <m:ctrlPr>
                            <a:rPr lang="en-US" altLang="zh-TW" sz="2400" b="0" i="1">
                              <a:solidFill>
                                <a:srgbClr val="C8901F"/>
                              </a:solidFill>
                              <a:latin typeface="Cambria Math" panose="02040503050406030204" pitchFamily="18" charset="0"/>
                              <a:ea typeface="Cambria Math"/>
                            </a:rPr>
                          </m:ctrlPr>
                        </m:sSupPr>
                        <m:e>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− 2</m:t>
                      </m:r>
                      <m:r>
                        <a:rPr lang="en-US" altLang="zh-TW" sz="2400" b="0" i="1">
                          <a:solidFill>
                            <a:srgbClr val="C8901F"/>
                          </a:solidFill>
                          <a:latin typeface="Cambria Math" panose="02040503050406030204" pitchFamily="18" charset="0"/>
                          <a:ea typeface="Cambria Math"/>
                        </a:rPr>
                        <m:t>𝑔</m:t>
                      </m:r>
                      <m:d>
                        <m:dPr>
                          <m:ctrlPr>
                            <a:rPr lang="en-US" altLang="zh-TW" sz="2400" b="0" i="1">
                              <a:solidFill>
                                <a:srgbClr val="C8901F"/>
                              </a:solidFill>
                              <a:latin typeface="Cambria Math" panose="02040503050406030204" pitchFamily="18" charset="0"/>
                              <a:ea typeface="Cambria Math"/>
                            </a:rPr>
                          </m:ctrlPr>
                        </m:dPr>
                        <m:e>
                          <m:r>
                            <a:rPr lang="en-US" altLang="zh-TW" sz="2400" b="0" i="1">
                              <a:solidFill>
                                <a:srgbClr val="C8901F"/>
                              </a:solidFill>
                              <a:latin typeface="Cambria Math" panose="02040503050406030204" pitchFamily="18" charset="0"/>
                              <a:ea typeface="Cambria Math"/>
                            </a:rPr>
                            <m:t>𝑦</m:t>
                          </m:r>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𝑦</m:t>
                              </m:r>
                            </m:e>
                            <m:sub>
                              <m:r>
                                <a:rPr lang="en-US" altLang="zh-TW" sz="2400" b="0" i="0">
                                  <a:solidFill>
                                    <a:srgbClr val="C8901F"/>
                                  </a:solidFill>
                                  <a:latin typeface="Cambria Math" panose="02040503050406030204" pitchFamily="18" charset="0"/>
                                  <a:ea typeface="Cambria Math"/>
                                </a:rPr>
                                <m:t>0</m:t>
                              </m:r>
                            </m:sub>
                          </m:sSub>
                        </m:e>
                      </m:d>
                    </m:oMath>
                  </m:oMathPara>
                </a14:m>
                <a:endParaRPr lang="zh-TW" sz="2400" dirty="0"/>
              </a:p>
            </p:txBody>
          </p:sp>
        </mc:Choice>
        <mc:Fallback xmlns="">
          <p:pic>
            <p:nvPicPr>
              <p:cNvPr id="16" name="F16"/>
              <p:cNvPicPr/>
              <p:nvPr/>
            </p:nvPicPr>
            <p:blipFill>
              <a:blip r:embed="rId5"/>
              <a:stretch>
                <a:fillRect/>
              </a:stretch>
            </p:blipFill>
            <p:spPr>
              <a:xfrm>
                <a:off x="365760" y="3621024"/>
                <a:ext cx="4846320" cy="548640"/>
              </a:xfrm>
              <a:prstGeom prst="rect">
                <a:avLst/>
              </a:prstGeom>
              <a:noFill/>
              <a:ln>
                <a:noFill/>
              </a:ln>
            </p:spPr>
          </p:pic>
        </mc:Fallback>
      </mc:AlternateContent>
      <p:sp>
        <p:nvSpPr>
          <p:cNvPr id="17" name="T17"/>
          <p:cNvSpPr txBox="1"/>
          <p:nvPr/>
        </p:nvSpPr>
        <p:spPr>
          <a:xfrm>
            <a:off x="365760" y="4206240"/>
            <a:ext cx="4572000" cy="5486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z 方向：和 x 一樣等速</a:t>
            </a:r>
            <a:endParaRPr lang="zh-TW" sz="2400"/>
          </a:p>
        </p:txBody>
      </p:sp>
      <p:cxnSp>
        <p:nvCxnSpPr>
          <p:cNvPr id="18" name="L18"/>
          <p:cNvCxnSpPr/>
          <p:nvPr/>
        </p:nvCxnSpPr>
        <p:spPr>
          <a:xfrm>
            <a:off x="5166360" y="3566160"/>
            <a:ext cx="3200400" cy="0"/>
          </a:xfrm>
          <a:prstGeom prst="line">
            <a:avLst/>
          </a:prstGeom>
          <a:ln w="15875">
            <a:solidFill>
              <a:srgbClr val="2B3050"/>
            </a:solidFill>
            <a:tailEnd type="triangle" w="med" len="med"/>
          </a:ln>
        </p:spPr>
      </p:cxnSp>
      <p:cxnSp>
        <p:nvCxnSpPr>
          <p:cNvPr id="19" name="L19"/>
          <p:cNvCxnSpPr/>
          <p:nvPr/>
        </p:nvCxnSpPr>
        <p:spPr>
          <a:xfrm flipV="1">
            <a:off x="5257800" y="1005840"/>
            <a:ext cx="0" cy="2651760"/>
          </a:xfrm>
          <a:prstGeom prst="line">
            <a:avLst/>
          </a:prstGeom>
          <a:ln w="15875">
            <a:solidFill>
              <a:srgbClr val="2B3050"/>
            </a:solidFill>
            <a:tailEnd type="triangle" w="med" len="med"/>
          </a:ln>
        </p:spPr>
      </p:cxnSp>
      <p:sp>
        <p:nvSpPr>
          <p:cNvPr id="20" name="T20"/>
          <p:cNvSpPr txBox="1"/>
          <p:nvPr/>
        </p:nvSpPr>
        <p:spPr>
          <a:xfrm>
            <a:off x="8183880" y="352044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21" name="T21"/>
          <p:cNvSpPr txBox="1"/>
          <p:nvPr/>
        </p:nvSpPr>
        <p:spPr>
          <a:xfrm>
            <a:off x="5303520" y="82296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2" name="P22"/>
          <p:cNvSpPr/>
          <p:nvPr/>
        </p:nvSpPr>
        <p:spPr>
          <a:xfrm>
            <a:off x="5257800" y="1737360"/>
            <a:ext cx="2834640" cy="1828800"/>
          </a:xfrm>
          <a:custGeom>
            <a:avLst/>
            <a:gdLst/>
            <a:ahLst/>
            <a:cxnLst/>
            <a:rect l="0" t="0" r="r" b="b"/>
            <a:pathLst>
              <a:path w="2834640" h="1828800">
                <a:moveTo>
                  <a:pt x="0" y="1828800"/>
                </a:moveTo>
                <a:lnTo>
                  <a:pt x="70866" y="1650492"/>
                </a:lnTo>
                <a:lnTo>
                  <a:pt x="141732" y="1481328"/>
                </a:lnTo>
                <a:lnTo>
                  <a:pt x="212598" y="1321308"/>
                </a:lnTo>
                <a:lnTo>
                  <a:pt x="283464" y="1170432"/>
                </a:lnTo>
                <a:lnTo>
                  <a:pt x="354330" y="1028700"/>
                </a:lnTo>
                <a:lnTo>
                  <a:pt x="425196" y="896112"/>
                </a:lnTo>
                <a:lnTo>
                  <a:pt x="496062" y="772668"/>
                </a:lnTo>
                <a:lnTo>
                  <a:pt x="566928" y="658368"/>
                </a:lnTo>
                <a:lnTo>
                  <a:pt x="637794" y="553212"/>
                </a:lnTo>
                <a:lnTo>
                  <a:pt x="708660" y="457200"/>
                </a:lnTo>
                <a:lnTo>
                  <a:pt x="779526" y="370332"/>
                </a:lnTo>
                <a:lnTo>
                  <a:pt x="850392" y="292608"/>
                </a:lnTo>
                <a:lnTo>
                  <a:pt x="921258" y="224028"/>
                </a:lnTo>
                <a:lnTo>
                  <a:pt x="992124" y="164592"/>
                </a:lnTo>
                <a:lnTo>
                  <a:pt x="1062990" y="114300"/>
                </a:lnTo>
                <a:lnTo>
                  <a:pt x="1133856" y="73152"/>
                </a:lnTo>
                <a:lnTo>
                  <a:pt x="1204722" y="41148"/>
                </a:lnTo>
                <a:lnTo>
                  <a:pt x="1275588" y="18288"/>
                </a:lnTo>
                <a:lnTo>
                  <a:pt x="1346454" y="4572"/>
                </a:lnTo>
                <a:lnTo>
                  <a:pt x="1417320" y="0"/>
                </a:lnTo>
                <a:lnTo>
                  <a:pt x="1488186" y="4572"/>
                </a:lnTo>
                <a:lnTo>
                  <a:pt x="1559052" y="18288"/>
                </a:lnTo>
                <a:lnTo>
                  <a:pt x="1629918" y="41148"/>
                </a:lnTo>
                <a:lnTo>
                  <a:pt x="1700784" y="73152"/>
                </a:lnTo>
                <a:lnTo>
                  <a:pt x="1771650" y="114300"/>
                </a:lnTo>
                <a:lnTo>
                  <a:pt x="1842516" y="164592"/>
                </a:lnTo>
                <a:lnTo>
                  <a:pt x="1913382" y="224028"/>
                </a:lnTo>
                <a:lnTo>
                  <a:pt x="1984248" y="292608"/>
                </a:lnTo>
                <a:lnTo>
                  <a:pt x="2055114" y="370332"/>
                </a:lnTo>
                <a:lnTo>
                  <a:pt x="2125980" y="457200"/>
                </a:lnTo>
                <a:lnTo>
                  <a:pt x="2196846" y="553212"/>
                </a:lnTo>
                <a:lnTo>
                  <a:pt x="2267712" y="658368"/>
                </a:lnTo>
                <a:lnTo>
                  <a:pt x="2338578" y="772668"/>
                </a:lnTo>
                <a:lnTo>
                  <a:pt x="2409444" y="896112"/>
                </a:lnTo>
                <a:lnTo>
                  <a:pt x="2480310" y="1028700"/>
                </a:lnTo>
                <a:lnTo>
                  <a:pt x="2551176" y="1170432"/>
                </a:lnTo>
                <a:lnTo>
                  <a:pt x="2622042" y="1321308"/>
                </a:lnTo>
                <a:lnTo>
                  <a:pt x="2692908" y="1481328"/>
                </a:lnTo>
                <a:lnTo>
                  <a:pt x="2763774" y="1650492"/>
                </a:lnTo>
                <a:lnTo>
                  <a:pt x="2834640" y="1828800"/>
                </a:lnTo>
              </a:path>
            </a:pathLst>
          </a:custGeom>
          <a:noFill/>
          <a:ln w="25400">
            <a:solidFill>
              <a:srgbClr val="8A8F9C"/>
            </a:solidFill>
            <a:prstDash val="dash"/>
          </a:ln>
        </p:spPr>
        <p:txBody>
          <a:bodyPr/>
          <a:lstStyle/>
          <a:p>
            <a:endParaRPr lang="zh-TW" altLang="en-US"/>
          </a:p>
        </p:txBody>
      </p:sp>
      <p:sp>
        <p:nvSpPr>
          <p:cNvPr id="23" name="S23"/>
          <p:cNvSpPr/>
          <p:nvPr/>
        </p:nvSpPr>
        <p:spPr>
          <a:xfrm>
            <a:off x="5175504" y="3483864"/>
            <a:ext cx="164592" cy="164592"/>
          </a:xfrm>
          <a:prstGeom prst="ellipse">
            <a:avLst/>
          </a:prstGeom>
          <a:solidFill>
            <a:srgbClr val="2B3050"/>
          </a:solidFill>
          <a:ln>
            <a:noFill/>
          </a:ln>
        </p:spPr>
        <p:txBody>
          <a:bodyPr/>
          <a:lstStyle/>
          <a:p>
            <a:endParaRPr lang="zh-TW" altLang="en-US"/>
          </a:p>
        </p:txBody>
      </p:sp>
      <p:cxnSp>
        <p:nvCxnSpPr>
          <p:cNvPr id="24" name="L24"/>
          <p:cNvCxnSpPr/>
          <p:nvPr/>
        </p:nvCxnSpPr>
        <p:spPr>
          <a:xfrm>
            <a:off x="6675120" y="1737360"/>
            <a:ext cx="640080" cy="0"/>
          </a:xfrm>
          <a:prstGeom prst="line">
            <a:avLst/>
          </a:prstGeom>
          <a:ln w="38100">
            <a:solidFill>
              <a:srgbClr val="1F8899"/>
            </a:solidFill>
            <a:tailEnd type="triangle" w="med" len="med"/>
          </a:ln>
        </p:spPr>
      </p:cxnSp>
      <p:sp>
        <p:nvSpPr>
          <p:cNvPr id="25" name="T25"/>
          <p:cNvSpPr txBox="1"/>
          <p:nvPr/>
        </p:nvSpPr>
        <p:spPr>
          <a:xfrm>
            <a:off x="6949440" y="1325880"/>
            <a:ext cx="14630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vx 不變</a:t>
            </a:r>
            <a:endParaRPr lang="zh-TW" sz="2400"/>
          </a:p>
        </p:txBody>
      </p:sp>
      <p:cxnSp>
        <p:nvCxnSpPr>
          <p:cNvPr id="26" name="L26"/>
          <p:cNvCxnSpPr/>
          <p:nvPr/>
        </p:nvCxnSpPr>
        <p:spPr>
          <a:xfrm>
            <a:off x="8138160" y="2286000"/>
            <a:ext cx="0" cy="548640"/>
          </a:xfrm>
          <a:prstGeom prst="line">
            <a:avLst/>
          </a:prstGeom>
          <a:ln w="38100">
            <a:solidFill>
              <a:srgbClr val="C0392B"/>
            </a:solidFill>
            <a:tailEnd type="triangle" w="med" len="med"/>
          </a:ln>
        </p:spPr>
      </p:cxnSp>
      <p:sp>
        <p:nvSpPr>
          <p:cNvPr id="27" name="T27"/>
          <p:cNvSpPr txBox="1"/>
          <p:nvPr/>
        </p:nvSpPr>
        <p:spPr>
          <a:xfrm>
            <a:off x="8183880" y="22860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0392B"/>
                </a:solidFill>
                <a:latin typeface="Calibri"/>
                <a:ea typeface="微軟正黑體"/>
                <a:cs typeface="Calibri"/>
              </a:rPr>
              <a:t>g</a:t>
            </a:r>
            <a:endParaRPr lang="zh-TW" sz="2400"/>
          </a:p>
        </p:txBody>
      </p:sp>
      <p:sp>
        <p:nvSpPr>
          <p:cNvPr id="28" name="T28"/>
          <p:cNvSpPr txBox="1"/>
          <p:nvPr/>
        </p:nvSpPr>
        <p:spPr>
          <a:xfrm>
            <a:off x="5120640" y="3794760"/>
            <a:ext cx="3246120" cy="96012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向上為正</a:t>
            </a:r>
            <a:endParaRPr lang="zh-TW" sz="2400"/>
          </a:p>
          <a:p>
            <a:pPr algn="l">
              <a:lnSpc>
                <a:spcPct val="100000"/>
              </a:lnSpc>
              <a:buNone/>
            </a:pPr>
            <a:r>
              <a:rPr lang="zh-TW" altLang="en-US" sz="2400" b="0" dirty="0">
                <a:solidFill>
                  <a:srgbClr val="2B3050"/>
                </a:solidFill>
                <a:latin typeface="Calibri"/>
                <a:ea typeface="微軟正黑體"/>
                <a:cs typeface="Calibri"/>
              </a:rPr>
              <a:t>g = 9.8 m/s²</a:t>
            </a:r>
            <a:endParaRPr lang="zh-TW" sz="2400"/>
          </a:p>
        </p:txBody>
      </p:sp>
      <p:sp>
        <p:nvSpPr>
          <p:cNvPr id="3" name="T11">
            <a:extLst>
              <a:ext uri="{FF2B5EF4-FFF2-40B4-BE49-F238E27FC236}">
                <a16:creationId xmlns:a16="http://schemas.microsoft.com/office/drawing/2014/main" id="{32811302-E2A9-8E76-B48B-8CEF5CDA8926}"/>
              </a:ext>
            </a:extLst>
          </p:cNvPr>
          <p:cNvSpPr txBox="1"/>
          <p:nvPr/>
        </p:nvSpPr>
        <p:spPr>
          <a:xfrm>
            <a:off x="4251960" y="278892"/>
            <a:ext cx="4846320" cy="438912"/>
          </a:xfrm>
          <a:prstGeom prst="rect">
            <a:avLst/>
          </a:prstGeom>
          <a:noFill/>
          <a:ln>
            <a:noFill/>
          </a:ln>
        </p:spPr>
        <p:txBody>
          <a:bodyPr wrap="square" lIns="54864" tIns="27432" rIns="54864" bIns="27432" anchor="t">
            <a:noAutofit/>
          </a:bodyPr>
          <a:lstStyle/>
          <a:p>
            <a:pPr algn="l">
              <a:lnSpc>
                <a:spcPct val="100000"/>
              </a:lnSpc>
              <a:buNone/>
            </a:pPr>
            <a:r>
              <a:rPr lang="en-US" altLang="zh-TW" sz="2400" dirty="0">
                <a:solidFill>
                  <a:srgbClr val="2B3050"/>
                </a:solidFill>
                <a:latin typeface="Calibri"/>
                <a:ea typeface="微軟正黑體"/>
                <a:cs typeface="Calibri"/>
              </a:rPr>
              <a:t>v</a:t>
            </a:r>
            <a:r>
              <a:rPr lang="en-US" altLang="zh-TW" sz="2400" b="0" dirty="0">
                <a:solidFill>
                  <a:srgbClr val="2B3050"/>
                </a:solidFill>
                <a:latin typeface="Calibri"/>
                <a:ea typeface="微軟正黑體"/>
                <a:cs typeface="Calibri"/>
              </a:rPr>
              <a:t>= v</a:t>
            </a:r>
            <a:r>
              <a:rPr lang="en-US" altLang="zh-TW" sz="2000" b="0" baseline="-25000" dirty="0">
                <a:solidFill>
                  <a:srgbClr val="2B3050"/>
                </a:solidFill>
                <a:latin typeface="Calibri"/>
                <a:ea typeface="微軟正黑體"/>
                <a:cs typeface="Calibri"/>
              </a:rPr>
              <a:t>0</a:t>
            </a:r>
            <a:r>
              <a:rPr lang="en-US" altLang="zh-TW" sz="2400" b="0" dirty="0">
                <a:solidFill>
                  <a:srgbClr val="2B3050"/>
                </a:solidFill>
                <a:latin typeface="Calibri"/>
                <a:ea typeface="微軟正黑體"/>
                <a:cs typeface="Calibri"/>
              </a:rPr>
              <a:t>+at ; v</a:t>
            </a:r>
            <a:r>
              <a:rPr lang="en-US" altLang="zh-TW" sz="2400" b="0" baseline="30000" dirty="0">
                <a:solidFill>
                  <a:srgbClr val="2B3050"/>
                </a:solidFill>
                <a:latin typeface="Calibri"/>
                <a:ea typeface="微軟正黑體"/>
                <a:cs typeface="Calibri"/>
              </a:rPr>
              <a:t>2</a:t>
            </a:r>
            <a:r>
              <a:rPr lang="en-US" altLang="zh-TW" sz="2400" b="0" dirty="0">
                <a:solidFill>
                  <a:srgbClr val="2B3050"/>
                </a:solidFill>
                <a:latin typeface="Calibri"/>
                <a:ea typeface="微軟正黑體"/>
                <a:cs typeface="Calibri"/>
              </a:rPr>
              <a:t>=v</a:t>
            </a:r>
            <a:r>
              <a:rPr lang="en-US" altLang="zh-TW" sz="2400" b="0" baseline="-25000" dirty="0">
                <a:solidFill>
                  <a:srgbClr val="2B3050"/>
                </a:solidFill>
                <a:latin typeface="Calibri"/>
                <a:ea typeface="微軟正黑體"/>
                <a:cs typeface="Calibri"/>
              </a:rPr>
              <a:t>0</a:t>
            </a:r>
            <a:r>
              <a:rPr lang="en-US" altLang="zh-TW" sz="2400" b="0" baseline="30000" dirty="0">
                <a:solidFill>
                  <a:srgbClr val="2B3050"/>
                </a:solidFill>
                <a:latin typeface="Calibri"/>
                <a:ea typeface="微軟正黑體"/>
                <a:cs typeface="Calibri"/>
              </a:rPr>
              <a:t>2</a:t>
            </a:r>
            <a:r>
              <a:rPr lang="en-US" altLang="zh-TW" sz="2400" b="0" dirty="0">
                <a:solidFill>
                  <a:srgbClr val="2B3050"/>
                </a:solidFill>
                <a:latin typeface="Calibri"/>
                <a:ea typeface="微軟正黑體"/>
                <a:cs typeface="Calibri"/>
              </a:rPr>
              <a:t>+2as; s= v</a:t>
            </a:r>
            <a:r>
              <a:rPr lang="en-US" altLang="zh-TW" sz="2400" b="0" baseline="-25000" dirty="0">
                <a:solidFill>
                  <a:srgbClr val="2B3050"/>
                </a:solidFill>
                <a:latin typeface="Calibri"/>
                <a:ea typeface="微軟正黑體"/>
                <a:cs typeface="Calibri"/>
              </a:rPr>
              <a:t>o</a:t>
            </a:r>
            <a:r>
              <a:rPr lang="en-US" altLang="zh-TW" sz="2400" b="0" dirty="0">
                <a:solidFill>
                  <a:srgbClr val="2B3050"/>
                </a:solidFill>
                <a:latin typeface="Calibri"/>
                <a:ea typeface="微軟正黑體"/>
                <a:cs typeface="Calibri"/>
              </a:rPr>
              <a:t>t + ½ at</a:t>
            </a:r>
            <a:r>
              <a:rPr lang="en-US" altLang="zh-TW" sz="2400" b="0" baseline="30000" dirty="0">
                <a:solidFill>
                  <a:srgbClr val="2B3050"/>
                </a:solidFill>
                <a:latin typeface="Calibri"/>
                <a:ea typeface="微軟正黑體"/>
                <a:cs typeface="Calibri"/>
              </a:rPr>
              <a:t>2</a:t>
            </a:r>
            <a:endParaRPr lang="zh-TW" sz="2400" baseline="30000" dirty="0"/>
          </a:p>
        </p:txBody>
      </p:sp>
      <p:pic>
        <p:nvPicPr>
          <p:cNvPr id="5" name="圖片 4" descr="The image displays a sequence of mathematical equations and variables, including differentials (dv/dy = -g, dy, v0y, yo, vo, Vou), suggesting a relationship between velocity (v), gravitational acceleration (g), and initial and final positions (y, yo).&#10;&#10;AI 產生的內容可能不正確。">
            <a:extLst>
              <a:ext uri="{FF2B5EF4-FFF2-40B4-BE49-F238E27FC236}">
                <a16:creationId xmlns:a16="http://schemas.microsoft.com/office/drawing/2014/main" id="{ACE7E535-C319-9D80-BD88-2A257CA70957}"/>
              </a:ext>
            </a:extLst>
          </p:cNvPr>
          <p:cNvPicPr>
            <a:picLocks noChangeAspect="1"/>
          </p:cNvPicPr>
          <p:nvPr/>
        </p:nvPicPr>
        <p:blipFill>
          <a:blip r:embed="rId6"/>
          <a:stretch>
            <a:fillRect/>
          </a:stretch>
        </p:blipFill>
        <p:spPr>
          <a:xfrm>
            <a:off x="9270274" y="6431"/>
            <a:ext cx="2781373" cy="38155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0" presetClass="path" presetSubtype="0" fill="hold" grpId="0" nodeType="withEffect">
                                  <p:stCondLst>
                                    <p:cond delay="0"/>
                                  </p:stCondLst>
                                  <p:childTnLst>
                                    <p:animMotion origin="layout" path="M 0 0 L 0.00000 0.00000 L 0.00775 -0.03467 L 0.01550 -0.06756 L 0.02325 -0.09867 L 0.03100 -0.12800 L 0.03875 -0.15556 L 0.04650 -0.18133 L 0.05425 -0.20533 L 0.06200 -0.22756 L 0.06975 -0.24800 L 0.07750 -0.26667 L 0.08525 -0.28356 L 0.09300 -0.29867 L 0.10075 -0.31200 L 0.10850 -0.32356 L 0.11625 -0.33333 L 0.12400 -0.34133 L 0.13175 -0.34756 L 0.13950 -0.35200 L 0.14725 -0.35467 L 0.15500 -0.35556 L 0.16275 -0.35467 L 0.17050 -0.35200 L 0.17825 -0.34756 L 0.18600 -0.34133 L 0.19375 -0.33333 L 0.20150 -0.32356 L 0.20925 -0.31200 L 0.21700 -0.29867 L 0.22475 -0.28356 L 0.23250 -0.26667 L 0.24025 -0.24800 L 0.24800 -0.22756 L 0.25575 -0.20533 L 0.26350 -0.18133 L 0.27125 -0.15556 L 0.27900 -0.12800 L 0.28675 -0.09867 L 0.29450 -0.06756 L 0.30225 -0.03467 L 0.31000 0.00000 E" pathEditMode="relative" ptsTypes="">
                                      <p:cBhvr>
                                        <p:cTn id="44" dur="2500" fill="hold"/>
                                        <p:tgtEl>
                                          <p:spTgt spid="23"/>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fade">
                                      <p:cBhvr>
                                        <p:cTn id="7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P spid="25" grpId="0" animBg="1"/>
      <p:bldP spid="26" grpId="0" animBg="1"/>
      <p:bldP spid="27" grpId="0" animBg="1"/>
      <p:bldP spid="28"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為什麼水平方向是等速？</a:t>
            </a:r>
          </a:p>
        </p:txBody>
      </p:sp>
      <p:sp>
        <p:nvSpPr>
          <p:cNvPr id="11" name="T11"/>
          <p:cNvSpPr txBox="1"/>
          <p:nvPr/>
        </p:nvSpPr>
        <p:spPr>
          <a:xfrm>
            <a:off x="365760" y="868680"/>
            <a:ext cx="46634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離手之後，只剩重力 mg</a:t>
            </a:r>
            <a:endParaRPr lang="zh-TW" sz="2400"/>
          </a:p>
        </p:txBody>
      </p:sp>
      <p:sp>
        <p:nvSpPr>
          <p:cNvPr id="12" name="T12"/>
          <p:cNvSpPr txBox="1"/>
          <p:nvPr/>
        </p:nvSpPr>
        <p:spPr>
          <a:xfrm>
            <a:off x="365760" y="1325880"/>
            <a:ext cx="46634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重力垂直向下，水平分量 = 0</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365760" y="1783080"/>
                <a:ext cx="46634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𝛴</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𝐹</m:t>
                          </m:r>
                        </m:e>
                        <m:sub>
                          <m:r>
                            <a:rPr lang="en-US" altLang="zh-TW" sz="2400" b="0" i="1">
                              <a:solidFill>
                                <a:srgbClr val="1F8899"/>
                              </a:solidFill>
                              <a:latin typeface="Cambria Math" panose="02040503050406030204" pitchFamily="18" charset="0"/>
                              <a:ea typeface="Cambria Math"/>
                            </a:rPr>
                            <m:t>𝑥</m:t>
                          </m:r>
                        </m:sub>
                      </m:sSub>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𝑚</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𝑎</m:t>
                          </m:r>
                        </m:e>
                        <m:sub>
                          <m:r>
                            <a:rPr lang="en-US" altLang="zh-TW" sz="2400" b="0" i="1">
                              <a:solidFill>
                                <a:srgbClr val="1F8899"/>
                              </a:solidFill>
                              <a:latin typeface="Cambria Math" panose="02040503050406030204" pitchFamily="18" charset="0"/>
                              <a:ea typeface="Cambria Math"/>
                            </a:rPr>
                            <m:t>𝑥</m:t>
                          </m:r>
                        </m:sub>
                      </m:sSub>
                      <m:r>
                        <a:rPr lang="en-US" altLang="zh-TW" sz="2400" b="0" i="0">
                          <a:solidFill>
                            <a:srgbClr val="1F8899"/>
                          </a:solidFill>
                          <a:latin typeface="Cambria Math" panose="02040503050406030204" pitchFamily="18" charset="0"/>
                          <a:ea typeface="Cambria Math"/>
                        </a:rPr>
                        <m:t> = 0 →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𝑥</m:t>
                          </m:r>
                        </m:sub>
                      </m:sSub>
                      <m:r>
                        <a:rPr lang="en-US" altLang="zh-TW" sz="2400" b="0" i="0">
                          <a:solidFill>
                            <a:srgbClr val="1F8899"/>
                          </a:solidFill>
                          <a:latin typeface="Cambria Math" panose="02040503050406030204" pitchFamily="18" charset="0"/>
                          <a:ea typeface="Cambria Math"/>
                        </a:rPr>
                        <m:t> 不變</m:t>
                      </m:r>
                    </m:oMath>
                  </m:oMathPara>
                </a14:m>
                <a:endParaRPr lang="zh-TW" sz="2400"/>
              </a:p>
            </p:txBody>
          </p:sp>
        </mc:Choice>
        <mc:Fallback xmlns="">
          <p:pic>
            <p:nvPicPr>
              <p:cNvPr id="13" name="F13"/>
              <p:cNvPicPr/>
              <p:nvPr/>
            </p:nvPicPr>
            <p:blipFill>
              <a:blip r:embed="rId2"/>
              <a:stretch>
                <a:fillRect/>
              </a:stretch>
            </p:blipFill>
            <p:spPr>
              <a:xfrm>
                <a:off x="365760" y="1783080"/>
                <a:ext cx="46634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331720"/>
                <a:ext cx="46634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C8901F"/>
                          </a:solidFill>
                          <a:latin typeface="Cambria Math" panose="02040503050406030204" pitchFamily="18" charset="0"/>
                          <a:ea typeface="Cambria Math"/>
                        </a:rPr>
                        <m:t>𝛴</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𝐹</m:t>
                          </m:r>
                        </m:e>
                        <m:sub>
                          <m:r>
                            <a:rPr lang="en-US" altLang="zh-TW" sz="2400" b="0" i="1">
                              <a:solidFill>
                                <a:srgbClr val="C8901F"/>
                              </a:solidFill>
                              <a:latin typeface="Cambria Math" panose="02040503050406030204" pitchFamily="18" charset="0"/>
                              <a:ea typeface="Cambria Math"/>
                            </a:rPr>
                            <m:t>𝑦</m:t>
                          </m:r>
                        </m:sub>
                      </m:sSub>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𝑚𝑔</m:t>
                      </m:r>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𝑎</m:t>
                          </m:r>
                        </m:e>
                        <m:sub>
                          <m:r>
                            <a:rPr lang="en-US" altLang="zh-TW" sz="2400" b="0" i="1">
                              <a:solidFill>
                                <a:srgbClr val="C8901F"/>
                              </a:solidFill>
                              <a:latin typeface="Cambria Math" panose="02040503050406030204" pitchFamily="18" charset="0"/>
                              <a:ea typeface="Cambria Math"/>
                            </a:rPr>
                            <m:t>𝑦</m:t>
                          </m:r>
                        </m:sub>
                      </m:sSub>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𝑔</m:t>
                      </m:r>
                    </m:oMath>
                  </m:oMathPara>
                </a14:m>
                <a:endParaRPr lang="zh-TW" sz="2400"/>
              </a:p>
            </p:txBody>
          </p:sp>
        </mc:Choice>
        <mc:Fallback xmlns="">
          <p:pic>
            <p:nvPicPr>
              <p:cNvPr id="14" name="F14"/>
              <p:cNvPicPr/>
              <p:nvPr/>
            </p:nvPicPr>
            <p:blipFill>
              <a:blip r:embed="rId3"/>
              <a:stretch>
                <a:fillRect/>
              </a:stretch>
            </p:blipFill>
            <p:spPr>
              <a:xfrm>
                <a:off x="365760" y="2331720"/>
                <a:ext cx="4663440" cy="548640"/>
              </a:xfrm>
              <a:prstGeom prst="rect">
                <a:avLst/>
              </a:prstGeom>
              <a:noFill/>
              <a:ln>
                <a:noFill/>
              </a:ln>
            </p:spPr>
          </p:pic>
        </mc:Fallback>
      </mc:AlternateContent>
      <p:sp>
        <p:nvSpPr>
          <p:cNvPr id="15" name="T15"/>
          <p:cNvSpPr txBox="1"/>
          <p:nvPr/>
        </p:nvSpPr>
        <p:spPr>
          <a:xfrm>
            <a:off x="365760" y="3063240"/>
            <a:ext cx="4663440" cy="16002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手的推力只在拋出那一瞬間</a:t>
            </a:r>
            <a:endParaRPr lang="zh-TW" sz="2400"/>
          </a:p>
          <a:p>
            <a:pPr algn="l">
              <a:lnSpc>
                <a:spcPct val="100000"/>
              </a:lnSpc>
              <a:buNone/>
            </a:pPr>
            <a:r>
              <a:rPr lang="zh-TW" altLang="en-US" sz="2400" b="0" dirty="0">
                <a:solidFill>
                  <a:srgbClr val="2B3050"/>
                </a:solidFill>
                <a:latin typeface="Calibri"/>
                <a:ea typeface="微軟正黑體"/>
                <a:cs typeface="Calibri"/>
              </a:rPr>
              <a:t>離手後還往前走，是靠慣性</a:t>
            </a:r>
            <a:endParaRPr lang="zh-TW" sz="2400"/>
          </a:p>
          <a:p>
            <a:pPr algn="l">
              <a:lnSpc>
                <a:spcPct val="100000"/>
              </a:lnSpc>
              <a:buNone/>
            </a:pPr>
            <a:r>
              <a:rPr lang="zh-TW" altLang="en-US" sz="2400" b="0" dirty="0">
                <a:solidFill>
                  <a:srgbClr val="2B3050"/>
                </a:solidFill>
                <a:latin typeface="Calibri"/>
                <a:ea typeface="微軟正黑體"/>
                <a:cs typeface="Calibri"/>
              </a:rPr>
              <a:t>（牛頓第一定律），不是靠力</a:t>
            </a:r>
            <a:endParaRPr lang="zh-TW" sz="2400"/>
          </a:p>
        </p:txBody>
      </p:sp>
      <p:sp>
        <p:nvSpPr>
          <p:cNvPr id="16" name="P16"/>
          <p:cNvSpPr/>
          <p:nvPr/>
        </p:nvSpPr>
        <p:spPr>
          <a:xfrm>
            <a:off x="5394960" y="1371600"/>
            <a:ext cx="2743200" cy="2651760"/>
          </a:xfrm>
          <a:custGeom>
            <a:avLst/>
            <a:gdLst/>
            <a:ahLst/>
            <a:cxnLst/>
            <a:rect l="0" t="0" r="r" b="b"/>
            <a:pathLst>
              <a:path w="2743200" h="2651760">
                <a:moveTo>
                  <a:pt x="0" y="0"/>
                </a:moveTo>
                <a:lnTo>
                  <a:pt x="91440" y="2946"/>
                </a:lnTo>
                <a:lnTo>
                  <a:pt x="182880" y="11786"/>
                </a:lnTo>
                <a:lnTo>
                  <a:pt x="274320" y="26518"/>
                </a:lnTo>
                <a:lnTo>
                  <a:pt x="365760" y="47142"/>
                </a:lnTo>
                <a:lnTo>
                  <a:pt x="457200" y="73660"/>
                </a:lnTo>
                <a:lnTo>
                  <a:pt x="548640" y="106070"/>
                </a:lnTo>
                <a:lnTo>
                  <a:pt x="640080" y="144374"/>
                </a:lnTo>
                <a:lnTo>
                  <a:pt x="731520" y="188570"/>
                </a:lnTo>
                <a:lnTo>
                  <a:pt x="822960" y="238658"/>
                </a:lnTo>
                <a:lnTo>
                  <a:pt x="914400" y="294640"/>
                </a:lnTo>
                <a:lnTo>
                  <a:pt x="1005840" y="356514"/>
                </a:lnTo>
                <a:lnTo>
                  <a:pt x="1097280" y="424282"/>
                </a:lnTo>
                <a:lnTo>
                  <a:pt x="1188720" y="497942"/>
                </a:lnTo>
                <a:lnTo>
                  <a:pt x="1280160" y="577494"/>
                </a:lnTo>
                <a:lnTo>
                  <a:pt x="1371600" y="662940"/>
                </a:lnTo>
                <a:lnTo>
                  <a:pt x="1463040" y="754278"/>
                </a:lnTo>
                <a:lnTo>
                  <a:pt x="1554480" y="851510"/>
                </a:lnTo>
                <a:lnTo>
                  <a:pt x="1645920" y="954634"/>
                </a:lnTo>
                <a:lnTo>
                  <a:pt x="1737360" y="1063650"/>
                </a:lnTo>
                <a:lnTo>
                  <a:pt x="1828800" y="1178560"/>
                </a:lnTo>
                <a:lnTo>
                  <a:pt x="1920240" y="1299362"/>
                </a:lnTo>
                <a:lnTo>
                  <a:pt x="2011680" y="1426058"/>
                </a:lnTo>
                <a:lnTo>
                  <a:pt x="2103120" y="1558646"/>
                </a:lnTo>
                <a:lnTo>
                  <a:pt x="2194560" y="1697126"/>
                </a:lnTo>
                <a:lnTo>
                  <a:pt x="2286000" y="1841500"/>
                </a:lnTo>
                <a:lnTo>
                  <a:pt x="2377440" y="1991766"/>
                </a:lnTo>
                <a:lnTo>
                  <a:pt x="2468880" y="2147926"/>
                </a:lnTo>
                <a:lnTo>
                  <a:pt x="2560320" y="2309978"/>
                </a:lnTo>
                <a:lnTo>
                  <a:pt x="2651760" y="2477922"/>
                </a:lnTo>
                <a:lnTo>
                  <a:pt x="2743200" y="2651760"/>
                </a:lnTo>
              </a:path>
            </a:pathLst>
          </a:custGeom>
          <a:noFill/>
          <a:ln w="19050">
            <a:solidFill>
              <a:srgbClr val="8A8F9C"/>
            </a:solidFill>
            <a:prstDash val="dash"/>
          </a:ln>
        </p:spPr>
        <p:txBody>
          <a:bodyPr/>
          <a:lstStyle/>
          <a:p>
            <a:endParaRPr lang="zh-TW" altLang="en-US"/>
          </a:p>
        </p:txBody>
      </p:sp>
      <p:sp>
        <p:nvSpPr>
          <p:cNvPr id="17" name="S17"/>
          <p:cNvSpPr/>
          <p:nvPr/>
        </p:nvSpPr>
        <p:spPr>
          <a:xfrm>
            <a:off x="5980176" y="1413866"/>
            <a:ext cx="292608" cy="292608"/>
          </a:xfrm>
          <a:prstGeom prst="ellipse">
            <a:avLst/>
          </a:prstGeom>
          <a:solidFill>
            <a:srgbClr val="C8901F"/>
          </a:solidFill>
          <a:ln w="19050">
            <a:solidFill>
              <a:srgbClr val="2B3050"/>
            </a:solidFill>
          </a:ln>
        </p:spPr>
        <p:txBody>
          <a:bodyPr/>
          <a:lstStyle/>
          <a:p>
            <a:endParaRPr lang="zh-TW" altLang="en-US"/>
          </a:p>
        </p:txBody>
      </p:sp>
      <p:cxnSp>
        <p:nvCxnSpPr>
          <p:cNvPr id="18" name="L18"/>
          <p:cNvCxnSpPr/>
          <p:nvPr/>
        </p:nvCxnSpPr>
        <p:spPr>
          <a:xfrm>
            <a:off x="6126480" y="1706474"/>
            <a:ext cx="0" cy="950976"/>
          </a:xfrm>
          <a:prstGeom prst="line">
            <a:avLst/>
          </a:prstGeom>
          <a:ln w="44450">
            <a:solidFill>
              <a:srgbClr val="C0392B"/>
            </a:solidFill>
            <a:tailEnd type="triangle" w="med" len="med"/>
          </a:ln>
        </p:spPr>
      </p:cxnSp>
      <p:sp>
        <p:nvSpPr>
          <p:cNvPr id="19" name="T19"/>
          <p:cNvSpPr txBox="1"/>
          <p:nvPr/>
        </p:nvSpPr>
        <p:spPr>
          <a:xfrm>
            <a:off x="5440680" y="220025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0392B"/>
                </a:solidFill>
                <a:latin typeface="Calibri"/>
                <a:ea typeface="微軟正黑體"/>
                <a:cs typeface="Calibri"/>
              </a:rPr>
              <a:t>mg</a:t>
            </a:r>
            <a:endParaRPr lang="zh-TW" sz="2400"/>
          </a:p>
        </p:txBody>
      </p:sp>
      <p:cxnSp>
        <p:nvCxnSpPr>
          <p:cNvPr id="20" name="L20"/>
          <p:cNvCxnSpPr/>
          <p:nvPr/>
        </p:nvCxnSpPr>
        <p:spPr>
          <a:xfrm>
            <a:off x="6309360" y="1560170"/>
            <a:ext cx="914400" cy="0"/>
          </a:xfrm>
          <a:prstGeom prst="line">
            <a:avLst/>
          </a:prstGeom>
          <a:ln w="25400">
            <a:solidFill>
              <a:srgbClr val="8A8F9C"/>
            </a:solidFill>
            <a:prstDash val="dash"/>
            <a:tailEnd type="triangle" w="med" len="med"/>
          </a:ln>
        </p:spPr>
      </p:cxnSp>
      <p:sp>
        <p:nvSpPr>
          <p:cNvPr id="21" name="T21"/>
          <p:cNvSpPr txBox="1"/>
          <p:nvPr/>
        </p:nvSpPr>
        <p:spPr>
          <a:xfrm>
            <a:off x="6400800" y="1102970"/>
            <a:ext cx="14630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水平無力</a:t>
            </a:r>
            <a:endParaRPr lang="zh-TW" sz="2400"/>
          </a:p>
        </p:txBody>
      </p:sp>
      <p:cxnSp>
        <p:nvCxnSpPr>
          <p:cNvPr id="22" name="L22"/>
          <p:cNvCxnSpPr/>
          <p:nvPr/>
        </p:nvCxnSpPr>
        <p:spPr>
          <a:xfrm>
            <a:off x="6126480" y="1560170"/>
            <a:ext cx="801963" cy="439298"/>
          </a:xfrm>
          <a:prstGeom prst="line">
            <a:avLst/>
          </a:prstGeom>
          <a:ln w="31750">
            <a:solidFill>
              <a:srgbClr val="1F8899"/>
            </a:solidFill>
            <a:tailEnd type="triangle" w="med" len="med"/>
          </a:ln>
        </p:spPr>
      </p:cxnSp>
      <p:sp>
        <p:nvSpPr>
          <p:cNvPr id="23" name="T23"/>
          <p:cNvSpPr txBox="1"/>
          <p:nvPr/>
        </p:nvSpPr>
        <p:spPr>
          <a:xfrm>
            <a:off x="6629400" y="2108810"/>
            <a:ext cx="17373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速度靠慣性</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頻閃照片：兩顆球同時落地</a:t>
            </a:r>
          </a:p>
        </p:txBody>
      </p:sp>
      <p:sp>
        <p:nvSpPr>
          <p:cNvPr id="11" name="T11"/>
          <p:cNvSpPr txBox="1"/>
          <p:nvPr/>
        </p:nvSpPr>
        <p:spPr>
          <a:xfrm>
            <a:off x="228600" y="841248"/>
            <a:ext cx="15544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1" dirty="0">
                <a:solidFill>
                  <a:srgbClr val="1F8899"/>
                </a:solidFill>
                <a:latin typeface="Calibri"/>
                <a:ea typeface="微軟正黑體"/>
                <a:cs typeface="Calibri"/>
              </a:rPr>
              <a:t>自由落下</a:t>
            </a:r>
            <a:endParaRPr lang="zh-TW" sz="2400"/>
          </a:p>
        </p:txBody>
      </p:sp>
      <p:sp>
        <p:nvSpPr>
          <p:cNvPr id="12" name="T12"/>
          <p:cNvSpPr txBox="1"/>
          <p:nvPr/>
        </p:nvSpPr>
        <p:spPr>
          <a:xfrm>
            <a:off x="2194560" y="841248"/>
            <a:ext cx="22860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同時水平拋出 →</a:t>
            </a:r>
            <a:endParaRPr lang="zh-TW" sz="2400"/>
          </a:p>
        </p:txBody>
      </p:sp>
      <p:sp>
        <p:nvSpPr>
          <p:cNvPr id="13" name="S13"/>
          <p:cNvSpPr/>
          <p:nvPr/>
        </p:nvSpPr>
        <p:spPr>
          <a:xfrm>
            <a:off x="813816" y="1316736"/>
            <a:ext cx="201168" cy="201168"/>
          </a:xfrm>
          <a:prstGeom prst="ellipse">
            <a:avLst/>
          </a:prstGeom>
          <a:solidFill>
            <a:srgbClr val="1F8899"/>
          </a:solidFill>
          <a:ln>
            <a:noFill/>
          </a:ln>
        </p:spPr>
        <p:txBody>
          <a:bodyPr/>
          <a:lstStyle/>
          <a:p>
            <a:endParaRPr lang="zh-TW" altLang="en-US"/>
          </a:p>
        </p:txBody>
      </p:sp>
      <p:sp>
        <p:nvSpPr>
          <p:cNvPr id="14" name="S14"/>
          <p:cNvSpPr/>
          <p:nvPr/>
        </p:nvSpPr>
        <p:spPr>
          <a:xfrm>
            <a:off x="813816" y="1316736"/>
            <a:ext cx="201168" cy="201168"/>
          </a:xfrm>
          <a:prstGeom prst="ellipse">
            <a:avLst/>
          </a:prstGeom>
          <a:solidFill>
            <a:srgbClr val="D6006F"/>
          </a:solidFill>
          <a:ln>
            <a:noFill/>
          </a:ln>
        </p:spPr>
        <p:txBody>
          <a:bodyPr/>
          <a:lstStyle/>
          <a:p>
            <a:endParaRPr lang="zh-TW" altLang="en-US"/>
          </a:p>
        </p:txBody>
      </p:sp>
      <p:sp>
        <p:nvSpPr>
          <p:cNvPr id="15" name="S15"/>
          <p:cNvSpPr/>
          <p:nvPr/>
        </p:nvSpPr>
        <p:spPr>
          <a:xfrm>
            <a:off x="813816" y="1398016"/>
            <a:ext cx="201168" cy="201168"/>
          </a:xfrm>
          <a:prstGeom prst="ellipse">
            <a:avLst/>
          </a:prstGeom>
          <a:solidFill>
            <a:srgbClr val="1F8899"/>
          </a:solidFill>
          <a:ln>
            <a:noFill/>
          </a:ln>
        </p:spPr>
        <p:txBody>
          <a:bodyPr/>
          <a:lstStyle/>
          <a:p>
            <a:endParaRPr lang="zh-TW" altLang="en-US"/>
          </a:p>
        </p:txBody>
      </p:sp>
      <p:sp>
        <p:nvSpPr>
          <p:cNvPr id="16" name="S16"/>
          <p:cNvSpPr/>
          <p:nvPr/>
        </p:nvSpPr>
        <p:spPr>
          <a:xfrm>
            <a:off x="1682496" y="1398016"/>
            <a:ext cx="201168" cy="201168"/>
          </a:xfrm>
          <a:prstGeom prst="ellipse">
            <a:avLst/>
          </a:prstGeom>
          <a:solidFill>
            <a:srgbClr val="D6006F"/>
          </a:solidFill>
          <a:ln>
            <a:noFill/>
          </a:ln>
        </p:spPr>
        <p:txBody>
          <a:bodyPr/>
          <a:lstStyle/>
          <a:p>
            <a:endParaRPr lang="zh-TW" altLang="en-US"/>
          </a:p>
        </p:txBody>
      </p:sp>
      <p:cxnSp>
        <p:nvCxnSpPr>
          <p:cNvPr id="17" name="L17"/>
          <p:cNvCxnSpPr/>
          <p:nvPr/>
        </p:nvCxnSpPr>
        <p:spPr>
          <a:xfrm>
            <a:off x="1051560" y="1498600"/>
            <a:ext cx="594360" cy="0"/>
          </a:xfrm>
          <a:prstGeom prst="line">
            <a:avLst/>
          </a:prstGeom>
          <a:ln w="9525">
            <a:solidFill>
              <a:srgbClr val="8A8F9C"/>
            </a:solidFill>
            <a:prstDash val="dash"/>
          </a:ln>
        </p:spPr>
      </p:cxnSp>
      <p:sp>
        <p:nvSpPr>
          <p:cNvPr id="18" name="S18"/>
          <p:cNvSpPr/>
          <p:nvPr/>
        </p:nvSpPr>
        <p:spPr>
          <a:xfrm>
            <a:off x="813816" y="1641856"/>
            <a:ext cx="201168" cy="201168"/>
          </a:xfrm>
          <a:prstGeom prst="ellipse">
            <a:avLst/>
          </a:prstGeom>
          <a:solidFill>
            <a:srgbClr val="1F8899"/>
          </a:solidFill>
          <a:ln>
            <a:noFill/>
          </a:ln>
        </p:spPr>
        <p:txBody>
          <a:bodyPr/>
          <a:lstStyle/>
          <a:p>
            <a:endParaRPr lang="zh-TW" altLang="en-US"/>
          </a:p>
        </p:txBody>
      </p:sp>
      <p:sp>
        <p:nvSpPr>
          <p:cNvPr id="19" name="S19"/>
          <p:cNvSpPr/>
          <p:nvPr/>
        </p:nvSpPr>
        <p:spPr>
          <a:xfrm>
            <a:off x="2551176" y="1641856"/>
            <a:ext cx="201168" cy="201168"/>
          </a:xfrm>
          <a:prstGeom prst="ellipse">
            <a:avLst/>
          </a:prstGeom>
          <a:solidFill>
            <a:srgbClr val="D6006F"/>
          </a:solidFill>
          <a:ln>
            <a:noFill/>
          </a:ln>
        </p:spPr>
        <p:txBody>
          <a:bodyPr/>
          <a:lstStyle/>
          <a:p>
            <a:endParaRPr lang="zh-TW" altLang="en-US"/>
          </a:p>
        </p:txBody>
      </p:sp>
      <p:cxnSp>
        <p:nvCxnSpPr>
          <p:cNvPr id="20" name="L20"/>
          <p:cNvCxnSpPr/>
          <p:nvPr/>
        </p:nvCxnSpPr>
        <p:spPr>
          <a:xfrm>
            <a:off x="1051560" y="1742440"/>
            <a:ext cx="1463040" cy="0"/>
          </a:xfrm>
          <a:prstGeom prst="line">
            <a:avLst/>
          </a:prstGeom>
          <a:ln w="9525">
            <a:solidFill>
              <a:srgbClr val="8A8F9C"/>
            </a:solidFill>
            <a:prstDash val="dash"/>
          </a:ln>
        </p:spPr>
      </p:cxnSp>
      <p:sp>
        <p:nvSpPr>
          <p:cNvPr id="21" name="S21"/>
          <p:cNvSpPr/>
          <p:nvPr/>
        </p:nvSpPr>
        <p:spPr>
          <a:xfrm>
            <a:off x="813816" y="2048256"/>
            <a:ext cx="201168" cy="201168"/>
          </a:xfrm>
          <a:prstGeom prst="ellipse">
            <a:avLst/>
          </a:prstGeom>
          <a:solidFill>
            <a:srgbClr val="1F8899"/>
          </a:solidFill>
          <a:ln>
            <a:noFill/>
          </a:ln>
        </p:spPr>
        <p:txBody>
          <a:bodyPr/>
          <a:lstStyle/>
          <a:p>
            <a:endParaRPr lang="zh-TW" altLang="en-US"/>
          </a:p>
        </p:txBody>
      </p:sp>
      <p:sp>
        <p:nvSpPr>
          <p:cNvPr id="22" name="S22"/>
          <p:cNvSpPr/>
          <p:nvPr/>
        </p:nvSpPr>
        <p:spPr>
          <a:xfrm>
            <a:off x="3419856" y="2048256"/>
            <a:ext cx="201168" cy="201168"/>
          </a:xfrm>
          <a:prstGeom prst="ellipse">
            <a:avLst/>
          </a:prstGeom>
          <a:solidFill>
            <a:srgbClr val="D6006F"/>
          </a:solidFill>
          <a:ln>
            <a:noFill/>
          </a:ln>
        </p:spPr>
        <p:txBody>
          <a:bodyPr/>
          <a:lstStyle/>
          <a:p>
            <a:endParaRPr lang="zh-TW" altLang="en-US"/>
          </a:p>
        </p:txBody>
      </p:sp>
      <p:cxnSp>
        <p:nvCxnSpPr>
          <p:cNvPr id="23" name="L23"/>
          <p:cNvCxnSpPr/>
          <p:nvPr/>
        </p:nvCxnSpPr>
        <p:spPr>
          <a:xfrm>
            <a:off x="1051560" y="2148840"/>
            <a:ext cx="2331720" cy="0"/>
          </a:xfrm>
          <a:prstGeom prst="line">
            <a:avLst/>
          </a:prstGeom>
          <a:ln w="9525">
            <a:solidFill>
              <a:srgbClr val="8A8F9C"/>
            </a:solidFill>
            <a:prstDash val="dash"/>
          </a:ln>
        </p:spPr>
      </p:cxnSp>
      <p:sp>
        <p:nvSpPr>
          <p:cNvPr id="24" name="S24"/>
          <p:cNvSpPr/>
          <p:nvPr/>
        </p:nvSpPr>
        <p:spPr>
          <a:xfrm>
            <a:off x="813816" y="2617216"/>
            <a:ext cx="201168" cy="201168"/>
          </a:xfrm>
          <a:prstGeom prst="ellipse">
            <a:avLst/>
          </a:prstGeom>
          <a:solidFill>
            <a:srgbClr val="1F8899"/>
          </a:solidFill>
          <a:ln>
            <a:noFill/>
          </a:ln>
        </p:spPr>
        <p:txBody>
          <a:bodyPr/>
          <a:lstStyle/>
          <a:p>
            <a:endParaRPr lang="zh-TW" altLang="en-US"/>
          </a:p>
        </p:txBody>
      </p:sp>
      <p:sp>
        <p:nvSpPr>
          <p:cNvPr id="25" name="S25"/>
          <p:cNvSpPr/>
          <p:nvPr/>
        </p:nvSpPr>
        <p:spPr>
          <a:xfrm>
            <a:off x="4288536" y="2617216"/>
            <a:ext cx="201168" cy="201168"/>
          </a:xfrm>
          <a:prstGeom prst="ellipse">
            <a:avLst/>
          </a:prstGeom>
          <a:solidFill>
            <a:srgbClr val="D6006F"/>
          </a:solidFill>
          <a:ln>
            <a:noFill/>
          </a:ln>
        </p:spPr>
        <p:txBody>
          <a:bodyPr/>
          <a:lstStyle/>
          <a:p>
            <a:endParaRPr lang="zh-TW" altLang="en-US"/>
          </a:p>
        </p:txBody>
      </p:sp>
      <p:cxnSp>
        <p:nvCxnSpPr>
          <p:cNvPr id="26" name="L26"/>
          <p:cNvCxnSpPr/>
          <p:nvPr/>
        </p:nvCxnSpPr>
        <p:spPr>
          <a:xfrm>
            <a:off x="1051560" y="2717800"/>
            <a:ext cx="3200400" cy="0"/>
          </a:xfrm>
          <a:prstGeom prst="line">
            <a:avLst/>
          </a:prstGeom>
          <a:ln w="9525">
            <a:solidFill>
              <a:srgbClr val="8A8F9C"/>
            </a:solidFill>
            <a:prstDash val="dash"/>
          </a:ln>
        </p:spPr>
      </p:cxnSp>
      <p:sp>
        <p:nvSpPr>
          <p:cNvPr id="27" name="S27"/>
          <p:cNvSpPr/>
          <p:nvPr/>
        </p:nvSpPr>
        <p:spPr>
          <a:xfrm>
            <a:off x="813816" y="3348736"/>
            <a:ext cx="201168" cy="201168"/>
          </a:xfrm>
          <a:prstGeom prst="ellipse">
            <a:avLst/>
          </a:prstGeom>
          <a:solidFill>
            <a:srgbClr val="1F8899"/>
          </a:solidFill>
          <a:ln>
            <a:noFill/>
          </a:ln>
        </p:spPr>
        <p:txBody>
          <a:bodyPr/>
          <a:lstStyle/>
          <a:p>
            <a:endParaRPr lang="zh-TW" altLang="en-US"/>
          </a:p>
        </p:txBody>
      </p:sp>
      <p:sp>
        <p:nvSpPr>
          <p:cNvPr id="28" name="S28"/>
          <p:cNvSpPr/>
          <p:nvPr/>
        </p:nvSpPr>
        <p:spPr>
          <a:xfrm>
            <a:off x="5157216" y="3348736"/>
            <a:ext cx="201168" cy="201168"/>
          </a:xfrm>
          <a:prstGeom prst="ellipse">
            <a:avLst/>
          </a:prstGeom>
          <a:solidFill>
            <a:srgbClr val="D6006F"/>
          </a:solidFill>
          <a:ln>
            <a:noFill/>
          </a:ln>
        </p:spPr>
        <p:txBody>
          <a:bodyPr/>
          <a:lstStyle/>
          <a:p>
            <a:endParaRPr lang="zh-TW" altLang="en-US"/>
          </a:p>
        </p:txBody>
      </p:sp>
      <p:cxnSp>
        <p:nvCxnSpPr>
          <p:cNvPr id="29" name="L29"/>
          <p:cNvCxnSpPr/>
          <p:nvPr/>
        </p:nvCxnSpPr>
        <p:spPr>
          <a:xfrm>
            <a:off x="1051560" y="3449320"/>
            <a:ext cx="4069080" cy="0"/>
          </a:xfrm>
          <a:prstGeom prst="line">
            <a:avLst/>
          </a:prstGeom>
          <a:ln w="9525">
            <a:solidFill>
              <a:srgbClr val="8A8F9C"/>
            </a:solidFill>
            <a:prstDash val="dash"/>
          </a:ln>
        </p:spPr>
      </p:cxnSp>
      <p:sp>
        <p:nvSpPr>
          <p:cNvPr id="30" name="S30"/>
          <p:cNvSpPr/>
          <p:nvPr/>
        </p:nvSpPr>
        <p:spPr>
          <a:xfrm>
            <a:off x="813816" y="4242816"/>
            <a:ext cx="201168" cy="201168"/>
          </a:xfrm>
          <a:prstGeom prst="ellipse">
            <a:avLst/>
          </a:prstGeom>
          <a:solidFill>
            <a:srgbClr val="1F8899"/>
          </a:solidFill>
          <a:ln>
            <a:noFill/>
          </a:ln>
        </p:spPr>
        <p:txBody>
          <a:bodyPr/>
          <a:lstStyle/>
          <a:p>
            <a:endParaRPr lang="zh-TW" altLang="en-US"/>
          </a:p>
        </p:txBody>
      </p:sp>
      <p:sp>
        <p:nvSpPr>
          <p:cNvPr id="31" name="S31"/>
          <p:cNvSpPr/>
          <p:nvPr/>
        </p:nvSpPr>
        <p:spPr>
          <a:xfrm>
            <a:off x="6025896" y="4242816"/>
            <a:ext cx="201168" cy="201168"/>
          </a:xfrm>
          <a:prstGeom prst="ellipse">
            <a:avLst/>
          </a:prstGeom>
          <a:solidFill>
            <a:srgbClr val="D6006F"/>
          </a:solidFill>
          <a:ln>
            <a:noFill/>
          </a:ln>
        </p:spPr>
        <p:txBody>
          <a:bodyPr/>
          <a:lstStyle/>
          <a:p>
            <a:endParaRPr lang="zh-TW" altLang="en-US"/>
          </a:p>
        </p:txBody>
      </p:sp>
      <p:cxnSp>
        <p:nvCxnSpPr>
          <p:cNvPr id="32" name="L32"/>
          <p:cNvCxnSpPr/>
          <p:nvPr/>
        </p:nvCxnSpPr>
        <p:spPr>
          <a:xfrm>
            <a:off x="1051560" y="4343400"/>
            <a:ext cx="4937760" cy="0"/>
          </a:xfrm>
          <a:prstGeom prst="line">
            <a:avLst/>
          </a:prstGeom>
          <a:ln w="9525">
            <a:solidFill>
              <a:srgbClr val="8A8F9C"/>
            </a:solidFill>
            <a:prstDash val="dash"/>
          </a:ln>
        </p:spPr>
      </p:cxnSp>
      <p:cxnSp>
        <p:nvCxnSpPr>
          <p:cNvPr id="33" name="L33"/>
          <p:cNvCxnSpPr/>
          <p:nvPr/>
        </p:nvCxnSpPr>
        <p:spPr>
          <a:xfrm>
            <a:off x="365760" y="4343400"/>
            <a:ext cx="6309360" cy="0"/>
          </a:xfrm>
          <a:prstGeom prst="line">
            <a:avLst/>
          </a:prstGeom>
          <a:ln w="19050">
            <a:solidFill>
              <a:srgbClr val="2B3050"/>
            </a:solidFill>
          </a:ln>
        </p:spPr>
      </p:cxnSp>
      <p:cxnSp>
        <p:nvCxnSpPr>
          <p:cNvPr id="34" name="L34"/>
          <p:cNvCxnSpPr/>
          <p:nvPr/>
        </p:nvCxnSpPr>
        <p:spPr>
          <a:xfrm>
            <a:off x="914400" y="4343400"/>
            <a:ext cx="0" cy="155448"/>
          </a:xfrm>
          <a:prstGeom prst="line">
            <a:avLst/>
          </a:prstGeom>
          <a:ln w="19050">
            <a:solidFill>
              <a:srgbClr val="2B3050"/>
            </a:solidFill>
          </a:ln>
        </p:spPr>
      </p:cxnSp>
      <p:cxnSp>
        <p:nvCxnSpPr>
          <p:cNvPr id="35" name="L35"/>
          <p:cNvCxnSpPr/>
          <p:nvPr/>
        </p:nvCxnSpPr>
        <p:spPr>
          <a:xfrm>
            <a:off x="1783080" y="4343400"/>
            <a:ext cx="0" cy="155448"/>
          </a:xfrm>
          <a:prstGeom prst="line">
            <a:avLst/>
          </a:prstGeom>
          <a:ln w="19050">
            <a:solidFill>
              <a:srgbClr val="2B3050"/>
            </a:solidFill>
          </a:ln>
        </p:spPr>
      </p:cxnSp>
      <p:cxnSp>
        <p:nvCxnSpPr>
          <p:cNvPr id="36" name="L36"/>
          <p:cNvCxnSpPr/>
          <p:nvPr/>
        </p:nvCxnSpPr>
        <p:spPr>
          <a:xfrm>
            <a:off x="2651760" y="4343400"/>
            <a:ext cx="0" cy="155448"/>
          </a:xfrm>
          <a:prstGeom prst="line">
            <a:avLst/>
          </a:prstGeom>
          <a:ln w="19050">
            <a:solidFill>
              <a:srgbClr val="2B3050"/>
            </a:solidFill>
          </a:ln>
        </p:spPr>
      </p:cxnSp>
      <p:cxnSp>
        <p:nvCxnSpPr>
          <p:cNvPr id="37" name="L37"/>
          <p:cNvCxnSpPr/>
          <p:nvPr/>
        </p:nvCxnSpPr>
        <p:spPr>
          <a:xfrm>
            <a:off x="3520440" y="4343400"/>
            <a:ext cx="0" cy="155448"/>
          </a:xfrm>
          <a:prstGeom prst="line">
            <a:avLst/>
          </a:prstGeom>
          <a:ln w="19050">
            <a:solidFill>
              <a:srgbClr val="2B3050"/>
            </a:solidFill>
          </a:ln>
        </p:spPr>
      </p:cxnSp>
      <p:cxnSp>
        <p:nvCxnSpPr>
          <p:cNvPr id="38" name="L38"/>
          <p:cNvCxnSpPr/>
          <p:nvPr/>
        </p:nvCxnSpPr>
        <p:spPr>
          <a:xfrm>
            <a:off x="4389120" y="4343400"/>
            <a:ext cx="0" cy="155448"/>
          </a:xfrm>
          <a:prstGeom prst="line">
            <a:avLst/>
          </a:prstGeom>
          <a:ln w="19050">
            <a:solidFill>
              <a:srgbClr val="2B3050"/>
            </a:solidFill>
          </a:ln>
        </p:spPr>
      </p:cxnSp>
      <p:cxnSp>
        <p:nvCxnSpPr>
          <p:cNvPr id="39" name="L39"/>
          <p:cNvCxnSpPr/>
          <p:nvPr/>
        </p:nvCxnSpPr>
        <p:spPr>
          <a:xfrm>
            <a:off x="5257800" y="4343400"/>
            <a:ext cx="0" cy="155448"/>
          </a:xfrm>
          <a:prstGeom prst="line">
            <a:avLst/>
          </a:prstGeom>
          <a:ln w="19050">
            <a:solidFill>
              <a:srgbClr val="2B3050"/>
            </a:solidFill>
          </a:ln>
        </p:spPr>
      </p:cxnSp>
      <p:cxnSp>
        <p:nvCxnSpPr>
          <p:cNvPr id="40" name="L40"/>
          <p:cNvCxnSpPr/>
          <p:nvPr/>
        </p:nvCxnSpPr>
        <p:spPr>
          <a:xfrm>
            <a:off x="6126480" y="4343400"/>
            <a:ext cx="0" cy="155448"/>
          </a:xfrm>
          <a:prstGeom prst="line">
            <a:avLst/>
          </a:prstGeom>
          <a:ln w="19050">
            <a:solidFill>
              <a:srgbClr val="2B3050"/>
            </a:solidFill>
          </a:ln>
        </p:spPr>
      </p:cxnSp>
      <p:sp>
        <p:nvSpPr>
          <p:cNvPr id="41" name="T41"/>
          <p:cNvSpPr txBox="1"/>
          <p:nvPr/>
        </p:nvSpPr>
        <p:spPr>
          <a:xfrm>
            <a:off x="2560320" y="4434840"/>
            <a:ext cx="2743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Δx 都一樣</a:t>
            </a:r>
            <a:endParaRPr lang="zh-TW" sz="2400"/>
          </a:p>
        </p:txBody>
      </p:sp>
      <p:sp>
        <p:nvSpPr>
          <p:cNvPr id="42" name="T42"/>
          <p:cNvSpPr txBox="1"/>
          <p:nvPr/>
        </p:nvSpPr>
        <p:spPr>
          <a:xfrm>
            <a:off x="6766560" y="868680"/>
            <a:ext cx="1600200" cy="1143000"/>
          </a:xfrm>
          <a:prstGeom prst="roundRect">
            <a:avLst/>
          </a:prstGeom>
          <a:solidFill>
            <a:srgbClr val="FFFFFF"/>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水平間距</a:t>
            </a:r>
            <a:endParaRPr lang="zh-TW" sz="2400"/>
          </a:p>
          <a:p>
            <a:pPr algn="l">
              <a:lnSpc>
                <a:spcPct val="100000"/>
              </a:lnSpc>
              <a:buNone/>
            </a:pPr>
            <a:r>
              <a:rPr lang="zh-TW" altLang="en-US" sz="2400" b="0" dirty="0">
                <a:solidFill>
                  <a:srgbClr val="2B3050"/>
                </a:solidFill>
                <a:latin typeface="Calibri"/>
                <a:ea typeface="微軟正黑體"/>
                <a:cs typeface="Calibri"/>
              </a:rPr>
              <a:t>都一樣</a:t>
            </a:r>
            <a:endParaRPr lang="zh-TW" sz="2400"/>
          </a:p>
        </p:txBody>
      </p:sp>
      <p:sp>
        <p:nvSpPr>
          <p:cNvPr id="43" name="T43"/>
          <p:cNvSpPr txBox="1"/>
          <p:nvPr/>
        </p:nvSpPr>
        <p:spPr>
          <a:xfrm>
            <a:off x="6766560" y="2148840"/>
            <a:ext cx="1600200" cy="1143000"/>
          </a:xfrm>
          <a:prstGeom prst="roundRect">
            <a:avLst/>
          </a:prstGeom>
          <a:solidFill>
            <a:srgbClr val="FFFFFF"/>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垂直間距</a:t>
            </a:r>
            <a:endParaRPr lang="zh-TW" sz="2400"/>
          </a:p>
          <a:p>
            <a:pPr algn="l">
              <a:lnSpc>
                <a:spcPct val="100000"/>
              </a:lnSpc>
              <a:buNone/>
            </a:pPr>
            <a:r>
              <a:rPr lang="zh-TW" altLang="en-US" sz="2400" b="0" dirty="0">
                <a:solidFill>
                  <a:srgbClr val="2B3050"/>
                </a:solidFill>
                <a:latin typeface="Calibri"/>
                <a:ea typeface="微軟正黑體"/>
                <a:cs typeface="Calibri"/>
              </a:rPr>
              <a:t>越來越大</a:t>
            </a:r>
            <a:endParaRPr lang="zh-TW" sz="2400"/>
          </a:p>
        </p:txBody>
      </p:sp>
      <p:sp>
        <p:nvSpPr>
          <p:cNvPr id="44" name="T44"/>
          <p:cNvSpPr txBox="1"/>
          <p:nvPr/>
        </p:nvSpPr>
        <p:spPr>
          <a:xfrm>
            <a:off x="6766560" y="3429000"/>
            <a:ext cx="1600200" cy="1143000"/>
          </a:xfrm>
          <a:prstGeom prst="roundRect">
            <a:avLst/>
          </a:prstGeom>
          <a:solidFill>
            <a:srgbClr val="FFFFFF"/>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兩顆球</a:t>
            </a:r>
            <a:endParaRPr lang="zh-TW" sz="2400"/>
          </a:p>
          <a:p>
            <a:pPr algn="l">
              <a:lnSpc>
                <a:spcPct val="100000"/>
              </a:lnSpc>
              <a:buNone/>
            </a:pPr>
            <a:r>
              <a:rPr lang="zh-TW" altLang="en-US" sz="2400" b="0" dirty="0">
                <a:solidFill>
                  <a:srgbClr val="2B3050"/>
                </a:solidFill>
                <a:latin typeface="Calibri"/>
                <a:ea typeface="微軟正黑體"/>
                <a:cs typeface="Calibri"/>
              </a:rPr>
              <a:t>同時落地</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200"/>
                                        <p:tgtEl>
                                          <p:spTgt spid="14"/>
                                        </p:tgtEl>
                                      </p:cBhvr>
                                    </p:animEffect>
                                  </p:childTnLst>
                                </p:cTn>
                              </p:par>
                              <p:par>
                                <p:cTn id="19" presetID="10" presetClass="entr" presetSubtype="0" fill="hold" grpId="0" nodeType="withEffect">
                                  <p:stCondLst>
                                    <p:cond delay="4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200"/>
                                        <p:tgtEl>
                                          <p:spTgt spid="15"/>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200"/>
                                        <p:tgtEl>
                                          <p:spTgt spid="16"/>
                                        </p:tgtEl>
                                      </p:cBhvr>
                                    </p:animEffect>
                                  </p:childTnLst>
                                </p:cTn>
                              </p:par>
                              <p:par>
                                <p:cTn id="25" presetID="10" presetClass="entr" presetSubtype="0" fill="hold" grpId="0" nodeType="withEffect">
                                  <p:stCondLst>
                                    <p:cond delay="40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00"/>
                                        <p:tgtEl>
                                          <p:spTgt spid="17"/>
                                        </p:tgtEl>
                                      </p:cBhvr>
                                    </p:animEffect>
                                  </p:childTnLst>
                                </p:cTn>
                              </p:par>
                              <p:par>
                                <p:cTn id="28" presetID="10" presetClass="entr" presetSubtype="0" fill="hold" grpId="0" nodeType="withEffect">
                                  <p:stCondLst>
                                    <p:cond delay="8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200"/>
                                        <p:tgtEl>
                                          <p:spTgt spid="18"/>
                                        </p:tgtEl>
                                      </p:cBhvr>
                                    </p:animEffect>
                                  </p:childTnLst>
                                </p:cTn>
                              </p:par>
                              <p:par>
                                <p:cTn id="31" presetID="10" presetClass="entr" presetSubtype="0" fill="hold" grpId="0" nodeType="withEffect">
                                  <p:stCondLst>
                                    <p:cond delay="8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200"/>
                                        <p:tgtEl>
                                          <p:spTgt spid="19"/>
                                        </p:tgtEl>
                                      </p:cBhvr>
                                    </p:animEffect>
                                  </p:childTnLst>
                                </p:cTn>
                              </p:par>
                              <p:par>
                                <p:cTn id="34" presetID="10" presetClass="entr" presetSubtype="0" fill="hold" grpId="0" nodeType="withEffect">
                                  <p:stCondLst>
                                    <p:cond delay="80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200"/>
                                        <p:tgtEl>
                                          <p:spTgt spid="20"/>
                                        </p:tgtEl>
                                      </p:cBhvr>
                                    </p:animEffect>
                                  </p:childTnLst>
                                </p:cTn>
                              </p:par>
                              <p:par>
                                <p:cTn id="37" presetID="10" presetClass="entr" presetSubtype="0" fill="hold" grpId="0" nodeType="withEffect">
                                  <p:stCondLst>
                                    <p:cond delay="120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200"/>
                                        <p:tgtEl>
                                          <p:spTgt spid="21"/>
                                        </p:tgtEl>
                                      </p:cBhvr>
                                    </p:animEffect>
                                  </p:childTnLst>
                                </p:cTn>
                              </p:par>
                              <p:par>
                                <p:cTn id="40" presetID="10" presetClass="entr" presetSubtype="0" fill="hold" grpId="0" nodeType="withEffect">
                                  <p:stCondLst>
                                    <p:cond delay="120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00"/>
                                        <p:tgtEl>
                                          <p:spTgt spid="22"/>
                                        </p:tgtEl>
                                      </p:cBhvr>
                                    </p:animEffect>
                                  </p:childTnLst>
                                </p:cTn>
                              </p:par>
                              <p:par>
                                <p:cTn id="43" presetID="10" presetClass="entr" presetSubtype="0" fill="hold" grpId="0" nodeType="withEffect">
                                  <p:stCondLst>
                                    <p:cond delay="120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200"/>
                                        <p:tgtEl>
                                          <p:spTgt spid="23"/>
                                        </p:tgtEl>
                                      </p:cBhvr>
                                    </p:animEffect>
                                  </p:childTnLst>
                                </p:cTn>
                              </p:par>
                              <p:par>
                                <p:cTn id="46" presetID="10" presetClass="entr" presetSubtype="0" fill="hold" grpId="0" nodeType="withEffect">
                                  <p:stCondLst>
                                    <p:cond delay="160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200"/>
                                        <p:tgtEl>
                                          <p:spTgt spid="24"/>
                                        </p:tgtEl>
                                      </p:cBhvr>
                                    </p:animEffect>
                                  </p:childTnLst>
                                </p:cTn>
                              </p:par>
                              <p:par>
                                <p:cTn id="49" presetID="10" presetClass="entr" presetSubtype="0" fill="hold" grpId="0" nodeType="withEffect">
                                  <p:stCondLst>
                                    <p:cond delay="160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00"/>
                                        <p:tgtEl>
                                          <p:spTgt spid="25"/>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200"/>
                                        <p:tgtEl>
                                          <p:spTgt spid="26"/>
                                        </p:tgtEl>
                                      </p:cBhvr>
                                    </p:animEffect>
                                  </p:childTnLst>
                                </p:cTn>
                              </p:par>
                              <p:par>
                                <p:cTn id="55" presetID="10" presetClass="entr" presetSubtype="0" fill="hold" grpId="0" nodeType="withEffect">
                                  <p:stCondLst>
                                    <p:cond delay="200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200"/>
                                        <p:tgtEl>
                                          <p:spTgt spid="27"/>
                                        </p:tgtEl>
                                      </p:cBhvr>
                                    </p:animEffect>
                                  </p:childTnLst>
                                </p:cTn>
                              </p:par>
                              <p:par>
                                <p:cTn id="58" presetID="10" presetClass="entr" presetSubtype="0" fill="hold" grpId="0" nodeType="withEffect">
                                  <p:stCondLst>
                                    <p:cond delay="200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200"/>
                                        <p:tgtEl>
                                          <p:spTgt spid="28"/>
                                        </p:tgtEl>
                                      </p:cBhvr>
                                    </p:animEffect>
                                  </p:childTnLst>
                                </p:cTn>
                              </p:par>
                              <p:par>
                                <p:cTn id="61" presetID="10" presetClass="entr" presetSubtype="0" fill="hold" grpId="0" nodeType="withEffect">
                                  <p:stCondLst>
                                    <p:cond delay="200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200"/>
                                        <p:tgtEl>
                                          <p:spTgt spid="29"/>
                                        </p:tgtEl>
                                      </p:cBhvr>
                                    </p:animEffect>
                                  </p:childTnLst>
                                </p:cTn>
                              </p:par>
                              <p:par>
                                <p:cTn id="64" presetID="10" presetClass="entr" presetSubtype="0" fill="hold" grpId="0" nodeType="withEffect">
                                  <p:stCondLst>
                                    <p:cond delay="240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200"/>
                                        <p:tgtEl>
                                          <p:spTgt spid="30"/>
                                        </p:tgtEl>
                                      </p:cBhvr>
                                    </p:animEffect>
                                  </p:childTnLst>
                                </p:cTn>
                              </p:par>
                              <p:par>
                                <p:cTn id="67" presetID="10" presetClass="entr" presetSubtype="0" fill="hold" grpId="0" nodeType="withEffect">
                                  <p:stCondLst>
                                    <p:cond delay="240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200"/>
                                        <p:tgtEl>
                                          <p:spTgt spid="31"/>
                                        </p:tgtEl>
                                      </p:cBhvr>
                                    </p:animEffect>
                                  </p:childTnLst>
                                </p:cTn>
                              </p:par>
                              <p:par>
                                <p:cTn id="70" presetID="10" presetClass="entr" presetSubtype="0" fill="hold" grpId="0" nodeType="withEffect">
                                  <p:stCondLst>
                                    <p:cond delay="240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2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500"/>
                                        <p:tgtEl>
                                          <p:spTgt spid="3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500"/>
                                        <p:tgtEl>
                                          <p:spTgt spid="4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500"/>
                                        <p:tgtEl>
                                          <p:spTgt spid="4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500"/>
                                        <p:tgtEl>
                                          <p:spTgt spid="42"/>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50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伽利略的斜面與桌緣實驗</a:t>
            </a:r>
          </a:p>
        </p:txBody>
      </p:sp>
      <p:cxnSp>
        <p:nvCxnSpPr>
          <p:cNvPr id="11" name="L11"/>
          <p:cNvCxnSpPr/>
          <p:nvPr/>
        </p:nvCxnSpPr>
        <p:spPr>
          <a:xfrm>
            <a:off x="274320" y="4114800"/>
            <a:ext cx="6400800" cy="0"/>
          </a:xfrm>
          <a:prstGeom prst="line">
            <a:avLst/>
          </a:prstGeom>
          <a:ln w="25400">
            <a:solidFill>
              <a:srgbClr val="2B3050"/>
            </a:solidFill>
          </a:ln>
        </p:spPr>
      </p:cxnSp>
      <p:sp>
        <p:nvSpPr>
          <p:cNvPr id="12" name="S12"/>
          <p:cNvSpPr/>
          <p:nvPr/>
        </p:nvSpPr>
        <p:spPr>
          <a:xfrm>
            <a:off x="2011680" y="2651760"/>
            <a:ext cx="2468880" cy="109728"/>
          </a:xfrm>
          <a:prstGeom prst="rect">
            <a:avLst/>
          </a:prstGeom>
          <a:solidFill>
            <a:srgbClr val="8B5A2B"/>
          </a:solidFill>
          <a:ln>
            <a:noFill/>
          </a:ln>
        </p:spPr>
        <p:txBody>
          <a:bodyPr/>
          <a:lstStyle/>
          <a:p>
            <a:endParaRPr lang="zh-TW" altLang="en-US"/>
          </a:p>
        </p:txBody>
      </p:sp>
      <p:sp>
        <p:nvSpPr>
          <p:cNvPr id="13" name="S13"/>
          <p:cNvSpPr/>
          <p:nvPr/>
        </p:nvSpPr>
        <p:spPr>
          <a:xfrm>
            <a:off x="2148840" y="2761488"/>
            <a:ext cx="91440" cy="1353312"/>
          </a:xfrm>
          <a:prstGeom prst="rect">
            <a:avLst/>
          </a:prstGeom>
          <a:solidFill>
            <a:srgbClr val="8B5A2B"/>
          </a:solidFill>
          <a:ln>
            <a:noFill/>
          </a:ln>
        </p:spPr>
        <p:txBody>
          <a:bodyPr/>
          <a:lstStyle/>
          <a:p>
            <a:endParaRPr lang="zh-TW" altLang="en-US"/>
          </a:p>
        </p:txBody>
      </p:sp>
      <p:sp>
        <p:nvSpPr>
          <p:cNvPr id="14" name="S14"/>
          <p:cNvSpPr/>
          <p:nvPr/>
        </p:nvSpPr>
        <p:spPr>
          <a:xfrm>
            <a:off x="4251960" y="2761488"/>
            <a:ext cx="91440" cy="1353312"/>
          </a:xfrm>
          <a:prstGeom prst="rect">
            <a:avLst/>
          </a:prstGeom>
          <a:solidFill>
            <a:srgbClr val="8B5A2B"/>
          </a:solidFill>
          <a:ln>
            <a:noFill/>
          </a:ln>
        </p:spPr>
        <p:txBody>
          <a:bodyPr/>
          <a:lstStyle/>
          <a:p>
            <a:endParaRPr lang="zh-TW" altLang="en-US"/>
          </a:p>
        </p:txBody>
      </p:sp>
      <p:sp>
        <p:nvSpPr>
          <p:cNvPr id="15" name="P15"/>
          <p:cNvSpPr/>
          <p:nvPr/>
        </p:nvSpPr>
        <p:spPr>
          <a:xfrm>
            <a:off x="2148840" y="1600200"/>
            <a:ext cx="1600200" cy="1051560"/>
          </a:xfrm>
          <a:custGeom>
            <a:avLst/>
            <a:gdLst/>
            <a:ahLst/>
            <a:cxnLst/>
            <a:rect l="0" t="0" r="r" b="b"/>
            <a:pathLst>
              <a:path w="1600200" h="1051560">
                <a:moveTo>
                  <a:pt x="0" y="0"/>
                </a:moveTo>
                <a:lnTo>
                  <a:pt x="0" y="1051560"/>
                </a:lnTo>
                <a:lnTo>
                  <a:pt x="1600200" y="1051560"/>
                </a:lnTo>
                <a:close/>
              </a:path>
            </a:pathLst>
          </a:custGeom>
          <a:solidFill>
            <a:srgbClr val="D9C3A0"/>
          </a:solidFill>
          <a:ln w="15875">
            <a:solidFill>
              <a:srgbClr val="2B3050"/>
            </a:solidFill>
          </a:ln>
        </p:spPr>
        <p:txBody>
          <a:bodyPr/>
          <a:lstStyle/>
          <a:p>
            <a:endParaRPr lang="zh-TW" altLang="en-US"/>
          </a:p>
        </p:txBody>
      </p:sp>
      <p:sp>
        <p:nvSpPr>
          <p:cNvPr id="16" name="P16"/>
          <p:cNvSpPr/>
          <p:nvPr/>
        </p:nvSpPr>
        <p:spPr>
          <a:xfrm>
            <a:off x="502920" y="2240280"/>
            <a:ext cx="1097280" cy="1874520"/>
          </a:xfrm>
          <a:custGeom>
            <a:avLst/>
            <a:gdLst/>
            <a:ahLst/>
            <a:cxnLst/>
            <a:rect l="0" t="0" r="r" b="b"/>
            <a:pathLst>
              <a:path w="1097280" h="1874520">
                <a:moveTo>
                  <a:pt x="292608" y="0"/>
                </a:moveTo>
                <a:lnTo>
                  <a:pt x="804672" y="0"/>
                </a:lnTo>
                <a:lnTo>
                  <a:pt x="1097280" y="1874520"/>
                </a:lnTo>
                <a:lnTo>
                  <a:pt x="0" y="1874520"/>
                </a:lnTo>
                <a:close/>
              </a:path>
            </a:pathLst>
          </a:custGeom>
          <a:solidFill>
            <a:srgbClr val="5B3A29"/>
          </a:solidFill>
          <a:ln>
            <a:noFill/>
          </a:ln>
        </p:spPr>
        <p:txBody>
          <a:bodyPr/>
          <a:lstStyle/>
          <a:p>
            <a:endParaRPr lang="zh-TW" altLang="en-US"/>
          </a:p>
        </p:txBody>
      </p:sp>
      <p:sp>
        <p:nvSpPr>
          <p:cNvPr id="17" name="S17"/>
          <p:cNvSpPr/>
          <p:nvPr/>
        </p:nvSpPr>
        <p:spPr>
          <a:xfrm>
            <a:off x="822960" y="1737360"/>
            <a:ext cx="457200" cy="457200"/>
          </a:xfrm>
          <a:prstGeom prst="ellipse">
            <a:avLst/>
          </a:prstGeom>
          <a:solidFill>
            <a:srgbClr val="F2D3B1"/>
          </a:solidFill>
          <a:ln w="12700">
            <a:solidFill>
              <a:srgbClr val="2B3050"/>
            </a:solidFill>
          </a:ln>
        </p:spPr>
        <p:txBody>
          <a:bodyPr/>
          <a:lstStyle/>
          <a:p>
            <a:endParaRPr lang="zh-TW" altLang="en-US"/>
          </a:p>
        </p:txBody>
      </p:sp>
      <p:sp>
        <p:nvSpPr>
          <p:cNvPr id="18" name="P18"/>
          <p:cNvSpPr/>
          <p:nvPr/>
        </p:nvSpPr>
        <p:spPr>
          <a:xfrm>
            <a:off x="868680" y="2057400"/>
            <a:ext cx="365760" cy="411480"/>
          </a:xfrm>
          <a:custGeom>
            <a:avLst/>
            <a:gdLst/>
            <a:ahLst/>
            <a:cxnLst/>
            <a:rect l="0" t="0" r="r" b="b"/>
            <a:pathLst>
              <a:path w="365760" h="411480">
                <a:moveTo>
                  <a:pt x="0" y="0"/>
                </a:moveTo>
                <a:lnTo>
                  <a:pt x="365760" y="0"/>
                </a:lnTo>
                <a:lnTo>
                  <a:pt x="182880" y="411480"/>
                </a:lnTo>
                <a:close/>
              </a:path>
            </a:pathLst>
          </a:custGeom>
          <a:solidFill>
            <a:srgbClr val="9A9A9A"/>
          </a:solidFill>
          <a:ln>
            <a:noFill/>
          </a:ln>
        </p:spPr>
        <p:txBody>
          <a:bodyPr/>
          <a:lstStyle/>
          <a:p>
            <a:endParaRPr lang="zh-TW" altLang="en-US"/>
          </a:p>
        </p:txBody>
      </p:sp>
      <p:cxnSp>
        <p:nvCxnSpPr>
          <p:cNvPr id="19" name="L19"/>
          <p:cNvCxnSpPr/>
          <p:nvPr/>
        </p:nvCxnSpPr>
        <p:spPr>
          <a:xfrm flipV="1">
            <a:off x="1280160" y="2240280"/>
            <a:ext cx="640080" cy="274320"/>
          </a:xfrm>
          <a:prstGeom prst="line">
            <a:avLst/>
          </a:prstGeom>
          <a:ln w="63500">
            <a:solidFill>
              <a:srgbClr val="5B3A29"/>
            </a:solidFill>
          </a:ln>
        </p:spPr>
      </p:cxnSp>
      <p:sp>
        <p:nvSpPr>
          <p:cNvPr id="20" name="T20"/>
          <p:cNvSpPr txBox="1"/>
          <p:nvPr/>
        </p:nvSpPr>
        <p:spPr>
          <a:xfrm>
            <a:off x="137160" y="868680"/>
            <a:ext cx="19202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伽利略</a:t>
            </a:r>
            <a:endParaRPr lang="zh-TW" sz="2400"/>
          </a:p>
        </p:txBody>
      </p:sp>
      <p:sp>
        <p:nvSpPr>
          <p:cNvPr id="21" name="T21"/>
          <p:cNvSpPr txBox="1"/>
          <p:nvPr/>
        </p:nvSpPr>
        <p:spPr>
          <a:xfrm>
            <a:off x="137160" y="1234440"/>
            <a:ext cx="19202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1564–1642</a:t>
            </a:r>
            <a:endParaRPr lang="zh-TW" sz="2400"/>
          </a:p>
        </p:txBody>
      </p:sp>
      <p:sp>
        <p:nvSpPr>
          <p:cNvPr id="22" name="P22"/>
          <p:cNvSpPr/>
          <p:nvPr/>
        </p:nvSpPr>
        <p:spPr>
          <a:xfrm>
            <a:off x="4480560" y="2560320"/>
            <a:ext cx="1737360" cy="1463040"/>
          </a:xfrm>
          <a:custGeom>
            <a:avLst/>
            <a:gdLst/>
            <a:ahLst/>
            <a:cxnLst/>
            <a:rect l="0" t="0" r="r" b="b"/>
            <a:pathLst>
              <a:path w="1737360" h="1463040">
                <a:moveTo>
                  <a:pt x="0" y="0"/>
                </a:moveTo>
                <a:lnTo>
                  <a:pt x="86868" y="3658"/>
                </a:lnTo>
                <a:lnTo>
                  <a:pt x="173736" y="14630"/>
                </a:lnTo>
                <a:lnTo>
                  <a:pt x="260604" y="32918"/>
                </a:lnTo>
                <a:lnTo>
                  <a:pt x="347472" y="58522"/>
                </a:lnTo>
                <a:lnTo>
                  <a:pt x="434340" y="91440"/>
                </a:lnTo>
                <a:lnTo>
                  <a:pt x="521208" y="131674"/>
                </a:lnTo>
                <a:lnTo>
                  <a:pt x="608076" y="179222"/>
                </a:lnTo>
                <a:lnTo>
                  <a:pt x="694944" y="234086"/>
                </a:lnTo>
                <a:lnTo>
                  <a:pt x="781812" y="296266"/>
                </a:lnTo>
                <a:lnTo>
                  <a:pt x="868680" y="365760"/>
                </a:lnTo>
                <a:lnTo>
                  <a:pt x="955548" y="442570"/>
                </a:lnTo>
                <a:lnTo>
                  <a:pt x="1042416" y="526694"/>
                </a:lnTo>
                <a:lnTo>
                  <a:pt x="1129284" y="618134"/>
                </a:lnTo>
                <a:lnTo>
                  <a:pt x="1216152" y="716890"/>
                </a:lnTo>
                <a:lnTo>
                  <a:pt x="1303020" y="822960"/>
                </a:lnTo>
                <a:lnTo>
                  <a:pt x="1389888" y="936346"/>
                </a:lnTo>
                <a:lnTo>
                  <a:pt x="1476756" y="1057046"/>
                </a:lnTo>
                <a:lnTo>
                  <a:pt x="1563624" y="1185062"/>
                </a:lnTo>
                <a:lnTo>
                  <a:pt x="1650492" y="1320394"/>
                </a:lnTo>
                <a:lnTo>
                  <a:pt x="1737360" y="1463040"/>
                </a:lnTo>
              </a:path>
            </a:pathLst>
          </a:custGeom>
          <a:noFill/>
          <a:ln w="19050">
            <a:solidFill>
              <a:srgbClr val="D6006F"/>
            </a:solidFill>
            <a:prstDash val="dash"/>
          </a:ln>
        </p:spPr>
        <p:txBody>
          <a:bodyPr/>
          <a:lstStyle/>
          <a:p>
            <a:endParaRPr lang="zh-TW" altLang="en-US"/>
          </a:p>
        </p:txBody>
      </p:sp>
      <p:sp>
        <p:nvSpPr>
          <p:cNvPr id="23" name="S23"/>
          <p:cNvSpPr/>
          <p:nvPr/>
        </p:nvSpPr>
        <p:spPr>
          <a:xfrm>
            <a:off x="2148840" y="1554480"/>
            <a:ext cx="182880" cy="182880"/>
          </a:xfrm>
          <a:prstGeom prst="ellipse">
            <a:avLst/>
          </a:prstGeom>
          <a:solidFill>
            <a:srgbClr val="D6006F"/>
          </a:solidFill>
          <a:ln>
            <a:noFill/>
          </a:ln>
        </p:spPr>
        <p:txBody>
          <a:bodyPr/>
          <a:lstStyle/>
          <a:p>
            <a:endParaRPr lang="zh-TW" altLang="en-US"/>
          </a:p>
        </p:txBody>
      </p:sp>
      <p:cxnSp>
        <p:nvCxnSpPr>
          <p:cNvPr id="24" name="L24"/>
          <p:cNvCxnSpPr/>
          <p:nvPr/>
        </p:nvCxnSpPr>
        <p:spPr>
          <a:xfrm>
            <a:off x="5577840" y="3977640"/>
            <a:ext cx="0" cy="274320"/>
          </a:xfrm>
          <a:prstGeom prst="line">
            <a:avLst/>
          </a:prstGeom>
          <a:ln w="25400">
            <a:solidFill>
              <a:srgbClr val="C0392B"/>
            </a:solidFill>
          </a:ln>
        </p:spPr>
      </p:cxnSp>
      <p:cxnSp>
        <p:nvCxnSpPr>
          <p:cNvPr id="25" name="L25"/>
          <p:cNvCxnSpPr/>
          <p:nvPr/>
        </p:nvCxnSpPr>
        <p:spPr>
          <a:xfrm>
            <a:off x="5943600" y="3977640"/>
            <a:ext cx="0" cy="274320"/>
          </a:xfrm>
          <a:prstGeom prst="line">
            <a:avLst/>
          </a:prstGeom>
          <a:ln w="25400">
            <a:solidFill>
              <a:srgbClr val="C0392B"/>
            </a:solidFill>
          </a:ln>
        </p:spPr>
      </p:cxnSp>
      <p:cxnSp>
        <p:nvCxnSpPr>
          <p:cNvPr id="26" name="L26"/>
          <p:cNvCxnSpPr/>
          <p:nvPr/>
        </p:nvCxnSpPr>
        <p:spPr>
          <a:xfrm>
            <a:off x="6217920" y="3977640"/>
            <a:ext cx="0" cy="274320"/>
          </a:xfrm>
          <a:prstGeom prst="line">
            <a:avLst/>
          </a:prstGeom>
          <a:ln w="25400">
            <a:solidFill>
              <a:srgbClr val="C0392B"/>
            </a:solidFill>
          </a:ln>
        </p:spPr>
      </p:cxnSp>
      <p:sp>
        <p:nvSpPr>
          <p:cNvPr id="27" name="T27"/>
          <p:cNvSpPr txBox="1"/>
          <p:nvPr/>
        </p:nvSpPr>
        <p:spPr>
          <a:xfrm>
            <a:off x="5212080" y="3566160"/>
            <a:ext cx="18288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0392B"/>
                </a:solidFill>
                <a:latin typeface="Calibri"/>
                <a:ea typeface="微軟正黑體"/>
                <a:cs typeface="Calibri"/>
              </a:rPr>
              <a:t>落點記號</a:t>
            </a:r>
            <a:endParaRPr lang="zh-TW" sz="2400"/>
          </a:p>
        </p:txBody>
      </p:sp>
      <p:sp>
        <p:nvSpPr>
          <p:cNvPr id="28" name="T28"/>
          <p:cNvSpPr txBox="1"/>
          <p:nvPr/>
        </p:nvSpPr>
        <p:spPr>
          <a:xfrm>
            <a:off x="6383655" y="333756"/>
            <a:ext cx="16459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約 1608 年</a:t>
            </a:r>
            <a:endParaRPr lang="zh-TW" sz="2400" dirty="0"/>
          </a:p>
        </p:txBody>
      </p:sp>
      <p:sp>
        <p:nvSpPr>
          <p:cNvPr id="29" name="T29"/>
          <p:cNvSpPr txBox="1"/>
          <p:nvPr/>
        </p:nvSpPr>
        <p:spPr>
          <a:xfrm>
            <a:off x="6383655" y="772668"/>
            <a:ext cx="16459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球從斜面</a:t>
            </a:r>
            <a:endParaRPr lang="zh-TW" sz="2400" dirty="0"/>
          </a:p>
        </p:txBody>
      </p:sp>
      <p:sp>
        <p:nvSpPr>
          <p:cNvPr id="30" name="T30"/>
          <p:cNvSpPr txBox="1"/>
          <p:nvPr/>
        </p:nvSpPr>
        <p:spPr>
          <a:xfrm>
            <a:off x="6383655" y="1184148"/>
            <a:ext cx="16459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滾下</a:t>
            </a:r>
            <a:endParaRPr lang="zh-TW" sz="2400" dirty="0"/>
          </a:p>
        </p:txBody>
      </p:sp>
      <p:sp>
        <p:nvSpPr>
          <p:cNvPr id="31" name="T31"/>
          <p:cNvSpPr txBox="1"/>
          <p:nvPr/>
        </p:nvSpPr>
        <p:spPr>
          <a:xfrm>
            <a:off x="6383655" y="1595628"/>
            <a:ext cx="16459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水平飛出</a:t>
            </a:r>
            <a:endParaRPr lang="zh-TW" sz="2400" dirty="0"/>
          </a:p>
        </p:txBody>
      </p:sp>
      <p:sp>
        <p:nvSpPr>
          <p:cNvPr id="32" name="T32"/>
          <p:cNvSpPr txBox="1"/>
          <p:nvPr/>
        </p:nvSpPr>
        <p:spPr>
          <a:xfrm>
            <a:off x="6383655" y="2007108"/>
            <a:ext cx="16459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桌緣</a:t>
            </a:r>
            <a:endParaRPr lang="zh-TW" sz="2400"/>
          </a:p>
        </p:txBody>
      </p:sp>
      <p:sp>
        <p:nvSpPr>
          <p:cNvPr id="33" name="T33"/>
          <p:cNvSpPr txBox="1"/>
          <p:nvPr/>
        </p:nvSpPr>
        <p:spPr>
          <a:xfrm>
            <a:off x="6383655" y="2418588"/>
            <a:ext cx="16459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量落點</a:t>
            </a:r>
            <a:endParaRPr lang="zh-TW" sz="2400" dirty="0"/>
          </a:p>
        </p:txBody>
      </p:sp>
      <p:sp>
        <p:nvSpPr>
          <p:cNvPr id="34" name="T34"/>
          <p:cNvSpPr txBox="1"/>
          <p:nvPr/>
        </p:nvSpPr>
        <p:spPr>
          <a:xfrm>
            <a:off x="6383655" y="2830068"/>
            <a:ext cx="16459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 拋物線</a:t>
            </a:r>
            <a:endParaRPr lang="zh-TW" sz="2400"/>
          </a:p>
        </p:txBody>
      </p:sp>
      <p:sp>
        <p:nvSpPr>
          <p:cNvPr id="35" name="T35"/>
          <p:cNvSpPr txBox="1"/>
          <p:nvPr/>
        </p:nvSpPr>
        <p:spPr>
          <a:xfrm>
            <a:off x="274320" y="4343400"/>
            <a:ext cx="80467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資料：Drake, S. (1973). Isis, 64(3), 291–305.</a:t>
            </a:r>
            <a:endParaRPr lang="zh-TW" sz="2400"/>
          </a:p>
        </p:txBody>
      </p:sp>
      <p:sp>
        <p:nvSpPr>
          <p:cNvPr id="4" name="文字方塊 3">
            <a:extLst>
              <a:ext uri="{FF2B5EF4-FFF2-40B4-BE49-F238E27FC236}">
                <a16:creationId xmlns:a16="http://schemas.microsoft.com/office/drawing/2014/main" id="{6E817AA8-B61C-61F3-F2DD-42AAC9B18C3B}"/>
              </a:ext>
            </a:extLst>
          </p:cNvPr>
          <p:cNvSpPr txBox="1"/>
          <p:nvPr/>
        </p:nvSpPr>
        <p:spPr>
          <a:xfrm>
            <a:off x="3200400" y="1184148"/>
            <a:ext cx="2771775" cy="923330"/>
          </a:xfrm>
          <a:prstGeom prst="rect">
            <a:avLst/>
          </a:prstGeom>
          <a:noFill/>
        </p:spPr>
        <p:txBody>
          <a:bodyPr wrap="square">
            <a:spAutoFit/>
          </a:bodyPr>
          <a:lstStyle/>
          <a:p>
            <a:r>
              <a:rPr lang="zh-TW" altLang="zh-TW" dirty="0"/>
              <a:t>球在準備飛出桌緣的瞬間，具有一個純粹向前的水平初速度。</a:t>
            </a:r>
            <a:endParaRPr lang="zh-TW" altLang="en-US" dirty="0"/>
          </a:p>
        </p:txBody>
      </p:sp>
      <p:sp>
        <p:nvSpPr>
          <p:cNvPr id="6" name="文字方塊 5">
            <a:extLst>
              <a:ext uri="{FF2B5EF4-FFF2-40B4-BE49-F238E27FC236}">
                <a16:creationId xmlns:a16="http://schemas.microsoft.com/office/drawing/2014/main" id="{BFAD4BB4-96DE-F44A-B86E-D1C2596C696E}"/>
              </a:ext>
            </a:extLst>
          </p:cNvPr>
          <p:cNvSpPr txBox="1"/>
          <p:nvPr/>
        </p:nvSpPr>
        <p:spPr>
          <a:xfrm>
            <a:off x="6646544" y="3291840"/>
            <a:ext cx="2680336" cy="1754326"/>
          </a:xfrm>
          <a:prstGeom prst="rect">
            <a:avLst/>
          </a:prstGeom>
          <a:noFill/>
        </p:spPr>
        <p:txBody>
          <a:bodyPr wrap="square">
            <a:spAutoFit/>
          </a:bodyPr>
          <a:lstStyle/>
          <a:p>
            <a:r>
              <a:rPr lang="zh-TW" altLang="zh-TW" dirty="0"/>
              <a:t>水平方向不受力作等速前進，而鉛直方向受重力作等加速度落下。兩者同時進行，就畫出了圖中紅色虛線的拋物線軌跡</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0 0 L 0.00000 0.00000 L 0.01550 0.01778 L 0.03100 0.03556 L 0.04650 0.05333 L 0.06200 0.07111 L 0.07750 0.08889 L 0.09300 0.10667 L 0.10850 0.12444 L 0.12400 0.14222 L 0.13950 0.16000 L 0.15500 0.17778 L 0.17000 0.17778 L 0.18500 0.17778 L 0.20000 0.17778 L 0.21500 0.17778 L 0.23000 0.17778 L 0.24500 0.17778 L 0.25450 0.17849 L 0.26400 0.18062 L 0.27350 0.18418 L 0.28300 0.18916 L 0.29250 0.19556 L 0.30200 0.20338 L 0.31150 0.21262 L 0.32100 0.22329 L 0.33050 0.23538 L 0.34000 0.24889 L 0.34950 0.26382 L 0.35900 0.28018 L 0.36850 0.29796 L 0.37800 0.31716 L 0.38750 0.33778 L 0.39700 0.35982 L 0.40650 0.38329 L 0.41600 0.40818 L 0.42550 0.43449 L 0.43500 0.46222 E" pathEditMode="relative" ptsTypes="">
                                      <p:cBhvr>
                                        <p:cTn id="6" dur="3000" fill="hold"/>
                                        <p:tgtEl>
                                          <p:spTgt spid="23"/>
                                        </p:tgtEl>
                                        <p:attrNameLst>
                                          <p:attrName>ppt_x</p:attrName>
                                          <p:attrName>ppt_y</p:attrName>
                                        </p:attrNameLst>
                                      </p:cBhvr>
                                    </p:animMotion>
                                  </p:childTnLst>
                                </p:cTn>
                              </p:par>
                              <p:par>
                                <p:cTn id="7" presetID="10" presetClass="entr" presetSubtype="0" fill="hold" grpId="0" nodeType="withEffect">
                                  <p:stCondLst>
                                    <p:cond delay="180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3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提醒：這是理想模型</a:t>
            </a:r>
          </a:p>
        </p:txBody>
      </p:sp>
      <p:sp>
        <p:nvSpPr>
          <p:cNvPr id="11" name="T11"/>
          <p:cNvSpPr txBox="1"/>
          <p:nvPr/>
        </p:nvSpPr>
        <p:spPr>
          <a:xfrm>
            <a:off x="365760" y="8686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課本：忽略空氣阻力</a:t>
            </a:r>
            <a:endParaRPr lang="zh-TW" sz="2400"/>
          </a:p>
        </p:txBody>
      </p:sp>
      <p:sp>
        <p:nvSpPr>
          <p:cNvPr id="12" name="T12"/>
          <p:cNvSpPr txBox="1"/>
          <p:nvPr/>
        </p:nvSpPr>
        <p:spPr>
          <a:xfrm>
            <a:off x="365760" y="13258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 vx 不變，軌跡是拋物線</a:t>
            </a:r>
            <a:endParaRPr lang="zh-TW" sz="2400"/>
          </a:p>
        </p:txBody>
      </p:sp>
      <p:sp>
        <p:nvSpPr>
          <p:cNvPr id="13" name="T13"/>
          <p:cNvSpPr txBox="1"/>
          <p:nvPr/>
        </p:nvSpPr>
        <p:spPr>
          <a:xfrm>
            <a:off x="365760" y="17830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真實：阻力和運動方向相反</a:t>
            </a:r>
            <a:endParaRPr lang="zh-TW" sz="2400"/>
          </a:p>
        </p:txBody>
      </p:sp>
      <p:sp>
        <p:nvSpPr>
          <p:cNvPr id="14" name="T14"/>
          <p:cNvSpPr txBox="1"/>
          <p:nvPr/>
        </p:nvSpPr>
        <p:spPr>
          <a:xfrm>
            <a:off x="365760" y="22402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vx 慢慢變小</a:t>
            </a:r>
            <a:endParaRPr lang="zh-TW" sz="2400"/>
          </a:p>
        </p:txBody>
      </p:sp>
      <p:sp>
        <p:nvSpPr>
          <p:cNvPr id="15" name="T15"/>
          <p:cNvSpPr txBox="1"/>
          <p:nvPr/>
        </p:nvSpPr>
        <p:spPr>
          <a:xfrm>
            <a:off x="365760" y="26974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射程變短、下降較陡</a:t>
            </a:r>
            <a:endParaRPr lang="zh-TW" sz="2400"/>
          </a:p>
        </p:txBody>
      </p:sp>
      <p:sp>
        <p:nvSpPr>
          <p:cNvPr id="16" name="T16"/>
          <p:cNvSpPr txBox="1"/>
          <p:nvPr/>
        </p:nvSpPr>
        <p:spPr>
          <a:xfrm>
            <a:off x="365760" y="3383280"/>
            <a:ext cx="4206240" cy="123444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砲彈、高速球、羽毛球</a:t>
            </a:r>
            <a:endParaRPr lang="zh-TW" sz="2400"/>
          </a:p>
          <a:p>
            <a:pPr algn="l">
              <a:lnSpc>
                <a:spcPct val="100000"/>
              </a:lnSpc>
              <a:buNone/>
            </a:pPr>
            <a:r>
              <a:rPr lang="zh-TW" altLang="en-US" sz="2400" b="0" dirty="0">
                <a:solidFill>
                  <a:srgbClr val="2B3050"/>
                </a:solidFill>
                <a:latin typeface="Calibri"/>
                <a:ea typeface="微軟正黑體"/>
                <a:cs typeface="Calibri"/>
              </a:rPr>
              <a:t>阻力就不能忽略</a:t>
            </a:r>
            <a:endParaRPr lang="zh-TW" sz="2400"/>
          </a:p>
        </p:txBody>
      </p:sp>
      <p:cxnSp>
        <p:nvCxnSpPr>
          <p:cNvPr id="17" name="L17"/>
          <p:cNvCxnSpPr/>
          <p:nvPr/>
        </p:nvCxnSpPr>
        <p:spPr>
          <a:xfrm>
            <a:off x="4754880" y="4114800"/>
            <a:ext cx="3657600" cy="0"/>
          </a:xfrm>
          <a:prstGeom prst="line">
            <a:avLst/>
          </a:prstGeom>
          <a:ln w="15875">
            <a:solidFill>
              <a:srgbClr val="2B3050"/>
            </a:solidFill>
            <a:tailEnd type="triangle" w="med" len="med"/>
          </a:ln>
        </p:spPr>
      </p:cxnSp>
      <p:cxnSp>
        <p:nvCxnSpPr>
          <p:cNvPr id="18" name="L18"/>
          <p:cNvCxnSpPr/>
          <p:nvPr/>
        </p:nvCxnSpPr>
        <p:spPr>
          <a:xfrm flipV="1">
            <a:off x="4846320" y="2103120"/>
            <a:ext cx="0" cy="2103120"/>
          </a:xfrm>
          <a:prstGeom prst="line">
            <a:avLst/>
          </a:prstGeom>
          <a:ln w="15875">
            <a:solidFill>
              <a:srgbClr val="2B3050"/>
            </a:solidFill>
            <a:tailEnd type="triangle" w="med" len="med"/>
          </a:ln>
        </p:spPr>
      </p:cxnSp>
      <p:sp>
        <p:nvSpPr>
          <p:cNvPr id="19" name="P19"/>
          <p:cNvSpPr/>
          <p:nvPr/>
        </p:nvSpPr>
        <p:spPr>
          <a:xfrm>
            <a:off x="4846320" y="2730583"/>
            <a:ext cx="3461163" cy="1384217"/>
          </a:xfrm>
          <a:custGeom>
            <a:avLst/>
            <a:gdLst/>
            <a:ahLst/>
            <a:cxnLst/>
            <a:rect l="0" t="0" r="r" b="b"/>
            <a:pathLst>
              <a:path w="3461163" h="1384217">
                <a:moveTo>
                  <a:pt x="0" y="1384217"/>
                </a:moveTo>
                <a:lnTo>
                  <a:pt x="32048" y="1333474"/>
                </a:lnTo>
                <a:lnTo>
                  <a:pt x="64096" y="1283678"/>
                </a:lnTo>
                <a:lnTo>
                  <a:pt x="96143" y="1234829"/>
                </a:lnTo>
                <a:lnTo>
                  <a:pt x="128191" y="1186929"/>
                </a:lnTo>
                <a:lnTo>
                  <a:pt x="160239" y="1139975"/>
                </a:lnTo>
                <a:lnTo>
                  <a:pt x="192287" y="1093969"/>
                </a:lnTo>
                <a:lnTo>
                  <a:pt x="224335" y="1048911"/>
                </a:lnTo>
                <a:lnTo>
                  <a:pt x="256382" y="1004800"/>
                </a:lnTo>
                <a:lnTo>
                  <a:pt x="288430" y="961637"/>
                </a:lnTo>
                <a:lnTo>
                  <a:pt x="320478" y="919422"/>
                </a:lnTo>
                <a:lnTo>
                  <a:pt x="352526" y="878154"/>
                </a:lnTo>
                <a:lnTo>
                  <a:pt x="384574" y="837833"/>
                </a:lnTo>
                <a:lnTo>
                  <a:pt x="416621" y="798460"/>
                </a:lnTo>
                <a:lnTo>
                  <a:pt x="448669" y="760035"/>
                </a:lnTo>
                <a:lnTo>
                  <a:pt x="480717" y="722557"/>
                </a:lnTo>
                <a:lnTo>
                  <a:pt x="512765" y="686026"/>
                </a:lnTo>
                <a:lnTo>
                  <a:pt x="544813" y="650443"/>
                </a:lnTo>
                <a:lnTo>
                  <a:pt x="576860" y="615808"/>
                </a:lnTo>
                <a:lnTo>
                  <a:pt x="608908" y="582120"/>
                </a:lnTo>
                <a:lnTo>
                  <a:pt x="640956" y="549380"/>
                </a:lnTo>
                <a:lnTo>
                  <a:pt x="673004" y="517588"/>
                </a:lnTo>
                <a:lnTo>
                  <a:pt x="705052" y="486742"/>
                </a:lnTo>
                <a:lnTo>
                  <a:pt x="737099" y="456845"/>
                </a:lnTo>
                <a:lnTo>
                  <a:pt x="769147" y="427895"/>
                </a:lnTo>
                <a:lnTo>
                  <a:pt x="801195" y="399892"/>
                </a:lnTo>
                <a:lnTo>
                  <a:pt x="833243" y="372837"/>
                </a:lnTo>
                <a:lnTo>
                  <a:pt x="865291" y="346730"/>
                </a:lnTo>
                <a:lnTo>
                  <a:pt x="897338" y="321570"/>
                </a:lnTo>
                <a:lnTo>
                  <a:pt x="929386" y="297358"/>
                </a:lnTo>
                <a:lnTo>
                  <a:pt x="961434" y="274093"/>
                </a:lnTo>
                <a:lnTo>
                  <a:pt x="993482" y="251776"/>
                </a:lnTo>
                <a:lnTo>
                  <a:pt x="1025530" y="230406"/>
                </a:lnTo>
                <a:lnTo>
                  <a:pt x="1057577" y="209984"/>
                </a:lnTo>
                <a:lnTo>
                  <a:pt x="1089625" y="190509"/>
                </a:lnTo>
                <a:lnTo>
                  <a:pt x="1121673" y="171982"/>
                </a:lnTo>
                <a:lnTo>
                  <a:pt x="1153721" y="154402"/>
                </a:lnTo>
                <a:lnTo>
                  <a:pt x="1185769" y="137770"/>
                </a:lnTo>
                <a:lnTo>
                  <a:pt x="1217816" y="122086"/>
                </a:lnTo>
                <a:lnTo>
                  <a:pt x="1249864" y="107349"/>
                </a:lnTo>
                <a:lnTo>
                  <a:pt x="1281912" y="93560"/>
                </a:lnTo>
                <a:lnTo>
                  <a:pt x="1313960" y="80718"/>
                </a:lnTo>
                <a:lnTo>
                  <a:pt x="1346008" y="68823"/>
                </a:lnTo>
                <a:lnTo>
                  <a:pt x="1378055" y="57877"/>
                </a:lnTo>
                <a:lnTo>
                  <a:pt x="1410103" y="47877"/>
                </a:lnTo>
                <a:lnTo>
                  <a:pt x="1442151" y="38826"/>
                </a:lnTo>
                <a:lnTo>
                  <a:pt x="1474199" y="30722"/>
                </a:lnTo>
                <a:lnTo>
                  <a:pt x="1506247" y="23565"/>
                </a:lnTo>
                <a:lnTo>
                  <a:pt x="1538294" y="17356"/>
                </a:lnTo>
                <a:lnTo>
                  <a:pt x="1570342" y="12094"/>
                </a:lnTo>
                <a:lnTo>
                  <a:pt x="1602390" y="7781"/>
                </a:lnTo>
                <a:lnTo>
                  <a:pt x="1634438" y="4414"/>
                </a:lnTo>
                <a:lnTo>
                  <a:pt x="1666486" y="1995"/>
                </a:lnTo>
                <a:lnTo>
                  <a:pt x="1698533" y="524"/>
                </a:lnTo>
                <a:lnTo>
                  <a:pt x="1730581" y="0"/>
                </a:lnTo>
                <a:lnTo>
                  <a:pt x="1762629" y="424"/>
                </a:lnTo>
                <a:lnTo>
                  <a:pt x="1794677" y="1795"/>
                </a:lnTo>
                <a:lnTo>
                  <a:pt x="1826725" y="4114"/>
                </a:lnTo>
                <a:lnTo>
                  <a:pt x="1858772" y="7380"/>
                </a:lnTo>
                <a:lnTo>
                  <a:pt x="1890820" y="11594"/>
                </a:lnTo>
                <a:lnTo>
                  <a:pt x="1922868" y="16755"/>
                </a:lnTo>
                <a:lnTo>
                  <a:pt x="1954916" y="22864"/>
                </a:lnTo>
                <a:lnTo>
                  <a:pt x="1986964" y="29921"/>
                </a:lnTo>
                <a:lnTo>
                  <a:pt x="2019011" y="37925"/>
                </a:lnTo>
                <a:lnTo>
                  <a:pt x="2051059" y="46877"/>
                </a:lnTo>
                <a:lnTo>
                  <a:pt x="2083107" y="56776"/>
                </a:lnTo>
                <a:lnTo>
                  <a:pt x="2115155" y="67622"/>
                </a:lnTo>
                <a:lnTo>
                  <a:pt x="2147203" y="79417"/>
                </a:lnTo>
                <a:lnTo>
                  <a:pt x="2179250" y="92158"/>
                </a:lnTo>
                <a:lnTo>
                  <a:pt x="2211298" y="105848"/>
                </a:lnTo>
                <a:lnTo>
                  <a:pt x="2243346" y="120485"/>
                </a:lnTo>
                <a:lnTo>
                  <a:pt x="2275394" y="136069"/>
                </a:lnTo>
                <a:lnTo>
                  <a:pt x="2307442" y="152601"/>
                </a:lnTo>
                <a:lnTo>
                  <a:pt x="2339489" y="170080"/>
                </a:lnTo>
                <a:lnTo>
                  <a:pt x="2371537" y="188507"/>
                </a:lnTo>
                <a:lnTo>
                  <a:pt x="2403585" y="207882"/>
                </a:lnTo>
                <a:lnTo>
                  <a:pt x="2435633" y="228204"/>
                </a:lnTo>
                <a:lnTo>
                  <a:pt x="2467681" y="249474"/>
                </a:lnTo>
                <a:lnTo>
                  <a:pt x="2499728" y="271691"/>
                </a:lnTo>
                <a:lnTo>
                  <a:pt x="2531776" y="294855"/>
                </a:lnTo>
                <a:lnTo>
                  <a:pt x="2563824" y="318968"/>
                </a:lnTo>
                <a:lnTo>
                  <a:pt x="2595872" y="344028"/>
                </a:lnTo>
                <a:lnTo>
                  <a:pt x="2627920" y="370035"/>
                </a:lnTo>
                <a:lnTo>
                  <a:pt x="2659967" y="396990"/>
                </a:lnTo>
                <a:lnTo>
                  <a:pt x="2692015" y="424892"/>
                </a:lnTo>
                <a:lnTo>
                  <a:pt x="2724063" y="453742"/>
                </a:lnTo>
                <a:lnTo>
                  <a:pt x="2756111" y="483540"/>
                </a:lnTo>
                <a:lnTo>
                  <a:pt x="2788159" y="514285"/>
                </a:lnTo>
                <a:lnTo>
                  <a:pt x="2820206" y="545977"/>
                </a:lnTo>
                <a:lnTo>
                  <a:pt x="2852254" y="578617"/>
                </a:lnTo>
                <a:lnTo>
                  <a:pt x="2884302" y="612205"/>
                </a:lnTo>
                <a:lnTo>
                  <a:pt x="2916350" y="646740"/>
                </a:lnTo>
                <a:lnTo>
                  <a:pt x="2948398" y="682223"/>
                </a:lnTo>
                <a:lnTo>
                  <a:pt x="2980445" y="718653"/>
                </a:lnTo>
                <a:lnTo>
                  <a:pt x="3012493" y="756031"/>
                </a:lnTo>
                <a:lnTo>
                  <a:pt x="3044541" y="794356"/>
                </a:lnTo>
                <a:lnTo>
                  <a:pt x="3076589" y="833629"/>
                </a:lnTo>
                <a:lnTo>
                  <a:pt x="3108637" y="873850"/>
                </a:lnTo>
                <a:lnTo>
                  <a:pt x="3140684" y="915018"/>
                </a:lnTo>
                <a:lnTo>
                  <a:pt x="3172732" y="957133"/>
                </a:lnTo>
                <a:lnTo>
                  <a:pt x="3204780" y="1000196"/>
                </a:lnTo>
                <a:lnTo>
                  <a:pt x="3236828" y="1044207"/>
                </a:lnTo>
                <a:lnTo>
                  <a:pt x="3268876" y="1089165"/>
                </a:lnTo>
                <a:lnTo>
                  <a:pt x="3300924" y="1135071"/>
                </a:lnTo>
                <a:lnTo>
                  <a:pt x="3332971" y="1181924"/>
                </a:lnTo>
                <a:lnTo>
                  <a:pt x="3365019" y="1229725"/>
                </a:lnTo>
                <a:lnTo>
                  <a:pt x="3397067" y="1278473"/>
                </a:lnTo>
                <a:lnTo>
                  <a:pt x="3429115" y="1328169"/>
                </a:lnTo>
                <a:lnTo>
                  <a:pt x="3461163" y="1378812"/>
                </a:lnTo>
                <a:lnTo>
                  <a:pt x="3461163" y="1378812"/>
                </a:lnTo>
              </a:path>
            </a:pathLst>
          </a:custGeom>
          <a:noFill/>
          <a:ln w="31750">
            <a:solidFill>
              <a:srgbClr val="1F8899"/>
            </a:solidFill>
          </a:ln>
        </p:spPr>
        <p:txBody>
          <a:bodyPr/>
          <a:lstStyle/>
          <a:p>
            <a:endParaRPr lang="zh-TW" altLang="en-US"/>
          </a:p>
        </p:txBody>
      </p:sp>
      <p:sp>
        <p:nvSpPr>
          <p:cNvPr id="20" name="T20"/>
          <p:cNvSpPr txBox="1"/>
          <p:nvPr/>
        </p:nvSpPr>
        <p:spPr>
          <a:xfrm>
            <a:off x="6035040" y="2331720"/>
            <a:ext cx="14630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無阻力</a:t>
            </a:r>
            <a:endParaRPr lang="zh-TW" sz="2400"/>
          </a:p>
        </p:txBody>
      </p:sp>
      <p:sp>
        <p:nvSpPr>
          <p:cNvPr id="21" name="P21"/>
          <p:cNvSpPr/>
          <p:nvPr/>
        </p:nvSpPr>
        <p:spPr>
          <a:xfrm>
            <a:off x="4846320" y="2974884"/>
            <a:ext cx="2469719" cy="1139916"/>
          </a:xfrm>
          <a:custGeom>
            <a:avLst/>
            <a:gdLst/>
            <a:ahLst/>
            <a:cxnLst/>
            <a:rect l="0" t="0" r="r" b="b"/>
            <a:pathLst>
              <a:path w="2469719" h="1139916">
                <a:moveTo>
                  <a:pt x="0" y="1139916"/>
                </a:moveTo>
                <a:lnTo>
                  <a:pt x="31919" y="1089378"/>
                </a:lnTo>
                <a:lnTo>
                  <a:pt x="63612" y="1040141"/>
                </a:lnTo>
                <a:lnTo>
                  <a:pt x="95086" y="992191"/>
                </a:lnTo>
                <a:lnTo>
                  <a:pt x="126344" y="945513"/>
                </a:lnTo>
                <a:lnTo>
                  <a:pt x="157392" y="900094"/>
                </a:lnTo>
                <a:lnTo>
                  <a:pt x="188235" y="855920"/>
                </a:lnTo>
                <a:lnTo>
                  <a:pt x="218876" y="812979"/>
                </a:lnTo>
                <a:lnTo>
                  <a:pt x="249322" y="771258"/>
                </a:lnTo>
                <a:lnTo>
                  <a:pt x="279575" y="730745"/>
                </a:lnTo>
                <a:lnTo>
                  <a:pt x="309641" y="691428"/>
                </a:lnTo>
                <a:lnTo>
                  <a:pt x="339523" y="653297"/>
                </a:lnTo>
                <a:lnTo>
                  <a:pt x="369225" y="616340"/>
                </a:lnTo>
                <a:lnTo>
                  <a:pt x="398751" y="580546"/>
                </a:lnTo>
                <a:lnTo>
                  <a:pt x="428106" y="545907"/>
                </a:lnTo>
                <a:lnTo>
                  <a:pt x="457291" y="512412"/>
                </a:lnTo>
                <a:lnTo>
                  <a:pt x="486312" y="480051"/>
                </a:lnTo>
                <a:lnTo>
                  <a:pt x="515171" y="448816"/>
                </a:lnTo>
                <a:lnTo>
                  <a:pt x="543872" y="418698"/>
                </a:lnTo>
                <a:lnTo>
                  <a:pt x="572417" y="389687"/>
                </a:lnTo>
                <a:lnTo>
                  <a:pt x="600811" y="361776"/>
                </a:lnTo>
                <a:lnTo>
                  <a:pt x="629055" y="334958"/>
                </a:lnTo>
                <a:lnTo>
                  <a:pt x="657154" y="309223"/>
                </a:lnTo>
                <a:lnTo>
                  <a:pt x="685109" y="284565"/>
                </a:lnTo>
                <a:lnTo>
                  <a:pt x="712924" y="260977"/>
                </a:lnTo>
                <a:lnTo>
                  <a:pt x="740600" y="238451"/>
                </a:lnTo>
                <a:lnTo>
                  <a:pt x="768141" y="216980"/>
                </a:lnTo>
                <a:lnTo>
                  <a:pt x="795549" y="196559"/>
                </a:lnTo>
                <a:lnTo>
                  <a:pt x="822827" y="177181"/>
                </a:lnTo>
                <a:lnTo>
                  <a:pt x="849976" y="158840"/>
                </a:lnTo>
                <a:lnTo>
                  <a:pt x="876999" y="141530"/>
                </a:lnTo>
                <a:lnTo>
                  <a:pt x="903898" y="125244"/>
                </a:lnTo>
                <a:lnTo>
                  <a:pt x="930675" y="109978"/>
                </a:lnTo>
                <a:lnTo>
                  <a:pt x="957332" y="95727"/>
                </a:lnTo>
                <a:lnTo>
                  <a:pt x="983871" y="82484"/>
                </a:lnTo>
                <a:lnTo>
                  <a:pt x="1010293" y="70245"/>
                </a:lnTo>
                <a:lnTo>
                  <a:pt x="1036600" y="59005"/>
                </a:lnTo>
                <a:lnTo>
                  <a:pt x="1062795" y="48759"/>
                </a:lnTo>
                <a:lnTo>
                  <a:pt x="1088877" y="39503"/>
                </a:lnTo>
                <a:lnTo>
                  <a:pt x="1114850" y="31231"/>
                </a:lnTo>
                <a:lnTo>
                  <a:pt x="1140714" y="23940"/>
                </a:lnTo>
                <a:lnTo>
                  <a:pt x="1166471" y="17625"/>
                </a:lnTo>
                <a:lnTo>
                  <a:pt x="1192122" y="12281"/>
                </a:lnTo>
                <a:lnTo>
                  <a:pt x="1217667" y="7906"/>
                </a:lnTo>
                <a:lnTo>
                  <a:pt x="1243109" y="4494"/>
                </a:lnTo>
                <a:lnTo>
                  <a:pt x="1268448" y="2041"/>
                </a:lnTo>
                <a:lnTo>
                  <a:pt x="1293686" y="545"/>
                </a:lnTo>
                <a:lnTo>
                  <a:pt x="1318822" y="0"/>
                </a:lnTo>
                <a:lnTo>
                  <a:pt x="1343859" y="403"/>
                </a:lnTo>
                <a:lnTo>
                  <a:pt x="1368796" y="1751"/>
                </a:lnTo>
                <a:lnTo>
                  <a:pt x="1393635" y="4039"/>
                </a:lnTo>
                <a:lnTo>
                  <a:pt x="1418376" y="7264"/>
                </a:lnTo>
                <a:lnTo>
                  <a:pt x="1443019" y="11423"/>
                </a:lnTo>
                <a:lnTo>
                  <a:pt x="1467566" y="16510"/>
                </a:lnTo>
                <a:lnTo>
                  <a:pt x="1492016" y="22524"/>
                </a:lnTo>
                <a:lnTo>
                  <a:pt x="1516371" y="29460"/>
                </a:lnTo>
                <a:lnTo>
                  <a:pt x="1540630" y="37315"/>
                </a:lnTo>
                <a:lnTo>
                  <a:pt x="1564793" y="46085"/>
                </a:lnTo>
                <a:lnTo>
                  <a:pt x="1588862" y="55767"/>
                </a:lnTo>
                <a:lnTo>
                  <a:pt x="1612836" y="66356"/>
                </a:lnTo>
                <a:lnTo>
                  <a:pt x="1636715" y="77849"/>
                </a:lnTo>
                <a:lnTo>
                  <a:pt x="1660500" y="90243"/>
                </a:lnTo>
                <a:lnTo>
                  <a:pt x="1684190" y="103533"/>
                </a:lnTo>
                <a:lnTo>
                  <a:pt x="1707785" y="117716"/>
                </a:lnTo>
                <a:lnTo>
                  <a:pt x="1731286" y="132788"/>
                </a:lnTo>
                <a:lnTo>
                  <a:pt x="1754693" y="148746"/>
                </a:lnTo>
                <a:lnTo>
                  <a:pt x="1778005" y="165584"/>
                </a:lnTo>
                <a:lnTo>
                  <a:pt x="1801222" y="183300"/>
                </a:lnTo>
                <a:lnTo>
                  <a:pt x="1824344" y="201890"/>
                </a:lnTo>
                <a:lnTo>
                  <a:pt x="1847371" y="221349"/>
                </a:lnTo>
                <a:lnTo>
                  <a:pt x="1870303" y="241673"/>
                </a:lnTo>
                <a:lnTo>
                  <a:pt x="1893139" y="262858"/>
                </a:lnTo>
                <a:lnTo>
                  <a:pt x="1915879" y="284900"/>
                </a:lnTo>
                <a:lnTo>
                  <a:pt x="1938523" y="307795"/>
                </a:lnTo>
                <a:lnTo>
                  <a:pt x="1961070" y="331537"/>
                </a:lnTo>
                <a:lnTo>
                  <a:pt x="1983521" y="356124"/>
                </a:lnTo>
                <a:lnTo>
                  <a:pt x="2005874" y="381550"/>
                </a:lnTo>
                <a:lnTo>
                  <a:pt x="2028130" y="407810"/>
                </a:lnTo>
                <a:lnTo>
                  <a:pt x="2050288" y="434901"/>
                </a:lnTo>
                <a:lnTo>
                  <a:pt x="2072348" y="462817"/>
                </a:lnTo>
                <a:lnTo>
                  <a:pt x="2094309" y="491554"/>
                </a:lnTo>
                <a:lnTo>
                  <a:pt x="2116170" y="521107"/>
                </a:lnTo>
                <a:lnTo>
                  <a:pt x="2137932" y="551471"/>
                </a:lnTo>
                <a:lnTo>
                  <a:pt x="2159594" y="582641"/>
                </a:lnTo>
                <a:lnTo>
                  <a:pt x="2181156" y="614612"/>
                </a:lnTo>
                <a:lnTo>
                  <a:pt x="2202617" y="647379"/>
                </a:lnTo>
                <a:lnTo>
                  <a:pt x="2223976" y="680937"/>
                </a:lnTo>
                <a:lnTo>
                  <a:pt x="2245234" y="715280"/>
                </a:lnTo>
                <a:lnTo>
                  <a:pt x="2266389" y="750404"/>
                </a:lnTo>
                <a:lnTo>
                  <a:pt x="2287442" y="786303"/>
                </a:lnTo>
                <a:lnTo>
                  <a:pt x="2308392" y="822972"/>
                </a:lnTo>
                <a:lnTo>
                  <a:pt x="2329238" y="860405"/>
                </a:lnTo>
                <a:lnTo>
                  <a:pt x="2349980" y="898597"/>
                </a:lnTo>
                <a:lnTo>
                  <a:pt x="2370618" y="937542"/>
                </a:lnTo>
                <a:lnTo>
                  <a:pt x="2391151" y="977234"/>
                </a:lnTo>
                <a:lnTo>
                  <a:pt x="2411579" y="1017669"/>
                </a:lnTo>
                <a:lnTo>
                  <a:pt x="2431901" y="1058840"/>
                </a:lnTo>
                <a:lnTo>
                  <a:pt x="2452117" y="1100742"/>
                </a:lnTo>
                <a:lnTo>
                  <a:pt x="2469719" y="1138000"/>
                </a:lnTo>
              </a:path>
            </a:pathLst>
          </a:custGeom>
          <a:noFill/>
          <a:ln w="31750">
            <a:solidFill>
              <a:srgbClr val="D6006F"/>
            </a:solidFill>
          </a:ln>
        </p:spPr>
        <p:txBody>
          <a:bodyPr/>
          <a:lstStyle/>
          <a:p>
            <a:endParaRPr lang="zh-TW" altLang="en-US"/>
          </a:p>
        </p:txBody>
      </p:sp>
      <p:sp>
        <p:nvSpPr>
          <p:cNvPr id="22" name="T22"/>
          <p:cNvSpPr txBox="1"/>
          <p:nvPr/>
        </p:nvSpPr>
        <p:spPr>
          <a:xfrm>
            <a:off x="6419088" y="3675888"/>
            <a:ext cx="19202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有阻力</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9"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課本說「拋物線」，怎麼來的？</a:t>
            </a:r>
          </a:p>
        </p:txBody>
      </p:sp>
      <p:sp>
        <p:nvSpPr>
          <p:cNvPr id="11" name="T11"/>
          <p:cNvSpPr txBox="1"/>
          <p:nvPr/>
        </p:nvSpPr>
        <p:spPr>
          <a:xfrm>
            <a:off x="365760" y="868680"/>
            <a:ext cx="46634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兩條式子都含 t，把 t 消掉：</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25880"/>
                <a:ext cx="466344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𝑥</m:t>
                          </m:r>
                        </m:num>
                        <m:den>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den>
                      </m:f>
                    </m:oMath>
                  </m:oMathPara>
                </a14:m>
                <a:endParaRPr lang="zh-TW" sz="2400"/>
              </a:p>
            </p:txBody>
          </p:sp>
        </mc:Choice>
        <mc:Fallback xmlns="">
          <p:pic>
            <p:nvPicPr>
              <p:cNvPr id="12" name="F12"/>
              <p:cNvPicPr/>
              <p:nvPr/>
            </p:nvPicPr>
            <p:blipFill>
              <a:blip r:embed="rId2"/>
              <a:stretch>
                <a:fillRect/>
              </a:stretch>
            </p:blipFill>
            <p:spPr>
              <a:xfrm>
                <a:off x="365760" y="1325880"/>
                <a:ext cx="466344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148840"/>
                <a:ext cx="466344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代入 </a:t>
                </a:r>
                <a14:m>
                  <m:oMath xmlns:m="http://schemas.openxmlformats.org/officeDocument/2006/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m:t>
                    </m:r>
                  </m:oMath>
                </a14:m>
                <a:endParaRPr lang="zh-TW" sz="2400"/>
              </a:p>
            </p:txBody>
          </p:sp>
        </mc:Choice>
        <mc:Fallback xmlns="">
          <p:pic>
            <p:nvPicPr>
              <p:cNvPr id="13" name="F13"/>
              <p:cNvPicPr/>
              <p:nvPr/>
            </p:nvPicPr>
            <p:blipFill>
              <a:blip r:embed="rId3"/>
              <a:stretch>
                <a:fillRect/>
              </a:stretch>
            </p:blipFill>
            <p:spPr>
              <a:xfrm>
                <a:off x="365760" y="2148840"/>
                <a:ext cx="466344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971800"/>
                <a:ext cx="466344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num>
                        <m:den>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den>
                      </m:f>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𝑔</m:t>
                          </m:r>
                        </m:num>
                        <m:den>
                          <m:r>
                            <a:rPr lang="en-US" altLang="zh-TW" sz="2400" b="0" i="0">
                              <a:solidFill>
                                <a:srgbClr val="2B3050"/>
                              </a:solidFill>
                              <a:latin typeface="Cambria Math" panose="02040503050406030204" pitchFamily="18" charset="0"/>
                              <a:ea typeface="Cambria Math"/>
                            </a:rPr>
                            <m:t>2</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e>
                            <m:sup>
                              <m:r>
                                <a:rPr lang="en-US" altLang="zh-TW" sz="2400" b="0" i="0">
                                  <a:solidFill>
                                    <a:srgbClr val="2B3050"/>
                                  </a:solidFill>
                                  <a:latin typeface="Cambria Math" panose="02040503050406030204" pitchFamily="18" charset="0"/>
                                  <a:ea typeface="Cambria Math"/>
                                </a:rPr>
                                <m:t>2</m:t>
                              </m:r>
                            </m:sup>
                          </m:sSup>
                        </m:den>
                      </m:f>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𝑥</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4"/>
              <a:stretch>
                <a:fillRect/>
              </a:stretch>
            </p:blipFill>
            <p:spPr>
              <a:xfrm>
                <a:off x="365760" y="2971800"/>
                <a:ext cx="4663440" cy="914400"/>
              </a:xfrm>
              <a:prstGeom prst="rect">
                <a:avLst/>
              </a:prstGeom>
              <a:noFill/>
              <a:ln>
                <a:noFill/>
              </a:ln>
            </p:spPr>
          </p:pic>
        </mc:Fallback>
      </mc:AlternateContent>
      <p:sp>
        <p:nvSpPr>
          <p:cNvPr id="15" name="T15"/>
          <p:cNvSpPr txBox="1"/>
          <p:nvPr/>
        </p:nvSpPr>
        <p:spPr>
          <a:xfrm>
            <a:off x="365760" y="4023360"/>
            <a:ext cx="4663440" cy="6400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y 是 x 的</a:t>
            </a:r>
            <a:r>
              <a:rPr lang="zh-TW" altLang="en-US" sz="2400" b="1" dirty="0">
                <a:solidFill>
                  <a:srgbClr val="D6006F"/>
                </a:solidFill>
                <a:latin typeface="Calibri"/>
                <a:ea typeface="微軟正黑體"/>
                <a:cs typeface="Calibri"/>
              </a:rPr>
              <a:t>二次函數</a:t>
            </a:r>
            <a:r>
              <a:rPr lang="zh-TW" altLang="en-US" sz="2400" b="0" dirty="0">
                <a:solidFill>
                  <a:srgbClr val="2B3050"/>
                </a:solidFill>
                <a:latin typeface="Calibri"/>
                <a:ea typeface="微軟正黑體"/>
                <a:cs typeface="Calibri"/>
              </a:rPr>
              <a:t> → 拋物線</a:t>
            </a:r>
            <a:endParaRPr lang="zh-TW" sz="2400"/>
          </a:p>
        </p:txBody>
      </p:sp>
      <p:cxnSp>
        <p:nvCxnSpPr>
          <p:cNvPr id="16" name="L16"/>
          <p:cNvCxnSpPr/>
          <p:nvPr/>
        </p:nvCxnSpPr>
        <p:spPr>
          <a:xfrm>
            <a:off x="5166360" y="3977640"/>
            <a:ext cx="3291840" cy="0"/>
          </a:xfrm>
          <a:prstGeom prst="line">
            <a:avLst/>
          </a:prstGeom>
          <a:ln w="15875">
            <a:solidFill>
              <a:srgbClr val="2B3050"/>
            </a:solidFill>
            <a:tailEnd type="triangle" w="med" len="med"/>
          </a:ln>
        </p:spPr>
      </p:cxnSp>
      <p:sp>
        <p:nvSpPr>
          <p:cNvPr id="17" name="P17"/>
          <p:cNvSpPr/>
          <p:nvPr/>
        </p:nvSpPr>
        <p:spPr>
          <a:xfrm>
            <a:off x="5349240" y="1965960"/>
            <a:ext cx="2834640" cy="2011680"/>
          </a:xfrm>
          <a:custGeom>
            <a:avLst/>
            <a:gdLst/>
            <a:ahLst/>
            <a:cxnLst/>
            <a:rect l="0" t="0" r="r" b="b"/>
            <a:pathLst>
              <a:path w="2834640" h="2011680">
                <a:moveTo>
                  <a:pt x="0" y="2011680"/>
                </a:moveTo>
                <a:lnTo>
                  <a:pt x="70866" y="1815541"/>
                </a:lnTo>
                <a:lnTo>
                  <a:pt x="141732" y="1629461"/>
                </a:lnTo>
                <a:lnTo>
                  <a:pt x="212598" y="1453439"/>
                </a:lnTo>
                <a:lnTo>
                  <a:pt x="283464" y="1287475"/>
                </a:lnTo>
                <a:lnTo>
                  <a:pt x="354330" y="1131570"/>
                </a:lnTo>
                <a:lnTo>
                  <a:pt x="425196" y="985723"/>
                </a:lnTo>
                <a:lnTo>
                  <a:pt x="496062" y="849935"/>
                </a:lnTo>
                <a:lnTo>
                  <a:pt x="566928" y="724205"/>
                </a:lnTo>
                <a:lnTo>
                  <a:pt x="637794" y="608533"/>
                </a:lnTo>
                <a:lnTo>
                  <a:pt x="708660" y="502920"/>
                </a:lnTo>
                <a:lnTo>
                  <a:pt x="779526" y="407365"/>
                </a:lnTo>
                <a:lnTo>
                  <a:pt x="850392" y="321869"/>
                </a:lnTo>
                <a:lnTo>
                  <a:pt x="921258" y="246431"/>
                </a:lnTo>
                <a:lnTo>
                  <a:pt x="992124" y="181051"/>
                </a:lnTo>
                <a:lnTo>
                  <a:pt x="1062990" y="125730"/>
                </a:lnTo>
                <a:lnTo>
                  <a:pt x="1133856" y="80467"/>
                </a:lnTo>
                <a:lnTo>
                  <a:pt x="1204722" y="45263"/>
                </a:lnTo>
                <a:lnTo>
                  <a:pt x="1275588" y="20117"/>
                </a:lnTo>
                <a:lnTo>
                  <a:pt x="1346454" y="5029"/>
                </a:lnTo>
                <a:lnTo>
                  <a:pt x="1417320" y="0"/>
                </a:lnTo>
                <a:lnTo>
                  <a:pt x="1488186" y="5029"/>
                </a:lnTo>
                <a:lnTo>
                  <a:pt x="1559052" y="20117"/>
                </a:lnTo>
                <a:lnTo>
                  <a:pt x="1629918" y="45263"/>
                </a:lnTo>
                <a:lnTo>
                  <a:pt x="1700784" y="80467"/>
                </a:lnTo>
                <a:lnTo>
                  <a:pt x="1771650" y="125730"/>
                </a:lnTo>
                <a:lnTo>
                  <a:pt x="1842516" y="181051"/>
                </a:lnTo>
                <a:lnTo>
                  <a:pt x="1913382" y="246431"/>
                </a:lnTo>
                <a:lnTo>
                  <a:pt x="1984248" y="321869"/>
                </a:lnTo>
                <a:lnTo>
                  <a:pt x="2055114" y="407365"/>
                </a:lnTo>
                <a:lnTo>
                  <a:pt x="2125980" y="502920"/>
                </a:lnTo>
                <a:lnTo>
                  <a:pt x="2196846" y="608533"/>
                </a:lnTo>
                <a:lnTo>
                  <a:pt x="2267712" y="724205"/>
                </a:lnTo>
                <a:lnTo>
                  <a:pt x="2338578" y="849935"/>
                </a:lnTo>
                <a:lnTo>
                  <a:pt x="2409444" y="985723"/>
                </a:lnTo>
                <a:lnTo>
                  <a:pt x="2480310" y="1131570"/>
                </a:lnTo>
                <a:lnTo>
                  <a:pt x="2551176" y="1287475"/>
                </a:lnTo>
                <a:lnTo>
                  <a:pt x="2622042" y="1453439"/>
                </a:lnTo>
                <a:lnTo>
                  <a:pt x="2692908" y="1629461"/>
                </a:lnTo>
                <a:lnTo>
                  <a:pt x="2763774" y="1815541"/>
                </a:lnTo>
                <a:lnTo>
                  <a:pt x="2834640" y="2011680"/>
                </a:lnTo>
              </a:path>
            </a:pathLst>
          </a:custGeom>
          <a:noFill/>
          <a:ln w="31750">
            <a:solidFill>
              <a:srgbClr val="D6006F"/>
            </a:solidFill>
          </a:ln>
        </p:spPr>
        <p:txBody>
          <a:bodyPr/>
          <a:lstStyle/>
          <a:p>
            <a:endParaRPr lang="zh-TW" altLang="en-US"/>
          </a:p>
        </p:txBody>
      </p:sp>
      <p:cxnSp>
        <p:nvCxnSpPr>
          <p:cNvPr id="18" name="L18"/>
          <p:cNvCxnSpPr/>
          <p:nvPr/>
        </p:nvCxnSpPr>
        <p:spPr>
          <a:xfrm>
            <a:off x="6766560" y="1965960"/>
            <a:ext cx="0" cy="1828800"/>
          </a:xfrm>
          <a:prstGeom prst="line">
            <a:avLst/>
          </a:prstGeom>
          <a:ln w="15875">
            <a:solidFill>
              <a:srgbClr val="8A8F9C"/>
            </a:solidFill>
            <a:prstDash val="dash"/>
          </a:ln>
        </p:spPr>
      </p:cxnSp>
      <p:sp>
        <p:nvSpPr>
          <p:cNvPr id="19" name="T19"/>
          <p:cNvSpPr txBox="1"/>
          <p:nvPr/>
        </p:nvSpPr>
        <p:spPr>
          <a:xfrm>
            <a:off x="5760720" y="1645920"/>
            <a:ext cx="219456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左右對稱</a:t>
            </a:r>
            <a:endParaRPr lang="zh-TW" sz="2400"/>
          </a:p>
        </p:txBody>
      </p:sp>
      <p:sp>
        <p:nvSpPr>
          <p:cNvPr id="20" name="T20"/>
          <p:cNvSpPr txBox="1"/>
          <p:nvPr/>
        </p:nvSpPr>
        <p:spPr>
          <a:xfrm>
            <a:off x="5349240" y="868680"/>
            <a:ext cx="301752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「拋物線」這名字</a:t>
            </a:r>
            <a:endParaRPr lang="zh-TW" sz="2400"/>
          </a:p>
          <a:p>
            <a:pPr algn="l">
              <a:lnSpc>
                <a:spcPct val="100000"/>
              </a:lnSpc>
              <a:buNone/>
            </a:pPr>
            <a:r>
              <a:rPr lang="zh-TW" altLang="en-US" sz="2400" b="0" dirty="0">
                <a:solidFill>
                  <a:srgbClr val="2B3050"/>
                </a:solidFill>
                <a:latin typeface="Calibri"/>
                <a:ea typeface="微軟正黑體"/>
                <a:cs typeface="Calibri"/>
              </a:rPr>
              <a:t>就是「拋出物體的路線」</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實例：外野手長傳（動畫）</a:t>
            </a:r>
          </a:p>
        </p:txBody>
      </p:sp>
      <p:sp>
        <p:nvSpPr>
          <p:cNvPr id="11" name="T11"/>
          <p:cNvSpPr txBox="1"/>
          <p:nvPr/>
        </p:nvSpPr>
        <p:spPr>
          <a:xfrm>
            <a:off x="365760" y="868680"/>
            <a:ext cx="2560320" cy="4572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出手速度</a:t>
            </a:r>
            <a:endParaRPr lang="zh-TW" sz="2400"/>
          </a:p>
        </p:txBody>
      </p:sp>
      <p:sp>
        <p:nvSpPr>
          <p:cNvPr id="12" name="T12"/>
          <p:cNvSpPr txBox="1"/>
          <p:nvPr/>
        </p:nvSpPr>
        <p:spPr>
          <a:xfrm>
            <a:off x="36576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1F8899"/>
                </a:solidFill>
                <a:latin typeface="Calibri"/>
                <a:ea typeface="微軟正黑體"/>
                <a:cs typeface="Calibri"/>
              </a:rPr>
              <a:t>144 km/h</a:t>
            </a:r>
            <a:endParaRPr lang="zh-TW" sz="2400"/>
          </a:p>
        </p:txBody>
      </p:sp>
      <p:sp>
        <p:nvSpPr>
          <p:cNvPr id="13" name="T13"/>
          <p:cNvSpPr txBox="1"/>
          <p:nvPr/>
        </p:nvSpPr>
        <p:spPr>
          <a:xfrm>
            <a:off x="3063240" y="868680"/>
            <a:ext cx="2560320" cy="457200"/>
          </a:xfrm>
          <a:prstGeom prst="roundRect">
            <a:avLst/>
          </a:prstGeom>
          <a:solidFill>
            <a:srgbClr val="C8901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出手角度</a:t>
            </a:r>
            <a:endParaRPr lang="zh-TW" sz="2400"/>
          </a:p>
        </p:txBody>
      </p:sp>
      <p:sp>
        <p:nvSpPr>
          <p:cNvPr id="14" name="T14"/>
          <p:cNvSpPr txBox="1"/>
          <p:nvPr/>
        </p:nvSpPr>
        <p:spPr>
          <a:xfrm>
            <a:off x="306324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C8901F"/>
                </a:solidFill>
                <a:latin typeface="Calibri"/>
                <a:ea typeface="微軟正黑體"/>
                <a:cs typeface="Calibri"/>
              </a:rPr>
              <a:t>35°、高 1.8 m</a:t>
            </a:r>
            <a:endParaRPr lang="zh-TW" sz="2400"/>
          </a:p>
        </p:txBody>
      </p:sp>
      <p:sp>
        <p:nvSpPr>
          <p:cNvPr id="15" name="T15"/>
          <p:cNvSpPr txBox="1"/>
          <p:nvPr/>
        </p:nvSpPr>
        <p:spPr>
          <a:xfrm>
            <a:off x="5760720" y="868680"/>
            <a:ext cx="2560320" cy="45720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落點比較</a:t>
            </a:r>
            <a:endParaRPr lang="zh-TW" sz="2400"/>
          </a:p>
        </p:txBody>
      </p:sp>
      <p:sp>
        <p:nvSpPr>
          <p:cNvPr id="16" name="T16"/>
          <p:cNvSpPr txBox="1"/>
          <p:nvPr/>
        </p:nvSpPr>
        <p:spPr>
          <a:xfrm>
            <a:off x="5760720" y="1325880"/>
            <a:ext cx="2560320" cy="45720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D6006F"/>
                </a:solidFill>
                <a:latin typeface="Calibri"/>
                <a:ea typeface="微軟正黑體"/>
                <a:cs typeface="Calibri"/>
              </a:rPr>
              <a:t>96 m vs 156 m</a:t>
            </a:r>
            <a:endParaRPr lang="zh-TW" sz="2400"/>
          </a:p>
        </p:txBody>
      </p:sp>
      <p:cxnSp>
        <p:nvCxnSpPr>
          <p:cNvPr id="17" name="L17"/>
          <p:cNvCxnSpPr/>
          <p:nvPr/>
        </p:nvCxnSpPr>
        <p:spPr>
          <a:xfrm>
            <a:off x="274320" y="4480560"/>
            <a:ext cx="8046720" cy="0"/>
          </a:xfrm>
          <a:prstGeom prst="line">
            <a:avLst/>
          </a:prstGeom>
          <a:ln w="19050">
            <a:solidFill>
              <a:srgbClr val="2B3050"/>
            </a:solidFill>
          </a:ln>
        </p:spPr>
      </p:cxnSp>
      <p:sp>
        <p:nvSpPr>
          <p:cNvPr id="18" name="P18"/>
          <p:cNvSpPr/>
          <p:nvPr/>
        </p:nvSpPr>
        <p:spPr>
          <a:xfrm>
            <a:off x="475488" y="4096512"/>
            <a:ext cx="182880" cy="384048"/>
          </a:xfrm>
          <a:custGeom>
            <a:avLst/>
            <a:gdLst/>
            <a:ahLst/>
            <a:cxnLst/>
            <a:rect l="0" t="0" r="r" b="b"/>
            <a:pathLst>
              <a:path w="182880" h="384048">
                <a:moveTo>
                  <a:pt x="0" y="384048"/>
                </a:moveTo>
                <a:lnTo>
                  <a:pt x="91440" y="0"/>
                </a:lnTo>
                <a:lnTo>
                  <a:pt x="182880" y="384048"/>
                </a:lnTo>
              </a:path>
            </a:pathLst>
          </a:custGeom>
          <a:noFill/>
          <a:ln w="25400">
            <a:solidFill>
              <a:srgbClr val="2B3050"/>
            </a:solidFill>
          </a:ln>
        </p:spPr>
        <p:txBody>
          <a:bodyPr/>
          <a:lstStyle/>
          <a:p>
            <a:endParaRPr lang="zh-TW" altLang="en-US"/>
          </a:p>
        </p:txBody>
      </p:sp>
      <p:sp>
        <p:nvSpPr>
          <p:cNvPr id="19" name="S19"/>
          <p:cNvSpPr/>
          <p:nvPr/>
        </p:nvSpPr>
        <p:spPr>
          <a:xfrm>
            <a:off x="484632" y="3895344"/>
            <a:ext cx="164592" cy="164592"/>
          </a:xfrm>
          <a:prstGeom prst="ellipse">
            <a:avLst/>
          </a:prstGeom>
          <a:solidFill>
            <a:srgbClr val="2B3050"/>
          </a:solidFill>
          <a:ln>
            <a:noFill/>
          </a:ln>
        </p:spPr>
        <p:txBody>
          <a:bodyPr/>
          <a:lstStyle/>
          <a:p>
            <a:endParaRPr lang="zh-TW" altLang="en-US"/>
          </a:p>
        </p:txBody>
      </p:sp>
      <p:sp>
        <p:nvSpPr>
          <p:cNvPr id="20" name="P20"/>
          <p:cNvSpPr/>
          <p:nvPr/>
        </p:nvSpPr>
        <p:spPr>
          <a:xfrm>
            <a:off x="411480" y="2702928"/>
            <a:ext cx="4678555" cy="1779958"/>
          </a:xfrm>
          <a:custGeom>
            <a:avLst/>
            <a:gdLst/>
            <a:ahLst/>
            <a:cxnLst/>
            <a:rect l="0" t="0" r="r" b="b"/>
            <a:pathLst>
              <a:path w="4678555" h="1779958">
                <a:moveTo>
                  <a:pt x="0" y="1632791"/>
                </a:moveTo>
                <a:lnTo>
                  <a:pt x="176016" y="1434020"/>
                </a:lnTo>
                <a:lnTo>
                  <a:pt x="347386" y="1250263"/>
                </a:lnTo>
                <a:lnTo>
                  <a:pt x="514416" y="1080932"/>
                </a:lnTo>
                <a:lnTo>
                  <a:pt x="677385" y="925495"/>
                </a:lnTo>
                <a:lnTo>
                  <a:pt x="836545" y="783473"/>
                </a:lnTo>
                <a:lnTo>
                  <a:pt x="992126" y="654430"/>
                </a:lnTo>
                <a:lnTo>
                  <a:pt x="1144336" y="537972"/>
                </a:lnTo>
                <a:lnTo>
                  <a:pt x="1293366" y="433741"/>
                </a:lnTo>
                <a:lnTo>
                  <a:pt x="1439389" y="341410"/>
                </a:lnTo>
                <a:lnTo>
                  <a:pt x="1582561" y="260680"/>
                </a:lnTo>
                <a:lnTo>
                  <a:pt x="1723026" y="191279"/>
                </a:lnTo>
                <a:lnTo>
                  <a:pt x="1860915" y="132956"/>
                </a:lnTo>
                <a:lnTo>
                  <a:pt x="1996346" y="85481"/>
                </a:lnTo>
                <a:lnTo>
                  <a:pt x="2129425" y="48639"/>
                </a:lnTo>
                <a:lnTo>
                  <a:pt x="2260250" y="22233"/>
                </a:lnTo>
                <a:lnTo>
                  <a:pt x="2388906" y="6078"/>
                </a:lnTo>
                <a:lnTo>
                  <a:pt x="2515473" y="0"/>
                </a:lnTo>
                <a:lnTo>
                  <a:pt x="2640020" y="3835"/>
                </a:lnTo>
                <a:lnTo>
                  <a:pt x="2762608" y="17427"/>
                </a:lnTo>
                <a:lnTo>
                  <a:pt x="2883293" y="40626"/>
                </a:lnTo>
                <a:lnTo>
                  <a:pt x="3002121" y="73286"/>
                </a:lnTo>
                <a:lnTo>
                  <a:pt x="3119136" y="115267"/>
                </a:lnTo>
                <a:lnTo>
                  <a:pt x="3234373" y="166430"/>
                </a:lnTo>
                <a:lnTo>
                  <a:pt x="3347863" y="226637"/>
                </a:lnTo>
                <a:lnTo>
                  <a:pt x="3459633" y="295750"/>
                </a:lnTo>
                <a:lnTo>
                  <a:pt x="3569705" y="373633"/>
                </a:lnTo>
                <a:lnTo>
                  <a:pt x="3678098" y="460146"/>
                </a:lnTo>
                <a:lnTo>
                  <a:pt x="3784827" y="555150"/>
                </a:lnTo>
                <a:lnTo>
                  <a:pt x="3889905" y="658503"/>
                </a:lnTo>
                <a:lnTo>
                  <a:pt x="3993343" y="770058"/>
                </a:lnTo>
                <a:lnTo>
                  <a:pt x="4095149" y="889670"/>
                </a:lnTo>
                <a:lnTo>
                  <a:pt x="4195330" y="1017188"/>
                </a:lnTo>
                <a:lnTo>
                  <a:pt x="4293891" y="1152459"/>
                </a:lnTo>
                <a:lnTo>
                  <a:pt x="4390839" y="1295328"/>
                </a:lnTo>
                <a:lnTo>
                  <a:pt x="4486176" y="1445637"/>
                </a:lnTo>
                <a:lnTo>
                  <a:pt x="4579907" y="1603223"/>
                </a:lnTo>
                <a:lnTo>
                  <a:pt x="4672036" y="1767926"/>
                </a:lnTo>
                <a:lnTo>
                  <a:pt x="4678555" y="1779958"/>
                </a:lnTo>
              </a:path>
            </a:pathLst>
          </a:custGeom>
          <a:noFill/>
          <a:ln w="31750">
            <a:solidFill>
              <a:srgbClr val="D6006F"/>
            </a:solidFill>
          </a:ln>
        </p:spPr>
        <p:txBody>
          <a:bodyPr/>
          <a:lstStyle/>
          <a:p>
            <a:endParaRPr lang="zh-TW" altLang="en-US"/>
          </a:p>
        </p:txBody>
      </p:sp>
      <p:sp>
        <p:nvSpPr>
          <p:cNvPr id="21" name="S21"/>
          <p:cNvSpPr/>
          <p:nvPr/>
        </p:nvSpPr>
        <p:spPr>
          <a:xfrm>
            <a:off x="320040" y="4244279"/>
            <a:ext cx="182880" cy="182880"/>
          </a:xfrm>
          <a:prstGeom prst="ellipse">
            <a:avLst/>
          </a:prstGeom>
          <a:solidFill>
            <a:srgbClr val="D6006F"/>
          </a:solidFill>
          <a:ln>
            <a:noFill/>
          </a:ln>
        </p:spPr>
        <p:txBody>
          <a:bodyPr/>
          <a:lstStyle/>
          <a:p>
            <a:endParaRPr lang="zh-TW" altLang="en-US"/>
          </a:p>
        </p:txBody>
      </p:sp>
      <p:sp>
        <p:nvSpPr>
          <p:cNvPr id="22" name="T22"/>
          <p:cNvSpPr txBox="1"/>
          <p:nvPr/>
        </p:nvSpPr>
        <p:spPr>
          <a:xfrm>
            <a:off x="1051560" y="2148840"/>
            <a:ext cx="31089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實際（有阻力）96 m</a:t>
            </a:r>
            <a:endParaRPr lang="zh-TW" sz="2400"/>
          </a:p>
        </p:txBody>
      </p:sp>
      <p:sp>
        <p:nvSpPr>
          <p:cNvPr id="23" name="P23"/>
          <p:cNvSpPr/>
          <p:nvPr/>
        </p:nvSpPr>
        <p:spPr>
          <a:xfrm>
            <a:off x="411480" y="2178422"/>
            <a:ext cx="7581516" cy="2303084"/>
          </a:xfrm>
          <a:custGeom>
            <a:avLst/>
            <a:gdLst/>
            <a:ahLst/>
            <a:cxnLst/>
            <a:rect l="0" t="0" r="r" b="b"/>
            <a:pathLst>
              <a:path w="7581516" h="2303084">
                <a:moveTo>
                  <a:pt x="0" y="2157297"/>
                </a:moveTo>
                <a:lnTo>
                  <a:pt x="178539" y="1955649"/>
                </a:lnTo>
                <a:lnTo>
                  <a:pt x="357077" y="1763893"/>
                </a:lnTo>
                <a:lnTo>
                  <a:pt x="535616" y="1582029"/>
                </a:lnTo>
                <a:lnTo>
                  <a:pt x="714155" y="1410058"/>
                </a:lnTo>
                <a:lnTo>
                  <a:pt x="892693" y="1247978"/>
                </a:lnTo>
                <a:lnTo>
                  <a:pt x="1071232" y="1095789"/>
                </a:lnTo>
                <a:lnTo>
                  <a:pt x="1249771" y="953493"/>
                </a:lnTo>
                <a:lnTo>
                  <a:pt x="1428309" y="821089"/>
                </a:lnTo>
                <a:lnTo>
                  <a:pt x="1606848" y="698577"/>
                </a:lnTo>
                <a:lnTo>
                  <a:pt x="1785386" y="585957"/>
                </a:lnTo>
                <a:lnTo>
                  <a:pt x="1963925" y="483228"/>
                </a:lnTo>
                <a:lnTo>
                  <a:pt x="2142464" y="390392"/>
                </a:lnTo>
                <a:lnTo>
                  <a:pt x="2321002" y="307447"/>
                </a:lnTo>
                <a:lnTo>
                  <a:pt x="2499541" y="234394"/>
                </a:lnTo>
                <a:lnTo>
                  <a:pt x="2678080" y="171234"/>
                </a:lnTo>
                <a:lnTo>
                  <a:pt x="2856618" y="117965"/>
                </a:lnTo>
                <a:lnTo>
                  <a:pt x="3035157" y="74588"/>
                </a:lnTo>
                <a:lnTo>
                  <a:pt x="3213696" y="41103"/>
                </a:lnTo>
                <a:lnTo>
                  <a:pt x="3392234" y="17510"/>
                </a:lnTo>
                <a:lnTo>
                  <a:pt x="3570773" y="3809"/>
                </a:lnTo>
                <a:lnTo>
                  <a:pt x="3749312" y="0"/>
                </a:lnTo>
                <a:lnTo>
                  <a:pt x="3927850" y="6083"/>
                </a:lnTo>
                <a:lnTo>
                  <a:pt x="4106389" y="22058"/>
                </a:lnTo>
                <a:lnTo>
                  <a:pt x="4284928" y="47924"/>
                </a:lnTo>
                <a:lnTo>
                  <a:pt x="4463466" y="83683"/>
                </a:lnTo>
                <a:lnTo>
                  <a:pt x="4642005" y="129333"/>
                </a:lnTo>
                <a:lnTo>
                  <a:pt x="4820544" y="184876"/>
                </a:lnTo>
                <a:lnTo>
                  <a:pt x="4999082" y="250310"/>
                </a:lnTo>
                <a:lnTo>
                  <a:pt x="5177621" y="325636"/>
                </a:lnTo>
                <a:lnTo>
                  <a:pt x="5356159" y="410855"/>
                </a:lnTo>
                <a:lnTo>
                  <a:pt x="5534698" y="505965"/>
                </a:lnTo>
                <a:lnTo>
                  <a:pt x="5713237" y="610967"/>
                </a:lnTo>
                <a:lnTo>
                  <a:pt x="5891775" y="725861"/>
                </a:lnTo>
                <a:lnTo>
                  <a:pt x="6070314" y="850647"/>
                </a:lnTo>
                <a:lnTo>
                  <a:pt x="6248853" y="985325"/>
                </a:lnTo>
                <a:lnTo>
                  <a:pt x="6427391" y="1129895"/>
                </a:lnTo>
                <a:lnTo>
                  <a:pt x="6605930" y="1284356"/>
                </a:lnTo>
                <a:lnTo>
                  <a:pt x="6784469" y="1448710"/>
                </a:lnTo>
                <a:lnTo>
                  <a:pt x="6963007" y="1622956"/>
                </a:lnTo>
                <a:lnTo>
                  <a:pt x="7141546" y="1807093"/>
                </a:lnTo>
                <a:lnTo>
                  <a:pt x="7320085" y="2001123"/>
                </a:lnTo>
                <a:lnTo>
                  <a:pt x="7498623" y="2205044"/>
                </a:lnTo>
                <a:lnTo>
                  <a:pt x="7581516" y="2303084"/>
                </a:lnTo>
              </a:path>
            </a:pathLst>
          </a:custGeom>
          <a:noFill/>
          <a:ln w="25400">
            <a:solidFill>
              <a:srgbClr val="1F8899"/>
            </a:solidFill>
            <a:prstDash val="dash"/>
          </a:ln>
        </p:spPr>
        <p:txBody>
          <a:bodyPr/>
          <a:lstStyle/>
          <a:p>
            <a:endParaRPr lang="zh-TW" altLang="en-US"/>
          </a:p>
        </p:txBody>
      </p:sp>
      <p:sp>
        <p:nvSpPr>
          <p:cNvPr id="24" name="T24"/>
          <p:cNvSpPr txBox="1"/>
          <p:nvPr/>
        </p:nvSpPr>
        <p:spPr>
          <a:xfrm>
            <a:off x="5806440" y="2331720"/>
            <a:ext cx="2651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無阻力公式 156 m</a:t>
            </a:r>
            <a:endParaRPr lang="zh-TW" sz="2400"/>
          </a:p>
        </p:txBody>
      </p:sp>
      <p:cxnSp>
        <p:nvCxnSpPr>
          <p:cNvPr id="25" name="L25"/>
          <p:cNvCxnSpPr/>
          <p:nvPr/>
        </p:nvCxnSpPr>
        <p:spPr>
          <a:xfrm>
            <a:off x="5090035" y="4526280"/>
            <a:ext cx="0" cy="182880"/>
          </a:xfrm>
          <a:prstGeom prst="line">
            <a:avLst/>
          </a:prstGeom>
          <a:ln w="31750">
            <a:solidFill>
              <a:srgbClr val="D6006F"/>
            </a:solidFill>
          </a:ln>
        </p:spPr>
      </p:cxnSp>
      <p:cxnSp>
        <p:nvCxnSpPr>
          <p:cNvPr id="26" name="L26"/>
          <p:cNvCxnSpPr/>
          <p:nvPr/>
        </p:nvCxnSpPr>
        <p:spPr>
          <a:xfrm>
            <a:off x="7992996" y="4526280"/>
            <a:ext cx="0" cy="182880"/>
          </a:xfrm>
          <a:prstGeom prst="line">
            <a:avLst/>
          </a:prstGeom>
          <a:ln w="31750">
            <a:solidFill>
              <a:srgbClr val="1F8899"/>
            </a:solidFill>
          </a:ln>
        </p:spPr>
      </p:cxnSp>
      <p:sp>
        <p:nvSpPr>
          <p:cNvPr id="27" name="T27"/>
          <p:cNvSpPr txBox="1"/>
          <p:nvPr/>
        </p:nvSpPr>
        <p:spPr>
          <a:xfrm>
            <a:off x="5349240" y="3840480"/>
            <a:ext cx="1920240" cy="502920"/>
          </a:xfrm>
          <a:prstGeom prst="roundRect">
            <a:avLst/>
          </a:prstGeom>
          <a:solidFill>
            <a:srgbClr val="FDECF4"/>
          </a:solidFill>
          <a:ln>
            <a:noFill/>
          </a:ln>
        </p:spPr>
        <p:txBody>
          <a:bodyPr wrap="square" lIns="73152" tIns="36576" rIns="73152" bIns="36576" anchor="ctr">
            <a:noAutofit/>
          </a:bodyPr>
          <a:lstStyle/>
          <a:p>
            <a:pPr algn="ctr">
              <a:lnSpc>
                <a:spcPct val="100000"/>
              </a:lnSpc>
              <a:buNone/>
            </a:pPr>
            <a:r>
              <a:rPr lang="zh-TW" altLang="en-US" sz="2400" b="1" dirty="0">
                <a:solidFill>
                  <a:srgbClr val="D6006F"/>
                </a:solidFill>
                <a:latin typeface="Calibri"/>
                <a:ea typeface="微軟正黑體"/>
                <a:cs typeface="Calibri"/>
              </a:rPr>
              <a:t>差 60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0" presetClass="path" presetSubtype="0" fill="hold" grpId="1" nodeType="withEffect">
                                  <p:stCondLst>
                                    <p:cond delay="0"/>
                                  </p:stCondLst>
                                  <p:childTnLst>
                                    <p:animMotion origin="layout" path="M 0 0 L 0.00000 0.00000 L 0.01925 -0.03865 L 0.03799 -0.07437 L 0.05626 -0.10729 L 0.07408 -0.13751 L 0.09149 -0.16512 L 0.10850 -0.19021 L 0.12515 -0.21285 L 0.14144 -0.23312 L 0.15741 -0.25107 L 0.17307 -0.26677 L 0.18843 -0.28026 L 0.20351 -0.29160 L 0.21832 -0.30083 L 0.23288 -0.30799 L 0.24718 -0.31312 L 0.26125 -0.31627 L 0.27510 -0.31745 L 0.28872 -0.31670 L 0.30212 -0.31406 L 0.31532 -0.30955 L 0.32832 -0.30320 L 0.34111 -0.29504 L 0.35372 -0.28509 L 0.36613 -0.27338 L 0.37835 -0.25995 L 0.39039 -0.24481 L 0.40224 -0.22799 L 0.41391 -0.20951 L 0.42541 -0.18942 L 0.43672 -0.16773 L 0.44785 -0.14448 L 0.45881 -0.11969 L 0.46959 -0.09339 L 0.48019 -0.06561 L 0.49061 -0.03639 L 0.50086 -0.00575 L 0.51094 0.02627 L 0.51165 0.02861 E" pathEditMode="relative" ptsTypes="">
                                      <p:cBhvr>
                                        <p:cTn id="36" dur="2600" fill="hold"/>
                                        <p:tgtEl>
                                          <p:spTgt spid="21"/>
                                        </p:tgtEl>
                                        <p:attrNameLst>
                                          <p:attrName>ppt_x</p:attrName>
                                          <p:attrName>ppt_y</p:attrName>
                                        </p:attrNameLst>
                                      </p:cBhvr>
                                    </p:animMotion>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0" grpId="0" animBg="1"/>
      <p:bldP spid="21" grpId="0" animBg="1"/>
      <p:bldP spid="21" grpId="1" animBg="1"/>
      <p:bldP spid="22" grpId="0" animBg="1"/>
      <p:bldP spid="23" grpId="0" animBg="1"/>
      <p:bldP spid="24" grpId="0" animBg="1"/>
      <p:bldP spid="25" grpId="0" animBg="1"/>
      <p:bldP spid="26"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拋射體公式怎麼來？（1）兩個方向的加速度</a:t>
            </a:r>
          </a:p>
        </p:txBody>
      </p:sp>
      <p:sp>
        <p:nvSpPr>
          <p:cNvPr id="11" name="T11"/>
          <p:cNvSpPr txBox="1"/>
          <p:nvPr/>
        </p:nvSpPr>
        <p:spPr>
          <a:xfrm>
            <a:off x="365760" y="868680"/>
            <a:ext cx="47548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只受重力，忽略空氣阻力</a:t>
            </a:r>
            <a:endParaRPr lang="zh-TW" sz="2400"/>
          </a:p>
        </p:txBody>
      </p:sp>
      <p:sp>
        <p:nvSpPr>
          <p:cNvPr id="12" name="T12"/>
          <p:cNvSpPr txBox="1"/>
          <p:nvPr/>
        </p:nvSpPr>
        <p:spPr>
          <a:xfrm>
            <a:off x="365760" y="1325880"/>
            <a:ext cx="47548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 向右、y </a:t>
            </a:r>
            <a:r>
              <a:rPr lang="zh-TW" altLang="en-US" sz="2400" b="1" dirty="0">
                <a:solidFill>
                  <a:srgbClr val="D6006F"/>
                </a:solidFill>
                <a:latin typeface="Calibri"/>
                <a:ea typeface="微軟正黑體"/>
                <a:cs typeface="Calibri"/>
              </a:rPr>
              <a:t>向上為正</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365760" y="1783080"/>
                <a:ext cx="475488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 = 0</m:t>
                    </m:r>
                  </m:oMath>
                </a14:m>
                <a:r>
                  <a:rPr lang="zh-TW" altLang="en-US" sz="2400" b="0" dirty="0">
                    <a:solidFill>
                      <a:srgbClr val="2B3050"/>
                    </a:solidFill>
                    <a:latin typeface="Calibri"/>
                    <a:ea typeface="微軟正黑體"/>
                    <a:cs typeface="Calibri"/>
                  </a:rPr>
                  <a:t>（水平沒有力）</a:t>
                </a:r>
                <a:endParaRPr lang="zh-TW" sz="2400"/>
              </a:p>
            </p:txBody>
          </p:sp>
        </mc:Choice>
        <mc:Fallback xmlns="">
          <p:pic>
            <p:nvPicPr>
              <p:cNvPr id="13" name="F13"/>
              <p:cNvPicPr/>
              <p:nvPr/>
            </p:nvPicPr>
            <p:blipFill>
              <a:blip r:embed="rId2"/>
              <a:stretch>
                <a:fillRect/>
              </a:stretch>
            </p:blipFill>
            <p:spPr>
              <a:xfrm>
                <a:off x="365760" y="1783080"/>
                <a:ext cx="47548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286000"/>
                <a:ext cx="475488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m:t>
                    </m:r>
                  </m:oMath>
                </a14:m>
                <a:r>
                  <a:rPr lang="zh-TW" altLang="en-US" sz="2400" b="0" dirty="0">
                    <a:solidFill>
                      <a:srgbClr val="2B3050"/>
                    </a:solidFill>
                    <a:latin typeface="Calibri"/>
                    <a:ea typeface="微軟正黑體"/>
                    <a:cs typeface="Calibri"/>
                  </a:rPr>
                  <a:t>（重力向下）</a:t>
                </a:r>
                <a:endParaRPr lang="zh-TW" sz="2400"/>
              </a:p>
            </p:txBody>
          </p:sp>
        </mc:Choice>
        <mc:Fallback xmlns="">
          <p:pic>
            <p:nvPicPr>
              <p:cNvPr id="14" name="F14"/>
              <p:cNvPicPr/>
              <p:nvPr/>
            </p:nvPicPr>
            <p:blipFill>
              <a:blip r:embed="rId3"/>
              <a:stretch>
                <a:fillRect/>
              </a:stretch>
            </p:blipFill>
            <p:spPr>
              <a:xfrm>
                <a:off x="365760" y="2286000"/>
                <a:ext cx="4754880" cy="502920"/>
              </a:xfrm>
              <a:prstGeom prst="rect">
                <a:avLst/>
              </a:prstGeom>
              <a:noFill/>
              <a:ln>
                <a:noFill/>
              </a:ln>
            </p:spPr>
          </p:pic>
        </mc:Fallback>
      </mc:AlternateContent>
      <p:sp>
        <p:nvSpPr>
          <p:cNvPr id="15" name="T15"/>
          <p:cNvSpPr txBox="1"/>
          <p:nvPr/>
        </p:nvSpPr>
        <p:spPr>
          <a:xfrm>
            <a:off x="365760" y="3063240"/>
            <a:ext cx="4754880" cy="155448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課本：vy = v0y + gt，g 代 −9.8</a:t>
            </a:r>
            <a:endParaRPr lang="zh-TW" sz="2400"/>
          </a:p>
          <a:p>
            <a:pPr algn="l">
              <a:lnSpc>
                <a:spcPct val="100000"/>
              </a:lnSpc>
              <a:buNone/>
            </a:pPr>
            <a:r>
              <a:rPr lang="zh-TW" altLang="en-US" sz="2400" b="0" dirty="0">
                <a:solidFill>
                  <a:srgbClr val="2B3050"/>
                </a:solidFill>
                <a:latin typeface="Calibri"/>
                <a:ea typeface="微軟正黑體"/>
                <a:cs typeface="Calibri"/>
              </a:rPr>
              <a:t>本投影片：g = 9.8，寫成 −g</a:t>
            </a:r>
            <a:endParaRPr lang="zh-TW" sz="2400"/>
          </a:p>
          <a:p>
            <a:pPr algn="l">
              <a:lnSpc>
                <a:spcPct val="100000"/>
              </a:lnSpc>
              <a:buNone/>
            </a:pPr>
            <a:r>
              <a:rPr lang="zh-TW" altLang="en-US" sz="2400" b="0" dirty="0">
                <a:solidFill>
                  <a:srgbClr val="2B3050"/>
                </a:solidFill>
                <a:latin typeface="Calibri"/>
                <a:ea typeface="微軟正黑體"/>
                <a:cs typeface="Calibri"/>
              </a:rPr>
              <a:t>兩種寫法結果相同</a:t>
            </a:r>
            <a:endParaRPr lang="zh-TW" sz="2400"/>
          </a:p>
        </p:txBody>
      </p:sp>
      <p:cxnSp>
        <p:nvCxnSpPr>
          <p:cNvPr id="16" name="L16"/>
          <p:cNvCxnSpPr/>
          <p:nvPr/>
        </p:nvCxnSpPr>
        <p:spPr>
          <a:xfrm>
            <a:off x="5440680" y="2971800"/>
            <a:ext cx="2880360" cy="0"/>
          </a:xfrm>
          <a:prstGeom prst="line">
            <a:avLst/>
          </a:prstGeom>
          <a:ln w="15875">
            <a:solidFill>
              <a:srgbClr val="2B3050"/>
            </a:solidFill>
            <a:tailEnd type="triangle" w="med" len="med"/>
          </a:ln>
        </p:spPr>
      </p:cxnSp>
      <p:cxnSp>
        <p:nvCxnSpPr>
          <p:cNvPr id="17" name="L17"/>
          <p:cNvCxnSpPr/>
          <p:nvPr/>
        </p:nvCxnSpPr>
        <p:spPr>
          <a:xfrm flipV="1">
            <a:off x="5532120" y="960120"/>
            <a:ext cx="0" cy="2103120"/>
          </a:xfrm>
          <a:prstGeom prst="line">
            <a:avLst/>
          </a:prstGeom>
          <a:ln w="15875">
            <a:solidFill>
              <a:srgbClr val="2B3050"/>
            </a:solidFill>
            <a:tailEnd type="triangle" w="med" len="med"/>
          </a:ln>
        </p:spPr>
      </p:cxnSp>
      <p:sp>
        <p:nvSpPr>
          <p:cNvPr id="18" name="T18"/>
          <p:cNvSpPr txBox="1"/>
          <p:nvPr/>
        </p:nvSpPr>
        <p:spPr>
          <a:xfrm>
            <a:off x="8138160" y="2971800"/>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9" name="T19"/>
          <p:cNvSpPr txBox="1"/>
          <p:nvPr/>
        </p:nvSpPr>
        <p:spPr>
          <a:xfrm>
            <a:off x="5623560" y="868680"/>
            <a:ext cx="10972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20" name="P20"/>
          <p:cNvSpPr/>
          <p:nvPr/>
        </p:nvSpPr>
        <p:spPr>
          <a:xfrm>
            <a:off x="5532120" y="1508760"/>
            <a:ext cx="2560320" cy="1463040"/>
          </a:xfrm>
          <a:custGeom>
            <a:avLst/>
            <a:gdLst/>
            <a:ahLst/>
            <a:cxnLst/>
            <a:rect l="0" t="0" r="r" b="b"/>
            <a:pathLst>
              <a:path w="2560320" h="1463040">
                <a:moveTo>
                  <a:pt x="0" y="1463040"/>
                </a:moveTo>
                <a:lnTo>
                  <a:pt x="85344" y="1274470"/>
                </a:lnTo>
                <a:lnTo>
                  <a:pt x="170688" y="1098906"/>
                </a:lnTo>
                <a:lnTo>
                  <a:pt x="256032" y="936346"/>
                </a:lnTo>
                <a:lnTo>
                  <a:pt x="341376" y="786790"/>
                </a:lnTo>
                <a:lnTo>
                  <a:pt x="426720" y="650240"/>
                </a:lnTo>
                <a:lnTo>
                  <a:pt x="512064" y="526694"/>
                </a:lnTo>
                <a:lnTo>
                  <a:pt x="597408" y="416154"/>
                </a:lnTo>
                <a:lnTo>
                  <a:pt x="682752" y="318618"/>
                </a:lnTo>
                <a:lnTo>
                  <a:pt x="768096" y="234086"/>
                </a:lnTo>
                <a:lnTo>
                  <a:pt x="853440" y="162560"/>
                </a:lnTo>
                <a:lnTo>
                  <a:pt x="938784" y="104038"/>
                </a:lnTo>
                <a:lnTo>
                  <a:pt x="1024128" y="58522"/>
                </a:lnTo>
                <a:lnTo>
                  <a:pt x="1109472" y="26010"/>
                </a:lnTo>
                <a:lnTo>
                  <a:pt x="1194816" y="6502"/>
                </a:lnTo>
                <a:lnTo>
                  <a:pt x="1280160" y="0"/>
                </a:lnTo>
                <a:lnTo>
                  <a:pt x="1365504" y="6502"/>
                </a:lnTo>
                <a:lnTo>
                  <a:pt x="1450848" y="26010"/>
                </a:lnTo>
                <a:lnTo>
                  <a:pt x="1536192" y="58522"/>
                </a:lnTo>
                <a:lnTo>
                  <a:pt x="1621536" y="104038"/>
                </a:lnTo>
                <a:lnTo>
                  <a:pt x="1706880" y="162560"/>
                </a:lnTo>
                <a:lnTo>
                  <a:pt x="1792224" y="234086"/>
                </a:lnTo>
                <a:lnTo>
                  <a:pt x="1877568" y="318618"/>
                </a:lnTo>
                <a:lnTo>
                  <a:pt x="1962912" y="416154"/>
                </a:lnTo>
                <a:lnTo>
                  <a:pt x="2048256" y="526694"/>
                </a:lnTo>
                <a:lnTo>
                  <a:pt x="2133600" y="650240"/>
                </a:lnTo>
                <a:lnTo>
                  <a:pt x="2218944" y="786790"/>
                </a:lnTo>
                <a:lnTo>
                  <a:pt x="2304288" y="936346"/>
                </a:lnTo>
                <a:lnTo>
                  <a:pt x="2389632" y="1098906"/>
                </a:lnTo>
                <a:lnTo>
                  <a:pt x="2474976" y="1274470"/>
                </a:lnTo>
                <a:lnTo>
                  <a:pt x="2560320" y="1463040"/>
                </a:lnTo>
              </a:path>
            </a:pathLst>
          </a:custGeom>
          <a:noFill/>
          <a:ln w="19050">
            <a:solidFill>
              <a:srgbClr val="8A8F9C"/>
            </a:solidFill>
            <a:prstDash val="dash"/>
          </a:ln>
        </p:spPr>
        <p:txBody>
          <a:bodyPr/>
          <a:lstStyle/>
          <a:p>
            <a:endParaRPr lang="zh-TW" altLang="en-US"/>
          </a:p>
        </p:txBody>
      </p:sp>
      <p:sp>
        <p:nvSpPr>
          <p:cNvPr id="21" name="S21"/>
          <p:cNvSpPr/>
          <p:nvPr/>
        </p:nvSpPr>
        <p:spPr>
          <a:xfrm>
            <a:off x="5971032" y="1962302"/>
            <a:ext cx="146304" cy="146304"/>
          </a:xfrm>
          <a:prstGeom prst="ellipse">
            <a:avLst/>
          </a:prstGeom>
          <a:solidFill>
            <a:srgbClr val="2B3050"/>
          </a:solidFill>
          <a:ln>
            <a:noFill/>
          </a:ln>
        </p:spPr>
        <p:txBody>
          <a:bodyPr/>
          <a:lstStyle/>
          <a:p>
            <a:endParaRPr lang="zh-TW" altLang="en-US"/>
          </a:p>
        </p:txBody>
      </p:sp>
      <p:cxnSp>
        <p:nvCxnSpPr>
          <p:cNvPr id="22" name="L22"/>
          <p:cNvCxnSpPr/>
          <p:nvPr/>
        </p:nvCxnSpPr>
        <p:spPr>
          <a:xfrm>
            <a:off x="6044184" y="2035454"/>
            <a:ext cx="0" cy="502920"/>
          </a:xfrm>
          <a:prstGeom prst="line">
            <a:avLst/>
          </a:prstGeom>
          <a:ln w="38100">
            <a:solidFill>
              <a:srgbClr val="C0392B"/>
            </a:solidFill>
            <a:tailEnd type="triangle" w="med" len="med"/>
          </a:ln>
        </p:spPr>
      </p:cxnSp>
      <p:sp>
        <p:nvSpPr>
          <p:cNvPr id="23" name="T23"/>
          <p:cNvSpPr txBox="1"/>
          <p:nvPr/>
        </p:nvSpPr>
        <p:spPr>
          <a:xfrm>
            <a:off x="5541264" y="1596542"/>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2B3050"/>
                </a:solidFill>
                <a:latin typeface="Calibri"/>
                <a:ea typeface="微軟正黑體"/>
                <a:cs typeface="Calibri"/>
              </a:rPr>
              <a:t>上升</a:t>
            </a:r>
            <a:endParaRPr lang="zh-TW" sz="2400"/>
          </a:p>
        </p:txBody>
      </p:sp>
      <p:sp>
        <p:nvSpPr>
          <p:cNvPr id="24" name="S24"/>
          <p:cNvSpPr/>
          <p:nvPr/>
        </p:nvSpPr>
        <p:spPr>
          <a:xfrm>
            <a:off x="6739128" y="1435608"/>
            <a:ext cx="146304" cy="146304"/>
          </a:xfrm>
          <a:prstGeom prst="ellipse">
            <a:avLst/>
          </a:prstGeom>
          <a:solidFill>
            <a:srgbClr val="2B3050"/>
          </a:solidFill>
          <a:ln>
            <a:noFill/>
          </a:ln>
        </p:spPr>
        <p:txBody>
          <a:bodyPr/>
          <a:lstStyle/>
          <a:p>
            <a:endParaRPr lang="zh-TW" altLang="en-US"/>
          </a:p>
        </p:txBody>
      </p:sp>
      <p:cxnSp>
        <p:nvCxnSpPr>
          <p:cNvPr id="25" name="L25"/>
          <p:cNvCxnSpPr/>
          <p:nvPr/>
        </p:nvCxnSpPr>
        <p:spPr>
          <a:xfrm>
            <a:off x="6812280" y="1508760"/>
            <a:ext cx="0" cy="502920"/>
          </a:xfrm>
          <a:prstGeom prst="line">
            <a:avLst/>
          </a:prstGeom>
          <a:ln w="38100">
            <a:solidFill>
              <a:srgbClr val="C0392B"/>
            </a:solidFill>
            <a:tailEnd type="triangle" w="med" len="med"/>
          </a:ln>
        </p:spPr>
      </p:cxnSp>
      <p:sp>
        <p:nvSpPr>
          <p:cNvPr id="26" name="T26"/>
          <p:cNvSpPr txBox="1"/>
          <p:nvPr/>
        </p:nvSpPr>
        <p:spPr>
          <a:xfrm>
            <a:off x="6309360" y="1069848"/>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2B3050"/>
                </a:solidFill>
                <a:latin typeface="Calibri"/>
                <a:ea typeface="微軟正黑體"/>
                <a:cs typeface="Calibri"/>
              </a:rPr>
              <a:t>最高點</a:t>
            </a:r>
            <a:endParaRPr lang="zh-TW" sz="2400"/>
          </a:p>
        </p:txBody>
      </p:sp>
      <p:sp>
        <p:nvSpPr>
          <p:cNvPr id="27" name="S27"/>
          <p:cNvSpPr/>
          <p:nvPr/>
        </p:nvSpPr>
        <p:spPr>
          <a:xfrm>
            <a:off x="7507224" y="1962302"/>
            <a:ext cx="146304" cy="146304"/>
          </a:xfrm>
          <a:prstGeom prst="ellipse">
            <a:avLst/>
          </a:prstGeom>
          <a:solidFill>
            <a:srgbClr val="2B3050"/>
          </a:solidFill>
          <a:ln>
            <a:noFill/>
          </a:ln>
        </p:spPr>
        <p:txBody>
          <a:bodyPr/>
          <a:lstStyle/>
          <a:p>
            <a:endParaRPr lang="zh-TW" altLang="en-US"/>
          </a:p>
        </p:txBody>
      </p:sp>
      <p:cxnSp>
        <p:nvCxnSpPr>
          <p:cNvPr id="28" name="L28"/>
          <p:cNvCxnSpPr/>
          <p:nvPr/>
        </p:nvCxnSpPr>
        <p:spPr>
          <a:xfrm>
            <a:off x="7580376" y="2035454"/>
            <a:ext cx="0" cy="502920"/>
          </a:xfrm>
          <a:prstGeom prst="line">
            <a:avLst/>
          </a:prstGeom>
          <a:ln w="38100">
            <a:solidFill>
              <a:srgbClr val="C0392B"/>
            </a:solidFill>
            <a:tailEnd type="triangle" w="med" len="med"/>
          </a:ln>
        </p:spPr>
      </p:cxnSp>
      <p:sp>
        <p:nvSpPr>
          <p:cNvPr id="29" name="T29"/>
          <p:cNvSpPr txBox="1"/>
          <p:nvPr/>
        </p:nvSpPr>
        <p:spPr>
          <a:xfrm>
            <a:off x="7077456" y="1596542"/>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2B3050"/>
                </a:solidFill>
                <a:latin typeface="Calibri"/>
                <a:ea typeface="微軟正黑體"/>
                <a:cs typeface="Calibri"/>
              </a:rPr>
              <a:t>下降</a:t>
            </a:r>
            <a:endParaRPr lang="zh-TW" sz="2400"/>
          </a:p>
        </p:txBody>
      </p:sp>
      <p:sp>
        <p:nvSpPr>
          <p:cNvPr id="30" name="T30"/>
          <p:cNvSpPr txBox="1"/>
          <p:nvPr/>
        </p:nvSpPr>
        <p:spPr>
          <a:xfrm>
            <a:off x="5257800" y="3291840"/>
            <a:ext cx="3108960" cy="141732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上升、最高點、下降</a:t>
            </a:r>
            <a:endParaRPr lang="zh-TW" sz="2400"/>
          </a:p>
          <a:p>
            <a:pPr algn="l">
              <a:lnSpc>
                <a:spcPct val="100000"/>
              </a:lnSpc>
              <a:buNone/>
            </a:pPr>
            <a:r>
              <a:rPr lang="zh-TW" altLang="en-US" sz="2400" b="0" dirty="0">
                <a:solidFill>
                  <a:srgbClr val="2B3050"/>
                </a:solidFill>
                <a:latin typeface="Calibri"/>
                <a:ea typeface="微軟正黑體"/>
                <a:cs typeface="Calibri"/>
              </a:rPr>
              <a:t>加速度都是 g 向下</a:t>
            </a:r>
            <a:endParaRPr lang="zh-TW" sz="2400"/>
          </a:p>
          <a:p>
            <a:pPr algn="l">
              <a:lnSpc>
                <a:spcPct val="100000"/>
              </a:lnSpc>
              <a:buNone/>
            </a:pPr>
            <a:r>
              <a:rPr lang="zh-TW" altLang="en-US" sz="2400" b="0" dirty="0">
                <a:solidFill>
                  <a:srgbClr val="2B3050"/>
                </a:solidFill>
                <a:latin typeface="Calibri"/>
                <a:ea typeface="微軟正黑體"/>
                <a:cs typeface="Calibri"/>
              </a:rPr>
              <a:t>最高點 a 也不是 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公式推導（2）水平方向：積分＝面積</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0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oMath>
                </a14:m>
                <a:r>
                  <a:rPr lang="zh-TW" altLang="en-US" sz="2400" b="0" dirty="0">
                    <a:solidFill>
                      <a:srgbClr val="2B3050"/>
                    </a:solidFill>
                    <a:latin typeface="Calibri"/>
                    <a:ea typeface="微軟正黑體"/>
                    <a:cs typeface="Calibri"/>
                  </a:rPr>
                  <a:t>（常數）</a:t>
                </a:r>
                <a:endParaRPr lang="zh-TW" sz="2400"/>
              </a:p>
            </p:txBody>
          </p:sp>
        </mc:Choice>
        <mc:Fallback xmlns="">
          <p:pic>
            <p:nvPicPr>
              <p:cNvPr id="11" name="F11"/>
              <p:cNvPicPr/>
              <p:nvPr/>
            </p:nvPicPr>
            <p:blipFill>
              <a:blip r:embed="rId2"/>
              <a:stretch>
                <a:fillRect/>
              </a:stretch>
            </p:blipFill>
            <p:spPr>
              <a:xfrm>
                <a:off x="365760" y="86868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48463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𝑑𝑥</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𝑑𝑥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𝑑𝑡</m:t>
                      </m:r>
                    </m:oMath>
                  </m:oMathPara>
                </a14:m>
                <a:endParaRPr lang="zh-TW" sz="2400"/>
              </a:p>
            </p:txBody>
          </p:sp>
        </mc:Choice>
        <mc:Fallback xmlns="">
          <p:pic>
            <p:nvPicPr>
              <p:cNvPr id="12" name="F12"/>
              <p:cNvPicPr/>
              <p:nvPr/>
            </p:nvPicPr>
            <p:blipFill>
              <a:blip r:embed="rId3"/>
              <a:stretch>
                <a:fillRect/>
              </a:stretch>
            </p:blipFill>
            <p:spPr>
              <a:xfrm>
                <a:off x="365760" y="173736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06040"/>
                <a:ext cx="484632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nary>
                        <m:naryPr>
                          <m:limLoc m:val="subSup"/>
                          <m:ctrlPr>
                            <a:rPr lang="en-US" altLang="zh-TW" sz="2400" b="0" i="1">
                              <a:solidFill>
                                <a:srgbClr val="2B3050"/>
                              </a:solidFill>
                              <a:latin typeface="Cambria Math" panose="02040503050406030204" pitchFamily="18" charset="0"/>
                              <a:ea typeface="Cambria Math"/>
                            </a:rPr>
                          </m:ctrlPr>
                        </m:naryPr>
                        <m:sub>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sub>
                        <m:sup>
                          <m:r>
                            <a:rPr lang="en-US" altLang="zh-TW" sz="2400" b="0" i="1">
                              <a:solidFill>
                                <a:srgbClr val="2B3050"/>
                              </a:solidFill>
                              <a:latin typeface="Cambria Math" panose="02040503050406030204" pitchFamily="18" charset="0"/>
                              <a:ea typeface="Cambria Math"/>
                            </a:rPr>
                            <m:t>𝑥</m:t>
                          </m:r>
                        </m:sup>
                        <m:e>
                          <m:r>
                            <a:rPr lang="en-US" altLang="zh-TW" sz="2400" b="0" i="1">
                              <a:solidFill>
                                <a:srgbClr val="2B3050"/>
                              </a:solidFill>
                              <a:latin typeface="Cambria Math" panose="02040503050406030204" pitchFamily="18" charset="0"/>
                              <a:ea typeface="Cambria Math"/>
                            </a:rPr>
                            <m:t>𝑑𝑥</m:t>
                          </m:r>
                        </m:e>
                      </m:nary>
                      <m:r>
                        <a:rPr lang="en-US" altLang="zh-TW" sz="2400" b="0" i="0">
                          <a:solidFill>
                            <a:srgbClr val="2B3050"/>
                          </a:solidFill>
                          <a:latin typeface="Cambria Math" panose="02040503050406030204" pitchFamily="18" charset="0"/>
                          <a:ea typeface="Cambria Math"/>
                        </a:rPr>
                        <m:t> = </m:t>
                      </m:r>
                      <m:nary>
                        <m:naryPr>
                          <m:limLoc m:val="subSup"/>
                          <m:ctrlPr>
                            <a:rPr lang="en-US" altLang="zh-TW" sz="2400" b="0" i="0">
                              <a:solidFill>
                                <a:srgbClr val="2B3050"/>
                              </a:solidFill>
                              <a:latin typeface="Cambria Math" panose="02040503050406030204" pitchFamily="18" charset="0"/>
                              <a:ea typeface="Cambria Math"/>
                            </a:rPr>
                          </m:ctrlPr>
                        </m:naryPr>
                        <m:sub>
                          <m:r>
                            <a:rPr lang="en-US" altLang="zh-TW" sz="2400" b="0" i="0">
                              <a:solidFill>
                                <a:srgbClr val="2B3050"/>
                              </a:solidFill>
                              <a:latin typeface="Cambria Math" panose="02040503050406030204" pitchFamily="18" charset="0"/>
                              <a:ea typeface="Cambria Math"/>
                            </a:rPr>
                            <m:t>0</m:t>
                          </m:r>
                        </m:sub>
                        <m:sup>
                          <m:r>
                            <a:rPr lang="en-US" altLang="zh-TW" sz="2400" b="0" i="1">
                              <a:solidFill>
                                <a:srgbClr val="2B3050"/>
                              </a:solidFill>
                              <a:latin typeface="Cambria Math" panose="02040503050406030204" pitchFamily="18" charset="0"/>
                              <a:ea typeface="Cambria Math"/>
                            </a:rPr>
                            <m:t>𝑡</m:t>
                          </m:r>
                        </m:sup>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𝑑𝑡</m:t>
                          </m:r>
                        </m:e>
                      </m:nary>
                    </m:oMath>
                  </m:oMathPara>
                </a14:m>
                <a:endParaRPr lang="zh-TW" sz="2400"/>
              </a:p>
            </p:txBody>
          </p:sp>
        </mc:Choice>
        <mc:Fallback xmlns="">
          <p:pic>
            <p:nvPicPr>
              <p:cNvPr id="13" name="F13"/>
              <p:cNvPicPr/>
              <p:nvPr/>
            </p:nvPicPr>
            <p:blipFill>
              <a:blip r:embed="rId4"/>
              <a:stretch>
                <a:fillRect/>
              </a:stretch>
            </p:blipFill>
            <p:spPr>
              <a:xfrm>
                <a:off x="365760" y="2606040"/>
                <a:ext cx="484632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52044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4" name="F14"/>
              <p:cNvPicPr/>
              <p:nvPr/>
            </p:nvPicPr>
            <p:blipFill>
              <a:blip r:embed="rId5"/>
              <a:stretch>
                <a:fillRect/>
              </a:stretch>
            </p:blipFill>
            <p:spPr>
              <a:xfrm>
                <a:off x="365760" y="352044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406908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𝑥</m:t>
                      </m:r>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𝑥</m:t>
                          </m:r>
                        </m:e>
                        <m:sub>
                          <m:r>
                            <a:rPr lang="en-US" altLang="zh-TW" sz="2400" b="0" i="0">
                              <a:solidFill>
                                <a:srgbClr val="D6006F"/>
                              </a:solidFill>
                              <a:latin typeface="Cambria Math" panose="02040503050406030204" pitchFamily="18" charset="0"/>
                              <a:ea typeface="Cambria Math"/>
                            </a:rPr>
                            <m:t>0</m:t>
                          </m:r>
                        </m:sub>
                      </m:sSub>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r>
                            <m:rPr>
                              <m:sty m:val="p"/>
                            </m:rPr>
                            <a:rPr lang="en-US" altLang="zh-TW" sz="2400" b="0" i="0">
                              <a:solidFill>
                                <a:srgbClr val="D6006F"/>
                              </a:solidFill>
                              <a:latin typeface="Cambria Math" panose="02040503050406030204" pitchFamily="18" charset="0"/>
                              <a:ea typeface="Cambria Math"/>
                            </a:rPr>
                            <m:t>x</m:t>
                          </m:r>
                        </m:sub>
                      </m:sSub>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𝑡</m:t>
                      </m:r>
                    </m:oMath>
                  </m:oMathPara>
                </a14:m>
                <a:endParaRPr lang="zh-TW" sz="2400"/>
              </a:p>
            </p:txBody>
          </p:sp>
        </mc:Choice>
        <mc:Fallback xmlns="">
          <p:pic>
            <p:nvPicPr>
              <p:cNvPr id="15" name="F15"/>
              <p:cNvPicPr/>
              <p:nvPr/>
            </p:nvPicPr>
            <p:blipFill>
              <a:blip r:embed="rId6"/>
              <a:stretch>
                <a:fillRect/>
              </a:stretch>
            </p:blipFill>
            <p:spPr>
              <a:xfrm>
                <a:off x="365760" y="4069080"/>
                <a:ext cx="4846320" cy="548640"/>
              </a:xfrm>
              <a:prstGeom prst="rect">
                <a:avLst/>
              </a:prstGeom>
              <a:noFill/>
              <a:ln>
                <a:noFill/>
              </a:ln>
            </p:spPr>
          </p:pic>
        </mc:Fallback>
      </mc:AlternateContent>
      <p:cxnSp>
        <p:nvCxnSpPr>
          <p:cNvPr id="16" name="L16"/>
          <p:cNvCxnSpPr/>
          <p:nvPr/>
        </p:nvCxnSpPr>
        <p:spPr>
          <a:xfrm>
            <a:off x="5532120" y="2834640"/>
            <a:ext cx="2743200" cy="0"/>
          </a:xfrm>
          <a:prstGeom prst="line">
            <a:avLst/>
          </a:prstGeom>
          <a:ln w="15875">
            <a:solidFill>
              <a:srgbClr val="2B3050"/>
            </a:solidFill>
            <a:tailEnd type="triangle" w="med" len="med"/>
          </a:ln>
        </p:spPr>
      </p:cxnSp>
      <p:cxnSp>
        <p:nvCxnSpPr>
          <p:cNvPr id="17" name="L17"/>
          <p:cNvCxnSpPr/>
          <p:nvPr/>
        </p:nvCxnSpPr>
        <p:spPr>
          <a:xfrm flipV="1">
            <a:off x="5623560" y="1097280"/>
            <a:ext cx="0" cy="1828800"/>
          </a:xfrm>
          <a:prstGeom prst="line">
            <a:avLst/>
          </a:prstGeom>
          <a:ln w="15875">
            <a:solidFill>
              <a:srgbClr val="2B3050"/>
            </a:solidFill>
            <a:tailEnd type="triangle" w="med" len="med"/>
          </a:ln>
        </p:spPr>
      </p:cxnSp>
      <p:sp>
        <p:nvSpPr>
          <p:cNvPr id="18" name="T18"/>
          <p:cNvSpPr txBox="1"/>
          <p:nvPr/>
        </p:nvSpPr>
        <p:spPr>
          <a:xfrm>
            <a:off x="8092440" y="2834640"/>
            <a:ext cx="640080" cy="384048"/>
          </a:xfrm>
          <a:prstGeom prst="rect">
            <a:avLst/>
          </a:prstGeom>
          <a:noFill/>
          <a:ln>
            <a:noFill/>
          </a:ln>
        </p:spPr>
        <p:txBody>
          <a:bodyPr wrap="square" lIns="54864" tIns="27432" rIns="54864" bIns="27432" anchor="t">
            <a:noAutofit/>
          </a:bodyPr>
          <a:lstStyle/>
          <a:p>
            <a:pPr algn="l">
              <a:lnSpc>
                <a:spcPct val="100000"/>
              </a:lnSpc>
              <a:buNone/>
            </a:pPr>
            <a:endParaRPr lang="zh-TW" sz="2400"/>
          </a:p>
        </p:txBody>
      </p:sp>
      <p:sp>
        <p:nvSpPr>
          <p:cNvPr id="19" name="T19"/>
          <p:cNvSpPr txBox="1"/>
          <p:nvPr/>
        </p:nvSpPr>
        <p:spPr>
          <a:xfrm>
            <a:off x="5715000" y="1005840"/>
            <a:ext cx="10972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vx</a:t>
            </a:r>
            <a:endParaRPr lang="zh-TW" sz="2400"/>
          </a:p>
        </p:txBody>
      </p:sp>
      <p:sp>
        <p:nvSpPr>
          <p:cNvPr id="20" name="S20"/>
          <p:cNvSpPr/>
          <p:nvPr/>
        </p:nvSpPr>
        <p:spPr>
          <a:xfrm>
            <a:off x="5623560" y="1828800"/>
            <a:ext cx="1828800" cy="1005840"/>
          </a:xfrm>
          <a:prstGeom prst="rect">
            <a:avLst/>
          </a:prstGeom>
          <a:solidFill>
            <a:srgbClr val="CFE8EC"/>
          </a:solidFill>
          <a:ln>
            <a:noFill/>
          </a:ln>
        </p:spPr>
        <p:txBody>
          <a:bodyPr/>
          <a:lstStyle/>
          <a:p>
            <a:endParaRPr lang="zh-TW" altLang="en-US"/>
          </a:p>
        </p:txBody>
      </p:sp>
      <p:cxnSp>
        <p:nvCxnSpPr>
          <p:cNvPr id="21" name="L21"/>
          <p:cNvCxnSpPr/>
          <p:nvPr/>
        </p:nvCxnSpPr>
        <p:spPr>
          <a:xfrm>
            <a:off x="5623560" y="1828800"/>
            <a:ext cx="2468880" cy="0"/>
          </a:xfrm>
          <a:prstGeom prst="line">
            <a:avLst/>
          </a:prstGeom>
          <a:ln w="38100">
            <a:solidFill>
              <a:srgbClr val="1F8899"/>
            </a:solidFill>
          </a:ln>
        </p:spPr>
      </p:cxnSp>
      <mc:AlternateContent xmlns:mc="http://schemas.openxmlformats.org/markup-compatibility/2006" xmlns:a14="http://schemas.microsoft.com/office/drawing/2010/main">
        <mc:Choice Requires="a14">
          <p:sp>
            <p:nvSpPr>
              <p:cNvPr id="22" name="T22"/>
              <p:cNvSpPr txBox="1"/>
              <p:nvPr/>
            </p:nvSpPr>
            <p:spPr>
              <a:xfrm>
                <a:off x="6537960" y="1371600"/>
                <a:ext cx="16459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oMath>
                  </m:oMathPara>
                </a14:m>
                <a:endParaRPr lang="zh-TW" sz="2400"/>
              </a:p>
            </p:txBody>
          </p:sp>
        </mc:Choice>
        <mc:Fallback xmlns="">
          <p:pic>
            <p:nvPicPr>
              <p:cNvPr id="22" name="F22"/>
              <p:cNvPicPr/>
              <p:nvPr/>
            </p:nvPicPr>
            <p:blipFill>
              <a:blip r:embed="rId7"/>
              <a:stretch>
                <a:fillRect/>
              </a:stretch>
            </p:blipFill>
            <p:spPr>
              <a:xfrm>
                <a:off x="6537960" y="1371600"/>
                <a:ext cx="1645920" cy="411480"/>
              </a:xfrm>
              <a:prstGeom prst="rect">
                <a:avLst/>
              </a:prstGeom>
              <a:noFill/>
              <a:ln>
                <a:noFill/>
              </a:ln>
            </p:spPr>
          </p:pic>
        </mc:Fallback>
      </mc:AlternateContent>
      <p:sp>
        <p:nvSpPr>
          <p:cNvPr id="23" name="T23"/>
          <p:cNvSpPr txBox="1"/>
          <p:nvPr/>
        </p:nvSpPr>
        <p:spPr>
          <a:xfrm>
            <a:off x="5715000" y="2103120"/>
            <a:ext cx="1737360" cy="411480"/>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1F8899"/>
                </a:solidFill>
                <a:latin typeface="Calibri"/>
                <a:ea typeface="微軟正黑體"/>
                <a:cs typeface="Calibri"/>
              </a:rPr>
              <a:t>面積</a:t>
            </a:r>
            <a:endParaRPr lang="zh-TW" sz="2400"/>
          </a:p>
        </p:txBody>
      </p:sp>
      <p:sp>
        <p:nvSpPr>
          <p:cNvPr id="24" name="T24"/>
          <p:cNvSpPr txBox="1"/>
          <p:nvPr/>
        </p:nvSpPr>
        <p:spPr>
          <a:xfrm>
            <a:off x="7269480" y="283464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a:t>
            </a:r>
            <a:endParaRPr lang="zh-TW" sz="2400"/>
          </a:p>
        </p:txBody>
      </p:sp>
      <p:sp>
        <p:nvSpPr>
          <p:cNvPr id="25" name="T25"/>
          <p:cNvSpPr txBox="1"/>
          <p:nvPr/>
        </p:nvSpPr>
        <p:spPr>
          <a:xfrm>
            <a:off x="7863840" y="242316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時間</a:t>
            </a:r>
            <a:endParaRPr lang="zh-TW" sz="2400"/>
          </a:p>
        </p:txBody>
      </p:sp>
      <p:sp>
        <p:nvSpPr>
          <p:cNvPr id="26" name="T26"/>
          <p:cNvSpPr txBox="1"/>
          <p:nvPr/>
        </p:nvSpPr>
        <p:spPr>
          <a:xfrm>
            <a:off x="5257800" y="3291840"/>
            <a:ext cx="3108960" cy="141732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vx–t 圖是水平線</a:t>
            </a:r>
            <a:endParaRPr lang="zh-TW" sz="2400"/>
          </a:p>
          <a:p>
            <a:pPr algn="l">
              <a:lnSpc>
                <a:spcPct val="100000"/>
              </a:lnSpc>
              <a:buNone/>
            </a:pPr>
            <a:r>
              <a:rPr lang="zh-TW" altLang="en-US" sz="2400" b="0" dirty="0">
                <a:solidFill>
                  <a:srgbClr val="2B3050"/>
                </a:solidFill>
                <a:latin typeface="Calibri"/>
                <a:ea typeface="微軟正黑體"/>
                <a:cs typeface="Calibri"/>
              </a:rPr>
              <a:t>面積＝v0x·t＝位移</a:t>
            </a:r>
            <a:endParaRPr lang="zh-TW" sz="2400"/>
          </a:p>
          <a:p>
            <a:pPr algn="l">
              <a:lnSpc>
                <a:spcPct val="100000"/>
              </a:lnSpc>
              <a:buNone/>
            </a:pPr>
            <a:r>
              <a:rPr lang="zh-TW" altLang="en-US" sz="2400" b="0" dirty="0">
                <a:solidFill>
                  <a:srgbClr val="2B3050"/>
                </a:solidFill>
                <a:latin typeface="Calibri"/>
                <a:ea typeface="微軟正黑體"/>
                <a:cs typeface="Calibri"/>
              </a:rPr>
              <a:t>每秒走一樣遠</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公式推導（3）垂直速度：積分一次</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m:t>
                      </m:r>
                    </m:oMath>
                  </m:oMathPara>
                </a14:m>
                <a:endParaRPr lang="zh-TW" sz="2400"/>
              </a:p>
            </p:txBody>
          </p:sp>
        </mc:Choice>
        <mc:Fallback xmlns="">
          <p:pic>
            <p:nvPicPr>
              <p:cNvPr id="11" name="F11"/>
              <p:cNvPicPr/>
              <p:nvPr/>
            </p:nvPicPr>
            <p:blipFill>
              <a:blip r:embed="rId2"/>
              <a:stretch>
                <a:fillRect/>
              </a:stretch>
            </p:blipFill>
            <p:spPr>
              <a:xfrm>
                <a:off x="365760" y="86868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484632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nary>
                        <m:naryPr>
                          <m:limLoc m:val="subSup"/>
                          <m:ctrlPr>
                            <a:rPr lang="en-US" altLang="zh-TW" sz="2400" b="0" i="1">
                              <a:solidFill>
                                <a:srgbClr val="2B3050"/>
                              </a:solidFill>
                              <a:latin typeface="Cambria Math" panose="02040503050406030204" pitchFamily="18" charset="0"/>
                              <a:ea typeface="Cambria Math"/>
                            </a:rPr>
                          </m:ctrlPr>
                        </m:naryPr>
                        <m:sub>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sub>
                        <m:sup>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sup>
                        <m:e>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nary>
                      <m:r>
                        <a:rPr lang="en-US" altLang="zh-TW" sz="2400" b="0" i="0">
                          <a:solidFill>
                            <a:srgbClr val="2B3050"/>
                          </a:solidFill>
                          <a:latin typeface="Cambria Math" panose="02040503050406030204" pitchFamily="18" charset="0"/>
                          <a:ea typeface="Cambria Math"/>
                        </a:rPr>
                        <m:t> = </m:t>
                      </m:r>
                      <m:nary>
                        <m:naryPr>
                          <m:limLoc m:val="subSup"/>
                          <m:ctrlPr>
                            <a:rPr lang="en-US" altLang="zh-TW" sz="2400" b="0" i="0">
                              <a:solidFill>
                                <a:srgbClr val="2B3050"/>
                              </a:solidFill>
                              <a:latin typeface="Cambria Math" panose="02040503050406030204" pitchFamily="18" charset="0"/>
                              <a:ea typeface="Cambria Math"/>
                            </a:rPr>
                          </m:ctrlPr>
                        </m:naryPr>
                        <m:sub>
                          <m:r>
                            <a:rPr lang="en-US" altLang="zh-TW" sz="2400" b="0" i="0">
                              <a:solidFill>
                                <a:srgbClr val="2B3050"/>
                              </a:solidFill>
                              <a:latin typeface="Cambria Math" panose="02040503050406030204" pitchFamily="18" charset="0"/>
                              <a:ea typeface="Cambria Math"/>
                            </a:rPr>
                            <m:t>0</m:t>
                          </m:r>
                        </m:sub>
                        <m:sup>
                          <m:r>
                            <a:rPr lang="en-US" altLang="zh-TW" sz="2400" b="0" i="1">
                              <a:solidFill>
                                <a:srgbClr val="2B3050"/>
                              </a:solidFill>
                              <a:latin typeface="Cambria Math" panose="02040503050406030204" pitchFamily="18" charset="0"/>
                              <a:ea typeface="Cambria Math"/>
                            </a:rPr>
                            <m:t>𝑡</m:t>
                          </m:r>
                        </m:sup>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𝑔</m:t>
                              </m:r>
                            </m:e>
                          </m:d>
                          <m:r>
                            <a:rPr lang="en-US" altLang="zh-TW" sz="2400" b="0" i="1">
                              <a:solidFill>
                                <a:srgbClr val="2B3050"/>
                              </a:solidFill>
                              <a:latin typeface="Cambria Math" panose="02040503050406030204" pitchFamily="18" charset="0"/>
                              <a:ea typeface="Cambria Math"/>
                            </a:rPr>
                            <m:t>𝑑𝑡</m:t>
                          </m:r>
                        </m:e>
                      </m:nary>
                    </m:oMath>
                  </m:oMathPara>
                </a14:m>
                <a:endParaRPr lang="zh-TW" sz="2400"/>
              </a:p>
            </p:txBody>
          </p:sp>
        </mc:Choice>
        <mc:Fallback xmlns="">
          <p:pic>
            <p:nvPicPr>
              <p:cNvPr id="12" name="F12"/>
              <p:cNvPicPr/>
              <p:nvPr/>
            </p:nvPicPr>
            <p:blipFill>
              <a:blip r:embed="rId3"/>
              <a:stretch>
                <a:fillRect/>
              </a:stretch>
            </p:blipFill>
            <p:spPr>
              <a:xfrm>
                <a:off x="365760" y="1737360"/>
                <a:ext cx="484632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5176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𝑔𝑡</m:t>
                      </m:r>
                    </m:oMath>
                  </m:oMathPara>
                </a14:m>
                <a:endParaRPr lang="zh-TW" sz="2400"/>
              </a:p>
            </p:txBody>
          </p:sp>
        </mc:Choice>
        <mc:Fallback xmlns="">
          <p:pic>
            <p:nvPicPr>
              <p:cNvPr id="13" name="F13"/>
              <p:cNvPicPr/>
              <p:nvPr/>
            </p:nvPicPr>
            <p:blipFill>
              <a:blip r:embed="rId4"/>
              <a:stretch>
                <a:fillRect/>
              </a:stretch>
            </p:blipFill>
            <p:spPr>
              <a:xfrm>
                <a:off x="365760" y="265176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20040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𝑦</m:t>
                          </m:r>
                        </m:sub>
                      </m:sSub>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r>
                            <m:rPr>
                              <m:sty m:val="p"/>
                            </m:rPr>
                            <a:rPr lang="en-US" altLang="zh-TW" sz="2400" b="0" i="0">
                              <a:solidFill>
                                <a:srgbClr val="D6006F"/>
                              </a:solidFill>
                              <a:latin typeface="Cambria Math" panose="02040503050406030204" pitchFamily="18" charset="0"/>
                              <a:ea typeface="Cambria Math"/>
                            </a:rPr>
                            <m:t>y</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𝑔𝑡</m:t>
                      </m:r>
                    </m:oMath>
                  </m:oMathPara>
                </a14:m>
                <a:endParaRPr lang="zh-TW" sz="2400"/>
              </a:p>
            </p:txBody>
          </p:sp>
        </mc:Choice>
        <mc:Fallback xmlns="">
          <p:pic>
            <p:nvPicPr>
              <p:cNvPr id="14" name="F14"/>
              <p:cNvPicPr/>
              <p:nvPr/>
            </p:nvPicPr>
            <p:blipFill>
              <a:blip r:embed="rId5"/>
              <a:stretch>
                <a:fillRect/>
              </a:stretch>
            </p:blipFill>
            <p:spPr>
              <a:xfrm>
                <a:off x="365760" y="320040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886200"/>
                <a:ext cx="484632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用到：</a:t>
                </a:r>
                <a14:m>
                  <m:oMath xmlns:m="http://schemas.openxmlformats.org/officeDocument/2006/math">
                    <m:nary>
                      <m:naryPr>
                        <m:limLoc m:val="subSup"/>
                        <m:ctrlPr>
                          <a:rPr lang="en-US" altLang="zh-TW" sz="2400" b="0" i="1">
                            <a:solidFill>
                              <a:srgbClr val="2B3050"/>
                            </a:solidFill>
                            <a:latin typeface="Cambria Math" panose="02040503050406030204" pitchFamily="18" charset="0"/>
                            <a:ea typeface="Cambria Math"/>
                          </a:rPr>
                        </m:ctrlPr>
                      </m:naryPr>
                      <m:sub/>
                      <m:sup/>
                      <m:e>
                        <m:r>
                          <a:rPr lang="en-US" altLang="zh-TW" sz="2400" b="0" i="1">
                            <a:solidFill>
                              <a:srgbClr val="2B3050"/>
                            </a:solidFill>
                            <a:latin typeface="Cambria Math" panose="02040503050406030204" pitchFamily="18" charset="0"/>
                            <a:ea typeface="Cambria Math"/>
                          </a:rPr>
                          <m:t>𝑑𝑡</m:t>
                        </m:r>
                      </m:e>
                    </m:nary>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𝑡</m:t>
                    </m:r>
                  </m:oMath>
                </a14:m>
                <a:endParaRPr lang="zh-TW" sz="2400"/>
              </a:p>
            </p:txBody>
          </p:sp>
        </mc:Choice>
        <mc:Fallback xmlns="">
          <p:pic>
            <p:nvPicPr>
              <p:cNvPr id="15" name="F15"/>
              <p:cNvPicPr/>
              <p:nvPr/>
            </p:nvPicPr>
            <p:blipFill>
              <a:blip r:embed="rId6"/>
              <a:stretch>
                <a:fillRect/>
              </a:stretch>
            </p:blipFill>
            <p:spPr>
              <a:xfrm>
                <a:off x="365760" y="3886200"/>
                <a:ext cx="4846320" cy="731520"/>
              </a:xfrm>
              <a:prstGeom prst="roundRect">
                <a:avLst/>
              </a:prstGeom>
              <a:solidFill>
                <a:srgbClr val="E8F4F6"/>
              </a:solidFill>
              <a:ln w="19050">
                <a:solidFill>
                  <a:srgbClr val="1F8899"/>
                </a:solidFill>
              </a:ln>
            </p:spPr>
          </p:pic>
        </mc:Fallback>
      </mc:AlternateContent>
      <p:cxnSp>
        <p:nvCxnSpPr>
          <p:cNvPr id="16" name="L16"/>
          <p:cNvCxnSpPr/>
          <p:nvPr/>
        </p:nvCxnSpPr>
        <p:spPr>
          <a:xfrm>
            <a:off x="5532120" y="2240280"/>
            <a:ext cx="2743200" cy="0"/>
          </a:xfrm>
          <a:prstGeom prst="line">
            <a:avLst/>
          </a:prstGeom>
          <a:ln w="15875">
            <a:solidFill>
              <a:srgbClr val="2B3050"/>
            </a:solidFill>
            <a:tailEnd type="triangle" w="med" len="med"/>
          </a:ln>
        </p:spPr>
      </p:cxnSp>
      <p:cxnSp>
        <p:nvCxnSpPr>
          <p:cNvPr id="17" name="L17"/>
          <p:cNvCxnSpPr/>
          <p:nvPr/>
        </p:nvCxnSpPr>
        <p:spPr>
          <a:xfrm flipV="1">
            <a:off x="5623560" y="1051560"/>
            <a:ext cx="0" cy="2194560"/>
          </a:xfrm>
          <a:prstGeom prst="line">
            <a:avLst/>
          </a:prstGeom>
          <a:ln w="15875">
            <a:solidFill>
              <a:srgbClr val="2B3050"/>
            </a:solidFill>
            <a:tailEnd type="triangle" w="med" len="med"/>
          </a:ln>
        </p:spPr>
      </p:cxnSp>
      <p:sp>
        <p:nvSpPr>
          <p:cNvPr id="18" name="T18"/>
          <p:cNvSpPr txBox="1"/>
          <p:nvPr/>
        </p:nvSpPr>
        <p:spPr>
          <a:xfrm>
            <a:off x="8092440" y="2240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a:t>
            </a:r>
            <a:endParaRPr lang="zh-TW" sz="2400"/>
          </a:p>
        </p:txBody>
      </p:sp>
      <p:sp>
        <p:nvSpPr>
          <p:cNvPr id="19" name="T19"/>
          <p:cNvSpPr txBox="1"/>
          <p:nvPr/>
        </p:nvSpPr>
        <p:spPr>
          <a:xfrm>
            <a:off x="5715000" y="91440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vy</a:t>
            </a:r>
            <a:endParaRPr lang="zh-TW" sz="2400"/>
          </a:p>
        </p:txBody>
      </p:sp>
      <p:cxnSp>
        <p:nvCxnSpPr>
          <p:cNvPr id="20" name="L20"/>
          <p:cNvCxnSpPr/>
          <p:nvPr/>
        </p:nvCxnSpPr>
        <p:spPr>
          <a:xfrm>
            <a:off x="5623560" y="1325880"/>
            <a:ext cx="2377440" cy="1920240"/>
          </a:xfrm>
          <a:prstGeom prst="line">
            <a:avLst/>
          </a:prstGeom>
          <a:ln w="38100">
            <a:solidFill>
              <a:srgbClr val="C8901F"/>
            </a:solidFill>
          </a:ln>
        </p:spPr>
      </p:cxnSp>
      <mc:AlternateContent xmlns:mc="http://schemas.openxmlformats.org/markup-compatibility/2006" xmlns:a14="http://schemas.microsoft.com/office/drawing/2010/main">
        <mc:Choice Requires="a14">
          <p:sp>
            <p:nvSpPr>
              <p:cNvPr id="21" name="T21"/>
              <p:cNvSpPr txBox="1"/>
              <p:nvPr/>
            </p:nvSpPr>
            <p:spPr>
              <a:xfrm>
                <a:off x="4846320" y="1143000"/>
                <a:ext cx="82296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oMath>
                  </m:oMathPara>
                </a14:m>
                <a:endParaRPr lang="zh-TW" sz="2400"/>
              </a:p>
            </p:txBody>
          </p:sp>
        </mc:Choice>
        <mc:Fallback xmlns="">
          <p:pic>
            <p:nvPicPr>
              <p:cNvPr id="21" name="F21"/>
              <p:cNvPicPr/>
              <p:nvPr/>
            </p:nvPicPr>
            <p:blipFill>
              <a:blip r:embed="rId7"/>
              <a:stretch>
                <a:fillRect/>
              </a:stretch>
            </p:blipFill>
            <p:spPr>
              <a:xfrm>
                <a:off x="4846320" y="1143000"/>
                <a:ext cx="822960" cy="411480"/>
              </a:xfrm>
              <a:prstGeom prst="rect">
                <a:avLst/>
              </a:prstGeom>
              <a:noFill/>
              <a:ln>
                <a:noFill/>
              </a:ln>
            </p:spPr>
          </p:pic>
        </mc:Fallback>
      </mc:AlternateContent>
      <p:sp>
        <p:nvSpPr>
          <p:cNvPr id="22" name="T22"/>
          <p:cNvSpPr txBox="1"/>
          <p:nvPr/>
        </p:nvSpPr>
        <p:spPr>
          <a:xfrm>
            <a:off x="6949440" y="1417320"/>
            <a:ext cx="16459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斜率 = −g</a:t>
            </a:r>
            <a:endParaRPr lang="zh-TW" sz="2400"/>
          </a:p>
        </p:txBody>
      </p:sp>
      <p:sp>
        <p:nvSpPr>
          <p:cNvPr id="23" name="S23"/>
          <p:cNvSpPr/>
          <p:nvPr/>
        </p:nvSpPr>
        <p:spPr>
          <a:xfrm>
            <a:off x="6682522" y="2167128"/>
            <a:ext cx="146304" cy="146304"/>
          </a:xfrm>
          <a:prstGeom prst="ellipse">
            <a:avLst/>
          </a:prstGeom>
          <a:solidFill>
            <a:srgbClr val="D6006F"/>
          </a:solidFill>
          <a:ln>
            <a:noFill/>
          </a:ln>
        </p:spPr>
        <p:txBody>
          <a:bodyPr/>
          <a:lstStyle/>
          <a:p>
            <a:endParaRPr lang="zh-TW" altLang="en-US"/>
          </a:p>
        </p:txBody>
      </p:sp>
      <p:sp>
        <p:nvSpPr>
          <p:cNvPr id="24" name="T24"/>
          <p:cNvSpPr txBox="1"/>
          <p:nvPr/>
        </p:nvSpPr>
        <p:spPr>
          <a:xfrm>
            <a:off x="5658394" y="2331720"/>
            <a:ext cx="14630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最高點</a:t>
            </a:r>
            <a:endParaRPr lang="zh-TW" sz="2400"/>
          </a:p>
        </p:txBody>
      </p:sp>
      <p:sp>
        <p:nvSpPr>
          <p:cNvPr id="25" name="T25"/>
          <p:cNvSpPr txBox="1"/>
          <p:nvPr/>
        </p:nvSpPr>
        <p:spPr>
          <a:xfrm>
            <a:off x="5257800" y="3383280"/>
            <a:ext cx="3108960" cy="13258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每秒速度減 9.8 m/s</a:t>
            </a:r>
            <a:endParaRPr lang="zh-TW" sz="2400"/>
          </a:p>
          <a:p>
            <a:pPr algn="l">
              <a:lnSpc>
                <a:spcPct val="100000"/>
              </a:lnSpc>
              <a:buNone/>
            </a:pPr>
            <a:r>
              <a:rPr lang="zh-TW" altLang="en-US" sz="2400" b="0" dirty="0">
                <a:solidFill>
                  <a:srgbClr val="2B3050"/>
                </a:solidFill>
                <a:latin typeface="Calibri"/>
                <a:ea typeface="微軟正黑體"/>
                <a:cs typeface="Calibri"/>
              </a:rPr>
              <a:t>vy = 0 → 最高點</a:t>
            </a:r>
            <a:endParaRPr lang="zh-TW" sz="2400"/>
          </a:p>
          <a:p>
            <a:pPr algn="l">
              <a:lnSpc>
                <a:spcPct val="100000"/>
              </a:lnSpc>
              <a:buNone/>
            </a:pPr>
            <a:r>
              <a:rPr lang="zh-TW" altLang="en-US" sz="2400" b="0" dirty="0">
                <a:solidFill>
                  <a:srgbClr val="2B3050"/>
                </a:solidFill>
                <a:latin typeface="Calibri"/>
                <a:ea typeface="微軟正黑體"/>
                <a:cs typeface="Calibri"/>
              </a:rPr>
              <a:t>之後 vy &lt; 0 往下掉</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公式推導（4）垂直位置：再積分一次</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𝑑𝑦</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𝑔𝑡</m:t>
                      </m:r>
                    </m:oMath>
                  </m:oMathPara>
                </a14:m>
                <a:endParaRPr lang="zh-TW" sz="2400"/>
              </a:p>
            </p:txBody>
          </p:sp>
        </mc:Choice>
        <mc:Fallback xmlns="">
          <p:pic>
            <p:nvPicPr>
              <p:cNvPr id="11" name="F11"/>
              <p:cNvPicPr/>
              <p:nvPr/>
            </p:nvPicPr>
            <p:blipFill>
              <a:blip r:embed="rId2"/>
              <a:stretch>
                <a:fillRect/>
              </a:stretch>
            </p:blipFill>
            <p:spPr>
              <a:xfrm>
                <a:off x="365760" y="86868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484632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nary>
                        <m:naryPr>
                          <m:limLoc m:val="subSup"/>
                          <m:ctrlPr>
                            <a:rPr lang="en-US" altLang="zh-TW" sz="2400" b="0" i="1">
                              <a:solidFill>
                                <a:srgbClr val="2B3050"/>
                              </a:solidFill>
                              <a:latin typeface="Cambria Math" panose="02040503050406030204" pitchFamily="18" charset="0"/>
                              <a:ea typeface="Cambria Math"/>
                            </a:rPr>
                          </m:ctrlPr>
                        </m:naryPr>
                        <m:sub>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sub>
                        <m:sup>
                          <m:r>
                            <a:rPr lang="en-US" altLang="zh-TW" sz="2400" b="0" i="1">
                              <a:solidFill>
                                <a:srgbClr val="2B3050"/>
                              </a:solidFill>
                              <a:latin typeface="Cambria Math" panose="02040503050406030204" pitchFamily="18" charset="0"/>
                              <a:ea typeface="Cambria Math"/>
                            </a:rPr>
                            <m:t>𝑦</m:t>
                          </m:r>
                        </m:sup>
                        <m:e>
                          <m:r>
                            <a:rPr lang="en-US" altLang="zh-TW" sz="2400" b="0" i="1">
                              <a:solidFill>
                                <a:srgbClr val="2B3050"/>
                              </a:solidFill>
                              <a:latin typeface="Cambria Math" panose="02040503050406030204" pitchFamily="18" charset="0"/>
                              <a:ea typeface="Cambria Math"/>
                            </a:rPr>
                            <m:t>𝑑𝑦</m:t>
                          </m:r>
                        </m:e>
                      </m:nary>
                      <m:r>
                        <a:rPr lang="en-US" altLang="zh-TW" sz="2400" b="0" i="0">
                          <a:solidFill>
                            <a:srgbClr val="2B3050"/>
                          </a:solidFill>
                          <a:latin typeface="Cambria Math" panose="02040503050406030204" pitchFamily="18" charset="0"/>
                          <a:ea typeface="Cambria Math"/>
                        </a:rPr>
                        <m:t> = </m:t>
                      </m:r>
                      <m:nary>
                        <m:naryPr>
                          <m:limLoc m:val="subSup"/>
                          <m:ctrlPr>
                            <a:rPr lang="en-US" altLang="zh-TW" sz="2400" b="0" i="0">
                              <a:solidFill>
                                <a:srgbClr val="2B3050"/>
                              </a:solidFill>
                              <a:latin typeface="Cambria Math" panose="02040503050406030204" pitchFamily="18" charset="0"/>
                              <a:ea typeface="Cambria Math"/>
                            </a:rPr>
                          </m:ctrlPr>
                        </m:naryPr>
                        <m:sub>
                          <m:r>
                            <a:rPr lang="en-US" altLang="zh-TW" sz="2400" b="0" i="0">
                              <a:solidFill>
                                <a:srgbClr val="2B3050"/>
                              </a:solidFill>
                              <a:latin typeface="Cambria Math" panose="02040503050406030204" pitchFamily="18" charset="0"/>
                              <a:ea typeface="Cambria Math"/>
                            </a:rPr>
                            <m:t>0</m:t>
                          </m:r>
                        </m:sub>
                        <m:sup>
                          <m:r>
                            <a:rPr lang="en-US" altLang="zh-TW" sz="2400" b="0" i="1">
                              <a:solidFill>
                                <a:srgbClr val="2B3050"/>
                              </a:solidFill>
                              <a:latin typeface="Cambria Math" panose="02040503050406030204" pitchFamily="18" charset="0"/>
                              <a:ea typeface="Cambria Math"/>
                            </a:rPr>
                            <m:t>𝑡</m:t>
                          </m:r>
                        </m:sup>
                        <m:e>
                          <m:d>
                            <m:dPr>
                              <m:ctrlPr>
                                <a:rPr lang="en-US" altLang="zh-TW" sz="2400" b="0" i="1">
                                  <a:solidFill>
                                    <a:srgbClr val="2B3050"/>
                                  </a:solidFill>
                                  <a:latin typeface="Cambria Math" panose="02040503050406030204" pitchFamily="18" charset="0"/>
                                  <a:ea typeface="Cambria Math"/>
                                </a:rPr>
                              </m:ctrlPr>
                            </m:d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𝑔𝑡</m:t>
                              </m:r>
                            </m:e>
                          </m:d>
                          <m:r>
                            <a:rPr lang="en-US" altLang="zh-TW" sz="2400" b="0" i="1">
                              <a:solidFill>
                                <a:srgbClr val="2B3050"/>
                              </a:solidFill>
                              <a:latin typeface="Cambria Math" panose="02040503050406030204" pitchFamily="18" charset="0"/>
                              <a:ea typeface="Cambria Math"/>
                            </a:rPr>
                            <m:t>𝑑𝑡</m:t>
                          </m:r>
                        </m:e>
                      </m:nary>
                    </m:oMath>
                  </m:oMathPara>
                </a14:m>
                <a:endParaRPr lang="zh-TW" sz="2400"/>
              </a:p>
            </p:txBody>
          </p:sp>
        </mc:Choice>
        <mc:Fallback xmlns="">
          <p:pic>
            <p:nvPicPr>
              <p:cNvPr id="12" name="F12"/>
              <p:cNvPicPr/>
              <p:nvPr/>
            </p:nvPicPr>
            <p:blipFill>
              <a:blip r:embed="rId3"/>
              <a:stretch>
                <a:fillRect/>
              </a:stretch>
            </p:blipFill>
            <p:spPr>
              <a:xfrm>
                <a:off x="365760" y="1737360"/>
                <a:ext cx="484632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51760"/>
                <a:ext cx="484632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3" name="F13"/>
              <p:cNvPicPr/>
              <p:nvPr/>
            </p:nvPicPr>
            <p:blipFill>
              <a:blip r:embed="rId4"/>
              <a:stretch>
                <a:fillRect/>
              </a:stretch>
            </p:blipFill>
            <p:spPr>
              <a:xfrm>
                <a:off x="365760" y="2651760"/>
                <a:ext cx="484632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429000"/>
                <a:ext cx="484632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𝑦</m:t>
                      </m:r>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𝑦</m:t>
                          </m:r>
                        </m:e>
                        <m:sub>
                          <m:r>
                            <a:rPr lang="en-US" altLang="zh-TW" sz="2400" b="0" i="0">
                              <a:solidFill>
                                <a:srgbClr val="D6006F"/>
                              </a:solidFill>
                              <a:latin typeface="Cambria Math" panose="02040503050406030204" pitchFamily="18" charset="0"/>
                              <a:ea typeface="Cambria Math"/>
                            </a:rPr>
                            <m:t>0</m:t>
                          </m:r>
                        </m:sub>
                      </m:sSub>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r>
                            <m:rPr>
                              <m:sty m:val="p"/>
                            </m:rPr>
                            <a:rPr lang="en-US" altLang="zh-TW" sz="2400" b="0" i="0">
                              <a:solidFill>
                                <a:srgbClr val="D6006F"/>
                              </a:solidFill>
                              <a:latin typeface="Cambria Math" panose="02040503050406030204" pitchFamily="18" charset="0"/>
                              <a:ea typeface="Cambria Math"/>
                            </a:rPr>
                            <m:t>y</m:t>
                          </m:r>
                        </m:sub>
                      </m:sSub>
                      <m:r>
                        <a:rPr lang="en-US" altLang="zh-TW" sz="2400" b="0" i="1">
                          <a:solidFill>
                            <a:srgbClr val="D6006F"/>
                          </a:solidFill>
                          <a:latin typeface="Cambria Math" panose="02040503050406030204" pitchFamily="18" charset="0"/>
                          <a:ea typeface="Cambria Math"/>
                        </a:rPr>
                        <m:t>𝑡</m:t>
                      </m:r>
                      <m:r>
                        <a:rPr lang="en-US" altLang="zh-TW" sz="2400" b="0" i="0">
                          <a:solidFill>
                            <a:srgbClr val="D6006F"/>
                          </a:solidFill>
                          <a:latin typeface="Cambria Math" panose="02040503050406030204" pitchFamily="18" charset="0"/>
                          <a:ea typeface="Cambria Math"/>
                        </a:rPr>
                        <m:t> − </m:t>
                      </m:r>
                      <m:f>
                        <m:fPr>
                          <m:ctrlPr>
                            <a:rPr lang="en-US" altLang="zh-TW" sz="2400" b="0" i="0">
                              <a:solidFill>
                                <a:srgbClr val="D6006F"/>
                              </a:solidFill>
                              <a:latin typeface="Cambria Math" panose="02040503050406030204" pitchFamily="18" charset="0"/>
                              <a:ea typeface="Cambria Math"/>
                            </a:rPr>
                          </m:ctrlPr>
                        </m:fPr>
                        <m:num>
                          <m:r>
                            <a:rPr lang="en-US" altLang="zh-TW" sz="2400" b="0" i="0">
                              <a:solidFill>
                                <a:srgbClr val="D6006F"/>
                              </a:solidFill>
                              <a:latin typeface="Cambria Math" panose="02040503050406030204" pitchFamily="18" charset="0"/>
                              <a:ea typeface="Cambria Math"/>
                            </a:rPr>
                            <m:t>1</m:t>
                          </m:r>
                        </m:num>
                        <m:den>
                          <m:r>
                            <a:rPr lang="en-US" altLang="zh-TW" sz="2400" b="0" i="0">
                              <a:solidFill>
                                <a:srgbClr val="D6006F"/>
                              </a:solidFill>
                              <a:latin typeface="Cambria Math" panose="02040503050406030204" pitchFamily="18" charset="0"/>
                              <a:ea typeface="Cambria Math"/>
                            </a:rPr>
                            <m:t>2</m:t>
                          </m:r>
                        </m:den>
                      </m:f>
                      <m:r>
                        <a:rPr lang="en-US" altLang="zh-TW" sz="2400" b="0" i="1">
                          <a:solidFill>
                            <a:srgbClr val="D6006F"/>
                          </a:solidFill>
                          <a:latin typeface="Cambria Math" panose="02040503050406030204" pitchFamily="18" charset="0"/>
                          <a:ea typeface="Cambria Math"/>
                        </a:rPr>
                        <m:t>𝑔</m:t>
                      </m:r>
                      <m:sSup>
                        <m:sSupPr>
                          <m:ctrlPr>
                            <a:rPr lang="en-US" altLang="zh-TW" sz="2400" b="0" i="1">
                              <a:solidFill>
                                <a:srgbClr val="D6006F"/>
                              </a:solidFill>
                              <a:latin typeface="Cambria Math" panose="02040503050406030204" pitchFamily="18" charset="0"/>
                              <a:ea typeface="Cambria Math"/>
                            </a:rPr>
                          </m:ctrlPr>
                        </m:sSupPr>
                        <m:e>
                          <m:r>
                            <a:rPr lang="en-US" altLang="zh-TW" sz="2400" b="0" i="1">
                              <a:solidFill>
                                <a:srgbClr val="D6006F"/>
                              </a:solidFill>
                              <a:latin typeface="Cambria Math" panose="02040503050406030204" pitchFamily="18" charset="0"/>
                              <a:ea typeface="Cambria Math"/>
                            </a:rPr>
                            <m:t>𝑡</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5"/>
              <a:stretch>
                <a:fillRect/>
              </a:stretch>
            </p:blipFill>
            <p:spPr>
              <a:xfrm>
                <a:off x="365760" y="3429000"/>
                <a:ext cx="4846320" cy="777240"/>
              </a:xfrm>
              <a:prstGeom prst="rect">
                <a:avLst/>
              </a:prstGeom>
              <a:noFill/>
              <a:ln>
                <a:noFill/>
              </a:ln>
            </p:spPr>
          </p:pic>
        </mc:Fallback>
      </mc:AlternateContent>
      <p:cxnSp>
        <p:nvCxnSpPr>
          <p:cNvPr id="15" name="L15"/>
          <p:cNvCxnSpPr/>
          <p:nvPr/>
        </p:nvCxnSpPr>
        <p:spPr>
          <a:xfrm>
            <a:off x="5532120" y="2240280"/>
            <a:ext cx="2743200" cy="0"/>
          </a:xfrm>
          <a:prstGeom prst="line">
            <a:avLst/>
          </a:prstGeom>
          <a:ln w="15875">
            <a:solidFill>
              <a:srgbClr val="2B3050"/>
            </a:solidFill>
            <a:tailEnd type="triangle" w="med" len="med"/>
          </a:ln>
        </p:spPr>
      </p:cxnSp>
      <p:cxnSp>
        <p:nvCxnSpPr>
          <p:cNvPr id="16" name="L16"/>
          <p:cNvCxnSpPr/>
          <p:nvPr/>
        </p:nvCxnSpPr>
        <p:spPr>
          <a:xfrm flipV="1">
            <a:off x="5623560" y="1051560"/>
            <a:ext cx="0" cy="2194560"/>
          </a:xfrm>
          <a:prstGeom prst="line">
            <a:avLst/>
          </a:prstGeom>
          <a:ln w="15875">
            <a:solidFill>
              <a:srgbClr val="2B3050"/>
            </a:solidFill>
            <a:tailEnd type="triangle" w="med" len="med"/>
          </a:ln>
        </p:spPr>
      </p:cxnSp>
      <p:sp>
        <p:nvSpPr>
          <p:cNvPr id="17" name="T17"/>
          <p:cNvSpPr txBox="1"/>
          <p:nvPr/>
        </p:nvSpPr>
        <p:spPr>
          <a:xfrm>
            <a:off x="8092440" y="22402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a:t>
            </a:r>
            <a:endParaRPr lang="zh-TW" sz="2400"/>
          </a:p>
        </p:txBody>
      </p:sp>
      <p:sp>
        <p:nvSpPr>
          <p:cNvPr id="18" name="T18"/>
          <p:cNvSpPr txBox="1"/>
          <p:nvPr/>
        </p:nvSpPr>
        <p:spPr>
          <a:xfrm>
            <a:off x="5715000" y="91440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vy</a:t>
            </a:r>
            <a:endParaRPr lang="zh-TW" sz="2400"/>
          </a:p>
        </p:txBody>
      </p:sp>
      <p:sp>
        <p:nvSpPr>
          <p:cNvPr id="19" name="P19"/>
          <p:cNvSpPr/>
          <p:nvPr/>
        </p:nvSpPr>
        <p:spPr>
          <a:xfrm>
            <a:off x="5623560" y="1325880"/>
            <a:ext cx="1132114" cy="914400"/>
          </a:xfrm>
          <a:custGeom>
            <a:avLst/>
            <a:gdLst/>
            <a:ahLst/>
            <a:cxnLst/>
            <a:rect l="0" t="0" r="r" b="b"/>
            <a:pathLst>
              <a:path w="1132114" h="914400">
                <a:moveTo>
                  <a:pt x="0" y="914400"/>
                </a:moveTo>
                <a:lnTo>
                  <a:pt x="0" y="0"/>
                </a:lnTo>
                <a:lnTo>
                  <a:pt x="1132114" y="914400"/>
                </a:lnTo>
                <a:close/>
              </a:path>
            </a:pathLst>
          </a:custGeom>
          <a:solidFill>
            <a:srgbClr val="F7D9E6"/>
          </a:solidFill>
          <a:ln>
            <a:noFill/>
          </a:ln>
        </p:spPr>
        <p:txBody>
          <a:bodyPr/>
          <a:lstStyle/>
          <a:p>
            <a:endParaRPr lang="zh-TW" altLang="en-US"/>
          </a:p>
        </p:txBody>
      </p:sp>
      <p:cxnSp>
        <p:nvCxnSpPr>
          <p:cNvPr id="20" name="L20"/>
          <p:cNvCxnSpPr/>
          <p:nvPr/>
        </p:nvCxnSpPr>
        <p:spPr>
          <a:xfrm>
            <a:off x="5623560" y="1325880"/>
            <a:ext cx="2377440" cy="1920240"/>
          </a:xfrm>
          <a:prstGeom prst="line">
            <a:avLst/>
          </a:prstGeom>
          <a:ln w="38100">
            <a:solidFill>
              <a:srgbClr val="C8901F"/>
            </a:solidFill>
          </a:ln>
        </p:spPr>
      </p:cxnSp>
      <p:sp>
        <p:nvSpPr>
          <p:cNvPr id="21" name="T21"/>
          <p:cNvSpPr txBox="1"/>
          <p:nvPr/>
        </p:nvSpPr>
        <p:spPr>
          <a:xfrm>
            <a:off x="5669280" y="1737360"/>
            <a:ext cx="10972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面積</a:t>
            </a:r>
            <a:endParaRPr lang="zh-TW" sz="2400"/>
          </a:p>
        </p:txBody>
      </p:sp>
      <p:sp>
        <p:nvSpPr>
          <p:cNvPr id="22" name="T22"/>
          <p:cNvSpPr txBox="1"/>
          <p:nvPr/>
        </p:nvSpPr>
        <p:spPr>
          <a:xfrm>
            <a:off x="5257800" y="3383280"/>
            <a:ext cx="3108960" cy="13258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vy–t 圖下的面積</a:t>
            </a:r>
            <a:endParaRPr lang="zh-TW" sz="2400"/>
          </a:p>
          <a:p>
            <a:pPr algn="l">
              <a:lnSpc>
                <a:spcPct val="100000"/>
              </a:lnSpc>
              <a:buNone/>
            </a:pPr>
            <a:r>
              <a:rPr lang="zh-TW" altLang="en-US" sz="2400" b="0" dirty="0">
                <a:solidFill>
                  <a:srgbClr val="2B3050"/>
                </a:solidFill>
                <a:latin typeface="Calibri"/>
                <a:ea typeface="微軟正黑體"/>
                <a:cs typeface="Calibri"/>
              </a:rPr>
              <a:t>＝垂直位移</a:t>
            </a:r>
            <a:endParaRPr lang="zh-TW" sz="2400"/>
          </a:p>
          <a:p>
            <a:pPr algn="l">
              <a:lnSpc>
                <a:spcPct val="100000"/>
              </a:lnSpc>
              <a:buNone/>
            </a:pPr>
            <a:r>
              <a:rPr lang="zh-TW" altLang="en-US" sz="2400" b="0" dirty="0">
                <a:solidFill>
                  <a:srgbClr val="2B3050"/>
                </a:solidFill>
                <a:latin typeface="Calibri"/>
                <a:ea typeface="微軟正黑體"/>
                <a:cs typeface="Calibri"/>
              </a:rPr>
              <a:t>（t 軸下方算負）</a:t>
            </a:r>
            <a:endParaRPr lang="zh-TW" sz="2400"/>
          </a:p>
        </p:txBody>
      </p:sp>
      <mc:AlternateContent xmlns:mc="http://schemas.openxmlformats.org/markup-compatibility/2006" xmlns:a14="http://schemas.microsoft.com/office/drawing/2010/main">
        <mc:Choice Requires="a14">
          <p:sp>
            <p:nvSpPr>
              <p:cNvPr id="23" name="T23"/>
              <p:cNvSpPr txBox="1"/>
              <p:nvPr/>
            </p:nvSpPr>
            <p:spPr>
              <a:xfrm>
                <a:off x="365760" y="4206240"/>
                <a:ext cx="4846320" cy="6400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用到：</a:t>
                </a:r>
                <a14:m>
                  <m:oMath xmlns:m="http://schemas.openxmlformats.org/officeDocument/2006/math">
                    <m:nary>
                      <m:naryPr>
                        <m:limLoc m:val="subSup"/>
                        <m:ctrlPr>
                          <a:rPr lang="en-US" altLang="zh-TW" sz="2400" b="0" i="1">
                            <a:solidFill>
                              <a:srgbClr val="2B3050"/>
                            </a:solidFill>
                            <a:latin typeface="Cambria Math" panose="02040503050406030204" pitchFamily="18" charset="0"/>
                            <a:ea typeface="Cambria Math"/>
                          </a:rPr>
                        </m:ctrlPr>
                      </m:naryPr>
                      <m:sub/>
                      <m:sup/>
                      <m:e>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𝑑𝑡</m:t>
                        </m:r>
                      </m:e>
                    </m:nary>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a14:m>
                <a:endParaRPr lang="zh-TW" sz="2400"/>
              </a:p>
            </p:txBody>
          </p:sp>
        </mc:Choice>
        <mc:Fallback xmlns="">
          <p:pic>
            <p:nvPicPr>
              <p:cNvPr id="23" name="F23"/>
              <p:cNvPicPr/>
              <p:nvPr/>
            </p:nvPicPr>
            <p:blipFill>
              <a:blip r:embed="rId6"/>
              <a:stretch>
                <a:fillRect/>
              </a:stretch>
            </p:blipFill>
            <p:spPr>
              <a:xfrm>
                <a:off x="365760" y="4206240"/>
                <a:ext cx="4846320" cy="64008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9" grpId="0" animBg="1"/>
      <p:bldP spid="21"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公式推導（5）沒有時間怎麼辦？換變數</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題目沒給時間 t，只給高度 y → 把 t 換成 y</a:t>
            </a:r>
            <a:endParaRPr lang="zh-TW" sz="2400"/>
          </a:p>
        </p:txBody>
      </p:sp>
      <p:sp>
        <p:nvSpPr>
          <p:cNvPr id="12" name="T12"/>
          <p:cNvSpPr txBox="1"/>
          <p:nvPr/>
        </p:nvSpPr>
        <p:spPr>
          <a:xfrm>
            <a:off x="640080" y="1463040"/>
            <a:ext cx="1828800" cy="640080"/>
          </a:xfrm>
          <a:prstGeom prst="roundRect">
            <a:avLst/>
          </a:prstGeom>
          <a:solidFill>
            <a:srgbClr val="8A8F9C"/>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時間 t</a:t>
            </a:r>
            <a:endParaRPr lang="zh-TW" sz="2400"/>
          </a:p>
        </p:txBody>
      </p:sp>
      <p:sp>
        <p:nvSpPr>
          <p:cNvPr id="13" name="T13"/>
          <p:cNvSpPr txBox="1"/>
          <p:nvPr/>
        </p:nvSpPr>
        <p:spPr>
          <a:xfrm>
            <a:off x="3383280" y="1463040"/>
            <a:ext cx="1828800" cy="64008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高度 y(t)</a:t>
            </a:r>
            <a:endParaRPr lang="zh-TW" sz="2400"/>
          </a:p>
        </p:txBody>
      </p:sp>
      <p:sp>
        <p:nvSpPr>
          <p:cNvPr id="14" name="T14"/>
          <p:cNvSpPr txBox="1"/>
          <p:nvPr/>
        </p:nvSpPr>
        <p:spPr>
          <a:xfrm>
            <a:off x="6126480" y="1463040"/>
            <a:ext cx="1828800" cy="640080"/>
          </a:xfrm>
          <a:prstGeom prst="roundRect">
            <a:avLst/>
          </a:prstGeom>
          <a:solidFill>
            <a:srgbClr val="C8901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速度 vy(y)</a:t>
            </a:r>
            <a:endParaRPr lang="zh-TW" sz="2400"/>
          </a:p>
        </p:txBody>
      </p:sp>
      <p:cxnSp>
        <p:nvCxnSpPr>
          <p:cNvPr id="15" name="L15"/>
          <p:cNvCxnSpPr/>
          <p:nvPr/>
        </p:nvCxnSpPr>
        <p:spPr>
          <a:xfrm>
            <a:off x="2514600" y="1783080"/>
            <a:ext cx="822960" cy="0"/>
          </a:xfrm>
          <a:prstGeom prst="line">
            <a:avLst/>
          </a:prstGeom>
          <a:ln w="31750">
            <a:solidFill>
              <a:srgbClr val="2B3050"/>
            </a:solidFill>
            <a:tailEnd type="triangle" w="med" len="med"/>
          </a:ln>
        </p:spPr>
      </p:cxnSp>
      <p:cxnSp>
        <p:nvCxnSpPr>
          <p:cNvPr id="16" name="L16"/>
          <p:cNvCxnSpPr/>
          <p:nvPr/>
        </p:nvCxnSpPr>
        <p:spPr>
          <a:xfrm>
            <a:off x="5257800" y="1783080"/>
            <a:ext cx="822960" cy="0"/>
          </a:xfrm>
          <a:prstGeom prst="line">
            <a:avLst/>
          </a:prstGeom>
          <a:ln w="31750">
            <a:solidFill>
              <a:srgbClr val="2B3050"/>
            </a:solidFill>
            <a:tailEnd type="triangle" w="med" len="med"/>
          </a:ln>
        </p:spPr>
      </p:cxnSp>
      <mc:AlternateContent xmlns:mc="http://schemas.openxmlformats.org/markup-compatibility/2006" xmlns:a14="http://schemas.microsoft.com/office/drawing/2010/main">
        <mc:Choice Requires="a14">
          <p:sp>
            <p:nvSpPr>
              <p:cNvPr id="17" name="T17"/>
              <p:cNvSpPr txBox="1"/>
              <p:nvPr/>
            </p:nvSpPr>
            <p:spPr>
              <a:xfrm>
                <a:off x="365760" y="2240280"/>
                <a:ext cx="7955280" cy="8686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連鎖律：</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num>
                      <m:den>
                        <m:r>
                          <a:rPr lang="en-US" altLang="zh-TW" sz="2400" b="0" i="1">
                            <a:solidFill>
                              <a:srgbClr val="2B3050"/>
                            </a:solidFill>
                            <a:latin typeface="Cambria Math" panose="02040503050406030204" pitchFamily="18" charset="0"/>
                            <a:ea typeface="Cambria Math"/>
                          </a:rPr>
                          <m:t>𝑑𝑦</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𝑑𝑦</m:t>
                        </m:r>
                      </m:num>
                      <m:den>
                        <m:r>
                          <a:rPr lang="en-US" altLang="zh-TW" sz="2400" b="0" i="1">
                            <a:solidFill>
                              <a:srgbClr val="2B3050"/>
                            </a:solidFill>
                            <a:latin typeface="Cambria Math" panose="02040503050406030204" pitchFamily="18" charset="0"/>
                            <a:ea typeface="Cambria Math"/>
                          </a:rPr>
                          <m:t>𝑑𝑡</m:t>
                        </m:r>
                      </m:den>
                    </m:f>
                  </m:oMath>
                </a14:m>
                <a:endParaRPr lang="zh-TW" sz="2400"/>
              </a:p>
            </p:txBody>
          </p:sp>
        </mc:Choice>
        <mc:Fallback xmlns="">
          <p:pic>
            <p:nvPicPr>
              <p:cNvPr id="17" name="F17"/>
              <p:cNvPicPr/>
              <p:nvPr/>
            </p:nvPicPr>
            <p:blipFill>
              <a:blip r:embed="rId2"/>
              <a:stretch>
                <a:fillRect/>
              </a:stretch>
            </p:blipFill>
            <p:spPr>
              <a:xfrm>
                <a:off x="365760" y="22402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8" name="T18"/>
              <p:cNvSpPr txBox="1"/>
              <p:nvPr/>
            </p:nvSpPr>
            <p:spPr>
              <a:xfrm>
                <a:off x="365760" y="3108960"/>
                <a:ext cx="795528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num>
                      <m:den>
                        <m:r>
                          <a:rPr lang="en-US" altLang="zh-TW" sz="2400" b="0" i="1">
                            <a:solidFill>
                              <a:srgbClr val="2B3050"/>
                            </a:solidFill>
                            <a:latin typeface="Cambria Math" panose="02040503050406030204" pitchFamily="18" charset="0"/>
                            <a:ea typeface="Cambria Math"/>
                          </a:rPr>
                          <m:t>𝑑𝑦</m:t>
                        </m:r>
                      </m:den>
                    </m:f>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m:t>
                    </m:r>
                  </m:oMath>
                </a14:m>
                <a:r>
                  <a:rPr lang="zh-TW" altLang="en-US" sz="2400" b="0" dirty="0">
                    <a:solidFill>
                      <a:srgbClr val="2B3050"/>
                    </a:solidFill>
                    <a:latin typeface="Calibri"/>
                    <a:ea typeface="微軟正黑體"/>
                    <a:cs typeface="Calibri"/>
                  </a:rPr>
                  <a:t>（因為 dy/dt = vy）</a:t>
                </a:r>
                <a:endParaRPr lang="zh-TW" sz="2400"/>
              </a:p>
            </p:txBody>
          </p:sp>
        </mc:Choice>
        <mc:Fallback xmlns="">
          <p:pic>
            <p:nvPicPr>
              <p:cNvPr id="18" name="F18"/>
              <p:cNvPicPr/>
              <p:nvPr/>
            </p:nvPicPr>
            <p:blipFill>
              <a:blip r:embed="rId3"/>
              <a:stretch>
                <a:fillRect/>
              </a:stretch>
            </p:blipFill>
            <p:spPr>
              <a:xfrm>
                <a:off x="365760" y="310896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9" name="T19"/>
              <p:cNvSpPr txBox="1"/>
              <p:nvPr/>
            </p:nvSpPr>
            <p:spPr>
              <a:xfrm>
                <a:off x="365760" y="397764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𝑦</m:t>
                          </m:r>
                        </m:sub>
                      </m:sSub>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𝑑</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𝑦</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𝑔</m:t>
                      </m:r>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𝑑𝑦</m:t>
                      </m:r>
                    </m:oMath>
                  </m:oMathPara>
                </a14:m>
                <a:endParaRPr lang="zh-TW" sz="2400"/>
              </a:p>
            </p:txBody>
          </p:sp>
        </mc:Choice>
        <mc:Fallback xmlns="">
          <p:pic>
            <p:nvPicPr>
              <p:cNvPr id="19" name="F19"/>
              <p:cNvPicPr/>
              <p:nvPr/>
            </p:nvPicPr>
            <p:blipFill>
              <a:blip r:embed="rId4"/>
              <a:stretch>
                <a:fillRect/>
              </a:stretch>
            </p:blipFill>
            <p:spPr>
              <a:xfrm>
                <a:off x="365760" y="3977640"/>
                <a:ext cx="7955280" cy="54864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公式推導（6）積分得到 vy² 關係式</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nary>
                        <m:naryPr>
                          <m:limLoc m:val="subSup"/>
                          <m:ctrlPr>
                            <a:rPr lang="en-US" altLang="zh-TW" sz="2400" b="0" i="1">
                              <a:solidFill>
                                <a:srgbClr val="2B3050"/>
                              </a:solidFill>
                              <a:latin typeface="Cambria Math" panose="02040503050406030204" pitchFamily="18" charset="0"/>
                              <a:ea typeface="Cambria Math"/>
                            </a:rPr>
                          </m:ctrlPr>
                        </m:naryPr>
                        <m:sub>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sub>
                        <m:sup>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sup>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nary>
                      <m:r>
                        <a:rPr lang="en-US" altLang="zh-TW" sz="2400" b="0" i="0">
                          <a:solidFill>
                            <a:srgbClr val="2B3050"/>
                          </a:solidFill>
                          <a:latin typeface="Cambria Math" panose="02040503050406030204" pitchFamily="18" charset="0"/>
                          <a:ea typeface="Cambria Math"/>
                        </a:rPr>
                        <m:t> = </m:t>
                      </m:r>
                      <m:nary>
                        <m:naryPr>
                          <m:limLoc m:val="subSup"/>
                          <m:ctrlPr>
                            <a:rPr lang="en-US" altLang="zh-TW" sz="2400" b="0" i="1">
                              <a:solidFill>
                                <a:srgbClr val="2B3050"/>
                              </a:solidFill>
                              <a:latin typeface="Cambria Math" panose="02040503050406030204" pitchFamily="18" charset="0"/>
                              <a:ea typeface="Cambria Math"/>
                            </a:rPr>
                          </m:ctrlPr>
                        </m:naryPr>
                        <m:sub>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sub>
                        <m:sup>
                          <m:r>
                            <a:rPr lang="en-US" altLang="zh-TW" sz="2400" b="0" i="1">
                              <a:solidFill>
                                <a:srgbClr val="2B3050"/>
                              </a:solidFill>
                              <a:latin typeface="Cambria Math" panose="02040503050406030204" pitchFamily="18" charset="0"/>
                              <a:ea typeface="Cambria Math"/>
                            </a:rPr>
                            <m:t>𝑦</m:t>
                          </m:r>
                        </m:sup>
                        <m:e>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𝑔</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𝑑𝑦</m:t>
                          </m:r>
                        </m:e>
                      </m:nary>
                    </m:oMath>
                  </m:oMathPara>
                </a14:m>
                <a:endParaRPr lang="zh-TW" sz="2400"/>
              </a:p>
            </p:txBody>
          </p:sp>
        </mc:Choice>
        <mc:Fallback xmlns="">
          <p:pic>
            <p:nvPicPr>
              <p:cNvPr id="11" name="F11"/>
              <p:cNvPicPr/>
              <p:nvPr/>
            </p:nvPicPr>
            <p:blipFill>
              <a:blip r:embed="rId2"/>
              <a:stretch>
                <a:fillRect/>
              </a:stretch>
            </p:blipFill>
            <p:spPr>
              <a:xfrm>
                <a:off x="365760" y="868680"/>
                <a:ext cx="484632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83080"/>
                <a:ext cx="484632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d>
                        <m:dPr>
                          <m:ctrlPr>
                            <a:rPr lang="en-US" altLang="zh-TW" sz="2400" b="0" i="1">
                              <a:solidFill>
                                <a:srgbClr val="2B3050"/>
                              </a:solidFill>
                              <a:latin typeface="Cambria Math" panose="02040503050406030204" pitchFamily="18" charset="0"/>
                              <a:ea typeface="Cambria Math"/>
                            </a:rPr>
                          </m:ctrlPr>
                        </m:dPr>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e>
                      </m:d>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m:t>
                      </m:r>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e>
                      </m:d>
                    </m:oMath>
                  </m:oMathPara>
                </a14:m>
                <a:endParaRPr lang="zh-TW" sz="2400"/>
              </a:p>
            </p:txBody>
          </p:sp>
        </mc:Choice>
        <mc:Fallback xmlns="">
          <p:pic>
            <p:nvPicPr>
              <p:cNvPr id="12" name="F12"/>
              <p:cNvPicPr/>
              <p:nvPr/>
            </p:nvPicPr>
            <p:blipFill>
              <a:blip r:embed="rId3"/>
              <a:stretch>
                <a:fillRect/>
              </a:stretch>
            </p:blipFill>
            <p:spPr>
              <a:xfrm>
                <a:off x="365760" y="1783080"/>
                <a:ext cx="484632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0604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D6006F"/>
                              </a:solidFill>
                              <a:latin typeface="Cambria Math" panose="02040503050406030204" pitchFamily="18" charset="0"/>
                              <a:ea typeface="Cambria Math"/>
                            </a:rPr>
                          </m:ctrlPr>
                        </m:sSupPr>
                        <m:e>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𝑦</m:t>
                              </m:r>
                            </m:sub>
                          </m:sSub>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m:t>
                      </m:r>
                      <m:sSup>
                        <m:sSupPr>
                          <m:ctrlPr>
                            <a:rPr lang="en-US" altLang="zh-TW" sz="2400" b="0" i="1">
                              <a:solidFill>
                                <a:srgbClr val="D6006F"/>
                              </a:solidFill>
                              <a:latin typeface="Cambria Math" panose="02040503050406030204" pitchFamily="18" charset="0"/>
                              <a:ea typeface="Cambria Math"/>
                            </a:rPr>
                          </m:ctrlPr>
                        </m:sSupPr>
                        <m:e>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r>
                                <m:rPr>
                                  <m:sty m:val="p"/>
                                </m:rPr>
                                <a:rPr lang="en-US" altLang="zh-TW" sz="2400" b="0" i="0">
                                  <a:solidFill>
                                    <a:srgbClr val="D6006F"/>
                                  </a:solidFill>
                                  <a:latin typeface="Cambria Math" panose="02040503050406030204" pitchFamily="18" charset="0"/>
                                  <a:ea typeface="Cambria Math"/>
                                </a:rPr>
                                <m:t>y</m:t>
                              </m:r>
                            </m:sub>
                          </m:sSub>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− 2</m:t>
                      </m:r>
                      <m:r>
                        <a:rPr lang="en-US" altLang="zh-TW" sz="2400" b="0" i="1">
                          <a:solidFill>
                            <a:srgbClr val="D6006F"/>
                          </a:solidFill>
                          <a:latin typeface="Cambria Math" panose="02040503050406030204" pitchFamily="18" charset="0"/>
                          <a:ea typeface="Cambria Math"/>
                        </a:rPr>
                        <m:t>𝑔</m:t>
                      </m:r>
                      <m:d>
                        <m:dPr>
                          <m:ctrlPr>
                            <a:rPr lang="en-US" altLang="zh-TW" sz="2400" b="0" i="1">
                              <a:solidFill>
                                <a:srgbClr val="D6006F"/>
                              </a:solidFill>
                              <a:latin typeface="Cambria Math" panose="02040503050406030204" pitchFamily="18" charset="0"/>
                              <a:ea typeface="Cambria Math"/>
                            </a:rPr>
                          </m:ctrlPr>
                        </m:dPr>
                        <m:e>
                          <m:r>
                            <a:rPr lang="en-US" altLang="zh-TW" sz="2400" b="0" i="1">
                              <a:solidFill>
                                <a:srgbClr val="D6006F"/>
                              </a:solidFill>
                              <a:latin typeface="Cambria Math" panose="02040503050406030204" pitchFamily="18" charset="0"/>
                              <a:ea typeface="Cambria Math"/>
                            </a:rPr>
                            <m:t>𝑦</m:t>
                          </m:r>
                          <m:r>
                            <a:rPr lang="en-US" altLang="zh-TW" sz="2400" b="0" i="0">
                              <a:solidFill>
                                <a:srgbClr val="D6006F"/>
                              </a:solidFill>
                              <a:latin typeface="Cambria Math" panose="02040503050406030204" pitchFamily="18" charset="0"/>
                              <a:ea typeface="Cambria Math"/>
                            </a:rPr>
                            <m:t> −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𝑦</m:t>
                              </m:r>
                            </m:e>
                            <m:sub>
                              <m:r>
                                <a:rPr lang="en-US" altLang="zh-TW" sz="2400" b="0" i="0">
                                  <a:solidFill>
                                    <a:srgbClr val="D6006F"/>
                                  </a:solidFill>
                                  <a:latin typeface="Cambria Math" panose="02040503050406030204" pitchFamily="18" charset="0"/>
                                  <a:ea typeface="Cambria Math"/>
                                </a:rPr>
                                <m:t>0</m:t>
                              </m:r>
                            </m:sub>
                          </m:sSub>
                        </m:e>
                      </m:d>
                    </m:oMath>
                  </m:oMathPara>
                </a14:m>
                <a:endParaRPr lang="zh-TW" sz="2400"/>
              </a:p>
            </p:txBody>
          </p:sp>
        </mc:Choice>
        <mc:Fallback xmlns="">
          <p:pic>
            <p:nvPicPr>
              <p:cNvPr id="13" name="F13"/>
              <p:cNvPicPr/>
              <p:nvPr/>
            </p:nvPicPr>
            <p:blipFill>
              <a:blip r:embed="rId4"/>
              <a:stretch>
                <a:fillRect/>
              </a:stretch>
            </p:blipFill>
            <p:spPr>
              <a:xfrm>
                <a:off x="365760" y="260604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154680"/>
                <a:ext cx="484632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用到：</a:t>
                </a:r>
                <a14:m>
                  <m:oMath xmlns:m="http://schemas.openxmlformats.org/officeDocument/2006/math">
                    <m:nary>
                      <m:naryPr>
                        <m:limLoc m:val="subSup"/>
                        <m:ctrlPr>
                          <a:rPr lang="en-US" altLang="zh-TW" sz="2400" b="0" i="1">
                            <a:solidFill>
                              <a:srgbClr val="2B3050"/>
                            </a:solidFill>
                            <a:latin typeface="Cambria Math" panose="02040503050406030204" pitchFamily="18" charset="0"/>
                            <a:ea typeface="Cambria Math"/>
                          </a:rPr>
                        </m:ctrlPr>
                      </m:naryPr>
                      <m:sub/>
                      <m:sup/>
                      <m:e>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𝑑𝑣</m:t>
                        </m:r>
                      </m:e>
                    </m:nary>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𝑣</m:t>
                        </m:r>
                      </m:e>
                      <m:sup>
                        <m:r>
                          <a:rPr lang="en-US" altLang="zh-TW" sz="2400" b="0" i="0">
                            <a:solidFill>
                              <a:srgbClr val="2B3050"/>
                            </a:solidFill>
                            <a:latin typeface="Cambria Math" panose="02040503050406030204" pitchFamily="18" charset="0"/>
                            <a:ea typeface="Cambria Math"/>
                          </a:rPr>
                          <m:t>2</m:t>
                        </m:r>
                      </m:sup>
                    </m:sSup>
                  </m:oMath>
                </a14:m>
                <a:endParaRPr lang="zh-TW" sz="2400"/>
              </a:p>
            </p:txBody>
          </p:sp>
        </mc:Choice>
        <mc:Fallback xmlns="">
          <p:pic>
            <p:nvPicPr>
              <p:cNvPr id="14" name="F14"/>
              <p:cNvPicPr/>
              <p:nvPr/>
            </p:nvPicPr>
            <p:blipFill>
              <a:blip r:embed="rId5"/>
              <a:stretch>
                <a:fillRect/>
              </a:stretch>
            </p:blipFill>
            <p:spPr>
              <a:xfrm>
                <a:off x="365760" y="3154680"/>
                <a:ext cx="4846320" cy="731520"/>
              </a:xfrm>
              <a:prstGeom prst="roundRect">
                <a:avLst/>
              </a:prstGeom>
              <a:solidFill>
                <a:srgbClr val="E8F4F6"/>
              </a:solidFill>
              <a:ln w="19050">
                <a:solidFill>
                  <a:srgbClr val="1F8899"/>
                </a:solid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931920"/>
                <a:ext cx="4846320" cy="8686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最高點 vy = 0 → </a:t>
                </a:r>
                <a14:m>
                  <m:oMath xmlns:m="http://schemas.openxmlformats.org/officeDocument/2006/math">
                    <m:r>
                      <a:rPr lang="en-US" altLang="zh-TW" sz="2400" b="0" i="1">
                        <a:solidFill>
                          <a:srgbClr val="2B3050"/>
                        </a:solidFill>
                        <a:latin typeface="Cambria Math" panose="02040503050406030204" pitchFamily="18" charset="0"/>
                        <a:ea typeface="Cambria Math"/>
                      </a:rPr>
                      <m:t>ℎ</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𝑔</m:t>
                        </m:r>
                      </m:den>
                    </m:f>
                  </m:oMath>
                </a14:m>
                <a:endParaRPr lang="zh-TW" sz="2400"/>
              </a:p>
            </p:txBody>
          </p:sp>
        </mc:Choice>
        <mc:Fallback xmlns="">
          <p:pic>
            <p:nvPicPr>
              <p:cNvPr id="15" name="F15"/>
              <p:cNvPicPr/>
              <p:nvPr/>
            </p:nvPicPr>
            <p:blipFill>
              <a:blip r:embed="rId6"/>
              <a:stretch>
                <a:fillRect/>
              </a:stretch>
            </p:blipFill>
            <p:spPr>
              <a:xfrm>
                <a:off x="365760" y="3931920"/>
                <a:ext cx="4846320" cy="868680"/>
              </a:xfrm>
              <a:prstGeom prst="roundRect">
                <a:avLst/>
              </a:prstGeom>
              <a:solidFill>
                <a:srgbClr val="E8F4F6"/>
              </a:solidFill>
              <a:ln w="19050">
                <a:solidFill>
                  <a:srgbClr val="1F8899"/>
                </a:solidFill>
              </a:ln>
            </p:spPr>
          </p:pic>
        </mc:Fallback>
      </mc:AlternateContent>
      <p:cxnSp>
        <p:nvCxnSpPr>
          <p:cNvPr id="16" name="L16"/>
          <p:cNvCxnSpPr/>
          <p:nvPr/>
        </p:nvCxnSpPr>
        <p:spPr>
          <a:xfrm>
            <a:off x="5394960" y="3017520"/>
            <a:ext cx="2926080" cy="0"/>
          </a:xfrm>
          <a:prstGeom prst="line">
            <a:avLst/>
          </a:prstGeom>
          <a:ln w="15875">
            <a:solidFill>
              <a:srgbClr val="2B3050"/>
            </a:solidFill>
            <a:tailEnd type="triangle" w="med" len="med"/>
          </a:ln>
        </p:spPr>
      </p:cxnSp>
      <p:sp>
        <p:nvSpPr>
          <p:cNvPr id="17" name="P17"/>
          <p:cNvSpPr/>
          <p:nvPr/>
        </p:nvSpPr>
        <p:spPr>
          <a:xfrm>
            <a:off x="5486400" y="1371600"/>
            <a:ext cx="2651760" cy="1645920"/>
          </a:xfrm>
          <a:custGeom>
            <a:avLst/>
            <a:gdLst/>
            <a:ahLst/>
            <a:cxnLst/>
            <a:rect l="0" t="0" r="r" b="b"/>
            <a:pathLst>
              <a:path w="2651760" h="1645920">
                <a:moveTo>
                  <a:pt x="0" y="1645920"/>
                </a:moveTo>
                <a:lnTo>
                  <a:pt x="88392" y="1433779"/>
                </a:lnTo>
                <a:lnTo>
                  <a:pt x="176784" y="1236269"/>
                </a:lnTo>
                <a:lnTo>
                  <a:pt x="265176" y="1053389"/>
                </a:lnTo>
                <a:lnTo>
                  <a:pt x="353568" y="885139"/>
                </a:lnTo>
                <a:lnTo>
                  <a:pt x="441960" y="731520"/>
                </a:lnTo>
                <a:lnTo>
                  <a:pt x="530352" y="592531"/>
                </a:lnTo>
                <a:lnTo>
                  <a:pt x="618744" y="468173"/>
                </a:lnTo>
                <a:lnTo>
                  <a:pt x="707136" y="358445"/>
                </a:lnTo>
                <a:lnTo>
                  <a:pt x="795528" y="263347"/>
                </a:lnTo>
                <a:lnTo>
                  <a:pt x="883920" y="182880"/>
                </a:lnTo>
                <a:lnTo>
                  <a:pt x="972312" y="117043"/>
                </a:lnTo>
                <a:lnTo>
                  <a:pt x="1060704" y="65837"/>
                </a:lnTo>
                <a:lnTo>
                  <a:pt x="1149096" y="29261"/>
                </a:lnTo>
                <a:lnTo>
                  <a:pt x="1237488" y="7315"/>
                </a:lnTo>
                <a:lnTo>
                  <a:pt x="1325880" y="0"/>
                </a:lnTo>
                <a:lnTo>
                  <a:pt x="1414272" y="7315"/>
                </a:lnTo>
                <a:lnTo>
                  <a:pt x="1502664" y="29261"/>
                </a:lnTo>
                <a:lnTo>
                  <a:pt x="1591056" y="65837"/>
                </a:lnTo>
                <a:lnTo>
                  <a:pt x="1679448" y="117043"/>
                </a:lnTo>
                <a:lnTo>
                  <a:pt x="1767840" y="182880"/>
                </a:lnTo>
                <a:lnTo>
                  <a:pt x="1856232" y="263347"/>
                </a:lnTo>
                <a:lnTo>
                  <a:pt x="1944624" y="358445"/>
                </a:lnTo>
                <a:lnTo>
                  <a:pt x="2033016" y="468173"/>
                </a:lnTo>
                <a:lnTo>
                  <a:pt x="2121408" y="592531"/>
                </a:lnTo>
                <a:lnTo>
                  <a:pt x="2209800" y="731520"/>
                </a:lnTo>
                <a:lnTo>
                  <a:pt x="2298192" y="885139"/>
                </a:lnTo>
                <a:lnTo>
                  <a:pt x="2386584" y="1053389"/>
                </a:lnTo>
                <a:lnTo>
                  <a:pt x="2474976" y="1236269"/>
                </a:lnTo>
                <a:lnTo>
                  <a:pt x="2563368" y="1433779"/>
                </a:lnTo>
                <a:lnTo>
                  <a:pt x="2651760" y="1645920"/>
                </a:lnTo>
              </a:path>
            </a:pathLst>
          </a:custGeom>
          <a:noFill/>
          <a:ln w="19050">
            <a:solidFill>
              <a:srgbClr val="8A8F9C"/>
            </a:solidFill>
            <a:prstDash val="dash"/>
          </a:ln>
        </p:spPr>
        <p:txBody>
          <a:bodyPr/>
          <a:lstStyle/>
          <a:p>
            <a:endParaRPr lang="zh-TW" altLang="en-US"/>
          </a:p>
        </p:txBody>
      </p:sp>
      <p:cxnSp>
        <p:nvCxnSpPr>
          <p:cNvPr id="18" name="L18"/>
          <p:cNvCxnSpPr/>
          <p:nvPr/>
        </p:nvCxnSpPr>
        <p:spPr>
          <a:xfrm>
            <a:off x="5486400" y="1839773"/>
            <a:ext cx="2743200" cy="0"/>
          </a:xfrm>
          <a:prstGeom prst="line">
            <a:avLst/>
          </a:prstGeom>
          <a:ln w="12700">
            <a:solidFill>
              <a:srgbClr val="8A8F9C"/>
            </a:solidFill>
            <a:prstDash val="dash"/>
          </a:ln>
        </p:spPr>
      </p:cxnSp>
      <p:cxnSp>
        <p:nvCxnSpPr>
          <p:cNvPr id="19" name="L19"/>
          <p:cNvCxnSpPr/>
          <p:nvPr/>
        </p:nvCxnSpPr>
        <p:spPr>
          <a:xfrm flipV="1">
            <a:off x="6105144" y="1291133"/>
            <a:ext cx="0" cy="548640"/>
          </a:xfrm>
          <a:prstGeom prst="line">
            <a:avLst/>
          </a:prstGeom>
          <a:ln w="38100">
            <a:solidFill>
              <a:srgbClr val="C8901F"/>
            </a:solidFill>
            <a:tailEnd type="triangle" w="med" len="med"/>
          </a:ln>
        </p:spPr>
      </p:cxnSp>
      <p:cxnSp>
        <p:nvCxnSpPr>
          <p:cNvPr id="20" name="L20"/>
          <p:cNvCxnSpPr/>
          <p:nvPr/>
        </p:nvCxnSpPr>
        <p:spPr>
          <a:xfrm>
            <a:off x="7519416" y="1839773"/>
            <a:ext cx="0" cy="548640"/>
          </a:xfrm>
          <a:prstGeom prst="line">
            <a:avLst/>
          </a:prstGeom>
          <a:ln w="38100">
            <a:solidFill>
              <a:srgbClr val="C8901F"/>
            </a:solidFill>
            <a:tailEnd type="triangle" w="med" len="med"/>
          </a:ln>
        </p:spPr>
      </p:cxnSp>
      <p:sp>
        <p:nvSpPr>
          <p:cNvPr id="21" name="T21"/>
          <p:cNvSpPr txBox="1"/>
          <p:nvPr/>
        </p:nvSpPr>
        <p:spPr>
          <a:xfrm>
            <a:off x="5190744" y="1291133"/>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向上</a:t>
            </a:r>
            <a:endParaRPr lang="zh-TW" sz="2400"/>
          </a:p>
        </p:txBody>
      </p:sp>
      <p:sp>
        <p:nvSpPr>
          <p:cNvPr id="22" name="T22"/>
          <p:cNvSpPr txBox="1"/>
          <p:nvPr/>
        </p:nvSpPr>
        <p:spPr>
          <a:xfrm>
            <a:off x="7565136" y="1931213"/>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向下</a:t>
            </a:r>
            <a:endParaRPr lang="zh-TW" sz="2400"/>
          </a:p>
        </p:txBody>
      </p:sp>
      <p:sp>
        <p:nvSpPr>
          <p:cNvPr id="23" name="T23"/>
          <p:cNvSpPr txBox="1"/>
          <p:nvPr/>
        </p:nvSpPr>
        <p:spPr>
          <a:xfrm>
            <a:off x="5257800" y="3291840"/>
            <a:ext cx="3108960" cy="141732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同一高度</a:t>
            </a:r>
            <a:endParaRPr lang="zh-TW" sz="2400"/>
          </a:p>
          <a:p>
            <a:pPr algn="l">
              <a:lnSpc>
                <a:spcPct val="100000"/>
              </a:lnSpc>
              <a:buNone/>
            </a:pPr>
            <a:r>
              <a:rPr lang="zh-TW" altLang="en-US" sz="2400" b="0" dirty="0">
                <a:solidFill>
                  <a:srgbClr val="2B3050"/>
                </a:solidFill>
                <a:latin typeface="Calibri"/>
                <a:ea typeface="微軟正黑體"/>
                <a:cs typeface="Calibri"/>
              </a:rPr>
              <a:t>速率相同</a:t>
            </a:r>
            <a:endParaRPr lang="zh-TW" sz="2400"/>
          </a:p>
          <a:p>
            <a:pPr algn="l">
              <a:lnSpc>
                <a:spcPct val="100000"/>
              </a:lnSpc>
              <a:buNone/>
            </a:pPr>
            <a:r>
              <a:rPr lang="zh-TW" altLang="en-US" sz="2400" b="0" dirty="0">
                <a:solidFill>
                  <a:srgbClr val="2B3050"/>
                </a:solidFill>
                <a:latin typeface="Calibri"/>
                <a:ea typeface="微軟正黑體"/>
                <a:cs typeface="Calibri"/>
              </a:rPr>
              <a:t>方向相反</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8" grpId="0" animBg="1"/>
      <p:bldP spid="19" grpId="0" animBg="1"/>
      <p:bldP spid="20" grpId="0" animBg="1"/>
      <p:bldP spid="21" grpId="0" animBg="1"/>
      <p:bldP spid="22" grpId="0" animBg="1"/>
      <p:bldP spid="2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2-6 拋射體公式總表（向上為正）</a:t>
            </a:r>
          </a:p>
        </p:txBody>
      </p:sp>
      <p:sp>
        <p:nvSpPr>
          <p:cNvPr id="11" name="T11"/>
          <p:cNvSpPr txBox="1"/>
          <p:nvPr/>
        </p:nvSpPr>
        <p:spPr>
          <a:xfrm>
            <a:off x="365760" y="841248"/>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初速分解</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oMath>
                  </m:oMathPara>
                </a14:m>
                <a:endParaRPr lang="zh-TW" sz="2400"/>
              </a:p>
            </p:txBody>
          </p:sp>
        </mc:Choice>
        <mc:Fallback xmlns="">
          <p:pic>
            <p:nvPicPr>
              <p:cNvPr id="12" name="F12"/>
              <p:cNvPicPr/>
              <p:nvPr/>
            </p:nvPicPr>
            <p:blipFill>
              <a:blip r:embed="rId2"/>
              <a:stretch>
                <a:fillRect/>
              </a:stretch>
            </p:blipFill>
            <p:spPr>
              <a:xfrm>
                <a:off x="2560320" y="841248"/>
                <a:ext cx="5760720" cy="658368"/>
              </a:xfrm>
              <a:prstGeom prst="roundRect">
                <a:avLst/>
              </a:prstGeom>
              <a:solidFill>
                <a:srgbClr val="E8F4F6"/>
              </a:solidFill>
              <a:ln>
                <a:noFill/>
              </a:ln>
            </p:spPr>
          </p:pic>
        </mc:Fallback>
      </mc:AlternateContent>
      <p:sp>
        <p:nvSpPr>
          <p:cNvPr id="13" name="T13"/>
          <p:cNvSpPr txBox="1"/>
          <p:nvPr/>
        </p:nvSpPr>
        <p:spPr>
          <a:xfrm>
            <a:off x="365760" y="1572768"/>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水平 x</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572768"/>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4" name="F14"/>
              <p:cNvPicPr/>
              <p:nvPr/>
            </p:nvPicPr>
            <p:blipFill>
              <a:blip r:embed="rId3"/>
              <a:stretch>
                <a:fillRect/>
              </a:stretch>
            </p:blipFill>
            <p:spPr>
              <a:xfrm>
                <a:off x="2560320" y="1572768"/>
                <a:ext cx="5760720" cy="658368"/>
              </a:xfrm>
              <a:prstGeom prst="roundRect">
                <a:avLst/>
              </a:prstGeom>
              <a:solidFill>
                <a:srgbClr val="E8F4F6"/>
              </a:solidFill>
              <a:ln>
                <a:noFill/>
              </a:ln>
            </p:spPr>
          </p:pic>
        </mc:Fallback>
      </mc:AlternateContent>
      <p:sp>
        <p:nvSpPr>
          <p:cNvPr id="15" name="T15"/>
          <p:cNvSpPr txBox="1"/>
          <p:nvPr/>
        </p:nvSpPr>
        <p:spPr>
          <a:xfrm>
            <a:off x="365760" y="2304288"/>
            <a:ext cx="2103120" cy="10241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垂直 y</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304288"/>
                <a:ext cx="5760720" cy="10241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𝑔</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6" name="F16"/>
              <p:cNvPicPr/>
              <p:nvPr/>
            </p:nvPicPr>
            <p:blipFill>
              <a:blip r:embed="rId4"/>
              <a:stretch>
                <a:fillRect/>
              </a:stretch>
            </p:blipFill>
            <p:spPr>
              <a:xfrm>
                <a:off x="2560320" y="2304288"/>
                <a:ext cx="5760720" cy="1024128"/>
              </a:xfrm>
              <a:prstGeom prst="roundRect">
                <a:avLst/>
              </a:prstGeom>
              <a:solidFill>
                <a:srgbClr val="E8F4F6"/>
              </a:solidFill>
              <a:ln>
                <a:noFill/>
              </a:ln>
            </p:spPr>
          </p:pic>
        </mc:Fallback>
      </mc:AlternateContent>
      <p:sp>
        <p:nvSpPr>
          <p:cNvPr id="17" name="T17"/>
          <p:cNvSpPr txBox="1"/>
          <p:nvPr/>
        </p:nvSpPr>
        <p:spPr>
          <a:xfrm>
            <a:off x="365760" y="3401568"/>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不含 t</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401568"/>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𝑔</m:t>
                      </m:r>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e>
                      </m:d>
                    </m:oMath>
                  </m:oMathPara>
                </a14:m>
                <a:endParaRPr lang="zh-TW" sz="2400"/>
              </a:p>
            </p:txBody>
          </p:sp>
        </mc:Choice>
        <mc:Fallback xmlns="">
          <p:pic>
            <p:nvPicPr>
              <p:cNvPr id="18" name="F18"/>
              <p:cNvPicPr/>
              <p:nvPr/>
            </p:nvPicPr>
            <p:blipFill>
              <a:blip r:embed="rId5"/>
              <a:stretch>
                <a:fillRect/>
              </a:stretch>
            </p:blipFill>
            <p:spPr>
              <a:xfrm>
                <a:off x="2560320" y="3401568"/>
                <a:ext cx="5760720" cy="658368"/>
              </a:xfrm>
              <a:prstGeom prst="roundRect">
                <a:avLst/>
              </a:prstGeom>
              <a:solidFill>
                <a:srgbClr val="E8F4F6"/>
              </a:solidFill>
              <a:ln>
                <a:noFill/>
              </a:ln>
            </p:spPr>
          </p:pic>
        </mc:Fallback>
      </mc:AlternateContent>
      <p:sp>
        <p:nvSpPr>
          <p:cNvPr id="19" name="T19"/>
          <p:cNvSpPr txBox="1"/>
          <p:nvPr/>
        </p:nvSpPr>
        <p:spPr>
          <a:xfrm>
            <a:off x="365760" y="4133088"/>
            <a:ext cx="2103120" cy="5212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33088"/>
            <a:ext cx="5760720" cy="5212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水平等速，垂直落體；時間是橋樑</a:t>
            </a:r>
            <a:endParaRPr lang="zh-TW" sz="2400"/>
          </a:p>
        </p:txBody>
      </p:sp>
      <p:pic>
        <p:nvPicPr>
          <p:cNvPr id="4" name="圖片 3" descr="The image illustrates the components of projectile motion, detailing initial velocities, trajectory analysis, and the effects of gravity on vertical and horizontal motion.&#10;&#10;AI 產生的內容可能不正確。">
            <a:extLst>
              <a:ext uri="{FF2B5EF4-FFF2-40B4-BE49-F238E27FC236}">
                <a16:creationId xmlns:a16="http://schemas.microsoft.com/office/drawing/2014/main" id="{B063C356-67DF-BF3A-0820-0522A20E22D6}"/>
              </a:ext>
            </a:extLst>
          </p:cNvPr>
          <p:cNvPicPr>
            <a:picLocks noChangeAspect="1"/>
          </p:cNvPicPr>
          <p:nvPr/>
        </p:nvPicPr>
        <p:blipFill>
          <a:blip r:embed="rId6"/>
          <a:stretch>
            <a:fillRect/>
          </a:stretch>
        </p:blipFill>
        <p:spPr>
          <a:xfrm>
            <a:off x="-38100" y="368145"/>
            <a:ext cx="8458200" cy="47189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49506"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1874589" y="815833"/>
            <a:ext cx="4929685" cy="40817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9603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50530"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796005" y="812800"/>
            <a:ext cx="7086852"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0859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讀題</a:t>
            </a:r>
          </a:p>
        </p:txBody>
      </p:sp>
      <p:sp>
        <p:nvSpPr>
          <p:cNvPr id="11" name="T11"/>
          <p:cNvSpPr txBox="1"/>
          <p:nvPr/>
        </p:nvSpPr>
        <p:spPr>
          <a:xfrm>
            <a:off x="365760" y="868680"/>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特技車 A 從 30° 斜面頂端飛出，頂端離地 1 m</a:t>
            </a:r>
            <a:endParaRPr lang="zh-TW" sz="2400"/>
          </a:p>
        </p:txBody>
      </p:sp>
      <p:sp>
        <p:nvSpPr>
          <p:cNvPr id="12" name="T12"/>
          <p:cNvSpPr txBox="1"/>
          <p:nvPr/>
        </p:nvSpPr>
        <p:spPr>
          <a:xfrm>
            <a:off x="365760" y="1307592"/>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要越過 10 m 障礙，落在 O 點</a:t>
            </a:r>
            <a:endParaRPr lang="zh-TW" sz="2400"/>
          </a:p>
        </p:txBody>
      </p:sp>
      <p:sp>
        <p:nvSpPr>
          <p:cNvPr id="13" name="T13"/>
          <p:cNvSpPr txBox="1"/>
          <p:nvPr/>
        </p:nvSpPr>
        <p:spPr>
          <a:xfrm>
            <a:off x="365760" y="1746504"/>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求：最小速度 v0、飛越時間 t</a:t>
            </a:r>
            <a:endParaRPr lang="zh-TW" sz="2400"/>
          </a:p>
        </p:txBody>
      </p:sp>
      <p:cxnSp>
        <p:nvCxnSpPr>
          <p:cNvPr id="14" name="L14"/>
          <p:cNvCxnSpPr/>
          <p:nvPr/>
        </p:nvCxnSpPr>
        <p:spPr>
          <a:xfrm>
            <a:off x="411480" y="4160520"/>
            <a:ext cx="7543800" cy="0"/>
          </a:xfrm>
          <a:prstGeom prst="line">
            <a:avLst/>
          </a:prstGeom>
          <a:ln w="19050">
            <a:solidFill>
              <a:srgbClr val="2B3050"/>
            </a:solidFill>
          </a:ln>
        </p:spPr>
      </p:cxnSp>
      <p:sp>
        <p:nvSpPr>
          <p:cNvPr id="15" name="P15"/>
          <p:cNvSpPr/>
          <p:nvPr/>
        </p:nvSpPr>
        <p:spPr>
          <a:xfrm>
            <a:off x="681630" y="3630168"/>
            <a:ext cx="918570" cy="530352"/>
          </a:xfrm>
          <a:custGeom>
            <a:avLst/>
            <a:gdLst/>
            <a:ahLst/>
            <a:cxnLst/>
            <a:rect l="0" t="0" r="r" b="b"/>
            <a:pathLst>
              <a:path w="918570" h="530352">
                <a:moveTo>
                  <a:pt x="0" y="530352"/>
                </a:moveTo>
                <a:lnTo>
                  <a:pt x="918570" y="530352"/>
                </a:lnTo>
                <a:lnTo>
                  <a:pt x="918570" y="0"/>
                </a:lnTo>
                <a:close/>
              </a:path>
            </a:pathLst>
          </a:custGeom>
          <a:solidFill>
            <a:srgbClr val="D9DCE3"/>
          </a:solidFill>
          <a:ln w="19050">
            <a:solidFill>
              <a:srgbClr val="2B3050"/>
            </a:solidFill>
          </a:ln>
        </p:spPr>
        <p:txBody>
          <a:bodyPr/>
          <a:lstStyle/>
          <a:p>
            <a:endParaRPr lang="zh-TW" altLang="en-US"/>
          </a:p>
        </p:txBody>
      </p:sp>
      <p:sp>
        <p:nvSpPr>
          <p:cNvPr id="16" name="S16"/>
          <p:cNvSpPr/>
          <p:nvPr/>
        </p:nvSpPr>
        <p:spPr>
          <a:xfrm>
            <a:off x="6848856" y="4105656"/>
            <a:ext cx="109728" cy="109728"/>
          </a:xfrm>
          <a:prstGeom prst="ellipse">
            <a:avLst/>
          </a:prstGeom>
          <a:solidFill>
            <a:srgbClr val="2B3050"/>
          </a:solidFill>
          <a:ln>
            <a:noFill/>
          </a:ln>
        </p:spPr>
        <p:txBody>
          <a:bodyPr/>
          <a:lstStyle/>
          <a:p>
            <a:endParaRPr lang="zh-TW" altLang="en-US"/>
          </a:p>
        </p:txBody>
      </p:sp>
      <p:sp>
        <p:nvSpPr>
          <p:cNvPr id="17" name="T17"/>
          <p:cNvSpPr txBox="1"/>
          <p:nvPr/>
        </p:nvSpPr>
        <p:spPr>
          <a:xfrm>
            <a:off x="6720840" y="37033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8" name="L18"/>
          <p:cNvCxnSpPr/>
          <p:nvPr/>
        </p:nvCxnSpPr>
        <p:spPr>
          <a:xfrm>
            <a:off x="1600200" y="4389120"/>
            <a:ext cx="5303520" cy="0"/>
          </a:xfrm>
          <a:prstGeom prst="line">
            <a:avLst/>
          </a:prstGeom>
          <a:ln w="15875">
            <a:solidFill>
              <a:srgbClr val="8A8F9C"/>
            </a:solidFill>
            <a:headEnd type="triangle" w="med" len="med"/>
            <a:tailEnd type="triangle" w="med" len="med"/>
          </a:ln>
        </p:spPr>
      </p:cxnSp>
      <p:sp>
        <p:nvSpPr>
          <p:cNvPr id="19" name="T19"/>
          <p:cNvSpPr txBox="1"/>
          <p:nvPr/>
        </p:nvSpPr>
        <p:spPr>
          <a:xfrm>
            <a:off x="3840480" y="4343400"/>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10 m</a:t>
            </a:r>
            <a:endParaRPr lang="zh-TW" sz="2400"/>
          </a:p>
        </p:txBody>
      </p:sp>
      <p:sp>
        <p:nvSpPr>
          <p:cNvPr id="20" name="T20"/>
          <p:cNvSpPr txBox="1"/>
          <p:nvPr/>
        </p:nvSpPr>
        <p:spPr>
          <a:xfrm>
            <a:off x="1645920" y="3683203"/>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1 m</a:t>
            </a:r>
            <a:endParaRPr lang="zh-TW" sz="2400"/>
          </a:p>
        </p:txBody>
      </p:sp>
      <p:sp>
        <p:nvSpPr>
          <p:cNvPr id="21" name="T21"/>
          <p:cNvSpPr txBox="1"/>
          <p:nvPr/>
        </p:nvSpPr>
        <p:spPr>
          <a:xfrm>
            <a:off x="963778" y="3776472"/>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30°</a:t>
            </a:r>
            <a:endParaRPr lang="zh-TW" sz="2400"/>
          </a:p>
        </p:txBody>
      </p:sp>
      <p:sp>
        <p:nvSpPr>
          <p:cNvPr id="22" name="S22"/>
          <p:cNvSpPr/>
          <p:nvPr/>
        </p:nvSpPr>
        <p:spPr>
          <a:xfrm>
            <a:off x="1508760" y="3538728"/>
            <a:ext cx="182880" cy="182880"/>
          </a:xfrm>
          <a:prstGeom prst="ellipse">
            <a:avLst/>
          </a:prstGeom>
          <a:solidFill>
            <a:srgbClr val="D6006F"/>
          </a:solidFill>
          <a:ln>
            <a:noFill/>
          </a:ln>
        </p:spPr>
        <p:txBody>
          <a:bodyPr/>
          <a:lstStyle/>
          <a:p>
            <a:endParaRPr lang="zh-TW" altLang="en-US"/>
          </a:p>
        </p:txBody>
      </p:sp>
      <p:cxnSp>
        <p:nvCxnSpPr>
          <p:cNvPr id="23" name="L23"/>
          <p:cNvCxnSpPr/>
          <p:nvPr/>
        </p:nvCxnSpPr>
        <p:spPr>
          <a:xfrm flipV="1">
            <a:off x="1600200" y="3310128"/>
            <a:ext cx="554326" cy="320040"/>
          </a:xfrm>
          <a:prstGeom prst="line">
            <a:avLst/>
          </a:prstGeom>
          <a:ln w="31750">
            <a:solidFill>
              <a:srgbClr val="D6006F"/>
            </a:solidFill>
            <a:tailEnd type="triangle" w="med" len="med"/>
          </a:ln>
        </p:spPr>
      </p:cxnSp>
      <mc:AlternateContent xmlns:mc="http://schemas.openxmlformats.org/markup-compatibility/2006" xmlns:a14="http://schemas.microsoft.com/office/drawing/2010/main">
        <mc:Choice Requires="a14">
          <p:sp>
            <p:nvSpPr>
              <p:cNvPr id="24" name="T24"/>
              <p:cNvSpPr txBox="1"/>
              <p:nvPr/>
            </p:nvSpPr>
            <p:spPr>
              <a:xfrm>
                <a:off x="2103120" y="2852928"/>
                <a:ext cx="6400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sub>
                      </m:sSub>
                    </m:oMath>
                  </m:oMathPara>
                </a14:m>
                <a:endParaRPr lang="zh-TW" sz="2400"/>
              </a:p>
            </p:txBody>
          </p:sp>
        </mc:Choice>
        <mc:Fallback xmlns="">
          <p:pic>
            <p:nvPicPr>
              <p:cNvPr id="24" name="F24"/>
              <p:cNvPicPr/>
              <p:nvPr/>
            </p:nvPicPr>
            <p:blipFill>
              <a:blip r:embed="rId2"/>
              <a:stretch>
                <a:fillRect/>
              </a:stretch>
            </p:blipFill>
            <p:spPr>
              <a:xfrm>
                <a:off x="2103120" y="2852928"/>
                <a:ext cx="640080" cy="411480"/>
              </a:xfrm>
              <a:prstGeom prst="rect">
                <a:avLst/>
              </a:prstGeom>
              <a:noFill/>
              <a:ln>
                <a:noFill/>
              </a:ln>
            </p:spPr>
          </p:pic>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運動要怎麼拆？</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x 方向等速；y 方向等加速度（−g）</a:t>
            </a:r>
            <a:endParaRPr lang="zh-TW" sz="2400"/>
          </a:p>
        </p:txBody>
      </p:sp>
      <p:sp>
        <p:nvSpPr>
          <p:cNvPr id="15" name="S15"/>
          <p:cNvSpPr/>
          <p:nvPr/>
        </p:nvSpPr>
        <p:spPr>
          <a:xfrm>
            <a:off x="365760" y="1691640"/>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6916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6824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兩個方向靠什麼連在一起？</a:t>
            </a:r>
            <a:endParaRPr lang="zh-TW" sz="2400"/>
          </a:p>
        </p:txBody>
      </p:sp>
      <p:sp>
        <p:nvSpPr>
          <p:cNvPr id="18" name="T18"/>
          <p:cNvSpPr txBox="1"/>
          <p:nvPr/>
        </p:nvSpPr>
        <p:spPr>
          <a:xfrm>
            <a:off x="1188720" y="20665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同一個飛行時間 t</a:t>
            </a:r>
            <a:endParaRPr lang="zh-TW" sz="2400"/>
          </a:p>
        </p:txBody>
      </p:sp>
      <p:sp>
        <p:nvSpPr>
          <p:cNvPr id="19" name="S19"/>
          <p:cNvSpPr/>
          <p:nvPr/>
        </p:nvSpPr>
        <p:spPr>
          <a:xfrm>
            <a:off x="365760" y="2478024"/>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4780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4688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起點、終點座標是多少？</a:t>
            </a:r>
            <a:endParaRPr lang="zh-TW" sz="2400"/>
          </a:p>
        </p:txBody>
      </p:sp>
      <p:sp>
        <p:nvSpPr>
          <p:cNvPr id="22" name="T22"/>
          <p:cNvSpPr txBox="1"/>
          <p:nvPr/>
        </p:nvSpPr>
        <p:spPr>
          <a:xfrm>
            <a:off x="1188720" y="28529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起點 (0, 1)；終點 O (10, 0)</a:t>
            </a:r>
            <a:endParaRPr lang="zh-TW" sz="2400"/>
          </a:p>
        </p:txBody>
      </p:sp>
      <p:sp>
        <p:nvSpPr>
          <p:cNvPr id="23" name="S23"/>
          <p:cNvSpPr/>
          <p:nvPr/>
        </p:nvSpPr>
        <p:spPr>
          <a:xfrm>
            <a:off x="365760" y="3264408"/>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26440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25526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「最小速度」是什麼意思？</a:t>
            </a:r>
            <a:endParaRPr lang="zh-TW" sz="2400"/>
          </a:p>
        </p:txBody>
      </p:sp>
      <p:sp>
        <p:nvSpPr>
          <p:cNvPr id="26" name="T26"/>
          <p:cNvSpPr txBox="1"/>
          <p:nvPr/>
        </p:nvSpPr>
        <p:spPr>
          <a:xfrm>
            <a:off x="1188720" y="363931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剛好落在 O；再慢就掉進障礙</a:t>
            </a:r>
            <a:endParaRPr lang="zh-TW" sz="2400"/>
          </a:p>
        </p:txBody>
      </p:sp>
      <p:sp>
        <p:nvSpPr>
          <p:cNvPr id="27" name="S27"/>
          <p:cNvSpPr/>
          <p:nvPr/>
        </p:nvSpPr>
        <p:spPr>
          <a:xfrm>
            <a:off x="365760" y="4050792"/>
            <a:ext cx="365760" cy="365760"/>
          </a:xfrm>
          <a:prstGeom prst="ellipse">
            <a:avLst/>
          </a:prstGeom>
          <a:solidFill>
            <a:srgbClr val="1F8899"/>
          </a:solidFill>
          <a:ln>
            <a:noFill/>
          </a:ln>
        </p:spPr>
        <p:txBody>
          <a:bodyPr/>
          <a:lstStyle/>
          <a:p>
            <a:endParaRPr lang="zh-TW" altLang="en-US"/>
          </a:p>
        </p:txBody>
      </p:sp>
      <p:sp>
        <p:nvSpPr>
          <p:cNvPr id="28" name="T28"/>
          <p:cNvSpPr txBox="1"/>
          <p:nvPr/>
        </p:nvSpPr>
        <p:spPr>
          <a:xfrm>
            <a:off x="365760" y="40507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9" name="T29"/>
          <p:cNvSpPr txBox="1"/>
          <p:nvPr/>
        </p:nvSpPr>
        <p:spPr>
          <a:xfrm>
            <a:off x="822960" y="40416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有幾個未知數？</a:t>
            </a:r>
            <a:endParaRPr lang="zh-TW" sz="2400"/>
          </a:p>
        </p:txBody>
      </p:sp>
      <p:sp>
        <p:nvSpPr>
          <p:cNvPr id="30" name="T30"/>
          <p:cNvSpPr txBox="1"/>
          <p:nvPr/>
        </p:nvSpPr>
        <p:spPr>
          <a:xfrm>
            <a:off x="1188720" y="44256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v0、t 兩個 → 要兩條方程式</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步驟 1：設座標、分解初速度</a:t>
            </a:r>
          </a:p>
        </p:txBody>
      </p:sp>
      <p:sp>
        <p:nvSpPr>
          <p:cNvPr id="11" name="T11"/>
          <p:cNvSpPr txBox="1"/>
          <p:nvPr/>
        </p:nvSpPr>
        <p:spPr>
          <a:xfrm>
            <a:off x="365760" y="868680"/>
            <a:ext cx="47548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原點：斜面頂端正下方地面</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25880"/>
                <a:ext cx="475488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起點：</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0，</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1 </m:t>
                    </m:r>
                    <m:r>
                      <m:rPr>
                        <m:sty m:val="p"/>
                      </m:rPr>
                      <a:rPr lang="en-US" altLang="zh-TW" sz="2400" b="0" i="0">
                        <a:solidFill>
                          <a:srgbClr val="2B3050"/>
                        </a:solidFill>
                        <a:latin typeface="Cambria Math" panose="02040503050406030204" pitchFamily="18" charset="0"/>
                        <a:ea typeface="Cambria Math"/>
                      </a:rPr>
                      <m:t>m</m:t>
                    </m:r>
                  </m:oMath>
                </a14:m>
                <a:endParaRPr lang="zh-TW" sz="2400"/>
              </a:p>
            </p:txBody>
          </p:sp>
        </mc:Choice>
        <mc:Fallback xmlns="">
          <p:pic>
            <p:nvPicPr>
              <p:cNvPr id="12" name="F12"/>
              <p:cNvPicPr/>
              <p:nvPr/>
            </p:nvPicPr>
            <p:blipFill>
              <a:blip r:embed="rId2"/>
              <a:stretch>
                <a:fillRect/>
              </a:stretch>
            </p:blipFill>
            <p:spPr>
              <a:xfrm>
                <a:off x="365760" y="1325880"/>
                <a:ext cx="47548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28800"/>
                <a:ext cx="47548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30° = 0.866</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oMath>
                  </m:oMathPara>
                </a14:m>
                <a:endParaRPr lang="zh-TW" sz="2400"/>
              </a:p>
            </p:txBody>
          </p:sp>
        </mc:Choice>
        <mc:Fallback xmlns="">
          <p:pic>
            <p:nvPicPr>
              <p:cNvPr id="13" name="F13"/>
              <p:cNvPicPr/>
              <p:nvPr/>
            </p:nvPicPr>
            <p:blipFill>
              <a:blip r:embed="rId3"/>
              <a:stretch>
                <a:fillRect/>
              </a:stretch>
            </p:blipFill>
            <p:spPr>
              <a:xfrm>
                <a:off x="365760" y="1828800"/>
                <a:ext cx="47548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377440"/>
                <a:ext cx="47548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 = 0.5</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oMath>
                  </m:oMathPara>
                </a14:m>
                <a:endParaRPr lang="zh-TW" sz="2400"/>
              </a:p>
            </p:txBody>
          </p:sp>
        </mc:Choice>
        <mc:Fallback xmlns="">
          <p:pic>
            <p:nvPicPr>
              <p:cNvPr id="14" name="F14"/>
              <p:cNvPicPr/>
              <p:nvPr/>
            </p:nvPicPr>
            <p:blipFill>
              <a:blip r:embed="rId4"/>
              <a:stretch>
                <a:fillRect/>
              </a:stretch>
            </p:blipFill>
            <p:spPr>
              <a:xfrm>
                <a:off x="365760" y="2377440"/>
                <a:ext cx="4754880" cy="548640"/>
              </a:xfrm>
              <a:prstGeom prst="rect">
                <a:avLst/>
              </a:prstGeom>
              <a:noFill/>
              <a:ln>
                <a:noFill/>
              </a:ln>
            </p:spPr>
          </p:pic>
        </mc:Fallback>
      </mc:AlternateContent>
      <p:cxnSp>
        <p:nvCxnSpPr>
          <p:cNvPr id="15" name="L15"/>
          <p:cNvCxnSpPr/>
          <p:nvPr/>
        </p:nvCxnSpPr>
        <p:spPr>
          <a:xfrm>
            <a:off x="5303520" y="3200400"/>
            <a:ext cx="2560320" cy="0"/>
          </a:xfrm>
          <a:prstGeom prst="line">
            <a:avLst/>
          </a:prstGeom>
          <a:ln w="12700">
            <a:solidFill>
              <a:srgbClr val="8A8F9C"/>
            </a:solidFill>
          </a:ln>
        </p:spPr>
      </p:cxnSp>
      <p:cxnSp>
        <p:nvCxnSpPr>
          <p:cNvPr id="16" name="L16"/>
          <p:cNvCxnSpPr/>
          <p:nvPr/>
        </p:nvCxnSpPr>
        <p:spPr>
          <a:xfrm flipV="1">
            <a:off x="5943600" y="2468880"/>
            <a:ext cx="1267030" cy="731520"/>
          </a:xfrm>
          <a:prstGeom prst="line">
            <a:avLst/>
          </a:prstGeom>
          <a:ln w="38100">
            <a:solidFill>
              <a:srgbClr val="D6006F"/>
            </a:solidFill>
            <a:tailEnd type="triangle" w="med" len="med"/>
          </a:ln>
        </p:spPr>
      </p:cxnSp>
      <p:cxnSp>
        <p:nvCxnSpPr>
          <p:cNvPr id="17" name="L17"/>
          <p:cNvCxnSpPr/>
          <p:nvPr/>
        </p:nvCxnSpPr>
        <p:spPr>
          <a:xfrm>
            <a:off x="5943600" y="3200400"/>
            <a:ext cx="1267030" cy="0"/>
          </a:xfrm>
          <a:prstGeom prst="line">
            <a:avLst/>
          </a:prstGeom>
          <a:ln w="31750">
            <a:solidFill>
              <a:srgbClr val="1F8899"/>
            </a:solidFill>
            <a:tailEnd type="triangle" w="med" len="med"/>
          </a:ln>
        </p:spPr>
      </p:cxnSp>
      <p:cxnSp>
        <p:nvCxnSpPr>
          <p:cNvPr id="18" name="L18"/>
          <p:cNvCxnSpPr/>
          <p:nvPr/>
        </p:nvCxnSpPr>
        <p:spPr>
          <a:xfrm flipV="1">
            <a:off x="7210630" y="2468880"/>
            <a:ext cx="0" cy="731520"/>
          </a:xfrm>
          <a:prstGeom prst="line">
            <a:avLst/>
          </a:prstGeom>
          <a:ln w="31750">
            <a:solidFill>
              <a:srgbClr val="C8901F"/>
            </a:solidFill>
            <a:tailEnd type="triangle" w="med" len="med"/>
          </a:ln>
        </p:spPr>
      </p:cxnSp>
      <mc:AlternateContent xmlns:mc="http://schemas.openxmlformats.org/markup-compatibility/2006" xmlns:a14="http://schemas.microsoft.com/office/drawing/2010/main">
        <mc:Choice Requires="a14">
          <p:sp>
            <p:nvSpPr>
              <p:cNvPr id="19" name="T19"/>
              <p:cNvSpPr txBox="1"/>
              <p:nvPr/>
            </p:nvSpPr>
            <p:spPr>
              <a:xfrm>
                <a:off x="6126480" y="2057400"/>
                <a:ext cx="6400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sub>
                      </m:sSub>
                    </m:oMath>
                  </m:oMathPara>
                </a14:m>
                <a:endParaRPr lang="zh-TW" sz="2400"/>
              </a:p>
            </p:txBody>
          </p:sp>
        </mc:Choice>
        <mc:Fallback xmlns="">
          <p:pic>
            <p:nvPicPr>
              <p:cNvPr id="19" name="F19"/>
              <p:cNvPicPr/>
              <p:nvPr/>
            </p:nvPicPr>
            <p:blipFill>
              <a:blip r:embed="rId5"/>
              <a:stretch>
                <a:fillRect/>
              </a:stretch>
            </p:blipFill>
            <p:spPr>
              <a:xfrm>
                <a:off x="6126480" y="2057400"/>
                <a:ext cx="64008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0" name="T20"/>
              <p:cNvSpPr txBox="1"/>
              <p:nvPr/>
            </p:nvSpPr>
            <p:spPr>
              <a:xfrm>
                <a:off x="6217920" y="3218688"/>
                <a:ext cx="9144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oMath>
                  </m:oMathPara>
                </a14:m>
                <a:endParaRPr lang="zh-TW" sz="2400"/>
              </a:p>
            </p:txBody>
          </p:sp>
        </mc:Choice>
        <mc:Fallback xmlns="">
          <p:pic>
            <p:nvPicPr>
              <p:cNvPr id="20" name="F20"/>
              <p:cNvPicPr/>
              <p:nvPr/>
            </p:nvPicPr>
            <p:blipFill>
              <a:blip r:embed="rId6"/>
              <a:stretch>
                <a:fillRect/>
              </a:stretch>
            </p:blipFill>
            <p:spPr>
              <a:xfrm>
                <a:off x="6217920" y="3218688"/>
                <a:ext cx="91440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1" name="T21"/>
              <p:cNvSpPr txBox="1"/>
              <p:nvPr/>
            </p:nvSpPr>
            <p:spPr>
              <a:xfrm>
                <a:off x="7269480" y="2606040"/>
                <a:ext cx="9144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oMath>
                  </m:oMathPara>
                </a14:m>
                <a:endParaRPr lang="zh-TW" sz="2400"/>
              </a:p>
            </p:txBody>
          </p:sp>
        </mc:Choice>
        <mc:Fallback xmlns="">
          <p:pic>
            <p:nvPicPr>
              <p:cNvPr id="21" name="F21"/>
              <p:cNvPicPr/>
              <p:nvPr/>
            </p:nvPicPr>
            <p:blipFill>
              <a:blip r:embed="rId7"/>
              <a:stretch>
                <a:fillRect/>
              </a:stretch>
            </p:blipFill>
            <p:spPr>
              <a:xfrm>
                <a:off x="7269480" y="2606040"/>
                <a:ext cx="91440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2" name="T22"/>
              <p:cNvSpPr txBox="1"/>
              <p:nvPr/>
            </p:nvSpPr>
            <p:spPr>
              <a:xfrm>
                <a:off x="365760" y="3154680"/>
                <a:ext cx="4754880" cy="1733006"/>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30° = </m:t>
                      </m:r>
                      <m:f>
                        <m:fPr>
                          <m:ctrlPr>
                            <a:rPr lang="en-US" altLang="zh-TW" sz="2400" b="0" i="1">
                              <a:solidFill>
                                <a:srgbClr val="2B3050"/>
                              </a:solidFill>
                              <a:latin typeface="Cambria Math" panose="02040503050406030204" pitchFamily="18" charset="0"/>
                              <a:ea typeface="Cambria Math"/>
                            </a:rPr>
                          </m:ctrlPr>
                        </m:fPr>
                        <m:num>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3</m:t>
                              </m:r>
                            </m:e>
                          </m:rad>
                        </m:num>
                        <m:den>
                          <m:r>
                            <a:rPr lang="en-US" altLang="zh-TW" sz="2400" b="0" i="0">
                              <a:solidFill>
                                <a:srgbClr val="2B3050"/>
                              </a:solidFill>
                              <a:latin typeface="Cambria Math" panose="02040503050406030204" pitchFamily="18" charset="0"/>
                              <a:ea typeface="Cambria Math"/>
                            </a:rPr>
                            <m:t>2</m:t>
                          </m:r>
                        </m:den>
                      </m:f>
                      <m:r>
                        <a:rPr lang="en-US" altLang="zh-TW" sz="2400" b="0" i="0">
                          <a:solidFill>
                            <a:srgbClr val="2B3050"/>
                          </a:solidFill>
                          <a:latin typeface="Cambria Math" panose="02040503050406030204" pitchFamily="18" charset="0"/>
                          <a:ea typeface="Cambria Math"/>
                        </a:rPr>
                        <m:t> ≈ 0.866</m:t>
                      </m:r>
                    </m:oMath>
                  </m:oMathPara>
                </a14:m>
                <a:endParaRPr lang="zh-TW" sz="2400"/>
              </a:p>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0">
                          <a:solidFill>
                            <a:srgbClr val="2B3050"/>
                          </a:solidFill>
                          <a:latin typeface="Cambria Math" panose="02040503050406030204" pitchFamily="18" charset="0"/>
                          <a:ea typeface="Cambria Math"/>
                        </a:rPr>
                        <m:t> = 0.5</m:t>
                      </m:r>
                    </m:oMath>
                  </m:oMathPara>
                </a14:m>
                <a:endParaRPr lang="zh-TW" sz="2400"/>
              </a:p>
            </p:txBody>
          </p:sp>
        </mc:Choice>
        <mc:Fallback xmlns="">
          <p:sp>
            <p:nvSpPr>
              <p:cNvPr id="22" name="T22"/>
              <p:cNvSpPr txBox="1">
                <a:spLocks noRot="1" noChangeAspect="1" noMove="1" noResize="1" noEditPoints="1" noAdjustHandles="1" noChangeArrowheads="1" noChangeShapeType="1" noTextEdit="1"/>
              </p:cNvSpPr>
              <p:nvPr/>
            </p:nvSpPr>
            <p:spPr>
              <a:xfrm>
                <a:off x="365760" y="3154680"/>
                <a:ext cx="4754880" cy="1733006"/>
              </a:xfrm>
              <a:prstGeom prst="roundRect">
                <a:avLst/>
              </a:prstGeom>
              <a:blipFill>
                <a:blip r:embed="rId8"/>
                <a:stretch>
                  <a:fillRect/>
                </a:stretch>
              </a:blipFill>
              <a:ln w="19050">
                <a:solidFill>
                  <a:srgbClr val="1F8899"/>
                </a:solid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步驟 2：x 方向（等速）→ 方程式①</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1" name="F11"/>
              <p:cNvPicPr/>
              <p:nvPr/>
            </p:nvPicPr>
            <p:blipFill>
              <a:blip r:embed="rId2"/>
              <a:stretch>
                <a:fillRect/>
              </a:stretch>
            </p:blipFill>
            <p:spPr>
              <a:xfrm>
                <a:off x="365760" y="868680"/>
                <a:ext cx="79552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99032"/>
                <a:ext cx="79552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10 = 0 + </m:t>
                      </m:r>
                      <m:d>
                        <m:dPr>
                          <m:ctrlPr>
                            <a:rPr lang="en-US" altLang="zh-TW" sz="2400" b="0" i="1">
                              <a:solidFill>
                                <a:srgbClr val="2B3050"/>
                              </a:solidFill>
                              <a:latin typeface="Cambria Math" panose="02040503050406030204" pitchFamily="18" charset="0"/>
                              <a:ea typeface="Cambria Math"/>
                            </a:rPr>
                          </m:ctrlPr>
                        </m:d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30°</m:t>
                          </m:r>
                        </m:e>
                      </m:d>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2" name="F12"/>
              <p:cNvPicPr/>
              <p:nvPr/>
            </p:nvPicPr>
            <p:blipFill>
              <a:blip r:embed="rId3"/>
              <a:stretch>
                <a:fillRect/>
              </a:stretch>
            </p:blipFill>
            <p:spPr>
              <a:xfrm>
                <a:off x="365760" y="1399032"/>
                <a:ext cx="79552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29384"/>
                <a:ext cx="79552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10 = 0.866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3" name="F13"/>
              <p:cNvPicPr/>
              <p:nvPr/>
            </p:nvPicPr>
            <p:blipFill>
              <a:blip r:embed="rId4"/>
              <a:stretch>
                <a:fillRect/>
              </a:stretch>
            </p:blipFill>
            <p:spPr>
              <a:xfrm>
                <a:off x="365760" y="1929384"/>
                <a:ext cx="79552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459736"/>
                <a:ext cx="795528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sub>
                    </m:sSub>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𝑡</m:t>
                    </m:r>
                    <m:r>
                      <a:rPr lang="en-US" altLang="zh-TW" sz="2400" b="0" i="0">
                        <a:solidFill>
                          <a:srgbClr val="D6006F"/>
                        </a:solidFill>
                        <a:latin typeface="Cambria Math" panose="02040503050406030204" pitchFamily="18" charset="0"/>
                        <a:ea typeface="Cambria Math"/>
                      </a:rPr>
                      <m:t> = </m:t>
                    </m:r>
                    <m:f>
                      <m:fPr>
                        <m:ctrlPr>
                          <a:rPr lang="en-US" altLang="zh-TW" sz="2400" b="0" i="0">
                            <a:solidFill>
                              <a:srgbClr val="D6006F"/>
                            </a:solidFill>
                            <a:latin typeface="Cambria Math" panose="02040503050406030204" pitchFamily="18" charset="0"/>
                            <a:ea typeface="Cambria Math"/>
                          </a:rPr>
                        </m:ctrlPr>
                      </m:fPr>
                      <m:num>
                        <m:r>
                          <a:rPr lang="en-US" altLang="zh-TW" sz="2400" b="0" i="0">
                            <a:solidFill>
                              <a:srgbClr val="D6006F"/>
                            </a:solidFill>
                            <a:latin typeface="Cambria Math" panose="02040503050406030204" pitchFamily="18" charset="0"/>
                            <a:ea typeface="Cambria Math"/>
                          </a:rPr>
                          <m:t>10</m:t>
                        </m:r>
                      </m:num>
                      <m:den>
                        <m:r>
                          <a:rPr lang="en-US" altLang="zh-TW" sz="2400" b="0" i="0">
                            <a:solidFill>
                              <a:srgbClr val="D6006F"/>
                            </a:solidFill>
                            <a:latin typeface="Cambria Math" panose="02040503050406030204" pitchFamily="18" charset="0"/>
                            <a:ea typeface="Cambria Math"/>
                          </a:rPr>
                          <m:t>0.866</m:t>
                        </m:r>
                      </m:den>
                    </m:f>
                    <m:r>
                      <a:rPr lang="en-US" altLang="zh-TW" sz="2400" b="0" i="0">
                        <a:solidFill>
                          <a:srgbClr val="D6006F"/>
                        </a:solidFill>
                        <a:latin typeface="Cambria Math" panose="02040503050406030204" pitchFamily="18" charset="0"/>
                        <a:ea typeface="Cambria Math"/>
                      </a:rPr>
                      <m:t> = 11.55</m:t>
                    </m:r>
                  </m:oMath>
                </a14:m>
                <a:r>
                  <a:rPr lang="zh-TW" altLang="en-US" sz="2400" b="1" dirty="0">
                    <a:solidFill>
                      <a:srgbClr val="D6006F"/>
                    </a:solidFill>
                    <a:latin typeface="Calibri"/>
                    <a:ea typeface="微軟正黑體"/>
                    <a:cs typeface="Calibri"/>
                  </a:rPr>
                  <a:t>　……①</a:t>
                </a:r>
                <a:endParaRPr lang="zh-TW" sz="2400"/>
              </a:p>
            </p:txBody>
          </p:sp>
        </mc:Choice>
        <mc:Fallback xmlns="">
          <p:pic>
            <p:nvPicPr>
              <p:cNvPr id="14" name="F14"/>
              <p:cNvPicPr/>
              <p:nvPr/>
            </p:nvPicPr>
            <p:blipFill>
              <a:blip r:embed="rId5"/>
              <a:stretch>
                <a:fillRect/>
              </a:stretch>
            </p:blipFill>
            <p:spPr>
              <a:xfrm>
                <a:off x="365760" y="2459736"/>
                <a:ext cx="7955280" cy="868680"/>
              </a:xfrm>
              <a:prstGeom prst="rect">
                <a:avLst/>
              </a:prstGeom>
              <a:noFill/>
              <a:ln>
                <a:noFill/>
              </a:ln>
            </p:spPr>
          </p:pic>
        </mc:Fallback>
      </mc:AlternateContent>
      <p:sp>
        <p:nvSpPr>
          <p:cNvPr id="15" name="T15"/>
          <p:cNvSpPr txBox="1"/>
          <p:nvPr/>
        </p:nvSpPr>
        <p:spPr>
          <a:xfrm>
            <a:off x="365760" y="3566160"/>
            <a:ext cx="7955280" cy="9144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技巧：先把 </a:t>
            </a:r>
            <a:r>
              <a:rPr lang="zh-TW" altLang="en-US" sz="2400" b="1" dirty="0">
                <a:solidFill>
                  <a:srgbClr val="D6006F"/>
                </a:solidFill>
                <a:latin typeface="Calibri"/>
                <a:ea typeface="微軟正黑體"/>
                <a:cs typeface="Calibri"/>
              </a:rPr>
              <a:t>v0 t</a:t>
            </a:r>
            <a:r>
              <a:rPr lang="zh-TW" altLang="en-US" sz="2400" b="0" dirty="0">
                <a:solidFill>
                  <a:srgbClr val="2B3050"/>
                </a:solidFill>
                <a:latin typeface="Calibri"/>
                <a:ea typeface="微軟正黑體"/>
                <a:cs typeface="Calibri"/>
              </a:rPr>
              <a:t> 看成一個整體，不急著拆開</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步驟 3：y 方向（等加速度）→ 方程式②</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7955280" cy="777240"/>
              </a:xfrm>
              <a:prstGeom prst="rect">
                <a:avLst/>
              </a:prstGeom>
              <a:noFill/>
              <a:ln>
                <a:noFill/>
              </a:ln>
            </p:spPr>
          </p:pic>
        </mc:Fallback>
      </mc:AlternateContent>
      <p:sp>
        <p:nvSpPr>
          <p:cNvPr id="12" name="T12"/>
          <p:cNvSpPr txBox="1"/>
          <p:nvPr/>
        </p:nvSpPr>
        <p:spPr>
          <a:xfrm>
            <a:off x="365760" y="164592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落地時在地面：y = 0</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365760" y="2103120"/>
                <a:ext cx="795528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 = 1 + </m:t>
                      </m:r>
                      <m:d>
                        <m:dPr>
                          <m:ctrlPr>
                            <a:rPr lang="en-US" altLang="zh-TW" sz="2400" b="0" i="1">
                              <a:solidFill>
                                <a:srgbClr val="2B3050"/>
                              </a:solidFill>
                              <a:latin typeface="Cambria Math" panose="02040503050406030204" pitchFamily="18" charset="0"/>
                              <a:ea typeface="Cambria Math"/>
                            </a:rPr>
                          </m:ctrlPr>
                        </m:d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m:t>
                          </m:r>
                        </m:e>
                      </m:d>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9.8</m:t>
                          </m:r>
                        </m:e>
                      </m:d>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3" name="F13"/>
              <p:cNvPicPr/>
              <p:nvPr/>
            </p:nvPicPr>
            <p:blipFill>
              <a:blip r:embed="rId3"/>
              <a:stretch>
                <a:fillRect/>
              </a:stretch>
            </p:blipFill>
            <p:spPr>
              <a:xfrm>
                <a:off x="365760" y="2103120"/>
                <a:ext cx="795528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88036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D6006F"/>
                        </a:solidFill>
                        <a:latin typeface="Cambria Math" panose="02040503050406030204" pitchFamily="18" charset="0"/>
                        <a:ea typeface="Cambria Math"/>
                      </a:rPr>
                      <m:t>0 = 1 + 0.5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sub>
                    </m:sSub>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𝑡</m:t>
                    </m:r>
                    <m:r>
                      <a:rPr lang="en-US" altLang="zh-TW" sz="2400" b="0" i="0">
                        <a:solidFill>
                          <a:srgbClr val="D6006F"/>
                        </a:solidFill>
                        <a:latin typeface="Cambria Math" panose="02040503050406030204" pitchFamily="18" charset="0"/>
                        <a:ea typeface="Cambria Math"/>
                      </a:rPr>
                      <m:t> − 4.9</m:t>
                    </m:r>
                    <m:sSup>
                      <m:sSupPr>
                        <m:ctrlPr>
                          <a:rPr lang="en-US" altLang="zh-TW" sz="2400" b="0" i="1">
                            <a:solidFill>
                              <a:srgbClr val="D6006F"/>
                            </a:solidFill>
                            <a:latin typeface="Cambria Math" panose="02040503050406030204" pitchFamily="18" charset="0"/>
                            <a:ea typeface="Cambria Math"/>
                          </a:rPr>
                        </m:ctrlPr>
                      </m:sSupPr>
                      <m:e>
                        <m:r>
                          <a:rPr lang="en-US" altLang="zh-TW" sz="2400" b="0" i="1">
                            <a:solidFill>
                              <a:srgbClr val="D6006F"/>
                            </a:solidFill>
                            <a:latin typeface="Cambria Math" panose="02040503050406030204" pitchFamily="18" charset="0"/>
                            <a:ea typeface="Cambria Math"/>
                          </a:rPr>
                          <m:t>𝑡</m:t>
                        </m:r>
                      </m:e>
                      <m:sup>
                        <m:r>
                          <a:rPr lang="en-US" altLang="zh-TW" sz="2400" b="0" i="0">
                            <a:solidFill>
                              <a:srgbClr val="D6006F"/>
                            </a:solidFill>
                            <a:latin typeface="Cambria Math" panose="02040503050406030204" pitchFamily="18" charset="0"/>
                            <a:ea typeface="Cambria Math"/>
                          </a:rPr>
                          <m:t>2</m:t>
                        </m:r>
                      </m:sup>
                    </m:sSup>
                  </m:oMath>
                </a14:m>
                <a:r>
                  <a:rPr lang="zh-TW" altLang="en-US" sz="2400" b="1" dirty="0">
                    <a:solidFill>
                      <a:srgbClr val="D6006F"/>
                    </a:solidFill>
                    <a:latin typeface="Calibri"/>
                    <a:ea typeface="微軟正黑體"/>
                    <a:cs typeface="Calibri"/>
                  </a:rPr>
                  <a:t>　……②</a:t>
                </a:r>
                <a:endParaRPr lang="zh-TW" sz="2400"/>
              </a:p>
            </p:txBody>
          </p:sp>
        </mc:Choice>
        <mc:Fallback xmlns="">
          <p:pic>
            <p:nvPicPr>
              <p:cNvPr id="14" name="F14"/>
              <p:cNvPicPr/>
              <p:nvPr/>
            </p:nvPicPr>
            <p:blipFill>
              <a:blip r:embed="rId4"/>
              <a:stretch>
                <a:fillRect/>
              </a:stretch>
            </p:blipFill>
            <p:spPr>
              <a:xfrm>
                <a:off x="365760" y="2880360"/>
                <a:ext cx="7955280" cy="548640"/>
              </a:xfrm>
              <a:prstGeom prst="rect">
                <a:avLst/>
              </a:prstGeom>
              <a:noFill/>
              <a:ln>
                <a:noFill/>
              </a:ln>
            </p:spPr>
          </p:pic>
        </mc:Fallback>
      </mc:AlternateContent>
      <p:sp>
        <p:nvSpPr>
          <p:cNvPr id="15" name="T15"/>
          <p:cNvSpPr txBox="1"/>
          <p:nvPr/>
        </p:nvSpPr>
        <p:spPr>
          <a:xfrm>
            <a:off x="365760" y="3611880"/>
            <a:ext cx="7955280"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注意：起點高 1 m，所以 y0 = 1，不是 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步驟 4：把①代入②，求 t</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 = 1 + 0.5</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11.55</m:t>
                          </m:r>
                        </m:e>
                      </m:d>
                      <m:r>
                        <a:rPr lang="en-US" altLang="zh-TW" sz="2400" b="0" i="0">
                          <a:solidFill>
                            <a:srgbClr val="2B3050"/>
                          </a:solidFill>
                          <a:latin typeface="Cambria Math" panose="02040503050406030204" pitchFamily="18" charset="0"/>
                          <a:ea typeface="Cambria Math"/>
                        </a:rPr>
                        <m:t> − 4.9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 = 1 + 5.774 − 4.9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6.774</m:t>
                      </m:r>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6.774</m:t>
                          </m:r>
                        </m:num>
                        <m:den>
                          <m:r>
                            <a:rPr lang="en-US" altLang="zh-TW" sz="2400" b="0" i="0">
                              <a:solidFill>
                                <a:srgbClr val="2B3050"/>
                              </a:solidFill>
                              <a:latin typeface="Cambria Math" panose="02040503050406030204" pitchFamily="18" charset="0"/>
                              <a:ea typeface="Cambria Math"/>
                            </a:rPr>
                            <m:t>4.9</m:t>
                          </m:r>
                        </m:den>
                      </m:f>
                      <m:r>
                        <a:rPr lang="en-US" altLang="zh-TW" sz="2400" b="0" i="0">
                          <a:solidFill>
                            <a:srgbClr val="2B3050"/>
                          </a:solidFill>
                          <a:latin typeface="Cambria Math" panose="02040503050406030204" pitchFamily="18" charset="0"/>
                          <a:ea typeface="Cambria Math"/>
                        </a:rPr>
                        <m:t> = 1.382</m:t>
                      </m:r>
                    </m:oMath>
                  </m:oMathPara>
                </a14:m>
                <a:endParaRPr lang="zh-TW" sz="2400"/>
              </a:p>
            </p:txBody>
          </p:sp>
        </mc:Choice>
        <mc:Fallback xmlns="">
          <p:pic>
            <p:nvPicPr>
              <p:cNvPr id="14" name="F14"/>
              <p:cNvPicPr/>
              <p:nvPr/>
            </p:nvPicPr>
            <p:blipFill>
              <a:blip r:embed="rId5"/>
              <a:stretch>
                <a:fillRect/>
              </a:stretch>
            </p:blipFill>
            <p:spPr>
              <a:xfrm>
                <a:off x="365760" y="2514600"/>
                <a:ext cx="795528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337560"/>
                <a:ext cx="7955280" cy="59436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1">
                        <a:solidFill>
                          <a:srgbClr val="D6006F"/>
                        </a:solidFill>
                        <a:latin typeface="Cambria Math" panose="02040503050406030204" pitchFamily="18" charset="0"/>
                        <a:ea typeface="Cambria Math"/>
                      </a:rPr>
                      <m:t>𝑡</m:t>
                    </m:r>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r>
                          <a:rPr lang="en-US" altLang="zh-TW" sz="2400" b="0" i="0">
                            <a:solidFill>
                              <a:srgbClr val="D6006F"/>
                            </a:solidFill>
                            <a:latin typeface="Cambria Math" panose="02040503050406030204" pitchFamily="18" charset="0"/>
                            <a:ea typeface="Cambria Math"/>
                          </a:rPr>
                          <m:t>1.382</m:t>
                        </m:r>
                      </m:e>
                    </m:rad>
                    <m:r>
                      <a:rPr lang="en-US" altLang="zh-TW" sz="2400" b="0" i="0">
                        <a:solidFill>
                          <a:srgbClr val="D6006F"/>
                        </a:solidFill>
                        <a:latin typeface="Cambria Math" panose="02040503050406030204" pitchFamily="18" charset="0"/>
                        <a:ea typeface="Cambria Math"/>
                      </a:rPr>
                      <m:t> = 1.18 </m:t>
                    </m:r>
                    <m:r>
                      <m:rPr>
                        <m:sty m:val="p"/>
                      </m:rPr>
                      <a:rPr lang="en-US" altLang="zh-TW" sz="2400" b="0" i="0">
                        <a:solidFill>
                          <a:srgbClr val="D6006F"/>
                        </a:solidFill>
                        <a:latin typeface="Cambria Math" panose="02040503050406030204" pitchFamily="18" charset="0"/>
                        <a:ea typeface="Cambria Math"/>
                      </a:rPr>
                      <m:t>s</m:t>
                    </m:r>
                  </m:oMath>
                </a14:m>
                <a:r>
                  <a:rPr lang="zh-TW" altLang="en-US" sz="2400" b="0" dirty="0">
                    <a:solidFill>
                      <a:srgbClr val="D6006F"/>
                    </a:solidFill>
                    <a:latin typeface="Calibri"/>
                    <a:ea typeface="微軟正黑體"/>
                    <a:cs typeface="Calibri"/>
                  </a:rPr>
                  <a:t>（時間取正值）</a:t>
                </a:r>
                <a:endParaRPr lang="zh-TW" sz="2400"/>
              </a:p>
            </p:txBody>
          </p:sp>
        </mc:Choice>
        <mc:Fallback xmlns="">
          <p:pic>
            <p:nvPicPr>
              <p:cNvPr id="15" name="F15"/>
              <p:cNvPicPr/>
              <p:nvPr/>
            </p:nvPicPr>
            <p:blipFill>
              <a:blip r:embed="rId6"/>
              <a:stretch>
                <a:fillRect/>
              </a:stretch>
            </p:blipFill>
            <p:spPr>
              <a:xfrm>
                <a:off x="365760" y="3337560"/>
                <a:ext cx="7955280" cy="59436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步驟 5：代回①，求 v0</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11.55</m:t>
                          </m:r>
                        </m:num>
                        <m:den>
                          <m:r>
                            <a:rPr lang="en-US" altLang="zh-TW" sz="2400" b="0" i="1">
                              <a:solidFill>
                                <a:srgbClr val="2B3050"/>
                              </a:solidFill>
                              <a:latin typeface="Cambria Math" panose="02040503050406030204" pitchFamily="18" charset="0"/>
                              <a:ea typeface="Cambria Math"/>
                            </a:rPr>
                            <m:t>𝑡</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11.55</m:t>
                          </m:r>
                        </m:num>
                        <m:den>
                          <m:r>
                            <a:rPr lang="en-US" altLang="zh-TW" sz="2400" b="0" i="0">
                              <a:solidFill>
                                <a:srgbClr val="2B3050"/>
                              </a:solidFill>
                              <a:latin typeface="Cambria Math" panose="02040503050406030204" pitchFamily="18" charset="0"/>
                              <a:ea typeface="Cambria Math"/>
                            </a:rPr>
                            <m:t>1.176</m:t>
                          </m:r>
                        </m:den>
                      </m:f>
                    </m:oMath>
                  </m:oMathPara>
                </a14:m>
                <a:endParaRPr lang="zh-TW" sz="2400"/>
              </a:p>
            </p:txBody>
          </p:sp>
        </mc:Choice>
        <mc:Fallback xmlns="">
          <p:pic>
            <p:nvPicPr>
              <p:cNvPr id="11" name="F11"/>
              <p:cNvPicPr/>
              <p:nvPr/>
            </p:nvPicPr>
            <p:blipFill>
              <a:blip r:embed="rId2"/>
              <a:stretch>
                <a:fillRect/>
              </a:stretch>
            </p:blipFill>
            <p:spPr>
              <a:xfrm>
                <a:off x="365760" y="8686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9.82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2" name="F12"/>
              <p:cNvPicPr/>
              <p:nvPr/>
            </p:nvPicPr>
            <p:blipFill>
              <a:blip r:embed="rId3"/>
              <a:stretch>
                <a:fillRect/>
              </a:stretch>
            </p:blipFill>
            <p:spPr>
              <a:xfrm>
                <a:off x="365760" y="1737360"/>
                <a:ext cx="7955280" cy="548640"/>
              </a:xfrm>
              <a:prstGeom prst="rect">
                <a:avLst/>
              </a:prstGeom>
              <a:noFill/>
              <a:ln>
                <a:noFill/>
              </a:ln>
            </p:spPr>
          </p:pic>
        </mc:Fallback>
      </mc:AlternateContent>
      <p:sp>
        <p:nvSpPr>
          <p:cNvPr id="13" name="T13"/>
          <p:cNvSpPr txBox="1"/>
          <p:nvPr/>
        </p:nvSpPr>
        <p:spPr>
          <a:xfrm>
            <a:off x="365760" y="2423160"/>
            <a:ext cx="7955280" cy="6400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最小速度 v0 ≈ 9.82 m/s，飛越時間 t ≈ 1.18 s</a:t>
            </a:r>
            <a:endParaRPr lang="zh-TW" sz="2400"/>
          </a:p>
        </p:txBody>
      </p:sp>
      <p:sp>
        <p:nvSpPr>
          <p:cNvPr id="14" name="T14"/>
          <p:cNvSpPr txBox="1"/>
          <p:nvPr/>
        </p:nvSpPr>
        <p:spPr>
          <a:xfrm>
            <a:off x="365760" y="3246120"/>
            <a:ext cx="7955280" cy="123444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課本答 9.79 m/s：是 t 先四捨五入成 1.18 再相除</a:t>
            </a:r>
            <a:endParaRPr lang="zh-TW" sz="2400"/>
          </a:p>
          <a:p>
            <a:pPr algn="l">
              <a:lnSpc>
                <a:spcPct val="100000"/>
              </a:lnSpc>
              <a:buNone/>
            </a:pPr>
            <a:r>
              <a:rPr lang="zh-TW" altLang="en-US" sz="2400" b="0" dirty="0">
                <a:solidFill>
                  <a:srgbClr val="2B3050"/>
                </a:solidFill>
                <a:latin typeface="Calibri"/>
                <a:ea typeface="微軟正黑體"/>
                <a:cs typeface="Calibri"/>
              </a:rPr>
              <a:t>（11.55 ÷ 1.18 = 9.79），差異只是進位</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飛行軌跡動畫與驗算</a:t>
            </a:r>
          </a:p>
        </p:txBody>
      </p:sp>
      <p:cxnSp>
        <p:nvCxnSpPr>
          <p:cNvPr id="11" name="L11"/>
          <p:cNvCxnSpPr/>
          <p:nvPr/>
        </p:nvCxnSpPr>
        <p:spPr>
          <a:xfrm>
            <a:off x="411480" y="4160520"/>
            <a:ext cx="7543800" cy="0"/>
          </a:xfrm>
          <a:prstGeom prst="line">
            <a:avLst/>
          </a:prstGeom>
          <a:ln w="19050">
            <a:solidFill>
              <a:srgbClr val="2B3050"/>
            </a:solidFill>
          </a:ln>
        </p:spPr>
      </p:cxnSp>
      <p:sp>
        <p:nvSpPr>
          <p:cNvPr id="12" name="P12"/>
          <p:cNvSpPr/>
          <p:nvPr/>
        </p:nvSpPr>
        <p:spPr>
          <a:xfrm>
            <a:off x="681630" y="3630168"/>
            <a:ext cx="918570" cy="530352"/>
          </a:xfrm>
          <a:custGeom>
            <a:avLst/>
            <a:gdLst/>
            <a:ahLst/>
            <a:cxnLst/>
            <a:rect l="0" t="0" r="r" b="b"/>
            <a:pathLst>
              <a:path w="918570" h="530352">
                <a:moveTo>
                  <a:pt x="0" y="530352"/>
                </a:moveTo>
                <a:lnTo>
                  <a:pt x="918570" y="530352"/>
                </a:lnTo>
                <a:lnTo>
                  <a:pt x="918570" y="0"/>
                </a:lnTo>
                <a:close/>
              </a:path>
            </a:pathLst>
          </a:custGeom>
          <a:solidFill>
            <a:srgbClr val="D9DCE3"/>
          </a:solidFill>
          <a:ln w="19050">
            <a:solidFill>
              <a:srgbClr val="2B3050"/>
            </a:solidFill>
          </a:ln>
        </p:spPr>
        <p:txBody>
          <a:bodyPr/>
          <a:lstStyle/>
          <a:p>
            <a:endParaRPr lang="zh-TW" altLang="en-US"/>
          </a:p>
        </p:txBody>
      </p:sp>
      <p:sp>
        <p:nvSpPr>
          <p:cNvPr id="13" name="S13"/>
          <p:cNvSpPr/>
          <p:nvPr/>
        </p:nvSpPr>
        <p:spPr>
          <a:xfrm>
            <a:off x="6848856" y="4105656"/>
            <a:ext cx="109728" cy="109728"/>
          </a:xfrm>
          <a:prstGeom prst="ellipse">
            <a:avLst/>
          </a:prstGeom>
          <a:solidFill>
            <a:srgbClr val="2B3050"/>
          </a:solidFill>
          <a:ln>
            <a:noFill/>
          </a:ln>
        </p:spPr>
        <p:txBody>
          <a:bodyPr/>
          <a:lstStyle/>
          <a:p>
            <a:endParaRPr lang="zh-TW" altLang="en-US"/>
          </a:p>
        </p:txBody>
      </p:sp>
      <p:sp>
        <p:nvSpPr>
          <p:cNvPr id="14" name="T14"/>
          <p:cNvSpPr txBox="1"/>
          <p:nvPr/>
        </p:nvSpPr>
        <p:spPr>
          <a:xfrm>
            <a:off x="6720840" y="37033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S15"/>
          <p:cNvSpPr/>
          <p:nvPr/>
        </p:nvSpPr>
        <p:spPr>
          <a:xfrm>
            <a:off x="1508760" y="3538728"/>
            <a:ext cx="182880" cy="182880"/>
          </a:xfrm>
          <a:prstGeom prst="ellipse">
            <a:avLst/>
          </a:prstGeom>
          <a:solidFill>
            <a:srgbClr val="D6006F"/>
          </a:solidFill>
          <a:ln>
            <a:noFill/>
          </a:ln>
        </p:spPr>
        <p:txBody>
          <a:bodyPr/>
          <a:lstStyle/>
          <a:p>
            <a:endParaRPr lang="zh-TW" altLang="en-US"/>
          </a:p>
        </p:txBody>
      </p:sp>
      <p:sp>
        <p:nvSpPr>
          <p:cNvPr id="16" name="P16"/>
          <p:cNvSpPr/>
          <p:nvPr/>
        </p:nvSpPr>
        <p:spPr>
          <a:xfrm>
            <a:off x="1600200" y="2977689"/>
            <a:ext cx="5303520" cy="1182831"/>
          </a:xfrm>
          <a:custGeom>
            <a:avLst/>
            <a:gdLst/>
            <a:ahLst/>
            <a:cxnLst/>
            <a:rect l="0" t="0" r="r" b="b"/>
            <a:pathLst>
              <a:path w="5303520" h="1182831">
                <a:moveTo>
                  <a:pt x="0" y="652479"/>
                </a:moveTo>
                <a:lnTo>
                  <a:pt x="132588" y="578174"/>
                </a:lnTo>
                <a:lnTo>
                  <a:pt x="265176" y="508360"/>
                </a:lnTo>
                <a:lnTo>
                  <a:pt x="397764" y="443036"/>
                </a:lnTo>
                <a:lnTo>
                  <a:pt x="530352" y="382203"/>
                </a:lnTo>
                <a:lnTo>
                  <a:pt x="662940" y="325860"/>
                </a:lnTo>
                <a:lnTo>
                  <a:pt x="795528" y="274008"/>
                </a:lnTo>
                <a:lnTo>
                  <a:pt x="928116" y="226646"/>
                </a:lnTo>
                <a:lnTo>
                  <a:pt x="1060704" y="183775"/>
                </a:lnTo>
                <a:lnTo>
                  <a:pt x="1193292" y="145393"/>
                </a:lnTo>
                <a:lnTo>
                  <a:pt x="1325880" y="111503"/>
                </a:lnTo>
                <a:lnTo>
                  <a:pt x="1458468" y="82103"/>
                </a:lnTo>
                <a:lnTo>
                  <a:pt x="1591056" y="57193"/>
                </a:lnTo>
                <a:lnTo>
                  <a:pt x="1723644" y="36773"/>
                </a:lnTo>
                <a:lnTo>
                  <a:pt x="1856232" y="20844"/>
                </a:lnTo>
                <a:lnTo>
                  <a:pt x="1988820" y="9406"/>
                </a:lnTo>
                <a:lnTo>
                  <a:pt x="2121408" y="2458"/>
                </a:lnTo>
                <a:lnTo>
                  <a:pt x="2253996" y="0"/>
                </a:lnTo>
                <a:lnTo>
                  <a:pt x="2386584" y="2033"/>
                </a:lnTo>
                <a:lnTo>
                  <a:pt x="2519172" y="8556"/>
                </a:lnTo>
                <a:lnTo>
                  <a:pt x="2651760" y="19569"/>
                </a:lnTo>
                <a:lnTo>
                  <a:pt x="2784348" y="35074"/>
                </a:lnTo>
                <a:lnTo>
                  <a:pt x="2916936" y="55068"/>
                </a:lnTo>
                <a:lnTo>
                  <a:pt x="3049524" y="79553"/>
                </a:lnTo>
                <a:lnTo>
                  <a:pt x="3182112" y="108528"/>
                </a:lnTo>
                <a:lnTo>
                  <a:pt x="3314700" y="141994"/>
                </a:lnTo>
                <a:lnTo>
                  <a:pt x="3447288" y="179950"/>
                </a:lnTo>
                <a:lnTo>
                  <a:pt x="3579876" y="222397"/>
                </a:lnTo>
                <a:lnTo>
                  <a:pt x="3712464" y="269334"/>
                </a:lnTo>
                <a:lnTo>
                  <a:pt x="3845052" y="320761"/>
                </a:lnTo>
                <a:lnTo>
                  <a:pt x="3977640" y="376679"/>
                </a:lnTo>
                <a:lnTo>
                  <a:pt x="4110228" y="437087"/>
                </a:lnTo>
                <a:lnTo>
                  <a:pt x="4242816" y="501986"/>
                </a:lnTo>
                <a:lnTo>
                  <a:pt x="4375404" y="571375"/>
                </a:lnTo>
                <a:lnTo>
                  <a:pt x="4507992" y="645254"/>
                </a:lnTo>
                <a:lnTo>
                  <a:pt x="4640580" y="723624"/>
                </a:lnTo>
                <a:lnTo>
                  <a:pt x="4773168" y="806485"/>
                </a:lnTo>
                <a:lnTo>
                  <a:pt x="4905756" y="893836"/>
                </a:lnTo>
                <a:lnTo>
                  <a:pt x="5038344" y="985677"/>
                </a:lnTo>
                <a:lnTo>
                  <a:pt x="5170932" y="1082009"/>
                </a:lnTo>
                <a:lnTo>
                  <a:pt x="5303520" y="1182831"/>
                </a:lnTo>
              </a:path>
            </a:pathLst>
          </a:custGeom>
          <a:noFill/>
          <a:ln w="25400">
            <a:solidFill>
              <a:srgbClr val="D6006F"/>
            </a:solidFill>
            <a:prstDash val="dash"/>
          </a:ln>
        </p:spPr>
        <p:txBody>
          <a:bodyPr/>
          <a:lstStyle/>
          <a:p>
            <a:endParaRPr lang="zh-TW" altLang="en-US"/>
          </a:p>
        </p:txBody>
      </p:sp>
      <p:sp>
        <p:nvSpPr>
          <p:cNvPr id="17" name="T17"/>
          <p:cNvSpPr txBox="1"/>
          <p:nvPr/>
        </p:nvSpPr>
        <p:spPr>
          <a:xfrm>
            <a:off x="365760" y="914400"/>
            <a:ext cx="4206240" cy="82296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1F8899"/>
                </a:solidFill>
                <a:latin typeface="Calibri"/>
                <a:ea typeface="微軟正黑體"/>
                <a:cs typeface="Calibri"/>
              </a:rPr>
              <a:t>最高點</a:t>
            </a:r>
            <a:endParaRPr lang="zh-TW" sz="2400"/>
          </a:p>
          <a:p>
            <a:pPr algn="l">
              <a:lnSpc>
                <a:spcPct val="100000"/>
              </a:lnSpc>
              <a:buNone/>
            </a:pPr>
            <a:r>
              <a:rPr lang="zh-TW" altLang="en-US" sz="2400" b="0" dirty="0">
                <a:solidFill>
                  <a:srgbClr val="1F8899"/>
                </a:solidFill>
                <a:latin typeface="Calibri"/>
                <a:ea typeface="微軟正黑體"/>
                <a:cs typeface="Calibri"/>
              </a:rPr>
              <a:t>t = 0.50 s，高 2.23 m</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4846320" y="868680"/>
                <a:ext cx="3566160" cy="4572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8.51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8" name="F18"/>
              <p:cNvPicPr/>
              <p:nvPr/>
            </p:nvPicPr>
            <p:blipFill>
              <a:blip r:embed="rId2"/>
              <a:stretch>
                <a:fillRect/>
              </a:stretch>
            </p:blipFill>
            <p:spPr>
              <a:xfrm>
                <a:off x="4846320" y="868680"/>
                <a:ext cx="3566160" cy="4572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9" name="T19"/>
              <p:cNvSpPr txBox="1"/>
              <p:nvPr/>
            </p:nvSpPr>
            <p:spPr>
              <a:xfrm>
                <a:off x="4846320" y="1325880"/>
                <a:ext cx="3566160" cy="4572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8.51 × 1.176</m:t>
                      </m:r>
                    </m:oMath>
                  </m:oMathPara>
                </a14:m>
                <a:endParaRPr lang="zh-TW" sz="2400"/>
              </a:p>
            </p:txBody>
          </p:sp>
        </mc:Choice>
        <mc:Fallback xmlns="">
          <p:pic>
            <p:nvPicPr>
              <p:cNvPr id="19" name="F19"/>
              <p:cNvPicPr/>
              <p:nvPr/>
            </p:nvPicPr>
            <p:blipFill>
              <a:blip r:embed="rId3"/>
              <a:stretch>
                <a:fillRect/>
              </a:stretch>
            </p:blipFill>
            <p:spPr>
              <a:xfrm>
                <a:off x="4846320" y="1325880"/>
                <a:ext cx="3566160" cy="4572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0" name="T20"/>
              <p:cNvSpPr txBox="1"/>
              <p:nvPr/>
            </p:nvSpPr>
            <p:spPr>
              <a:xfrm>
                <a:off x="4846320" y="1783080"/>
                <a:ext cx="3566160" cy="45720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2F8F4E"/>
                        </a:solidFill>
                        <a:latin typeface="Cambria Math" panose="02040503050406030204" pitchFamily="18" charset="0"/>
                        <a:ea typeface="Cambria Math"/>
                      </a:rPr>
                      <m:t> = 10.0 </m:t>
                    </m:r>
                    <m:r>
                      <m:rPr>
                        <m:sty m:val="p"/>
                      </m:rPr>
                      <a:rPr lang="en-US" altLang="zh-TW" sz="2400" b="0" i="0">
                        <a:solidFill>
                          <a:srgbClr val="2F8F4E"/>
                        </a:solidFill>
                        <a:latin typeface="Cambria Math" panose="02040503050406030204" pitchFamily="18" charset="0"/>
                        <a:ea typeface="Cambria Math"/>
                      </a:rPr>
                      <m:t>m</m:t>
                    </m:r>
                  </m:oMath>
                </a14:m>
                <a:r>
                  <a:rPr lang="zh-TW" altLang="en-US" sz="2400" b="0" dirty="0">
                    <a:solidFill>
                      <a:srgbClr val="2F8F4E"/>
                    </a:solidFill>
                    <a:latin typeface="Calibri"/>
                    <a:ea typeface="微軟正黑體"/>
                    <a:cs typeface="Calibri"/>
                  </a:rPr>
                  <a:t> ✓</a:t>
                </a:r>
                <a:endParaRPr lang="zh-TW" sz="2400"/>
              </a:p>
            </p:txBody>
          </p:sp>
        </mc:Choice>
        <mc:Fallback xmlns="">
          <p:pic>
            <p:nvPicPr>
              <p:cNvPr id="20" name="F20"/>
              <p:cNvPicPr/>
              <p:nvPr/>
            </p:nvPicPr>
            <p:blipFill>
              <a:blip r:embed="rId4"/>
              <a:stretch>
                <a:fillRect/>
              </a:stretch>
            </p:blipFill>
            <p:spPr>
              <a:xfrm>
                <a:off x="4846320" y="1783080"/>
                <a:ext cx="3566160" cy="45720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0" presetClass="path" presetSubtype="0" fill="hold" grpId="0" nodeType="withEffect">
                                  <p:stCondLst>
                                    <p:cond delay="0"/>
                                  </p:stCondLst>
                                  <p:childTnLst>
                                    <p:animMotion origin="layout" path="M 0 0 L 0.00000 0.00000 L 0.01450 -0.01445 L 0.02900 -0.02802 L 0.04350 -0.04072 L 0.05800 -0.05255 L 0.07250 -0.06350 L 0.08700 -0.07358 L 0.10150 -0.08279 L 0.11600 -0.09113 L 0.13050 -0.09859 L 0.14500 -0.10518 L 0.15950 -0.11089 L 0.17400 -0.11574 L 0.18850 -0.11971 L 0.20300 -0.12280 L 0.21750 -0.12503 L 0.23200 -0.12638 L 0.24650 -0.12685 L 0.26100 -0.12646 L 0.27550 -0.12519 L 0.29000 -0.12305 L 0.30450 -0.12004 L 0.31900 -0.11615 L 0.33350 -0.11139 L 0.34800 -0.10575 L 0.36250 -0.09925 L 0.37700 -0.09187 L 0.39150 -0.08362 L 0.40600 -0.07449 L 0.42050 -0.06449 L 0.43500 -0.05362 L 0.44950 -0.04188 L 0.46400 -0.02926 L 0.47850 -0.01577 L 0.49300 -0.00140 L 0.50750 0.01383 L 0.52200 0.02994 L 0.53650 0.04692 L 0.55100 0.06478 L 0.56550 0.08351 L 0.58000 0.10311 E" pathEditMode="relative" ptsTypes="">
                                      <p:cBhvr>
                                        <p:cTn id="9" dur="2500" fill="hold"/>
                                        <p:tgtEl>
                                          <p:spTgt spid="15"/>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2-15　本題用到的公式與技巧</a:t>
            </a:r>
          </a:p>
        </p:txBody>
      </p:sp>
      <p:sp>
        <p:nvSpPr>
          <p:cNvPr id="11" name="T11"/>
          <p:cNvSpPr txBox="1"/>
          <p:nvPr/>
        </p:nvSpPr>
        <p:spPr>
          <a:xfrm>
            <a:off x="365760" y="896112"/>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水平</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𝑥</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2" name="F12"/>
              <p:cNvPicPr/>
              <p:nvPr/>
            </p:nvPicPr>
            <p:blipFill>
              <a:blip r:embed="rId2"/>
              <a:stretch>
                <a:fillRect/>
              </a:stretch>
            </p:blipFill>
            <p:spPr>
              <a:xfrm>
                <a:off x="2560320" y="896112"/>
                <a:ext cx="5760720" cy="658368"/>
              </a:xfrm>
              <a:prstGeom prst="roundRect">
                <a:avLst/>
              </a:prstGeom>
              <a:solidFill>
                <a:srgbClr val="E8F4F6"/>
              </a:solidFill>
              <a:ln>
                <a:noFill/>
              </a:ln>
            </p:spPr>
          </p:pic>
        </mc:Fallback>
      </mc:AlternateContent>
      <p:sp>
        <p:nvSpPr>
          <p:cNvPr id="13" name="T13"/>
          <p:cNvSpPr txBox="1"/>
          <p:nvPr/>
        </p:nvSpPr>
        <p:spPr>
          <a:xfrm>
            <a:off x="365760" y="162763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垂直</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62763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3"/>
              <a:stretch>
                <a:fillRect/>
              </a:stretch>
            </p:blipFill>
            <p:spPr>
              <a:xfrm>
                <a:off x="2560320" y="1627632"/>
                <a:ext cx="5760720" cy="795528"/>
              </a:xfrm>
              <a:prstGeom prst="roundRect">
                <a:avLst/>
              </a:prstGeom>
              <a:solidFill>
                <a:srgbClr val="E8F4F6"/>
              </a:solidFill>
              <a:ln>
                <a:noFill/>
              </a:ln>
            </p:spPr>
          </p:pic>
        </mc:Fallback>
      </mc:AlternateContent>
      <p:sp>
        <p:nvSpPr>
          <p:cNvPr id="15" name="T15"/>
          <p:cNvSpPr txBox="1"/>
          <p:nvPr/>
        </p:nvSpPr>
        <p:spPr>
          <a:xfrm>
            <a:off x="365760" y="249631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特別角</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49631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30° = </m:t>
                      </m:r>
                      <m:f>
                        <m:fPr>
                          <m:ctrlPr>
                            <a:rPr lang="en-US" altLang="zh-TW" sz="2400" b="0" i="1">
                              <a:solidFill>
                                <a:srgbClr val="2B3050"/>
                              </a:solidFill>
                              <a:latin typeface="Cambria Math" panose="02040503050406030204" pitchFamily="18" charset="0"/>
                              <a:ea typeface="Cambria Math"/>
                            </a:rPr>
                          </m:ctrlPr>
                        </m:fPr>
                        <m:num>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3</m:t>
                              </m:r>
                            </m:e>
                          </m:rad>
                        </m:num>
                        <m:den>
                          <m:r>
                            <a:rPr lang="en-US" altLang="zh-TW" sz="2400" b="0" i="0">
                              <a:solidFill>
                                <a:srgbClr val="2B3050"/>
                              </a:solidFill>
                              <a:latin typeface="Cambria Math" panose="02040503050406030204" pitchFamily="18" charset="0"/>
                              <a:ea typeface="Cambria Math"/>
                            </a:rPr>
                            <m:t>2</m:t>
                          </m:r>
                        </m:den>
                      </m:f>
                    </m:oMath>
                  </m:oMathPara>
                </a14:m>
                <a:endParaRPr lang="zh-TW" sz="2400"/>
              </a:p>
            </p:txBody>
          </p:sp>
        </mc:Choice>
        <mc:Fallback xmlns="">
          <p:pic>
            <p:nvPicPr>
              <p:cNvPr id="16" name="F16"/>
              <p:cNvPicPr/>
              <p:nvPr/>
            </p:nvPicPr>
            <p:blipFill>
              <a:blip r:embed="rId4"/>
              <a:stretch>
                <a:fillRect/>
              </a:stretch>
            </p:blipFill>
            <p:spPr>
              <a:xfrm>
                <a:off x="2560320" y="2496312"/>
                <a:ext cx="5760720" cy="795528"/>
              </a:xfrm>
              <a:prstGeom prst="roundRect">
                <a:avLst/>
              </a:prstGeom>
              <a:solidFill>
                <a:srgbClr val="E8F4F6"/>
              </a:solidFill>
              <a:ln>
                <a:noFill/>
              </a:ln>
            </p:spPr>
          </p:pic>
        </mc:Fallback>
      </mc:AlternateContent>
      <p:sp>
        <p:nvSpPr>
          <p:cNvPr id="17" name="T17"/>
          <p:cNvSpPr txBox="1"/>
          <p:nvPr/>
        </p:nvSpPr>
        <p:spPr>
          <a:xfrm>
            <a:off x="365760" y="3364992"/>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解題技巧</a:t>
            </a:r>
            <a:endParaRPr lang="zh-TW" sz="2400"/>
          </a:p>
        </p:txBody>
      </p:sp>
      <p:sp>
        <p:nvSpPr>
          <p:cNvPr id="18" name="T18"/>
          <p:cNvSpPr txBox="1"/>
          <p:nvPr/>
        </p:nvSpPr>
        <p:spPr>
          <a:xfrm>
            <a:off x="2560320" y="3364992"/>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把 v0 t 當一個未知數，代入消去</a:t>
            </a:r>
            <a:endParaRPr lang="zh-TW" sz="2400"/>
          </a:p>
        </p:txBody>
      </p:sp>
      <p:sp>
        <p:nvSpPr>
          <p:cNvPr id="19" name="T19"/>
          <p:cNvSpPr txBox="1"/>
          <p:nvPr/>
        </p:nvSpPr>
        <p:spPr>
          <a:xfrm>
            <a:off x="365760" y="4096512"/>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開根號</a:t>
            </a:r>
            <a:endParaRPr lang="zh-TW" sz="2400"/>
          </a:p>
        </p:txBody>
      </p:sp>
      <p:sp>
        <p:nvSpPr>
          <p:cNvPr id="20" name="T20"/>
          <p:cNvSpPr txBox="1"/>
          <p:nvPr/>
        </p:nvSpPr>
        <p:spPr>
          <a:xfrm>
            <a:off x="2560320" y="4096512"/>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t² = 1.382 → t 取正根</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實例影片：鈴木一朗「雷射肩」阻殺（2001）</a:t>
            </a:r>
          </a:p>
        </p:txBody>
      </p:sp>
      <p:sp>
        <p:nvSpPr>
          <p:cNvPr id="11" name="T11"/>
          <p:cNvSpPr txBox="1"/>
          <p:nvPr/>
        </p:nvSpPr>
        <p:spPr>
          <a:xfrm>
            <a:off x="365760" y="868680"/>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2001/4/11，水手隊 vs 運動家隊</a:t>
            </a:r>
            <a:endParaRPr lang="zh-TW" sz="2400"/>
          </a:p>
        </p:txBody>
      </p:sp>
      <p:sp>
        <p:nvSpPr>
          <p:cNvPr id="12" name="T12"/>
          <p:cNvSpPr txBox="1"/>
          <p:nvPr/>
        </p:nvSpPr>
        <p:spPr>
          <a:xfrm>
            <a:off x="365760" y="1307592"/>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一朗在右外野接一壘安打</a:t>
            </a:r>
            <a:endParaRPr lang="zh-TW" sz="2400"/>
          </a:p>
        </p:txBody>
      </p:sp>
      <p:sp>
        <p:nvSpPr>
          <p:cNvPr id="13" name="T13"/>
          <p:cNvSpPr txBox="1"/>
          <p:nvPr/>
        </p:nvSpPr>
        <p:spPr>
          <a:xfrm>
            <a:off x="365760" y="1746504"/>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一壘跑者 Long 衝三壘</a:t>
            </a:r>
            <a:endParaRPr lang="zh-TW" sz="2400"/>
          </a:p>
        </p:txBody>
      </p:sp>
      <p:sp>
        <p:nvSpPr>
          <p:cNvPr id="14" name="T14"/>
          <p:cNvSpPr txBox="1"/>
          <p:nvPr/>
        </p:nvSpPr>
        <p:spPr>
          <a:xfrm>
            <a:off x="365760" y="2185416"/>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球幾乎平飛，直接傳到三壘</a:t>
            </a:r>
            <a:endParaRPr lang="zh-TW" sz="2400"/>
          </a:p>
        </p:txBody>
      </p:sp>
      <p:sp>
        <p:nvSpPr>
          <p:cNvPr id="15" name="T15"/>
          <p:cNvSpPr txBox="1"/>
          <p:nvPr/>
        </p:nvSpPr>
        <p:spPr>
          <a:xfrm>
            <a:off x="365760" y="2624328"/>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離地不到 10 英尺（約 3 m）</a:t>
            </a:r>
            <a:endParaRPr lang="zh-TW" sz="2400"/>
          </a:p>
        </p:txBody>
      </p:sp>
      <p:sp>
        <p:nvSpPr>
          <p:cNvPr id="16" name="T16"/>
          <p:cNvSpPr txBox="1"/>
          <p:nvPr/>
        </p:nvSpPr>
        <p:spPr>
          <a:xfrm>
            <a:off x="365760" y="3154680"/>
            <a:ext cx="4572000" cy="50292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 </a:t>
            </a:r>
            <a:r>
              <a:rPr lang="zh-TW" altLang="en-US" sz="2400" b="0" u="sng" dirty="0">
                <a:solidFill>
                  <a:srgbClr val="1F5FBF"/>
                </a:solidFill>
                <a:latin typeface="Calibri"/>
                <a:ea typeface="微軟正黑體"/>
                <a:cs typeface="Calibri"/>
                <a:hlinkClick r:id="rId2"/>
              </a:rPr>
              <a:t>看影片：精華 1 分 16 秒</a:t>
            </a:r>
            <a:endParaRPr lang="zh-TW" sz="2400"/>
          </a:p>
        </p:txBody>
      </p:sp>
      <p:sp>
        <p:nvSpPr>
          <p:cNvPr id="17" name="T17"/>
          <p:cNvSpPr txBox="1"/>
          <p:nvPr/>
        </p:nvSpPr>
        <p:spPr>
          <a:xfrm>
            <a:off x="365760" y="3749040"/>
            <a:ext cx="4572000" cy="502920"/>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 </a:t>
            </a:r>
            <a:r>
              <a:rPr lang="zh-TW" altLang="en-US" sz="2400" b="0" u="sng" dirty="0">
                <a:solidFill>
                  <a:srgbClr val="1F5FBF"/>
                </a:solidFill>
                <a:latin typeface="Calibri"/>
                <a:ea typeface="微軟正黑體"/>
                <a:cs typeface="Calibri"/>
                <a:hlinkClick r:id="rId3"/>
              </a:rPr>
              <a:t>整場比賽重播（MLB 官方）</a:t>
            </a:r>
            <a:endParaRPr lang="zh-TW" sz="2400"/>
          </a:p>
        </p:txBody>
      </p:sp>
      <p:sp>
        <p:nvSpPr>
          <p:cNvPr id="18" name="T18"/>
          <p:cNvSpPr txBox="1"/>
          <p:nvPr/>
        </p:nvSpPr>
        <p:spPr>
          <a:xfrm>
            <a:off x="365760" y="4297680"/>
            <a:ext cx="45720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來源：MLB.com</a:t>
            </a:r>
            <a:endParaRPr lang="zh-TW" sz="2400"/>
          </a:p>
        </p:txBody>
      </p:sp>
      <p:cxnSp>
        <p:nvCxnSpPr>
          <p:cNvPr id="19" name="L19"/>
          <p:cNvCxnSpPr/>
          <p:nvPr/>
        </p:nvCxnSpPr>
        <p:spPr>
          <a:xfrm flipV="1">
            <a:off x="6675120" y="2834640"/>
            <a:ext cx="1691640" cy="1691640"/>
          </a:xfrm>
          <a:prstGeom prst="line">
            <a:avLst/>
          </a:prstGeom>
          <a:ln w="15875">
            <a:solidFill>
              <a:srgbClr val="8A8F9C"/>
            </a:solidFill>
          </a:ln>
        </p:spPr>
      </p:cxnSp>
      <p:cxnSp>
        <p:nvCxnSpPr>
          <p:cNvPr id="20" name="L20"/>
          <p:cNvCxnSpPr/>
          <p:nvPr/>
        </p:nvCxnSpPr>
        <p:spPr>
          <a:xfrm>
            <a:off x="5120640" y="2971800"/>
            <a:ext cx="1554480" cy="1554480"/>
          </a:xfrm>
          <a:prstGeom prst="line">
            <a:avLst/>
          </a:prstGeom>
          <a:ln w="15875">
            <a:solidFill>
              <a:srgbClr val="8A8F9C"/>
            </a:solidFill>
          </a:ln>
        </p:spPr>
      </p:cxnSp>
      <p:sp>
        <p:nvSpPr>
          <p:cNvPr id="21" name="P21"/>
          <p:cNvSpPr/>
          <p:nvPr/>
        </p:nvSpPr>
        <p:spPr>
          <a:xfrm>
            <a:off x="6080760" y="3337560"/>
            <a:ext cx="1188720" cy="594360"/>
          </a:xfrm>
          <a:custGeom>
            <a:avLst/>
            <a:gdLst/>
            <a:ahLst/>
            <a:cxnLst/>
            <a:rect l="0" t="0" r="r" b="b"/>
            <a:pathLst>
              <a:path w="1188720" h="594360">
                <a:moveTo>
                  <a:pt x="1188720" y="594360"/>
                </a:moveTo>
                <a:lnTo>
                  <a:pt x="594360" y="0"/>
                </a:lnTo>
                <a:lnTo>
                  <a:pt x="0" y="594360"/>
                </a:lnTo>
              </a:path>
            </a:pathLst>
          </a:custGeom>
          <a:noFill/>
          <a:ln w="12700">
            <a:solidFill>
              <a:srgbClr val="8A8F9C"/>
            </a:solidFill>
            <a:prstDash val="dash"/>
          </a:ln>
        </p:spPr>
        <p:txBody>
          <a:bodyPr/>
          <a:lstStyle/>
          <a:p>
            <a:endParaRPr lang="zh-TW" altLang="en-US"/>
          </a:p>
        </p:txBody>
      </p:sp>
      <p:sp>
        <p:nvSpPr>
          <p:cNvPr id="22" name="S22"/>
          <p:cNvSpPr/>
          <p:nvPr/>
        </p:nvSpPr>
        <p:spPr>
          <a:xfrm>
            <a:off x="7196328" y="3858768"/>
            <a:ext cx="146304" cy="146304"/>
          </a:xfrm>
          <a:prstGeom prst="diamond">
            <a:avLst/>
          </a:prstGeom>
          <a:solidFill>
            <a:srgbClr val="FFFFFF"/>
          </a:solidFill>
          <a:ln w="15875">
            <a:solidFill>
              <a:srgbClr val="2B3050"/>
            </a:solidFill>
          </a:ln>
        </p:spPr>
        <p:txBody>
          <a:bodyPr/>
          <a:lstStyle/>
          <a:p>
            <a:endParaRPr lang="zh-TW" altLang="en-US"/>
          </a:p>
        </p:txBody>
      </p:sp>
      <p:sp>
        <p:nvSpPr>
          <p:cNvPr id="23" name="S23"/>
          <p:cNvSpPr/>
          <p:nvPr/>
        </p:nvSpPr>
        <p:spPr>
          <a:xfrm>
            <a:off x="6601968" y="3264408"/>
            <a:ext cx="146304" cy="146304"/>
          </a:xfrm>
          <a:prstGeom prst="diamond">
            <a:avLst/>
          </a:prstGeom>
          <a:solidFill>
            <a:srgbClr val="FFFFFF"/>
          </a:solidFill>
          <a:ln w="15875">
            <a:solidFill>
              <a:srgbClr val="2B3050"/>
            </a:solidFill>
          </a:ln>
        </p:spPr>
        <p:txBody>
          <a:bodyPr/>
          <a:lstStyle/>
          <a:p>
            <a:endParaRPr lang="zh-TW" altLang="en-US"/>
          </a:p>
        </p:txBody>
      </p:sp>
      <p:sp>
        <p:nvSpPr>
          <p:cNvPr id="24" name="S24"/>
          <p:cNvSpPr/>
          <p:nvPr/>
        </p:nvSpPr>
        <p:spPr>
          <a:xfrm>
            <a:off x="6007608" y="3858768"/>
            <a:ext cx="146304" cy="146304"/>
          </a:xfrm>
          <a:prstGeom prst="diamond">
            <a:avLst/>
          </a:prstGeom>
          <a:solidFill>
            <a:srgbClr val="FFFFFF"/>
          </a:solidFill>
          <a:ln w="15875">
            <a:solidFill>
              <a:srgbClr val="2B3050"/>
            </a:solidFill>
          </a:ln>
        </p:spPr>
        <p:txBody>
          <a:bodyPr/>
          <a:lstStyle/>
          <a:p>
            <a:endParaRPr lang="zh-TW" altLang="en-US"/>
          </a:p>
        </p:txBody>
      </p:sp>
      <p:sp>
        <p:nvSpPr>
          <p:cNvPr id="25" name="S25"/>
          <p:cNvSpPr/>
          <p:nvPr/>
        </p:nvSpPr>
        <p:spPr>
          <a:xfrm>
            <a:off x="6601968" y="4453128"/>
            <a:ext cx="146304" cy="146304"/>
          </a:xfrm>
          <a:prstGeom prst="diamond">
            <a:avLst/>
          </a:prstGeom>
          <a:solidFill>
            <a:srgbClr val="FFFFFF"/>
          </a:solidFill>
          <a:ln w="15875">
            <a:solidFill>
              <a:srgbClr val="2B3050"/>
            </a:solidFill>
          </a:ln>
        </p:spPr>
        <p:txBody>
          <a:bodyPr/>
          <a:lstStyle/>
          <a:p>
            <a:endParaRPr lang="zh-TW" altLang="en-US"/>
          </a:p>
        </p:txBody>
      </p:sp>
      <p:sp>
        <p:nvSpPr>
          <p:cNvPr id="26" name="T26"/>
          <p:cNvSpPr txBox="1"/>
          <p:nvPr/>
        </p:nvSpPr>
        <p:spPr>
          <a:xfrm>
            <a:off x="5212080" y="3886200"/>
            <a:ext cx="8229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三壘</a:t>
            </a:r>
            <a:endParaRPr lang="zh-TW" sz="2400"/>
          </a:p>
        </p:txBody>
      </p:sp>
      <p:sp>
        <p:nvSpPr>
          <p:cNvPr id="27" name="T27"/>
          <p:cNvSpPr txBox="1"/>
          <p:nvPr/>
        </p:nvSpPr>
        <p:spPr>
          <a:xfrm>
            <a:off x="7379208" y="3886200"/>
            <a:ext cx="8229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一壘</a:t>
            </a:r>
            <a:endParaRPr lang="zh-TW" sz="2400"/>
          </a:p>
        </p:txBody>
      </p:sp>
      <p:sp>
        <p:nvSpPr>
          <p:cNvPr id="28" name="S28"/>
          <p:cNvSpPr/>
          <p:nvPr/>
        </p:nvSpPr>
        <p:spPr>
          <a:xfrm>
            <a:off x="7891272" y="2039112"/>
            <a:ext cx="219456" cy="219456"/>
          </a:xfrm>
          <a:prstGeom prst="ellipse">
            <a:avLst/>
          </a:prstGeom>
          <a:solidFill>
            <a:srgbClr val="C8901F"/>
          </a:solidFill>
          <a:ln>
            <a:noFill/>
          </a:ln>
        </p:spPr>
        <p:txBody>
          <a:bodyPr/>
          <a:lstStyle/>
          <a:p>
            <a:endParaRPr lang="zh-TW" altLang="en-US"/>
          </a:p>
        </p:txBody>
      </p:sp>
      <p:sp>
        <p:nvSpPr>
          <p:cNvPr id="29" name="T29"/>
          <p:cNvSpPr txBox="1"/>
          <p:nvPr/>
        </p:nvSpPr>
        <p:spPr>
          <a:xfrm>
            <a:off x="7543800" y="1600200"/>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C8901F"/>
                </a:solidFill>
                <a:latin typeface="Calibri"/>
                <a:ea typeface="微軟正黑體"/>
                <a:cs typeface="Calibri"/>
              </a:rPr>
              <a:t>一朗</a:t>
            </a:r>
            <a:endParaRPr lang="zh-TW" sz="2400"/>
          </a:p>
        </p:txBody>
      </p:sp>
      <p:sp>
        <p:nvSpPr>
          <p:cNvPr id="30" name="S30"/>
          <p:cNvSpPr/>
          <p:nvPr/>
        </p:nvSpPr>
        <p:spPr>
          <a:xfrm>
            <a:off x="7187184" y="3849624"/>
            <a:ext cx="164592" cy="164592"/>
          </a:xfrm>
          <a:prstGeom prst="ellipse">
            <a:avLst/>
          </a:prstGeom>
          <a:solidFill>
            <a:srgbClr val="8A8F9C"/>
          </a:solidFill>
          <a:ln>
            <a:noFill/>
          </a:ln>
        </p:spPr>
        <p:txBody>
          <a:bodyPr/>
          <a:lstStyle/>
          <a:p>
            <a:endParaRPr lang="zh-TW" altLang="en-US"/>
          </a:p>
        </p:txBody>
      </p:sp>
      <p:sp>
        <p:nvSpPr>
          <p:cNvPr id="31" name="S31"/>
          <p:cNvSpPr/>
          <p:nvPr/>
        </p:nvSpPr>
        <p:spPr>
          <a:xfrm>
            <a:off x="7936992" y="2084832"/>
            <a:ext cx="128016" cy="128016"/>
          </a:xfrm>
          <a:prstGeom prst="ellipse">
            <a:avLst/>
          </a:prstGeom>
          <a:solidFill>
            <a:srgbClr val="D6006F"/>
          </a:solidFill>
          <a:ln>
            <a:noFill/>
          </a:ln>
        </p:spPr>
        <p:txBody>
          <a:bodyPr/>
          <a:lstStyle/>
          <a:p>
            <a:endParaRPr lang="zh-TW" altLang="en-US"/>
          </a:p>
        </p:txBody>
      </p:sp>
      <p:sp>
        <p:nvSpPr>
          <p:cNvPr id="32" name="P32"/>
          <p:cNvSpPr/>
          <p:nvPr/>
        </p:nvSpPr>
        <p:spPr>
          <a:xfrm>
            <a:off x="6080760" y="2148840"/>
            <a:ext cx="1920240" cy="1783080"/>
          </a:xfrm>
          <a:custGeom>
            <a:avLst/>
            <a:gdLst/>
            <a:ahLst/>
            <a:cxnLst/>
            <a:rect l="0" t="0" r="r" b="b"/>
            <a:pathLst>
              <a:path w="1920240" h="1783080">
                <a:moveTo>
                  <a:pt x="1920240" y="0"/>
                </a:moveTo>
                <a:lnTo>
                  <a:pt x="1824228" y="89154"/>
                </a:lnTo>
                <a:lnTo>
                  <a:pt x="1728216" y="178308"/>
                </a:lnTo>
                <a:lnTo>
                  <a:pt x="1632204" y="267462"/>
                </a:lnTo>
                <a:lnTo>
                  <a:pt x="1536192" y="356616"/>
                </a:lnTo>
                <a:lnTo>
                  <a:pt x="1440180" y="445770"/>
                </a:lnTo>
                <a:lnTo>
                  <a:pt x="1344168" y="534924"/>
                </a:lnTo>
                <a:lnTo>
                  <a:pt x="1248156" y="624078"/>
                </a:lnTo>
                <a:lnTo>
                  <a:pt x="1152144" y="713232"/>
                </a:lnTo>
                <a:lnTo>
                  <a:pt x="1056132" y="802386"/>
                </a:lnTo>
                <a:lnTo>
                  <a:pt x="960120" y="891540"/>
                </a:lnTo>
                <a:lnTo>
                  <a:pt x="864108" y="980694"/>
                </a:lnTo>
                <a:lnTo>
                  <a:pt x="768096" y="1069848"/>
                </a:lnTo>
                <a:lnTo>
                  <a:pt x="672084" y="1159002"/>
                </a:lnTo>
                <a:lnTo>
                  <a:pt x="576072" y="1248156"/>
                </a:lnTo>
                <a:lnTo>
                  <a:pt x="480060" y="1337310"/>
                </a:lnTo>
                <a:lnTo>
                  <a:pt x="384048" y="1426464"/>
                </a:lnTo>
                <a:lnTo>
                  <a:pt x="288036" y="1515618"/>
                </a:lnTo>
                <a:lnTo>
                  <a:pt x="192024" y="1604772"/>
                </a:lnTo>
                <a:lnTo>
                  <a:pt x="96012" y="1693926"/>
                </a:lnTo>
                <a:lnTo>
                  <a:pt x="0" y="1783080"/>
                </a:lnTo>
              </a:path>
            </a:pathLst>
          </a:custGeom>
          <a:noFill/>
          <a:ln w="25400">
            <a:solidFill>
              <a:srgbClr val="D6006F"/>
            </a:solidFill>
            <a:prstDash val="dash"/>
          </a:ln>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0" presetClass="path" presetSubtype="0" fill="hold" grpId="1" nodeType="withEffect">
                                  <p:stCondLst>
                                    <p:cond delay="0"/>
                                  </p:stCondLst>
                                  <p:childTnLst>
                                    <p:animMotion origin="layout" path="M 0 0 L 0.00000 0.00000 L -0.06500 -0.11556 L -0.13000 0.00000 E" pathEditMode="relative" ptsTypes="">
                                      <p:cBhvr>
                                        <p:cTn id="9" dur="2000" fill="hold"/>
                                        <p:tgtEl>
                                          <p:spTgt spid="30"/>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par>
                                <p:cTn id="15" presetID="0" presetClass="path" presetSubtype="0" fill="hold" grpId="1" nodeType="withEffect">
                                  <p:stCondLst>
                                    <p:cond delay="0"/>
                                  </p:stCondLst>
                                  <p:childTnLst>
                                    <p:animMotion origin="layout" path="M 0 0 L 0.00000 0.00000 L -0.01050 0.01733 L -0.02100 0.03467 L -0.03150 0.05200 L -0.04200 0.06933 L -0.05250 0.08667 L -0.06300 0.10400 L -0.07350 0.12133 L -0.08400 0.13867 L -0.09450 0.15600 L -0.10500 0.17333 L -0.11550 0.19067 L -0.12600 0.20800 L -0.13650 0.22533 L -0.14700 0.24267 L -0.15750 0.26000 L -0.16800 0.27733 L -0.17850 0.29467 L -0.18900 0.31200 L -0.19950 0.32933 L -0.21000 0.34667 E" pathEditMode="relative" ptsTypes="">
                                      <p:cBhvr>
                                        <p:cTn id="16" dur="1200" fill="hold"/>
                                        <p:tgtEl>
                                          <p:spTgt spid="31"/>
                                        </p:tgtEl>
                                        <p:attrNameLst>
                                          <p:attrName>ppt_x</p:attrName>
                                          <p:attrName>ppt_y</p:attrName>
                                        </p:attrNameLst>
                                      </p:cBhvr>
                                    </p:animMotion>
                                  </p:childTnLst>
                                </p:cTn>
                              </p:par>
                              <p:par>
                                <p:cTn id="17" presetID="10" presetClass="entr" presetSubtype="0" fill="hold" grpId="0" nodeType="withEffect">
                                  <p:stCondLst>
                                    <p:cond delay="10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1" grpId="0" animBg="1"/>
      <p:bldP spid="31" grpId="1" animBg="1"/>
      <p:bldP spid="3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討論：為什麼一朗不用 45° 高吊？</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假設：出手 144 km/h（40 m/s），傳 60 m（忽略阻力）</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25880"/>
                <a:ext cx="795528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𝑅</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𝑔</m:t>
                          </m:r>
                        </m:den>
                      </m:f>
                      <m:r>
                        <a:rPr lang="en-US" altLang="zh-TW" sz="2400" b="0" i="0">
                          <a:solidFill>
                            <a:srgbClr val="2B3050"/>
                          </a:solidFill>
                          <a:latin typeface="Cambria Math" panose="02040503050406030204" pitchFamily="18" charset="0"/>
                          <a:ea typeface="Cambria Math"/>
                        </a:rPr>
                        <m:t> = 60 →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9.8 × 60</m:t>
                          </m:r>
                        </m:num>
                        <m:den>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40</m:t>
                              </m:r>
                            </m:e>
                            <m:sup>
                              <m:r>
                                <a:rPr lang="en-US" altLang="zh-TW" sz="2400" b="0" i="0">
                                  <a:solidFill>
                                    <a:srgbClr val="2B3050"/>
                                  </a:solidFill>
                                  <a:latin typeface="Cambria Math" panose="02040503050406030204" pitchFamily="18" charset="0"/>
                                  <a:ea typeface="Cambria Math"/>
                                </a:rPr>
                                <m:t>2</m:t>
                              </m:r>
                            </m:sup>
                          </m:sSup>
                        </m:den>
                      </m:f>
                      <m:r>
                        <a:rPr lang="en-US" altLang="zh-TW" sz="2400" b="0" i="0">
                          <a:solidFill>
                            <a:srgbClr val="2B3050"/>
                          </a:solidFill>
                          <a:latin typeface="Cambria Math" panose="02040503050406030204" pitchFamily="18" charset="0"/>
                          <a:ea typeface="Cambria Math"/>
                        </a:rPr>
                        <m:t> = 0.3675</m:t>
                      </m:r>
                    </m:oMath>
                  </m:oMathPara>
                </a14:m>
                <a:endParaRPr lang="zh-TW" sz="2400"/>
              </a:p>
            </p:txBody>
          </p:sp>
        </mc:Choice>
        <mc:Fallback xmlns="">
          <p:pic>
            <p:nvPicPr>
              <p:cNvPr id="12" name="F12"/>
              <p:cNvPicPr/>
              <p:nvPr/>
            </p:nvPicPr>
            <p:blipFill>
              <a:blip r:embed="rId2"/>
              <a:stretch>
                <a:fillRect/>
              </a:stretch>
            </p:blipFill>
            <p:spPr>
              <a:xfrm>
                <a:off x="365760" y="1325880"/>
                <a:ext cx="7955280" cy="914400"/>
              </a:xfrm>
              <a:prstGeom prst="rect">
                <a:avLst/>
              </a:prstGeom>
              <a:noFill/>
              <a:ln>
                <a:noFill/>
              </a:ln>
            </p:spPr>
          </p:pic>
        </mc:Fallback>
      </mc:AlternateContent>
      <p:sp>
        <p:nvSpPr>
          <p:cNvPr id="13" name="T13"/>
          <p:cNvSpPr txBox="1"/>
          <p:nvPr/>
        </p:nvSpPr>
        <p:spPr>
          <a:xfrm>
            <a:off x="365760" y="2331720"/>
            <a:ext cx="7955280" cy="457200"/>
          </a:xfrm>
          <a:prstGeom prst="roundRect">
            <a:avLst/>
          </a:prstGeom>
          <a:solidFill>
            <a:srgbClr val="E4E8F0"/>
          </a:solidFill>
          <a:ln>
            <a:noFill/>
          </a:ln>
        </p:spPr>
        <p:txBody>
          <a:bodyPr wrap="square" lIns="54864" tIns="27432" rIns="54864" bIns="27432" anchor="ctr">
            <a:noAutofit/>
          </a:bodyPr>
          <a:lstStyle/>
          <a:p>
            <a:pPr algn="ctr">
              <a:lnSpc>
                <a:spcPct val="100000"/>
              </a:lnSpc>
              <a:buNone/>
            </a:pPr>
            <a:r>
              <a:rPr lang="zh-TW" altLang="en-US" sz="2400" b="1" dirty="0">
                <a:solidFill>
                  <a:srgbClr val="2B3050"/>
                </a:solidFill>
                <a:latin typeface="Calibri"/>
                <a:ea typeface="微軟正黑體"/>
                <a:cs typeface="Calibri"/>
              </a:rPr>
              <a:t>角度　　　飛行時間　　　最高點</a:t>
            </a:r>
            <a:endParaRPr lang="zh-TW" sz="2400"/>
          </a:p>
        </p:txBody>
      </p:sp>
      <p:sp>
        <p:nvSpPr>
          <p:cNvPr id="14" name="T14"/>
          <p:cNvSpPr txBox="1"/>
          <p:nvPr/>
        </p:nvSpPr>
        <p:spPr>
          <a:xfrm>
            <a:off x="365760" y="2816352"/>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D6006F"/>
                </a:solidFill>
                <a:latin typeface="Calibri"/>
                <a:ea typeface="微軟正黑體"/>
                <a:cs typeface="Calibri"/>
              </a:rPr>
              <a:t>10.8°　　　　1.53 s　　　　 2.9 m</a:t>
            </a:r>
            <a:endParaRPr lang="zh-TW" sz="2400"/>
          </a:p>
        </p:txBody>
      </p:sp>
      <p:sp>
        <p:nvSpPr>
          <p:cNvPr id="15" name="T15"/>
          <p:cNvSpPr txBox="1"/>
          <p:nvPr/>
        </p:nvSpPr>
        <p:spPr>
          <a:xfrm>
            <a:off x="365760" y="3291840"/>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8A8F9C"/>
                </a:solidFill>
                <a:latin typeface="Calibri"/>
                <a:ea typeface="微軟正黑體"/>
                <a:cs typeface="Calibri"/>
              </a:rPr>
              <a:t>79.2°　　　　8.02 s　　　　78.8 m</a:t>
            </a:r>
            <a:endParaRPr lang="zh-TW" sz="2400"/>
          </a:p>
        </p:txBody>
      </p:sp>
      <p:sp>
        <p:nvSpPr>
          <p:cNvPr id="16" name="T16"/>
          <p:cNvSpPr txBox="1"/>
          <p:nvPr/>
        </p:nvSpPr>
        <p:spPr>
          <a:xfrm>
            <a:off x="365760" y="3840480"/>
            <a:ext cx="7955280"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同一距離有兩個角度；</a:t>
            </a:r>
            <a:r>
              <a:rPr lang="zh-TW" altLang="en-US" sz="2400" b="1" dirty="0">
                <a:solidFill>
                  <a:srgbClr val="D6006F"/>
                </a:solidFill>
                <a:latin typeface="Calibri"/>
                <a:ea typeface="微軟正黑體"/>
                <a:cs typeface="Calibri"/>
              </a:rPr>
              <a:t>低角度快 5 倍</a:t>
            </a:r>
            <a:r>
              <a:rPr lang="zh-TW" altLang="en-US" sz="2400" b="0" dirty="0">
                <a:solidFill>
                  <a:srgbClr val="2B3050"/>
                </a:solidFill>
                <a:latin typeface="Calibri"/>
                <a:ea typeface="微軟正黑體"/>
                <a:cs typeface="Calibri"/>
              </a:rPr>
              <a:t>，最高點 2.9 m ≈ 報導的「不到 10 英尺」</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討論：同樣出手速度，哪個角度最遠？</a:t>
            </a:r>
          </a:p>
        </p:txBody>
      </p:sp>
      <p:sp>
        <p:nvSpPr>
          <p:cNvPr id="11" name="T11"/>
          <p:cNvSpPr txBox="1"/>
          <p:nvPr/>
        </p:nvSpPr>
        <p:spPr>
          <a:xfrm>
            <a:off x="365760" y="868680"/>
            <a:ext cx="7955280" cy="502920"/>
          </a:xfrm>
          <a:prstGeom prst="roundRect">
            <a:avLst/>
          </a:prstGeom>
          <a:solidFill>
            <a:srgbClr val="E8F4F6"/>
          </a:solidFill>
          <a:ln>
            <a:noFill/>
          </a:ln>
        </p:spPr>
        <p:txBody>
          <a:bodyPr wrap="square" lIns="54864" tIns="27432" rIns="54864" bIns="27432" anchor="ctr">
            <a:noAutofit/>
          </a:bodyPr>
          <a:lstStyle/>
          <a:p>
            <a:pPr algn="l">
              <a:lnSpc>
                <a:spcPct val="100000"/>
              </a:lnSpc>
              <a:buNone/>
            </a:pPr>
            <a:r>
              <a:rPr lang="zh-TW" altLang="en-US" sz="2400" b="0" dirty="0">
                <a:solidFill>
                  <a:srgbClr val="2B3050"/>
                </a:solidFill>
                <a:latin typeface="Calibri"/>
                <a:ea typeface="微軟正黑體"/>
                <a:cs typeface="Calibri"/>
              </a:rPr>
              <a:t>同樣 v0 = 9.82 m/s、出手高 1 m，比較 </a:t>
            </a:r>
            <a:r>
              <a:rPr lang="zh-TW" altLang="en-US" sz="2400" b="1" dirty="0">
                <a:solidFill>
                  <a:srgbClr val="D6006F"/>
                </a:solidFill>
                <a:latin typeface="Calibri"/>
                <a:ea typeface="微軟正黑體"/>
                <a:cs typeface="Calibri"/>
              </a:rPr>
              <a:t>0°、30°、45°、60°</a:t>
            </a:r>
            <a:endParaRPr lang="zh-TW" sz="2400"/>
          </a:p>
        </p:txBody>
      </p:sp>
      <p:cxnSp>
        <p:nvCxnSpPr>
          <p:cNvPr id="12" name="L12"/>
          <p:cNvCxnSpPr/>
          <p:nvPr/>
        </p:nvCxnSpPr>
        <p:spPr>
          <a:xfrm>
            <a:off x="457200" y="4434840"/>
            <a:ext cx="7772400" cy="0"/>
          </a:xfrm>
          <a:prstGeom prst="line">
            <a:avLst/>
          </a:prstGeom>
          <a:ln w="19050">
            <a:solidFill>
              <a:srgbClr val="2B3050"/>
            </a:solidFill>
          </a:ln>
        </p:spPr>
      </p:cxnSp>
      <p:sp>
        <p:nvSpPr>
          <p:cNvPr id="13" name="S13"/>
          <p:cNvSpPr/>
          <p:nvPr/>
        </p:nvSpPr>
        <p:spPr>
          <a:xfrm>
            <a:off x="566928" y="3922776"/>
            <a:ext cx="64008" cy="512064"/>
          </a:xfrm>
          <a:prstGeom prst="rect">
            <a:avLst/>
          </a:prstGeom>
          <a:solidFill>
            <a:srgbClr val="2B3050"/>
          </a:solidFill>
          <a:ln>
            <a:noFill/>
          </a:ln>
        </p:spPr>
        <p:txBody>
          <a:bodyPr/>
          <a:lstStyle/>
          <a:p>
            <a:endParaRPr lang="zh-TW" altLang="en-US"/>
          </a:p>
        </p:txBody>
      </p:sp>
      <p:sp>
        <p:nvSpPr>
          <p:cNvPr id="14" name="P14"/>
          <p:cNvSpPr/>
          <p:nvPr/>
        </p:nvSpPr>
        <p:spPr>
          <a:xfrm>
            <a:off x="594360" y="3922776"/>
            <a:ext cx="3002103" cy="512064"/>
          </a:xfrm>
          <a:custGeom>
            <a:avLst/>
            <a:gdLst/>
            <a:ahLst/>
            <a:cxnLst/>
            <a:rect l="0" t="0" r="r" b="b"/>
            <a:pathLst>
              <a:path w="3002103" h="512064">
                <a:moveTo>
                  <a:pt x="0" y="0"/>
                </a:moveTo>
                <a:lnTo>
                  <a:pt x="83392" y="395"/>
                </a:lnTo>
                <a:lnTo>
                  <a:pt x="166784" y="1580"/>
                </a:lnTo>
                <a:lnTo>
                  <a:pt x="250175" y="3556"/>
                </a:lnTo>
                <a:lnTo>
                  <a:pt x="333567" y="6322"/>
                </a:lnTo>
                <a:lnTo>
                  <a:pt x="416959" y="9878"/>
                </a:lnTo>
                <a:lnTo>
                  <a:pt x="500351" y="14224"/>
                </a:lnTo>
                <a:lnTo>
                  <a:pt x="583742" y="19360"/>
                </a:lnTo>
                <a:lnTo>
                  <a:pt x="667134" y="25287"/>
                </a:lnTo>
                <a:lnTo>
                  <a:pt x="750526" y="32004"/>
                </a:lnTo>
                <a:lnTo>
                  <a:pt x="833918" y="39511"/>
                </a:lnTo>
                <a:lnTo>
                  <a:pt x="917309" y="47808"/>
                </a:lnTo>
                <a:lnTo>
                  <a:pt x="1000701" y="56896"/>
                </a:lnTo>
                <a:lnTo>
                  <a:pt x="1084093" y="66774"/>
                </a:lnTo>
                <a:lnTo>
                  <a:pt x="1167485" y="77442"/>
                </a:lnTo>
                <a:lnTo>
                  <a:pt x="1250876" y="88900"/>
                </a:lnTo>
                <a:lnTo>
                  <a:pt x="1334268" y="101148"/>
                </a:lnTo>
                <a:lnTo>
                  <a:pt x="1417660" y="114187"/>
                </a:lnTo>
                <a:lnTo>
                  <a:pt x="1501052" y="128016"/>
                </a:lnTo>
                <a:lnTo>
                  <a:pt x="1584443" y="142635"/>
                </a:lnTo>
                <a:lnTo>
                  <a:pt x="1667835" y="158044"/>
                </a:lnTo>
                <a:lnTo>
                  <a:pt x="1751227" y="174244"/>
                </a:lnTo>
                <a:lnTo>
                  <a:pt x="1834619" y="191234"/>
                </a:lnTo>
                <a:lnTo>
                  <a:pt x="1918010" y="209014"/>
                </a:lnTo>
                <a:lnTo>
                  <a:pt x="2001402" y="227584"/>
                </a:lnTo>
                <a:lnTo>
                  <a:pt x="2084794" y="246944"/>
                </a:lnTo>
                <a:lnTo>
                  <a:pt x="2168186" y="267095"/>
                </a:lnTo>
                <a:lnTo>
                  <a:pt x="2251577" y="288036"/>
                </a:lnTo>
                <a:lnTo>
                  <a:pt x="2334969" y="309767"/>
                </a:lnTo>
                <a:lnTo>
                  <a:pt x="2418361" y="332288"/>
                </a:lnTo>
                <a:lnTo>
                  <a:pt x="2501753" y="355600"/>
                </a:lnTo>
                <a:lnTo>
                  <a:pt x="2585144" y="379702"/>
                </a:lnTo>
                <a:lnTo>
                  <a:pt x="2668536" y="404594"/>
                </a:lnTo>
                <a:lnTo>
                  <a:pt x="2751928" y="430276"/>
                </a:lnTo>
                <a:lnTo>
                  <a:pt x="2835320" y="456748"/>
                </a:lnTo>
                <a:lnTo>
                  <a:pt x="2918711" y="484011"/>
                </a:lnTo>
                <a:lnTo>
                  <a:pt x="3002103" y="512064"/>
                </a:lnTo>
              </a:path>
            </a:pathLst>
          </a:custGeom>
          <a:noFill/>
          <a:ln w="31750">
            <a:solidFill>
              <a:srgbClr val="8A8F9C"/>
            </a:solidFill>
          </a:ln>
        </p:spPr>
        <p:txBody>
          <a:bodyPr/>
          <a:lstStyle/>
          <a:p>
            <a:endParaRPr lang="zh-TW" altLang="en-US"/>
          </a:p>
        </p:txBody>
      </p:sp>
      <p:sp>
        <p:nvSpPr>
          <p:cNvPr id="15" name="T15"/>
          <p:cNvSpPr txBox="1"/>
          <p:nvPr/>
        </p:nvSpPr>
        <p:spPr>
          <a:xfrm>
            <a:off x="3703320" y="3977640"/>
            <a:ext cx="21031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0°：4.4 m</a:t>
            </a:r>
            <a:endParaRPr lang="zh-TW" sz="2400"/>
          </a:p>
        </p:txBody>
      </p:sp>
      <p:cxnSp>
        <p:nvCxnSpPr>
          <p:cNvPr id="16" name="L16"/>
          <p:cNvCxnSpPr/>
          <p:nvPr/>
        </p:nvCxnSpPr>
        <p:spPr>
          <a:xfrm>
            <a:off x="3596463" y="4480560"/>
            <a:ext cx="0" cy="155448"/>
          </a:xfrm>
          <a:prstGeom prst="line">
            <a:avLst/>
          </a:prstGeom>
          <a:ln w="31750">
            <a:solidFill>
              <a:srgbClr val="8A8F9C"/>
            </a:solidFill>
          </a:ln>
        </p:spPr>
      </p:cxnSp>
      <p:sp>
        <p:nvSpPr>
          <p:cNvPr id="17" name="P17"/>
          <p:cNvSpPr/>
          <p:nvPr/>
        </p:nvSpPr>
        <p:spPr>
          <a:xfrm>
            <a:off x="594360" y="3293120"/>
            <a:ext cx="6766423" cy="1141720"/>
          </a:xfrm>
          <a:custGeom>
            <a:avLst/>
            <a:gdLst/>
            <a:ahLst/>
            <a:cxnLst/>
            <a:rect l="0" t="0" r="r" b="b"/>
            <a:pathLst>
              <a:path w="6766423" h="1141720">
                <a:moveTo>
                  <a:pt x="0" y="629656"/>
                </a:moveTo>
                <a:lnTo>
                  <a:pt x="187956" y="550211"/>
                </a:lnTo>
                <a:lnTo>
                  <a:pt x="375912" y="476119"/>
                </a:lnTo>
                <a:lnTo>
                  <a:pt x="563869" y="407380"/>
                </a:lnTo>
                <a:lnTo>
                  <a:pt x="751825" y="343993"/>
                </a:lnTo>
                <a:lnTo>
                  <a:pt x="939781" y="285958"/>
                </a:lnTo>
                <a:lnTo>
                  <a:pt x="1127737" y="233276"/>
                </a:lnTo>
                <a:lnTo>
                  <a:pt x="1315693" y="185947"/>
                </a:lnTo>
                <a:lnTo>
                  <a:pt x="1503650" y="143970"/>
                </a:lnTo>
                <a:lnTo>
                  <a:pt x="1691606" y="107345"/>
                </a:lnTo>
                <a:lnTo>
                  <a:pt x="1879562" y="76073"/>
                </a:lnTo>
                <a:lnTo>
                  <a:pt x="2067518" y="50154"/>
                </a:lnTo>
                <a:lnTo>
                  <a:pt x="2255474" y="29586"/>
                </a:lnTo>
                <a:lnTo>
                  <a:pt x="2443431" y="14372"/>
                </a:lnTo>
                <a:lnTo>
                  <a:pt x="2631387" y="4510"/>
                </a:lnTo>
                <a:lnTo>
                  <a:pt x="2819343" y="0"/>
                </a:lnTo>
                <a:lnTo>
                  <a:pt x="3007299" y="843"/>
                </a:lnTo>
                <a:lnTo>
                  <a:pt x="3195255" y="7038"/>
                </a:lnTo>
                <a:lnTo>
                  <a:pt x="3383212" y="18586"/>
                </a:lnTo>
                <a:lnTo>
                  <a:pt x="3571168" y="35486"/>
                </a:lnTo>
                <a:lnTo>
                  <a:pt x="3759124" y="57739"/>
                </a:lnTo>
                <a:lnTo>
                  <a:pt x="3947080" y="85344"/>
                </a:lnTo>
                <a:lnTo>
                  <a:pt x="4135036" y="118302"/>
                </a:lnTo>
                <a:lnTo>
                  <a:pt x="4322993" y="156612"/>
                </a:lnTo>
                <a:lnTo>
                  <a:pt x="4510949" y="200274"/>
                </a:lnTo>
                <a:lnTo>
                  <a:pt x="4698905" y="249290"/>
                </a:lnTo>
                <a:lnTo>
                  <a:pt x="4886861" y="303657"/>
                </a:lnTo>
                <a:lnTo>
                  <a:pt x="5074817" y="363377"/>
                </a:lnTo>
                <a:lnTo>
                  <a:pt x="5262773" y="428450"/>
                </a:lnTo>
                <a:lnTo>
                  <a:pt x="5450730" y="498875"/>
                </a:lnTo>
                <a:lnTo>
                  <a:pt x="5638686" y="574652"/>
                </a:lnTo>
                <a:lnTo>
                  <a:pt x="5826642" y="655782"/>
                </a:lnTo>
                <a:lnTo>
                  <a:pt x="6014598" y="742265"/>
                </a:lnTo>
                <a:lnTo>
                  <a:pt x="6202554" y="834100"/>
                </a:lnTo>
                <a:lnTo>
                  <a:pt x="6390511" y="931287"/>
                </a:lnTo>
                <a:lnTo>
                  <a:pt x="6578467" y="1033827"/>
                </a:lnTo>
                <a:lnTo>
                  <a:pt x="6766423" y="1141720"/>
                </a:lnTo>
              </a:path>
            </a:pathLst>
          </a:custGeom>
          <a:noFill/>
          <a:ln w="31750">
            <a:solidFill>
              <a:srgbClr val="1F8899"/>
            </a:solidFill>
          </a:ln>
        </p:spPr>
        <p:txBody>
          <a:bodyPr/>
          <a:lstStyle/>
          <a:p>
            <a:endParaRPr lang="zh-TW" altLang="en-US"/>
          </a:p>
        </p:txBody>
      </p:sp>
      <p:sp>
        <p:nvSpPr>
          <p:cNvPr id="18" name="T18"/>
          <p:cNvSpPr txBox="1"/>
          <p:nvPr/>
        </p:nvSpPr>
        <p:spPr>
          <a:xfrm>
            <a:off x="6400800" y="3108960"/>
            <a:ext cx="21031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30°：10.0 m</a:t>
            </a:r>
            <a:endParaRPr lang="zh-TW" sz="2400"/>
          </a:p>
        </p:txBody>
      </p:sp>
      <p:cxnSp>
        <p:nvCxnSpPr>
          <p:cNvPr id="19" name="L19"/>
          <p:cNvCxnSpPr/>
          <p:nvPr/>
        </p:nvCxnSpPr>
        <p:spPr>
          <a:xfrm>
            <a:off x="7360783" y="4480560"/>
            <a:ext cx="0" cy="155448"/>
          </a:xfrm>
          <a:prstGeom prst="line">
            <a:avLst/>
          </a:prstGeom>
          <a:ln w="31750">
            <a:solidFill>
              <a:srgbClr val="1F8899"/>
            </a:solidFill>
          </a:ln>
        </p:spPr>
      </p:cxnSp>
      <p:sp>
        <p:nvSpPr>
          <p:cNvPr id="20" name="P20"/>
          <p:cNvSpPr/>
          <p:nvPr/>
        </p:nvSpPr>
        <p:spPr>
          <a:xfrm>
            <a:off x="594360" y="2663859"/>
            <a:ext cx="7278781" cy="1770981"/>
          </a:xfrm>
          <a:custGeom>
            <a:avLst/>
            <a:gdLst/>
            <a:ahLst/>
            <a:cxnLst/>
            <a:rect l="0" t="0" r="r" b="b"/>
            <a:pathLst>
              <a:path w="7278781" h="1770981">
                <a:moveTo>
                  <a:pt x="0" y="1258917"/>
                </a:moveTo>
                <a:lnTo>
                  <a:pt x="202188" y="1110555"/>
                </a:lnTo>
                <a:lnTo>
                  <a:pt x="404377" y="971484"/>
                </a:lnTo>
                <a:lnTo>
                  <a:pt x="606565" y="841703"/>
                </a:lnTo>
                <a:lnTo>
                  <a:pt x="808753" y="721213"/>
                </a:lnTo>
                <a:lnTo>
                  <a:pt x="1010942" y="610013"/>
                </a:lnTo>
                <a:lnTo>
                  <a:pt x="1213130" y="508104"/>
                </a:lnTo>
                <a:lnTo>
                  <a:pt x="1415319" y="415486"/>
                </a:lnTo>
                <a:lnTo>
                  <a:pt x="1617507" y="332158"/>
                </a:lnTo>
                <a:lnTo>
                  <a:pt x="1819695" y="258121"/>
                </a:lnTo>
                <a:lnTo>
                  <a:pt x="2021884" y="193375"/>
                </a:lnTo>
                <a:lnTo>
                  <a:pt x="2224072" y="137919"/>
                </a:lnTo>
                <a:lnTo>
                  <a:pt x="2426260" y="91754"/>
                </a:lnTo>
                <a:lnTo>
                  <a:pt x="2628449" y="54880"/>
                </a:lnTo>
                <a:lnTo>
                  <a:pt x="2830637" y="27296"/>
                </a:lnTo>
                <a:lnTo>
                  <a:pt x="3032826" y="9003"/>
                </a:lnTo>
                <a:lnTo>
                  <a:pt x="3235014" y="0"/>
                </a:lnTo>
                <a:lnTo>
                  <a:pt x="3437202" y="288"/>
                </a:lnTo>
                <a:lnTo>
                  <a:pt x="3639391" y="9867"/>
                </a:lnTo>
                <a:lnTo>
                  <a:pt x="3841579" y="28736"/>
                </a:lnTo>
                <a:lnTo>
                  <a:pt x="4043767" y="56896"/>
                </a:lnTo>
                <a:lnTo>
                  <a:pt x="4245956" y="94347"/>
                </a:lnTo>
                <a:lnTo>
                  <a:pt x="4448144" y="141088"/>
                </a:lnTo>
                <a:lnTo>
                  <a:pt x="4650332" y="197120"/>
                </a:lnTo>
                <a:lnTo>
                  <a:pt x="4852521" y="262442"/>
                </a:lnTo>
                <a:lnTo>
                  <a:pt x="5054709" y="337055"/>
                </a:lnTo>
                <a:lnTo>
                  <a:pt x="5256898" y="420959"/>
                </a:lnTo>
                <a:lnTo>
                  <a:pt x="5459086" y="514153"/>
                </a:lnTo>
                <a:lnTo>
                  <a:pt x="5661274" y="616638"/>
                </a:lnTo>
                <a:lnTo>
                  <a:pt x="5863463" y="728414"/>
                </a:lnTo>
                <a:lnTo>
                  <a:pt x="6065651" y="849480"/>
                </a:lnTo>
                <a:lnTo>
                  <a:pt x="6267839" y="979837"/>
                </a:lnTo>
                <a:lnTo>
                  <a:pt x="6470028" y="1119485"/>
                </a:lnTo>
                <a:lnTo>
                  <a:pt x="6672216" y="1268423"/>
                </a:lnTo>
                <a:lnTo>
                  <a:pt x="6874405" y="1426652"/>
                </a:lnTo>
                <a:lnTo>
                  <a:pt x="7076593" y="1594171"/>
                </a:lnTo>
                <a:lnTo>
                  <a:pt x="7278781" y="1770981"/>
                </a:lnTo>
              </a:path>
            </a:pathLst>
          </a:custGeom>
          <a:noFill/>
          <a:ln w="31750">
            <a:solidFill>
              <a:srgbClr val="D6006F"/>
            </a:solidFill>
          </a:ln>
        </p:spPr>
        <p:txBody>
          <a:bodyPr/>
          <a:lstStyle/>
          <a:p>
            <a:endParaRPr lang="zh-TW" altLang="en-US"/>
          </a:p>
        </p:txBody>
      </p:sp>
      <p:sp>
        <p:nvSpPr>
          <p:cNvPr id="21" name="T21"/>
          <p:cNvSpPr txBox="1"/>
          <p:nvPr/>
        </p:nvSpPr>
        <p:spPr>
          <a:xfrm>
            <a:off x="4846320" y="2148840"/>
            <a:ext cx="21031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45°：10.8 m</a:t>
            </a:r>
            <a:endParaRPr lang="zh-TW" sz="2400"/>
          </a:p>
        </p:txBody>
      </p:sp>
      <p:cxnSp>
        <p:nvCxnSpPr>
          <p:cNvPr id="22" name="L22"/>
          <p:cNvCxnSpPr/>
          <p:nvPr/>
        </p:nvCxnSpPr>
        <p:spPr>
          <a:xfrm>
            <a:off x="7873141" y="4480560"/>
            <a:ext cx="0" cy="155448"/>
          </a:xfrm>
          <a:prstGeom prst="line">
            <a:avLst/>
          </a:prstGeom>
          <a:ln w="31750">
            <a:solidFill>
              <a:srgbClr val="D6006F"/>
            </a:solidFill>
          </a:ln>
        </p:spPr>
      </p:cxnSp>
      <p:sp>
        <p:nvSpPr>
          <p:cNvPr id="23" name="P23"/>
          <p:cNvSpPr/>
          <p:nvPr/>
        </p:nvSpPr>
        <p:spPr>
          <a:xfrm>
            <a:off x="594360" y="2032907"/>
            <a:ext cx="6134730" cy="2401933"/>
          </a:xfrm>
          <a:custGeom>
            <a:avLst/>
            <a:gdLst/>
            <a:ahLst/>
            <a:cxnLst/>
            <a:rect l="0" t="0" r="r" b="b"/>
            <a:pathLst>
              <a:path w="6134730" h="2401933">
                <a:moveTo>
                  <a:pt x="0" y="1889869"/>
                </a:moveTo>
                <a:lnTo>
                  <a:pt x="170409" y="1673106"/>
                </a:lnTo>
                <a:lnTo>
                  <a:pt x="340818" y="1469543"/>
                </a:lnTo>
                <a:lnTo>
                  <a:pt x="511227" y="1279179"/>
                </a:lnTo>
                <a:lnTo>
                  <a:pt x="681637" y="1102014"/>
                </a:lnTo>
                <a:lnTo>
                  <a:pt x="852046" y="938048"/>
                </a:lnTo>
                <a:lnTo>
                  <a:pt x="1022455" y="787282"/>
                </a:lnTo>
                <a:lnTo>
                  <a:pt x="1192864" y="649714"/>
                </a:lnTo>
                <a:lnTo>
                  <a:pt x="1363273" y="525346"/>
                </a:lnTo>
                <a:lnTo>
                  <a:pt x="1533682" y="414178"/>
                </a:lnTo>
                <a:lnTo>
                  <a:pt x="1704092" y="316208"/>
                </a:lnTo>
                <a:lnTo>
                  <a:pt x="1874501" y="231438"/>
                </a:lnTo>
                <a:lnTo>
                  <a:pt x="2044910" y="159867"/>
                </a:lnTo>
                <a:lnTo>
                  <a:pt x="2215319" y="101495"/>
                </a:lnTo>
                <a:lnTo>
                  <a:pt x="2385728" y="56322"/>
                </a:lnTo>
                <a:lnTo>
                  <a:pt x="2556137" y="24349"/>
                </a:lnTo>
                <a:lnTo>
                  <a:pt x="2726547" y="5575"/>
                </a:lnTo>
                <a:lnTo>
                  <a:pt x="2896956" y="0"/>
                </a:lnTo>
                <a:lnTo>
                  <a:pt x="3067365" y="7624"/>
                </a:lnTo>
                <a:lnTo>
                  <a:pt x="3237774" y="28448"/>
                </a:lnTo>
                <a:lnTo>
                  <a:pt x="3408183" y="62471"/>
                </a:lnTo>
                <a:lnTo>
                  <a:pt x="3578592" y="109693"/>
                </a:lnTo>
                <a:lnTo>
                  <a:pt x="3749002" y="170114"/>
                </a:lnTo>
                <a:lnTo>
                  <a:pt x="3919411" y="243735"/>
                </a:lnTo>
                <a:lnTo>
                  <a:pt x="4089820" y="330555"/>
                </a:lnTo>
                <a:lnTo>
                  <a:pt x="4260229" y="430574"/>
                </a:lnTo>
                <a:lnTo>
                  <a:pt x="4430638" y="543792"/>
                </a:lnTo>
                <a:lnTo>
                  <a:pt x="4601047" y="670210"/>
                </a:lnTo>
                <a:lnTo>
                  <a:pt x="4771456" y="809826"/>
                </a:lnTo>
                <a:lnTo>
                  <a:pt x="4941866" y="962642"/>
                </a:lnTo>
                <a:lnTo>
                  <a:pt x="5112275" y="1128658"/>
                </a:lnTo>
                <a:lnTo>
                  <a:pt x="5282684" y="1307872"/>
                </a:lnTo>
                <a:lnTo>
                  <a:pt x="5453093" y="1500286"/>
                </a:lnTo>
                <a:lnTo>
                  <a:pt x="5623502" y="1705899"/>
                </a:lnTo>
                <a:lnTo>
                  <a:pt x="5793911" y="1924711"/>
                </a:lnTo>
                <a:lnTo>
                  <a:pt x="5964321" y="2156722"/>
                </a:lnTo>
                <a:lnTo>
                  <a:pt x="6134730" y="2401933"/>
                </a:lnTo>
              </a:path>
            </a:pathLst>
          </a:custGeom>
          <a:noFill/>
          <a:ln w="31750">
            <a:solidFill>
              <a:srgbClr val="C8901F"/>
            </a:solidFill>
          </a:ln>
        </p:spPr>
        <p:txBody>
          <a:bodyPr/>
          <a:lstStyle/>
          <a:p>
            <a:endParaRPr lang="zh-TW" altLang="en-US"/>
          </a:p>
        </p:txBody>
      </p:sp>
      <p:sp>
        <p:nvSpPr>
          <p:cNvPr id="24" name="T24"/>
          <p:cNvSpPr txBox="1"/>
          <p:nvPr/>
        </p:nvSpPr>
        <p:spPr>
          <a:xfrm>
            <a:off x="3566160" y="1600200"/>
            <a:ext cx="21031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60°：9.1 m</a:t>
            </a:r>
            <a:endParaRPr lang="zh-TW" sz="2400"/>
          </a:p>
        </p:txBody>
      </p:sp>
      <p:cxnSp>
        <p:nvCxnSpPr>
          <p:cNvPr id="25" name="L25"/>
          <p:cNvCxnSpPr/>
          <p:nvPr/>
        </p:nvCxnSpPr>
        <p:spPr>
          <a:xfrm>
            <a:off x="6729090" y="4480560"/>
            <a:ext cx="0" cy="155448"/>
          </a:xfrm>
          <a:prstGeom prst="line">
            <a:avLst/>
          </a:prstGeom>
          <a:ln w="31750">
            <a:solidFill>
              <a:srgbClr val="C8901F"/>
            </a:solidFill>
          </a:ln>
        </p:spPr>
      </p:cxnSp>
      <p:sp>
        <p:nvSpPr>
          <p:cNvPr id="26" name="T26"/>
          <p:cNvSpPr txBox="1"/>
          <p:nvPr/>
        </p:nvSpPr>
        <p:spPr>
          <a:xfrm>
            <a:off x="365760" y="1508760"/>
            <a:ext cx="2926080" cy="548640"/>
          </a:xfrm>
          <a:prstGeom prst="roundRect">
            <a:avLst/>
          </a:prstGeom>
          <a:solidFill>
            <a:srgbClr val="FDECF4"/>
          </a:solidFill>
          <a:ln>
            <a:noFill/>
          </a:ln>
        </p:spPr>
        <p:txBody>
          <a:bodyPr wrap="square" lIns="54864" tIns="27432" rIns="54864" bIns="27432" anchor="ctr">
            <a:noAutofit/>
          </a:bodyPr>
          <a:lstStyle/>
          <a:p>
            <a:pPr algn="l">
              <a:lnSpc>
                <a:spcPct val="100000"/>
              </a:lnSpc>
              <a:buNone/>
            </a:pPr>
            <a:r>
              <a:rPr lang="zh-TW" altLang="en-US" sz="2400" b="1" dirty="0">
                <a:solidFill>
                  <a:srgbClr val="D6006F"/>
                </a:solidFill>
                <a:latin typeface="Calibri"/>
                <a:ea typeface="微軟正黑體"/>
                <a:cs typeface="Calibri"/>
              </a:rPr>
              <a:t>45° 最遠！</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討論：認真算一次（v0 = 9.82，高 1 m）</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9144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落地時間：</a:t>
                </a:r>
                <a14:m>
                  <m:oMath xmlns:m="http://schemas.openxmlformats.org/officeDocument/2006/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𝑔ℎ</m:t>
                            </m:r>
                          </m:e>
                        </m:rad>
                      </m:num>
                      <m:den>
                        <m:r>
                          <a:rPr lang="en-US" altLang="zh-TW" sz="2400" b="0" i="1">
                            <a:solidFill>
                              <a:srgbClr val="2B3050"/>
                            </a:solidFill>
                            <a:latin typeface="Cambria Math" panose="02040503050406030204" pitchFamily="18" charset="0"/>
                            <a:ea typeface="Cambria Math"/>
                          </a:rPr>
                          <m:t>𝑔</m:t>
                        </m:r>
                      </m:den>
                    </m:f>
                  </m:oMath>
                </a14:m>
                <a:endParaRPr lang="zh-TW" sz="2400"/>
              </a:p>
            </p:txBody>
          </p:sp>
        </mc:Choice>
        <mc:Fallback xmlns="">
          <p:pic>
            <p:nvPicPr>
              <p:cNvPr id="11" name="F11"/>
              <p:cNvPicPr/>
              <p:nvPr/>
            </p:nvPicPr>
            <p:blipFill>
              <a:blip r:embed="rId2"/>
              <a:stretch>
                <a:fillRect/>
              </a:stretch>
            </p:blipFill>
            <p:spPr>
              <a:xfrm>
                <a:off x="365760" y="868680"/>
                <a:ext cx="7955280" cy="914400"/>
              </a:xfrm>
              <a:prstGeom prst="rect">
                <a:avLst/>
              </a:prstGeom>
              <a:noFill/>
              <a:ln>
                <a:noFill/>
              </a:ln>
            </p:spPr>
          </p:pic>
        </mc:Fallback>
      </mc:AlternateContent>
      <p:sp>
        <p:nvSpPr>
          <p:cNvPr id="12" name="T12"/>
          <p:cNvSpPr txBox="1"/>
          <p:nvPr/>
        </p:nvSpPr>
        <p:spPr>
          <a:xfrm>
            <a:off x="365760" y="1874520"/>
            <a:ext cx="7955280" cy="457200"/>
          </a:xfrm>
          <a:prstGeom prst="roundRect">
            <a:avLst/>
          </a:prstGeom>
          <a:solidFill>
            <a:srgbClr val="E4E8F0"/>
          </a:solidFill>
          <a:ln>
            <a:noFill/>
          </a:ln>
        </p:spPr>
        <p:txBody>
          <a:bodyPr wrap="square" lIns="54864" tIns="27432" rIns="54864" bIns="27432" anchor="ctr">
            <a:noAutofit/>
          </a:bodyPr>
          <a:lstStyle/>
          <a:p>
            <a:pPr algn="ctr">
              <a:lnSpc>
                <a:spcPct val="100000"/>
              </a:lnSpc>
              <a:buNone/>
            </a:pPr>
            <a:r>
              <a:rPr lang="zh-TW" altLang="en-US" sz="2400" b="1" dirty="0">
                <a:solidFill>
                  <a:srgbClr val="2B3050"/>
                </a:solidFill>
                <a:latin typeface="Calibri"/>
                <a:ea typeface="微軟正黑體"/>
                <a:cs typeface="Calibri"/>
              </a:rPr>
              <a:t>角度　　v0x　　　v0y　　　t (s)　　　R = v0x·t (m)</a:t>
            </a:r>
            <a:endParaRPr lang="zh-TW" sz="2400"/>
          </a:p>
        </p:txBody>
      </p:sp>
      <p:sp>
        <p:nvSpPr>
          <p:cNvPr id="13" name="T13"/>
          <p:cNvSpPr txBox="1"/>
          <p:nvPr/>
        </p:nvSpPr>
        <p:spPr>
          <a:xfrm>
            <a:off x="365760" y="2359152"/>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8A8F9C"/>
                </a:solidFill>
                <a:latin typeface="Calibri"/>
                <a:ea typeface="微軟正黑體"/>
                <a:cs typeface="Calibri"/>
              </a:rPr>
              <a:t>0°　　9.82　　　0　　　0.452　　　4.4</a:t>
            </a:r>
            <a:endParaRPr lang="zh-TW" sz="2400"/>
          </a:p>
        </p:txBody>
      </p:sp>
      <p:sp>
        <p:nvSpPr>
          <p:cNvPr id="14" name="T14"/>
          <p:cNvSpPr txBox="1"/>
          <p:nvPr/>
        </p:nvSpPr>
        <p:spPr>
          <a:xfrm>
            <a:off x="365760" y="2816352"/>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1F8899"/>
                </a:solidFill>
                <a:latin typeface="Calibri"/>
                <a:ea typeface="微軟正黑體"/>
                <a:cs typeface="Calibri"/>
              </a:rPr>
              <a:t>30°　　8.50　　　4.91　　　1.176　　　10.0</a:t>
            </a:r>
            <a:endParaRPr lang="zh-TW" sz="2400"/>
          </a:p>
        </p:txBody>
      </p:sp>
      <p:sp>
        <p:nvSpPr>
          <p:cNvPr id="15" name="T15"/>
          <p:cNvSpPr txBox="1"/>
          <p:nvPr/>
        </p:nvSpPr>
        <p:spPr>
          <a:xfrm>
            <a:off x="365760" y="3273552"/>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D6006F"/>
                </a:solidFill>
                <a:latin typeface="Calibri"/>
                <a:ea typeface="微軟正黑體"/>
                <a:cs typeface="Calibri"/>
              </a:rPr>
              <a:t>45°　　6.94　　　6.94　　　1.549　　　10.8</a:t>
            </a:r>
            <a:endParaRPr lang="zh-TW" sz="2400"/>
          </a:p>
        </p:txBody>
      </p:sp>
      <p:sp>
        <p:nvSpPr>
          <p:cNvPr id="16" name="T16"/>
          <p:cNvSpPr txBox="1"/>
          <p:nvPr/>
        </p:nvSpPr>
        <p:spPr>
          <a:xfrm>
            <a:off x="365760" y="3730752"/>
            <a:ext cx="7955280" cy="475488"/>
          </a:xfrm>
          <a:prstGeom prst="rect">
            <a:avLst/>
          </a:prstGeom>
          <a:noFill/>
          <a:ln>
            <a:noFill/>
          </a:ln>
        </p:spPr>
        <p:txBody>
          <a:bodyPr wrap="square" lIns="54864" tIns="27432" rIns="54864" bIns="27432" anchor="ctr">
            <a:noAutofit/>
          </a:bodyPr>
          <a:lstStyle/>
          <a:p>
            <a:pPr algn="ctr">
              <a:lnSpc>
                <a:spcPct val="100000"/>
              </a:lnSpc>
              <a:buNone/>
            </a:pPr>
            <a:r>
              <a:rPr lang="zh-TW" altLang="en-US" sz="2400" b="1" dirty="0">
                <a:solidFill>
                  <a:srgbClr val="C8901F"/>
                </a:solidFill>
                <a:latin typeface="Calibri"/>
                <a:ea typeface="微軟正黑體"/>
                <a:cs typeface="Calibri"/>
              </a:rPr>
              <a:t>60°　　4.91　　　8.50　　　1.846　　　9.1</a:t>
            </a:r>
            <a:endParaRPr lang="zh-TW" sz="2400"/>
          </a:p>
        </p:txBody>
      </p:sp>
      <p:sp>
        <p:nvSpPr>
          <p:cNvPr id="17" name="T17"/>
          <p:cNvSpPr txBox="1"/>
          <p:nvPr/>
        </p:nvSpPr>
        <p:spPr>
          <a:xfrm>
            <a:off x="365760" y="4224528"/>
            <a:ext cx="7955280" cy="530352"/>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30° 的 10.0 m 就是例題 2-15 本身！</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討論：結論與口訣</a:t>
            </a:r>
          </a:p>
        </p:txBody>
      </p:sp>
      <p:sp>
        <p:nvSpPr>
          <p:cNvPr id="11" name="T11"/>
          <p:cNvSpPr txBox="1"/>
          <p:nvPr/>
        </p:nvSpPr>
        <p:spPr>
          <a:xfrm>
            <a:off x="365760" y="868680"/>
            <a:ext cx="2103120" cy="10698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同高度</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68680"/>
                <a:ext cx="5760720" cy="10698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𝑅</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𝑔</m:t>
                          </m:r>
                        </m:den>
                      </m:f>
                      <m:r>
                        <a:rPr lang="en-US" altLang="zh-TW" sz="2400" b="0" i="0">
                          <a:solidFill>
                            <a:srgbClr val="2B3050"/>
                          </a:solidFill>
                          <a:latin typeface="Cambria Math" panose="02040503050406030204" pitchFamily="18" charset="0"/>
                          <a:ea typeface="Cambria Math"/>
                        </a:rPr>
                        <m:t>：45° 最遠</m:t>
                      </m:r>
                    </m:oMath>
                  </m:oMathPara>
                </a14:m>
                <a:endParaRPr lang="zh-TW" sz="2400"/>
              </a:p>
              <a:p>
                <a:pPr algn="l">
                  <a:lnSpc>
                    <a:spcPct val="100000"/>
                  </a:lnSpc>
                  <a:buNone/>
                </a:pPr>
                <a:r>
                  <a:rPr lang="zh-TW" altLang="en-US" sz="2400" b="0" dirty="0">
                    <a:solidFill>
                      <a:srgbClr val="2B3050"/>
                    </a:solidFill>
                    <a:latin typeface="Calibri"/>
                    <a:ea typeface="微軟正黑體"/>
                    <a:cs typeface="Calibri"/>
                  </a:rPr>
                  <a:t>0° 射程為 0</a:t>
                </a:r>
                <a:endParaRPr lang="zh-TW" sz="2400"/>
              </a:p>
            </p:txBody>
          </p:sp>
        </mc:Choice>
        <mc:Fallback xmlns="">
          <p:pic>
            <p:nvPicPr>
              <p:cNvPr id="12" name="F12"/>
              <p:cNvPicPr/>
              <p:nvPr/>
            </p:nvPicPr>
            <p:blipFill>
              <a:blip r:embed="rId2"/>
              <a:stretch>
                <a:fillRect/>
              </a:stretch>
            </p:blipFill>
            <p:spPr>
              <a:xfrm>
                <a:off x="2560320" y="868680"/>
                <a:ext cx="5760720" cy="1069848"/>
              </a:xfrm>
              <a:prstGeom prst="roundRect">
                <a:avLst/>
              </a:prstGeom>
              <a:solidFill>
                <a:srgbClr val="E8F4F6"/>
              </a:solidFill>
              <a:ln>
                <a:noFill/>
              </a:ln>
            </p:spPr>
          </p:pic>
        </mc:Fallback>
      </mc:AlternateContent>
      <p:sp>
        <p:nvSpPr>
          <p:cNvPr id="13" name="T13"/>
          <p:cNvSpPr txBox="1"/>
          <p:nvPr/>
        </p:nvSpPr>
        <p:spPr>
          <a:xfrm>
            <a:off x="365760" y="2011680"/>
            <a:ext cx="2103120" cy="8869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互補角</a:t>
            </a:r>
            <a:endParaRPr lang="zh-TW" sz="2400"/>
          </a:p>
        </p:txBody>
      </p:sp>
      <p:sp>
        <p:nvSpPr>
          <p:cNvPr id="14" name="T14"/>
          <p:cNvSpPr txBox="1"/>
          <p:nvPr/>
        </p:nvSpPr>
        <p:spPr>
          <a:xfrm>
            <a:off x="2560320" y="2011680"/>
            <a:ext cx="5760720" cy="8869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30° 和 60° 一樣遠（sin60° 相同）</a:t>
            </a:r>
            <a:endParaRPr lang="zh-TW" sz="2400"/>
          </a:p>
          <a:p>
            <a:pPr algn="l">
              <a:lnSpc>
                <a:spcPct val="100000"/>
              </a:lnSpc>
              <a:buNone/>
            </a:pPr>
            <a:r>
              <a:rPr lang="zh-TW" altLang="en-US" sz="2400" b="0" dirty="0">
                <a:solidFill>
                  <a:srgbClr val="2B3050"/>
                </a:solidFill>
                <a:latin typeface="Calibri"/>
                <a:ea typeface="微軟正黑體"/>
                <a:cs typeface="Calibri"/>
              </a:rPr>
              <a:t>但 60° 飛比較高、比較久</a:t>
            </a:r>
            <a:endParaRPr lang="zh-TW" sz="2400"/>
          </a:p>
        </p:txBody>
      </p:sp>
      <p:sp>
        <p:nvSpPr>
          <p:cNvPr id="15" name="T15"/>
          <p:cNvSpPr txBox="1"/>
          <p:nvPr/>
        </p:nvSpPr>
        <p:spPr>
          <a:xfrm>
            <a:off x="365760" y="2971800"/>
            <a:ext cx="2103120" cy="8869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出手較高</a:t>
            </a:r>
            <a:endParaRPr lang="zh-TW" sz="2400"/>
          </a:p>
        </p:txBody>
      </p:sp>
      <p:sp>
        <p:nvSpPr>
          <p:cNvPr id="16" name="T16"/>
          <p:cNvSpPr txBox="1"/>
          <p:nvPr/>
        </p:nvSpPr>
        <p:spPr>
          <a:xfrm>
            <a:off x="2560320" y="2971800"/>
            <a:ext cx="5760720" cy="8869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最佳角略小於 45°（本例 42.4°）</a:t>
            </a:r>
            <a:endParaRPr lang="zh-TW" sz="2400"/>
          </a:p>
          <a:p>
            <a:pPr algn="l">
              <a:lnSpc>
                <a:spcPct val="100000"/>
              </a:lnSpc>
              <a:buNone/>
            </a:pPr>
            <a:r>
              <a:rPr lang="zh-TW" altLang="en-US" sz="2400" b="0" dirty="0">
                <a:solidFill>
                  <a:srgbClr val="2B3050"/>
                </a:solidFill>
                <a:latin typeface="Calibri"/>
                <a:ea typeface="微軟正黑體"/>
                <a:cs typeface="Calibri"/>
              </a:rPr>
              <a:t>0° 也不是 0（還能飛 4.4 m）</a:t>
            </a:r>
            <a:endParaRPr lang="zh-TW" sz="2400"/>
          </a:p>
        </p:txBody>
      </p:sp>
      <p:sp>
        <p:nvSpPr>
          <p:cNvPr id="17" name="T17"/>
          <p:cNvSpPr txBox="1"/>
          <p:nvPr/>
        </p:nvSpPr>
        <p:spPr>
          <a:xfrm>
            <a:off x="365760" y="3931920"/>
            <a:ext cx="2103120" cy="5212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18" name="T18"/>
          <p:cNvSpPr txBox="1"/>
          <p:nvPr/>
        </p:nvSpPr>
        <p:spPr>
          <a:xfrm>
            <a:off x="2560320" y="3931920"/>
            <a:ext cx="5760720" cy="5212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同高 45 度最遠，互補角一樣遠</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進階：有空氣阻力，還是 45° 嗎？</a:t>
            </a:r>
          </a:p>
        </p:txBody>
      </p:sp>
      <p:sp>
        <p:nvSpPr>
          <p:cNvPr id="11" name="T11"/>
          <p:cNvSpPr txBox="1"/>
          <p:nvPr/>
        </p:nvSpPr>
        <p:spPr>
          <a:xfrm>
            <a:off x="365760" y="868680"/>
            <a:ext cx="49377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不是！阻力越明顯，最佳角越低</a:t>
            </a:r>
            <a:endParaRPr lang="zh-TW" sz="2400"/>
          </a:p>
        </p:txBody>
      </p:sp>
      <p:sp>
        <p:nvSpPr>
          <p:cNvPr id="12" name="T12"/>
          <p:cNvSpPr txBox="1"/>
          <p:nvPr/>
        </p:nvSpPr>
        <p:spPr>
          <a:xfrm>
            <a:off x="365760" y="1325880"/>
            <a:ext cx="49377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高角度滯空久，阻力吃掉更多能量</a:t>
            </a:r>
            <a:endParaRPr lang="zh-TW" sz="2400"/>
          </a:p>
        </p:txBody>
      </p:sp>
      <p:sp>
        <p:nvSpPr>
          <p:cNvPr id="13" name="T13"/>
          <p:cNvSpPr txBox="1"/>
          <p:nvPr/>
        </p:nvSpPr>
        <p:spPr>
          <a:xfrm>
            <a:off x="365760" y="1783080"/>
            <a:ext cx="49377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口訣：阻力越大，壓得越低</a:t>
            </a:r>
            <a:endParaRPr lang="zh-TW" sz="2400"/>
          </a:p>
        </p:txBody>
      </p:sp>
      <p:cxnSp>
        <p:nvCxnSpPr>
          <p:cNvPr id="14" name="L14"/>
          <p:cNvCxnSpPr/>
          <p:nvPr/>
        </p:nvCxnSpPr>
        <p:spPr>
          <a:xfrm>
            <a:off x="960120" y="4526280"/>
            <a:ext cx="6949440" cy="0"/>
          </a:xfrm>
          <a:prstGeom prst="line">
            <a:avLst/>
          </a:prstGeom>
          <a:ln w="15875">
            <a:solidFill>
              <a:srgbClr val="2B3050"/>
            </a:solidFill>
            <a:tailEnd type="triangle" w="med" len="med"/>
          </a:ln>
        </p:spPr>
      </p:cxnSp>
      <p:cxnSp>
        <p:nvCxnSpPr>
          <p:cNvPr id="15" name="L15"/>
          <p:cNvCxnSpPr/>
          <p:nvPr/>
        </p:nvCxnSpPr>
        <p:spPr>
          <a:xfrm flipV="1">
            <a:off x="1051560" y="2468880"/>
            <a:ext cx="0" cy="2148840"/>
          </a:xfrm>
          <a:prstGeom prst="line">
            <a:avLst/>
          </a:prstGeom>
          <a:ln w="15875">
            <a:solidFill>
              <a:srgbClr val="2B3050"/>
            </a:solidFill>
            <a:tailEnd type="triangle" w="med" len="med"/>
          </a:ln>
        </p:spPr>
      </p:cxnSp>
      <p:sp>
        <p:nvSpPr>
          <p:cNvPr id="16" name="T16"/>
          <p:cNvSpPr txBox="1"/>
          <p:nvPr/>
        </p:nvSpPr>
        <p:spPr>
          <a:xfrm>
            <a:off x="7589520" y="4114800"/>
            <a:ext cx="1097280" cy="3657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θ</a:t>
            </a:r>
            <a:endParaRPr lang="zh-TW" sz="2400"/>
          </a:p>
        </p:txBody>
      </p:sp>
      <p:sp>
        <p:nvSpPr>
          <p:cNvPr id="17" name="T17"/>
          <p:cNvSpPr txBox="1"/>
          <p:nvPr/>
        </p:nvSpPr>
        <p:spPr>
          <a:xfrm>
            <a:off x="365760" y="2468880"/>
            <a:ext cx="731520" cy="36576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R</a:t>
            </a:r>
            <a:endParaRPr lang="zh-TW" sz="2400"/>
          </a:p>
        </p:txBody>
      </p:sp>
      <p:cxnSp>
        <p:nvCxnSpPr>
          <p:cNvPr id="18" name="L18"/>
          <p:cNvCxnSpPr/>
          <p:nvPr/>
        </p:nvCxnSpPr>
        <p:spPr>
          <a:xfrm>
            <a:off x="1051560" y="4526280"/>
            <a:ext cx="0" cy="91440"/>
          </a:xfrm>
          <a:prstGeom prst="line">
            <a:avLst/>
          </a:prstGeom>
          <a:ln w="12700">
            <a:solidFill>
              <a:srgbClr val="2B3050"/>
            </a:solidFill>
          </a:ln>
        </p:spPr>
      </p:cxnSp>
      <p:sp>
        <p:nvSpPr>
          <p:cNvPr id="19" name="T19"/>
          <p:cNvSpPr txBox="1"/>
          <p:nvPr/>
        </p:nvSpPr>
        <p:spPr>
          <a:xfrm>
            <a:off x="73152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20°</a:t>
            </a:r>
            <a:endParaRPr lang="zh-TW" sz="2400"/>
          </a:p>
        </p:txBody>
      </p:sp>
      <p:cxnSp>
        <p:nvCxnSpPr>
          <p:cNvPr id="20" name="L20"/>
          <p:cNvCxnSpPr/>
          <p:nvPr/>
        </p:nvCxnSpPr>
        <p:spPr>
          <a:xfrm>
            <a:off x="2697480" y="4526280"/>
            <a:ext cx="0" cy="91440"/>
          </a:xfrm>
          <a:prstGeom prst="line">
            <a:avLst/>
          </a:prstGeom>
          <a:ln w="12700">
            <a:solidFill>
              <a:srgbClr val="2B3050"/>
            </a:solidFill>
          </a:ln>
        </p:spPr>
      </p:cxnSp>
      <p:sp>
        <p:nvSpPr>
          <p:cNvPr id="21" name="T21"/>
          <p:cNvSpPr txBox="1"/>
          <p:nvPr/>
        </p:nvSpPr>
        <p:spPr>
          <a:xfrm>
            <a:off x="237744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30°</a:t>
            </a:r>
            <a:endParaRPr lang="zh-TW" sz="2400"/>
          </a:p>
        </p:txBody>
      </p:sp>
      <p:cxnSp>
        <p:nvCxnSpPr>
          <p:cNvPr id="22" name="L22"/>
          <p:cNvCxnSpPr/>
          <p:nvPr/>
        </p:nvCxnSpPr>
        <p:spPr>
          <a:xfrm>
            <a:off x="4343400" y="4526280"/>
            <a:ext cx="0" cy="91440"/>
          </a:xfrm>
          <a:prstGeom prst="line">
            <a:avLst/>
          </a:prstGeom>
          <a:ln w="12700">
            <a:solidFill>
              <a:srgbClr val="2B3050"/>
            </a:solidFill>
          </a:ln>
        </p:spPr>
      </p:cxnSp>
      <p:sp>
        <p:nvSpPr>
          <p:cNvPr id="23" name="T23"/>
          <p:cNvSpPr txBox="1"/>
          <p:nvPr/>
        </p:nvSpPr>
        <p:spPr>
          <a:xfrm>
            <a:off x="402336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40°</a:t>
            </a:r>
            <a:endParaRPr lang="zh-TW" sz="2400"/>
          </a:p>
        </p:txBody>
      </p:sp>
      <p:cxnSp>
        <p:nvCxnSpPr>
          <p:cNvPr id="24" name="L24"/>
          <p:cNvCxnSpPr/>
          <p:nvPr/>
        </p:nvCxnSpPr>
        <p:spPr>
          <a:xfrm>
            <a:off x="5166360" y="4526280"/>
            <a:ext cx="0" cy="91440"/>
          </a:xfrm>
          <a:prstGeom prst="line">
            <a:avLst/>
          </a:prstGeom>
          <a:ln w="12700">
            <a:solidFill>
              <a:srgbClr val="2B3050"/>
            </a:solidFill>
          </a:ln>
        </p:spPr>
      </p:cxnSp>
      <p:sp>
        <p:nvSpPr>
          <p:cNvPr id="25" name="T25"/>
          <p:cNvSpPr txBox="1"/>
          <p:nvPr/>
        </p:nvSpPr>
        <p:spPr>
          <a:xfrm>
            <a:off x="484632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45°</a:t>
            </a:r>
            <a:endParaRPr lang="zh-TW" sz="2400"/>
          </a:p>
        </p:txBody>
      </p:sp>
      <p:cxnSp>
        <p:nvCxnSpPr>
          <p:cNvPr id="26" name="L26"/>
          <p:cNvCxnSpPr/>
          <p:nvPr/>
        </p:nvCxnSpPr>
        <p:spPr>
          <a:xfrm>
            <a:off x="5989320" y="4526280"/>
            <a:ext cx="0" cy="91440"/>
          </a:xfrm>
          <a:prstGeom prst="line">
            <a:avLst/>
          </a:prstGeom>
          <a:ln w="12700">
            <a:solidFill>
              <a:srgbClr val="2B3050"/>
            </a:solidFill>
          </a:ln>
        </p:spPr>
      </p:cxnSp>
      <p:sp>
        <p:nvSpPr>
          <p:cNvPr id="27" name="T27"/>
          <p:cNvSpPr txBox="1"/>
          <p:nvPr/>
        </p:nvSpPr>
        <p:spPr>
          <a:xfrm>
            <a:off x="566928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50°</a:t>
            </a:r>
            <a:endParaRPr lang="zh-TW" sz="2400"/>
          </a:p>
        </p:txBody>
      </p:sp>
      <p:cxnSp>
        <p:nvCxnSpPr>
          <p:cNvPr id="28" name="L28"/>
          <p:cNvCxnSpPr/>
          <p:nvPr/>
        </p:nvCxnSpPr>
        <p:spPr>
          <a:xfrm>
            <a:off x="7635240" y="4526280"/>
            <a:ext cx="0" cy="91440"/>
          </a:xfrm>
          <a:prstGeom prst="line">
            <a:avLst/>
          </a:prstGeom>
          <a:ln w="12700">
            <a:solidFill>
              <a:srgbClr val="2B3050"/>
            </a:solidFill>
          </a:ln>
        </p:spPr>
      </p:cxnSp>
      <p:sp>
        <p:nvSpPr>
          <p:cNvPr id="29" name="T29"/>
          <p:cNvSpPr txBox="1"/>
          <p:nvPr/>
        </p:nvSpPr>
        <p:spPr>
          <a:xfrm>
            <a:off x="7315200" y="4599432"/>
            <a:ext cx="731520" cy="347472"/>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60°</a:t>
            </a:r>
            <a:endParaRPr lang="zh-TW" sz="2400"/>
          </a:p>
        </p:txBody>
      </p:sp>
      <p:sp>
        <p:nvSpPr>
          <p:cNvPr id="30" name="P30"/>
          <p:cNvSpPr/>
          <p:nvPr/>
        </p:nvSpPr>
        <p:spPr>
          <a:xfrm>
            <a:off x="1051560" y="2751400"/>
            <a:ext cx="6583680" cy="595780"/>
          </a:xfrm>
          <a:custGeom>
            <a:avLst/>
            <a:gdLst/>
            <a:ahLst/>
            <a:cxnLst/>
            <a:rect l="0" t="0" r="r" b="b"/>
            <a:pathLst>
              <a:path w="6583680" h="595780">
                <a:moveTo>
                  <a:pt x="0" y="595780"/>
                </a:moveTo>
                <a:lnTo>
                  <a:pt x="329184" y="509339"/>
                </a:lnTo>
                <a:lnTo>
                  <a:pt x="658368" y="428106"/>
                </a:lnTo>
                <a:lnTo>
                  <a:pt x="987552" y="352390"/>
                </a:lnTo>
                <a:lnTo>
                  <a:pt x="1316736" y="283245"/>
                </a:lnTo>
                <a:lnTo>
                  <a:pt x="1645920" y="221651"/>
                </a:lnTo>
                <a:lnTo>
                  <a:pt x="1975104" y="166313"/>
                </a:lnTo>
                <a:lnTo>
                  <a:pt x="2304288" y="118894"/>
                </a:lnTo>
                <a:lnTo>
                  <a:pt x="2633472" y="78816"/>
                </a:lnTo>
                <a:lnTo>
                  <a:pt x="2962656" y="46900"/>
                </a:lnTo>
                <a:lnTo>
                  <a:pt x="3291840" y="22549"/>
                </a:lnTo>
                <a:lnTo>
                  <a:pt x="3621024" y="7139"/>
                </a:lnTo>
                <a:lnTo>
                  <a:pt x="3950208" y="0"/>
                </a:lnTo>
                <a:lnTo>
                  <a:pt x="4279392" y="1115"/>
                </a:lnTo>
                <a:lnTo>
                  <a:pt x="4608576" y="11016"/>
                </a:lnTo>
                <a:lnTo>
                  <a:pt x="4937760" y="29564"/>
                </a:lnTo>
                <a:lnTo>
                  <a:pt x="5266944" y="56061"/>
                </a:lnTo>
                <a:lnTo>
                  <a:pt x="5596128" y="90889"/>
                </a:lnTo>
                <a:lnTo>
                  <a:pt x="5925312" y="133825"/>
                </a:lnTo>
                <a:lnTo>
                  <a:pt x="6254496" y="184617"/>
                </a:lnTo>
                <a:lnTo>
                  <a:pt x="6583680" y="242991"/>
                </a:lnTo>
              </a:path>
            </a:pathLst>
          </a:custGeom>
          <a:noFill/>
          <a:ln w="31750">
            <a:solidFill>
              <a:srgbClr val="1F8899"/>
            </a:solidFill>
          </a:ln>
        </p:spPr>
        <p:txBody>
          <a:bodyPr/>
          <a:lstStyle/>
          <a:p>
            <a:endParaRPr lang="zh-TW" altLang="en-US"/>
          </a:p>
        </p:txBody>
      </p:sp>
      <p:sp>
        <p:nvSpPr>
          <p:cNvPr id="31" name="S31"/>
          <p:cNvSpPr/>
          <p:nvPr/>
        </p:nvSpPr>
        <p:spPr>
          <a:xfrm>
            <a:off x="5093208" y="2678004"/>
            <a:ext cx="146304" cy="146304"/>
          </a:xfrm>
          <a:prstGeom prst="ellipse">
            <a:avLst/>
          </a:prstGeom>
          <a:solidFill>
            <a:srgbClr val="1F8899"/>
          </a:solidFill>
          <a:ln>
            <a:noFill/>
          </a:ln>
        </p:spPr>
        <p:txBody>
          <a:bodyPr/>
          <a:lstStyle/>
          <a:p>
            <a:endParaRPr lang="zh-TW" altLang="en-US"/>
          </a:p>
        </p:txBody>
      </p:sp>
      <p:cxnSp>
        <p:nvCxnSpPr>
          <p:cNvPr id="32" name="L32"/>
          <p:cNvCxnSpPr/>
          <p:nvPr/>
        </p:nvCxnSpPr>
        <p:spPr>
          <a:xfrm>
            <a:off x="5166360" y="2842596"/>
            <a:ext cx="0" cy="1683684"/>
          </a:xfrm>
          <a:prstGeom prst="line">
            <a:avLst/>
          </a:prstGeom>
          <a:ln w="15875">
            <a:solidFill>
              <a:srgbClr val="1F8899"/>
            </a:solidFill>
            <a:prstDash val="dash"/>
          </a:ln>
        </p:spPr>
      </p:cxnSp>
      <p:cxnSp>
        <p:nvCxnSpPr>
          <p:cNvPr id="33" name="L33"/>
          <p:cNvCxnSpPr/>
          <p:nvPr/>
        </p:nvCxnSpPr>
        <p:spPr>
          <a:xfrm>
            <a:off x="5532120" y="1097280"/>
            <a:ext cx="457200" cy="0"/>
          </a:xfrm>
          <a:prstGeom prst="line">
            <a:avLst/>
          </a:prstGeom>
          <a:ln w="38100">
            <a:solidFill>
              <a:srgbClr val="1F8899"/>
            </a:solidFill>
          </a:ln>
        </p:spPr>
      </p:cxnSp>
      <p:sp>
        <p:nvSpPr>
          <p:cNvPr id="34" name="T34"/>
          <p:cNvSpPr txBox="1"/>
          <p:nvPr/>
        </p:nvSpPr>
        <p:spPr>
          <a:xfrm>
            <a:off x="6035040" y="896112"/>
            <a:ext cx="23774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無阻力：45°</a:t>
            </a:r>
            <a:endParaRPr lang="zh-TW" sz="2400"/>
          </a:p>
        </p:txBody>
      </p:sp>
      <p:sp>
        <p:nvSpPr>
          <p:cNvPr id="35" name="P35"/>
          <p:cNvSpPr/>
          <p:nvPr/>
        </p:nvSpPr>
        <p:spPr>
          <a:xfrm>
            <a:off x="1051560" y="3476848"/>
            <a:ext cx="6583680" cy="213129"/>
          </a:xfrm>
          <a:custGeom>
            <a:avLst/>
            <a:gdLst/>
            <a:ahLst/>
            <a:cxnLst/>
            <a:rect l="0" t="0" r="r" b="b"/>
            <a:pathLst>
              <a:path w="6583680" h="213129">
                <a:moveTo>
                  <a:pt x="0" y="213129"/>
                </a:moveTo>
                <a:lnTo>
                  <a:pt x="329184" y="172627"/>
                </a:lnTo>
                <a:lnTo>
                  <a:pt x="658368" y="136126"/>
                </a:lnTo>
                <a:lnTo>
                  <a:pt x="987552" y="104438"/>
                </a:lnTo>
                <a:lnTo>
                  <a:pt x="1316736" y="76998"/>
                </a:lnTo>
                <a:lnTo>
                  <a:pt x="1645920" y="53721"/>
                </a:lnTo>
                <a:lnTo>
                  <a:pt x="1975104" y="34915"/>
                </a:lnTo>
                <a:lnTo>
                  <a:pt x="2304288" y="20099"/>
                </a:lnTo>
                <a:lnTo>
                  <a:pt x="2633472" y="9214"/>
                </a:lnTo>
                <a:lnTo>
                  <a:pt x="2962656" y="2545"/>
                </a:lnTo>
                <a:lnTo>
                  <a:pt x="3291840" y="0"/>
                </a:lnTo>
                <a:lnTo>
                  <a:pt x="3621024" y="875"/>
                </a:lnTo>
                <a:lnTo>
                  <a:pt x="3950208" y="6062"/>
                </a:lnTo>
                <a:lnTo>
                  <a:pt x="4279392" y="14878"/>
                </a:lnTo>
                <a:lnTo>
                  <a:pt x="4608576" y="27561"/>
                </a:lnTo>
                <a:lnTo>
                  <a:pt x="4937760" y="44043"/>
                </a:lnTo>
                <a:lnTo>
                  <a:pt x="5266944" y="64010"/>
                </a:lnTo>
                <a:lnTo>
                  <a:pt x="5596128" y="87670"/>
                </a:lnTo>
                <a:lnTo>
                  <a:pt x="5925312" y="115179"/>
                </a:lnTo>
                <a:lnTo>
                  <a:pt x="6254496" y="146018"/>
                </a:lnTo>
                <a:lnTo>
                  <a:pt x="6583680" y="180355"/>
                </a:lnTo>
              </a:path>
            </a:pathLst>
          </a:custGeom>
          <a:noFill/>
          <a:ln w="31750">
            <a:solidFill>
              <a:srgbClr val="D6006F"/>
            </a:solidFill>
          </a:ln>
        </p:spPr>
        <p:txBody>
          <a:bodyPr/>
          <a:lstStyle/>
          <a:p>
            <a:endParaRPr lang="zh-TW" altLang="en-US"/>
          </a:p>
        </p:txBody>
      </p:sp>
      <p:sp>
        <p:nvSpPr>
          <p:cNvPr id="36" name="S36"/>
          <p:cNvSpPr/>
          <p:nvPr/>
        </p:nvSpPr>
        <p:spPr>
          <a:xfrm>
            <a:off x="4352544" y="3403544"/>
            <a:ext cx="146304" cy="146304"/>
          </a:xfrm>
          <a:prstGeom prst="ellipse">
            <a:avLst/>
          </a:prstGeom>
          <a:solidFill>
            <a:srgbClr val="D6006F"/>
          </a:solidFill>
          <a:ln>
            <a:noFill/>
          </a:ln>
        </p:spPr>
        <p:txBody>
          <a:bodyPr/>
          <a:lstStyle/>
          <a:p>
            <a:endParaRPr lang="zh-TW" altLang="en-US"/>
          </a:p>
        </p:txBody>
      </p:sp>
      <p:cxnSp>
        <p:nvCxnSpPr>
          <p:cNvPr id="37" name="L37"/>
          <p:cNvCxnSpPr/>
          <p:nvPr/>
        </p:nvCxnSpPr>
        <p:spPr>
          <a:xfrm>
            <a:off x="4425696" y="3568136"/>
            <a:ext cx="0" cy="958144"/>
          </a:xfrm>
          <a:prstGeom prst="line">
            <a:avLst/>
          </a:prstGeom>
          <a:ln w="15875">
            <a:solidFill>
              <a:srgbClr val="D6006F"/>
            </a:solidFill>
            <a:prstDash val="dash"/>
          </a:ln>
        </p:spPr>
      </p:cxnSp>
      <p:cxnSp>
        <p:nvCxnSpPr>
          <p:cNvPr id="38" name="L38"/>
          <p:cNvCxnSpPr/>
          <p:nvPr/>
        </p:nvCxnSpPr>
        <p:spPr>
          <a:xfrm>
            <a:off x="5532120" y="1554480"/>
            <a:ext cx="457200" cy="0"/>
          </a:xfrm>
          <a:prstGeom prst="line">
            <a:avLst/>
          </a:prstGeom>
          <a:ln w="38100">
            <a:solidFill>
              <a:srgbClr val="D6006F"/>
            </a:solidFill>
          </a:ln>
        </p:spPr>
      </p:cxnSp>
      <p:sp>
        <p:nvSpPr>
          <p:cNvPr id="39" name="T39"/>
          <p:cNvSpPr txBox="1"/>
          <p:nvPr/>
        </p:nvSpPr>
        <p:spPr>
          <a:xfrm>
            <a:off x="6035040" y="1353312"/>
            <a:ext cx="23774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棒球：約 40°</a:t>
            </a:r>
            <a:endParaRPr lang="zh-TW" sz="2400"/>
          </a:p>
        </p:txBody>
      </p:sp>
      <p:sp>
        <p:nvSpPr>
          <p:cNvPr id="40" name="P40"/>
          <p:cNvSpPr/>
          <p:nvPr/>
        </p:nvSpPr>
        <p:spPr>
          <a:xfrm>
            <a:off x="1051560" y="4044798"/>
            <a:ext cx="6583680" cy="109478"/>
          </a:xfrm>
          <a:custGeom>
            <a:avLst/>
            <a:gdLst/>
            <a:ahLst/>
            <a:cxnLst/>
            <a:rect l="0" t="0" r="r" b="b"/>
            <a:pathLst>
              <a:path w="6583680" h="109478">
                <a:moveTo>
                  <a:pt x="0" y="39393"/>
                </a:moveTo>
                <a:lnTo>
                  <a:pt x="329184" y="28592"/>
                </a:lnTo>
                <a:lnTo>
                  <a:pt x="658368" y="19678"/>
                </a:lnTo>
                <a:lnTo>
                  <a:pt x="987552" y="12555"/>
                </a:lnTo>
                <a:lnTo>
                  <a:pt x="1316736" y="7136"/>
                </a:lnTo>
                <a:lnTo>
                  <a:pt x="1645920" y="3189"/>
                </a:lnTo>
                <a:lnTo>
                  <a:pt x="1975104" y="829"/>
                </a:lnTo>
                <a:lnTo>
                  <a:pt x="2304288" y="0"/>
                </a:lnTo>
                <a:lnTo>
                  <a:pt x="2633472" y="514"/>
                </a:lnTo>
                <a:lnTo>
                  <a:pt x="2962656" y="2478"/>
                </a:lnTo>
                <a:lnTo>
                  <a:pt x="3291840" y="5730"/>
                </a:lnTo>
                <a:lnTo>
                  <a:pt x="3621024" y="10485"/>
                </a:lnTo>
                <a:lnTo>
                  <a:pt x="3950208" y="16364"/>
                </a:lnTo>
                <a:lnTo>
                  <a:pt x="4279392" y="23683"/>
                </a:lnTo>
                <a:lnTo>
                  <a:pt x="4608576" y="32205"/>
                </a:lnTo>
                <a:lnTo>
                  <a:pt x="4937760" y="42015"/>
                </a:lnTo>
                <a:lnTo>
                  <a:pt x="5266944" y="53007"/>
                </a:lnTo>
                <a:lnTo>
                  <a:pt x="5596128" y="65338"/>
                </a:lnTo>
                <a:lnTo>
                  <a:pt x="5925312" y="78827"/>
                </a:lnTo>
                <a:lnTo>
                  <a:pt x="6254496" y="93545"/>
                </a:lnTo>
                <a:lnTo>
                  <a:pt x="6583680" y="109478"/>
                </a:lnTo>
              </a:path>
            </a:pathLst>
          </a:custGeom>
          <a:noFill/>
          <a:ln w="31750">
            <a:solidFill>
              <a:srgbClr val="C8901F"/>
            </a:solidFill>
          </a:ln>
        </p:spPr>
        <p:txBody>
          <a:bodyPr/>
          <a:lstStyle/>
          <a:p>
            <a:endParaRPr lang="zh-TW" altLang="en-US"/>
          </a:p>
        </p:txBody>
      </p:sp>
      <p:sp>
        <p:nvSpPr>
          <p:cNvPr id="41" name="S41"/>
          <p:cNvSpPr/>
          <p:nvPr/>
        </p:nvSpPr>
        <p:spPr>
          <a:xfrm>
            <a:off x="3299155" y="3971643"/>
            <a:ext cx="146304" cy="146304"/>
          </a:xfrm>
          <a:prstGeom prst="ellipse">
            <a:avLst/>
          </a:prstGeom>
          <a:solidFill>
            <a:srgbClr val="C8901F"/>
          </a:solidFill>
          <a:ln>
            <a:noFill/>
          </a:ln>
        </p:spPr>
        <p:txBody>
          <a:bodyPr/>
          <a:lstStyle/>
          <a:p>
            <a:endParaRPr lang="zh-TW" altLang="en-US"/>
          </a:p>
        </p:txBody>
      </p:sp>
      <p:cxnSp>
        <p:nvCxnSpPr>
          <p:cNvPr id="42" name="L42"/>
          <p:cNvCxnSpPr/>
          <p:nvPr/>
        </p:nvCxnSpPr>
        <p:spPr>
          <a:xfrm>
            <a:off x="3372307" y="4136235"/>
            <a:ext cx="0" cy="390045"/>
          </a:xfrm>
          <a:prstGeom prst="line">
            <a:avLst/>
          </a:prstGeom>
          <a:ln w="15875">
            <a:solidFill>
              <a:srgbClr val="C8901F"/>
            </a:solidFill>
            <a:prstDash val="dash"/>
          </a:ln>
        </p:spPr>
      </p:cxnSp>
      <p:cxnSp>
        <p:nvCxnSpPr>
          <p:cNvPr id="43" name="L43"/>
          <p:cNvCxnSpPr/>
          <p:nvPr/>
        </p:nvCxnSpPr>
        <p:spPr>
          <a:xfrm>
            <a:off x="5532120" y="2011680"/>
            <a:ext cx="457200" cy="0"/>
          </a:xfrm>
          <a:prstGeom prst="line">
            <a:avLst/>
          </a:prstGeom>
          <a:ln w="38100">
            <a:solidFill>
              <a:srgbClr val="C8901F"/>
            </a:solidFill>
          </a:ln>
        </p:spPr>
      </p:cxnSp>
      <p:sp>
        <p:nvSpPr>
          <p:cNvPr id="44" name="T44"/>
          <p:cNvSpPr txBox="1"/>
          <p:nvPr/>
        </p:nvSpPr>
        <p:spPr>
          <a:xfrm>
            <a:off x="6035040" y="1810512"/>
            <a:ext cx="237744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輕球：約 34°</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500"/>
                                        <p:tgtEl>
                                          <p:spTgt spid="3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500"/>
                                        <p:tgtEl>
                                          <p:spTgt spid="3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5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500"/>
                                        <p:tgtEl>
                                          <p:spTgt spid="4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fade">
                                      <p:cBhvr>
                                        <p:cTn id="6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a:t>
            </a:r>
            <a:r>
              <a:rPr lang="en-US" altLang="zh-TW" sz="3200" dirty="0">
                <a:latin typeface="Calibri"/>
                <a:ea typeface="微軟正黑體"/>
              </a:rPr>
              <a:t>(</a:t>
            </a:r>
            <a:r>
              <a:rPr lang="zh-TW" altLang="en-US" sz="3200" dirty="0">
                <a:latin typeface="Calibri"/>
                <a:ea typeface="微軟正黑體"/>
              </a:rPr>
              <a:t>下周</a:t>
            </a:r>
            <a:r>
              <a:rPr lang="en-US" altLang="zh-TW" sz="3200" dirty="0">
                <a:latin typeface="Calibri"/>
                <a:ea typeface="微軟正黑體"/>
              </a:rPr>
              <a:t>)</a:t>
            </a:r>
            <a:r>
              <a:rPr lang="zh-TW" altLang="en-US" sz="3200" dirty="0">
                <a:latin typeface="Calibri"/>
                <a:ea typeface="微軟正黑體"/>
              </a:rPr>
              <a:t>　讀題</a:t>
            </a:r>
          </a:p>
        </p:txBody>
      </p:sp>
      <p:sp>
        <p:nvSpPr>
          <p:cNvPr id="11" name="T11"/>
          <p:cNvSpPr txBox="1"/>
          <p:nvPr/>
        </p:nvSpPr>
        <p:spPr>
          <a:xfrm>
            <a:off x="365760" y="868680"/>
            <a:ext cx="7955280" cy="420624"/>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飛機在離地 500 m 的 A 點，以 80 m/s、</a:t>
            </a:r>
            <a:endParaRPr lang="zh-TW" sz="2400"/>
          </a:p>
        </p:txBody>
      </p:sp>
      <p:sp>
        <p:nvSpPr>
          <p:cNvPr id="12" name="T12"/>
          <p:cNvSpPr txBox="1"/>
          <p:nvPr/>
        </p:nvSpPr>
        <p:spPr>
          <a:xfrm>
            <a:off x="365760" y="1289304"/>
            <a:ext cx="7955280" cy="420624"/>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仰角 45° 發射砲彈（忽略空氣阻力）</a:t>
            </a:r>
            <a:endParaRPr lang="zh-TW" sz="2400"/>
          </a:p>
        </p:txBody>
      </p:sp>
      <p:sp>
        <p:nvSpPr>
          <p:cNvPr id="13" name="T13"/>
          <p:cNvSpPr txBox="1"/>
          <p:nvPr/>
        </p:nvSpPr>
        <p:spPr>
          <a:xfrm>
            <a:off x="365760" y="1709928"/>
            <a:ext cx="7955280" cy="420624"/>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求：(a) 落地水平距離　(b) 最大高度</a:t>
            </a:r>
            <a:endParaRPr lang="zh-TW" sz="2400"/>
          </a:p>
        </p:txBody>
      </p:sp>
      <p:cxnSp>
        <p:nvCxnSpPr>
          <p:cNvPr id="14" name="L14"/>
          <p:cNvCxnSpPr/>
          <p:nvPr/>
        </p:nvCxnSpPr>
        <p:spPr>
          <a:xfrm>
            <a:off x="365760" y="4526280"/>
            <a:ext cx="7863840" cy="0"/>
          </a:xfrm>
          <a:prstGeom prst="line">
            <a:avLst/>
          </a:prstGeom>
          <a:ln w="25400">
            <a:solidFill>
              <a:srgbClr val="2B3050"/>
            </a:solidFill>
          </a:ln>
        </p:spPr>
      </p:cxnSp>
      <p:sp>
        <p:nvSpPr>
          <p:cNvPr id="15" name="P15"/>
          <p:cNvSpPr/>
          <p:nvPr/>
        </p:nvSpPr>
        <p:spPr>
          <a:xfrm>
            <a:off x="685800" y="2697362"/>
            <a:ext cx="7106391" cy="1827756"/>
          </a:xfrm>
          <a:custGeom>
            <a:avLst/>
            <a:gdLst/>
            <a:ahLst/>
            <a:cxnLst/>
            <a:rect l="0" t="0" r="r" b="b"/>
            <a:pathLst>
              <a:path w="7106391" h="1827756">
                <a:moveTo>
                  <a:pt x="0" y="449732"/>
                </a:moveTo>
                <a:lnTo>
                  <a:pt x="177660" y="384450"/>
                </a:lnTo>
                <a:lnTo>
                  <a:pt x="355320" y="324283"/>
                </a:lnTo>
                <a:lnTo>
                  <a:pt x="532979" y="269231"/>
                </a:lnTo>
                <a:lnTo>
                  <a:pt x="710639" y="219292"/>
                </a:lnTo>
                <a:lnTo>
                  <a:pt x="888299" y="174469"/>
                </a:lnTo>
                <a:lnTo>
                  <a:pt x="1065959" y="134759"/>
                </a:lnTo>
                <a:lnTo>
                  <a:pt x="1243618" y="100165"/>
                </a:lnTo>
                <a:lnTo>
                  <a:pt x="1421278" y="70684"/>
                </a:lnTo>
                <a:lnTo>
                  <a:pt x="1598938" y="46319"/>
                </a:lnTo>
                <a:lnTo>
                  <a:pt x="1776598" y="27067"/>
                </a:lnTo>
                <a:lnTo>
                  <a:pt x="1954257" y="12930"/>
                </a:lnTo>
                <a:lnTo>
                  <a:pt x="2131917" y="3908"/>
                </a:lnTo>
                <a:lnTo>
                  <a:pt x="2309577" y="0"/>
                </a:lnTo>
                <a:lnTo>
                  <a:pt x="2487237" y="1207"/>
                </a:lnTo>
                <a:lnTo>
                  <a:pt x="2664896" y="7528"/>
                </a:lnTo>
                <a:lnTo>
                  <a:pt x="2842556" y="18963"/>
                </a:lnTo>
                <a:lnTo>
                  <a:pt x="3020216" y="35513"/>
                </a:lnTo>
                <a:lnTo>
                  <a:pt x="3197876" y="57177"/>
                </a:lnTo>
                <a:lnTo>
                  <a:pt x="3375535" y="83956"/>
                </a:lnTo>
                <a:lnTo>
                  <a:pt x="3553195" y="115850"/>
                </a:lnTo>
                <a:lnTo>
                  <a:pt x="3730855" y="152858"/>
                </a:lnTo>
                <a:lnTo>
                  <a:pt x="3908515" y="194980"/>
                </a:lnTo>
                <a:lnTo>
                  <a:pt x="4086175" y="242217"/>
                </a:lnTo>
                <a:lnTo>
                  <a:pt x="4263834" y="294568"/>
                </a:lnTo>
                <a:lnTo>
                  <a:pt x="4441494" y="352034"/>
                </a:lnTo>
                <a:lnTo>
                  <a:pt x="4619154" y="414614"/>
                </a:lnTo>
                <a:lnTo>
                  <a:pt x="4796814" y="482309"/>
                </a:lnTo>
                <a:lnTo>
                  <a:pt x="4974473" y="555118"/>
                </a:lnTo>
                <a:lnTo>
                  <a:pt x="5152133" y="633041"/>
                </a:lnTo>
                <a:lnTo>
                  <a:pt x="5329793" y="716079"/>
                </a:lnTo>
                <a:lnTo>
                  <a:pt x="5507453" y="804232"/>
                </a:lnTo>
                <a:lnTo>
                  <a:pt x="5685112" y="897499"/>
                </a:lnTo>
                <a:lnTo>
                  <a:pt x="5862772" y="995881"/>
                </a:lnTo>
                <a:lnTo>
                  <a:pt x="6040432" y="1099377"/>
                </a:lnTo>
                <a:lnTo>
                  <a:pt x="6218092" y="1207987"/>
                </a:lnTo>
                <a:lnTo>
                  <a:pt x="6395751" y="1321712"/>
                </a:lnTo>
                <a:lnTo>
                  <a:pt x="6573411" y="1440551"/>
                </a:lnTo>
                <a:lnTo>
                  <a:pt x="6751071" y="1564505"/>
                </a:lnTo>
                <a:lnTo>
                  <a:pt x="6928731" y="1693574"/>
                </a:lnTo>
                <a:lnTo>
                  <a:pt x="7106391" y="1827756"/>
                </a:lnTo>
              </a:path>
            </a:pathLst>
          </a:custGeom>
          <a:noFill/>
          <a:ln w="19050">
            <a:solidFill>
              <a:srgbClr val="8A8F9C"/>
            </a:solidFill>
            <a:prstDash val="dash"/>
          </a:ln>
        </p:spPr>
        <p:txBody>
          <a:bodyPr/>
          <a:lstStyle/>
          <a:p>
            <a:endParaRPr lang="zh-TW" altLang="en-US"/>
          </a:p>
        </p:txBody>
      </p:sp>
      <p:sp>
        <p:nvSpPr>
          <p:cNvPr id="16" name="S16"/>
          <p:cNvSpPr/>
          <p:nvPr/>
        </p:nvSpPr>
        <p:spPr>
          <a:xfrm>
            <a:off x="621792" y="3083086"/>
            <a:ext cx="128016" cy="128016"/>
          </a:xfrm>
          <a:prstGeom prst="ellipse">
            <a:avLst/>
          </a:prstGeom>
          <a:solidFill>
            <a:srgbClr val="2B3050"/>
          </a:solidFill>
          <a:ln>
            <a:noFill/>
          </a:ln>
        </p:spPr>
        <p:txBody>
          <a:bodyPr/>
          <a:lstStyle/>
          <a:p>
            <a:endParaRPr lang="zh-TW" altLang="en-US"/>
          </a:p>
        </p:txBody>
      </p:sp>
      <p:sp>
        <p:nvSpPr>
          <p:cNvPr id="17" name="T17"/>
          <p:cNvSpPr txBox="1"/>
          <p:nvPr/>
        </p:nvSpPr>
        <p:spPr>
          <a:xfrm>
            <a:off x="365760" y="3101374"/>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cxnSp>
        <p:nvCxnSpPr>
          <p:cNvPr id="18" name="L18"/>
          <p:cNvCxnSpPr/>
          <p:nvPr/>
        </p:nvCxnSpPr>
        <p:spPr>
          <a:xfrm flipV="1">
            <a:off x="822960" y="3220246"/>
            <a:ext cx="0" cy="1306034"/>
          </a:xfrm>
          <a:prstGeom prst="line">
            <a:avLst/>
          </a:prstGeom>
          <a:ln w="15875">
            <a:solidFill>
              <a:srgbClr val="8A8F9C"/>
            </a:solidFill>
            <a:headEnd type="triangle" w="med" len="med"/>
            <a:tailEnd type="triangle" w="med" len="med"/>
          </a:ln>
        </p:spPr>
      </p:cxnSp>
      <p:sp>
        <p:nvSpPr>
          <p:cNvPr id="19" name="T19"/>
          <p:cNvSpPr txBox="1"/>
          <p:nvPr/>
        </p:nvSpPr>
        <p:spPr>
          <a:xfrm>
            <a:off x="868680" y="3653807"/>
            <a:ext cx="10058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500 m</a:t>
            </a:r>
            <a:endParaRPr lang="zh-TW" sz="2400"/>
          </a:p>
        </p:txBody>
      </p:sp>
      <p:cxnSp>
        <p:nvCxnSpPr>
          <p:cNvPr id="20" name="L20"/>
          <p:cNvCxnSpPr/>
          <p:nvPr/>
        </p:nvCxnSpPr>
        <p:spPr>
          <a:xfrm flipV="1">
            <a:off x="685800" y="2644174"/>
            <a:ext cx="502920" cy="502920"/>
          </a:xfrm>
          <a:prstGeom prst="line">
            <a:avLst/>
          </a:prstGeom>
          <a:ln w="38100">
            <a:solidFill>
              <a:srgbClr val="D6006F"/>
            </a:solidFill>
            <a:tailEnd type="triangle" w="med" len="med"/>
          </a:ln>
        </p:spPr>
      </p:cxnSp>
      <p:sp>
        <p:nvSpPr>
          <p:cNvPr id="21" name="T21"/>
          <p:cNvSpPr txBox="1"/>
          <p:nvPr/>
        </p:nvSpPr>
        <p:spPr>
          <a:xfrm>
            <a:off x="1234440" y="2488726"/>
            <a:ext cx="11887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80 m/s</a:t>
            </a:r>
            <a:endParaRPr lang="zh-TW" sz="2400"/>
          </a:p>
        </p:txBody>
      </p:sp>
      <p:sp>
        <p:nvSpPr>
          <p:cNvPr id="22" name="T22"/>
          <p:cNvSpPr txBox="1"/>
          <p:nvPr/>
        </p:nvSpPr>
        <p:spPr>
          <a:xfrm>
            <a:off x="1188720" y="2872774"/>
            <a:ext cx="640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45°</a:t>
            </a:r>
            <a:endParaRPr lang="zh-TW" sz="2400"/>
          </a:p>
        </p:txBody>
      </p:sp>
      <p:sp>
        <p:nvSpPr>
          <p:cNvPr id="23" name="S23"/>
          <p:cNvSpPr/>
          <p:nvPr/>
        </p:nvSpPr>
        <p:spPr>
          <a:xfrm>
            <a:off x="594360" y="3055654"/>
            <a:ext cx="182880" cy="182880"/>
          </a:xfrm>
          <a:prstGeom prst="ellipse">
            <a:avLst/>
          </a:prstGeom>
          <a:solidFill>
            <a:srgbClr val="D6006F"/>
          </a:solidFill>
          <a:ln>
            <a:noFill/>
          </a:ln>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0" presetClass="path" presetSubtype="0" fill="hold" grpId="0" nodeType="withEffect">
                                  <p:stCondLst>
                                    <p:cond delay="0"/>
                                  </p:stCondLst>
                                  <p:childTnLst>
                                    <p:animMotion origin="layout" path="M 0 0 L 0.00000 0.00000 L 0.01943 -0.01269 L 0.03886 -0.02439 L 0.05829 -0.03509 L 0.07772 -0.04480 L 0.09715 -0.05352 L 0.11657 -0.06124 L 0.13600 -0.06796 L 0.15543 -0.07369 L 0.17486 -0.07843 L 0.19429 -0.08217 L 0.21372 -0.08492 L 0.23315 -0.08668 L 0.25258 -0.08744 L 0.27201 -0.08720 L 0.29144 -0.08597 L 0.31087 -0.08375 L 0.33029 -0.08053 L 0.34972 -0.07632 L 0.36915 -0.07111 L 0.38858 -0.06491 L 0.40801 -0.05772 L 0.42744 -0.04953 L 0.44687 -0.04035 L 0.46630 -0.03017 L 0.48573 -0.01899 L 0.50516 -0.00683 L 0.52459 0.00633 L 0.54402 0.02049 L 0.56344 0.03564 L 0.58287 0.05178 L 0.60230 0.06892 L 0.62173 0.08705 L 0.64116 0.10618 L 0.66059 0.12630 L 0.68002 0.14742 L 0.69945 0.16953 L 0.71888 0.19264 L 0.73831 0.21673 L 0.75774 0.24183 L 0.77716 0.26792 E" pathEditMode="relative" ptsTypes="">
                                      <p:cBhvr>
                                        <p:cTn id="9" dur="3000" fill="hold"/>
                                        <p:tgtEl>
                                          <p:spTgt spid="2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原點放哪裡最方便？</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放在發射點 A，向上、向右為正</a:t>
            </a:r>
            <a:endParaRPr lang="zh-TW" sz="2400"/>
          </a:p>
        </p:txBody>
      </p:sp>
      <p:sp>
        <p:nvSpPr>
          <p:cNvPr id="15" name="S15"/>
          <p:cNvSpPr/>
          <p:nvPr/>
        </p:nvSpPr>
        <p:spPr>
          <a:xfrm>
            <a:off x="365760" y="1801368"/>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80136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79222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落地時 y 是多少？</a:t>
            </a:r>
            <a:endParaRPr lang="zh-TW" sz="2400"/>
          </a:p>
        </p:txBody>
      </p:sp>
      <p:sp>
        <p:nvSpPr>
          <p:cNvPr id="18" name="T18"/>
          <p:cNvSpPr txBox="1"/>
          <p:nvPr/>
        </p:nvSpPr>
        <p:spPr>
          <a:xfrm>
            <a:off x="1188720" y="217627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y = −500 m（地面在 A 下方）</a:t>
            </a:r>
            <a:endParaRPr lang="zh-TW" sz="2400"/>
          </a:p>
        </p:txBody>
      </p:sp>
      <p:sp>
        <p:nvSpPr>
          <p:cNvPr id="19" name="S19"/>
          <p:cNvSpPr/>
          <p:nvPr/>
        </p:nvSpPr>
        <p:spPr>
          <a:xfrm>
            <a:off x="365760" y="2697480"/>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69748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68833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求時間會得到什麼方程式？</a:t>
            </a:r>
            <a:endParaRPr lang="zh-TW" sz="2400"/>
          </a:p>
        </p:txBody>
      </p:sp>
      <p:sp>
        <p:nvSpPr>
          <p:cNvPr id="22" name="T22"/>
          <p:cNvSpPr txBox="1"/>
          <p:nvPr/>
        </p:nvSpPr>
        <p:spPr>
          <a:xfrm>
            <a:off x="1188720" y="307238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一元二次，取正根</a:t>
            </a:r>
            <a:endParaRPr lang="zh-TW" sz="2400"/>
          </a:p>
        </p:txBody>
      </p:sp>
      <p:sp>
        <p:nvSpPr>
          <p:cNvPr id="23" name="S23"/>
          <p:cNvSpPr/>
          <p:nvPr/>
        </p:nvSpPr>
        <p:spPr>
          <a:xfrm>
            <a:off x="365760" y="3593592"/>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5935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5844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「最大高度」從哪裡算起？</a:t>
            </a:r>
            <a:endParaRPr lang="zh-TW" sz="2400"/>
          </a:p>
        </p:txBody>
      </p:sp>
      <p:sp>
        <p:nvSpPr>
          <p:cNvPr id="26" name="T26"/>
          <p:cNvSpPr txBox="1"/>
          <p:nvPr/>
        </p:nvSpPr>
        <p:spPr>
          <a:xfrm>
            <a:off x="1188720" y="39684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題目問離地 → 要再加 500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步驟 1：分解初速、列三條式子</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80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45° = 56.57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r>
                  <a:rPr lang="zh-TW" altLang="en-US" sz="2400" b="0" dirty="0">
                    <a:solidFill>
                      <a:srgbClr val="2B3050"/>
                    </a:solidFill>
                    <a:latin typeface="Calibri"/>
                    <a:ea typeface="微軟正黑體"/>
                    <a:cs typeface="Calibri"/>
                  </a:rPr>
                  <a:t>（課本 g = 9.81）</a:t>
                </a:r>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795528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1">
                        <a:solidFill>
                          <a:srgbClr val="1F8899"/>
                        </a:solidFill>
                        <a:latin typeface="Cambria Math" panose="02040503050406030204" pitchFamily="18" charset="0"/>
                        <a:ea typeface="Cambria Math"/>
                      </a:rPr>
                      <m:t>𝑥</m:t>
                    </m:r>
                    <m:r>
                      <a:rPr lang="en-US" altLang="zh-TW" sz="2400" b="0" i="0">
                        <a:solidFill>
                          <a:srgbClr val="1F8899"/>
                        </a:solidFill>
                        <a:latin typeface="Cambria Math" panose="02040503050406030204" pitchFamily="18" charset="0"/>
                        <a:ea typeface="Cambria Math"/>
                      </a:rPr>
                      <m:t> = 56.57</m:t>
                    </m:r>
                    <m:r>
                      <a:rPr lang="en-US" altLang="zh-TW" sz="2400" b="0" i="1">
                        <a:solidFill>
                          <a:srgbClr val="1F8899"/>
                        </a:solidFill>
                        <a:latin typeface="Cambria Math" panose="02040503050406030204" pitchFamily="18" charset="0"/>
                        <a:ea typeface="Cambria Math"/>
                      </a:rPr>
                      <m:t>𝑡</m:t>
                    </m:r>
                  </m:oMath>
                </a14:m>
                <a:r>
                  <a:rPr lang="zh-TW" altLang="en-US" sz="2400" b="1" dirty="0">
                    <a:solidFill>
                      <a:srgbClr val="D6006F"/>
                    </a:solidFill>
                    <a:latin typeface="Calibri"/>
                    <a:ea typeface="微軟正黑體"/>
                    <a:cs typeface="Calibri"/>
                  </a:rPr>
                  <a:t>　……①</a:t>
                </a:r>
                <a:endParaRPr lang="zh-TW" sz="2400"/>
              </a:p>
            </p:txBody>
          </p:sp>
        </mc:Choice>
        <mc:Fallback xmlns="">
          <p:pic>
            <p:nvPicPr>
              <p:cNvPr id="12" name="F12"/>
              <p:cNvPicPr/>
              <p:nvPr/>
            </p:nvPicPr>
            <p:blipFill>
              <a:blip r:embed="rId3"/>
              <a:stretch>
                <a:fillRect/>
              </a:stretch>
            </p:blipFill>
            <p:spPr>
              <a:xfrm>
                <a:off x="365760" y="137160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74520"/>
                <a:ext cx="7955280" cy="82296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1">
                        <a:solidFill>
                          <a:srgbClr val="C8901F"/>
                        </a:solidFill>
                        <a:latin typeface="Cambria Math" panose="02040503050406030204" pitchFamily="18" charset="0"/>
                        <a:ea typeface="Cambria Math"/>
                      </a:rPr>
                      <m:t>𝑦</m:t>
                    </m:r>
                    <m:r>
                      <a:rPr lang="en-US" altLang="zh-TW" sz="2400" b="0" i="0">
                        <a:solidFill>
                          <a:srgbClr val="C8901F"/>
                        </a:solidFill>
                        <a:latin typeface="Cambria Math" panose="02040503050406030204" pitchFamily="18" charset="0"/>
                        <a:ea typeface="Cambria Math"/>
                      </a:rPr>
                      <m:t> = 56.57</m:t>
                    </m:r>
                    <m:r>
                      <a:rPr lang="en-US" altLang="zh-TW" sz="2400" b="0" i="1">
                        <a:solidFill>
                          <a:srgbClr val="C8901F"/>
                        </a:solidFill>
                        <a:latin typeface="Cambria Math" panose="02040503050406030204" pitchFamily="18" charset="0"/>
                        <a:ea typeface="Cambria Math"/>
                      </a:rPr>
                      <m:t>𝑡</m:t>
                    </m:r>
                    <m:r>
                      <a:rPr lang="en-US" altLang="zh-TW" sz="2400" b="0" i="0">
                        <a:solidFill>
                          <a:srgbClr val="C8901F"/>
                        </a:solidFill>
                        <a:latin typeface="Cambria Math" panose="02040503050406030204" pitchFamily="18" charset="0"/>
                        <a:ea typeface="Cambria Math"/>
                      </a:rPr>
                      <m:t> − </m:t>
                    </m:r>
                    <m:f>
                      <m:fPr>
                        <m:ctrlPr>
                          <a:rPr lang="en-US" altLang="zh-TW" sz="2400" b="0" i="0">
                            <a:solidFill>
                              <a:srgbClr val="C8901F"/>
                            </a:solidFill>
                            <a:latin typeface="Cambria Math" panose="02040503050406030204" pitchFamily="18" charset="0"/>
                            <a:ea typeface="Cambria Math"/>
                          </a:rPr>
                        </m:ctrlPr>
                      </m:fPr>
                      <m:num>
                        <m:r>
                          <a:rPr lang="en-US" altLang="zh-TW" sz="2400" b="0" i="0">
                            <a:solidFill>
                              <a:srgbClr val="C8901F"/>
                            </a:solidFill>
                            <a:latin typeface="Cambria Math" panose="02040503050406030204" pitchFamily="18" charset="0"/>
                            <a:ea typeface="Cambria Math"/>
                          </a:rPr>
                          <m:t>1</m:t>
                        </m:r>
                      </m:num>
                      <m:den>
                        <m:r>
                          <a:rPr lang="en-US" altLang="zh-TW" sz="2400" b="0" i="0">
                            <a:solidFill>
                              <a:srgbClr val="C8901F"/>
                            </a:solidFill>
                            <a:latin typeface="Cambria Math" panose="02040503050406030204" pitchFamily="18" charset="0"/>
                            <a:ea typeface="Cambria Math"/>
                          </a:rPr>
                          <m:t>2</m:t>
                        </m:r>
                      </m:den>
                    </m:f>
                    <m:d>
                      <m:dPr>
                        <m:ctrlPr>
                          <a:rPr lang="en-US" altLang="zh-TW" sz="2400" b="0" i="0">
                            <a:solidFill>
                              <a:srgbClr val="C8901F"/>
                            </a:solidFill>
                            <a:latin typeface="Cambria Math" panose="02040503050406030204" pitchFamily="18" charset="0"/>
                            <a:ea typeface="Cambria Math"/>
                          </a:rPr>
                        </m:ctrlPr>
                      </m:dPr>
                      <m:e>
                        <m:r>
                          <a:rPr lang="en-US" altLang="zh-TW" sz="2400" b="0" i="0">
                            <a:solidFill>
                              <a:srgbClr val="C8901F"/>
                            </a:solidFill>
                            <a:latin typeface="Cambria Math" panose="02040503050406030204" pitchFamily="18" charset="0"/>
                            <a:ea typeface="Cambria Math"/>
                          </a:rPr>
                          <m:t>9.81</m:t>
                        </m:r>
                      </m:e>
                    </m:d>
                    <m:sSup>
                      <m:sSupPr>
                        <m:ctrlPr>
                          <a:rPr lang="en-US" altLang="zh-TW" sz="2400" b="0" i="1">
                            <a:solidFill>
                              <a:srgbClr val="C8901F"/>
                            </a:solidFill>
                            <a:latin typeface="Cambria Math" panose="02040503050406030204" pitchFamily="18" charset="0"/>
                            <a:ea typeface="Cambria Math"/>
                          </a:rPr>
                        </m:ctrlPr>
                      </m:sSupPr>
                      <m:e>
                        <m:r>
                          <a:rPr lang="en-US" altLang="zh-TW" sz="2400" b="0" i="1">
                            <a:solidFill>
                              <a:srgbClr val="C8901F"/>
                            </a:solidFill>
                            <a:latin typeface="Cambria Math" panose="02040503050406030204" pitchFamily="18" charset="0"/>
                            <a:ea typeface="Cambria Math"/>
                          </a:rPr>
                          <m:t>𝑡</m:t>
                        </m:r>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56.57</m:t>
                    </m:r>
                    <m:r>
                      <a:rPr lang="en-US" altLang="zh-TW" sz="2400" b="0" i="1">
                        <a:solidFill>
                          <a:srgbClr val="C8901F"/>
                        </a:solidFill>
                        <a:latin typeface="Cambria Math" panose="02040503050406030204" pitchFamily="18" charset="0"/>
                        <a:ea typeface="Cambria Math"/>
                      </a:rPr>
                      <m:t>𝑡</m:t>
                    </m:r>
                    <m:r>
                      <a:rPr lang="en-US" altLang="zh-TW" sz="2400" b="0" i="0">
                        <a:solidFill>
                          <a:srgbClr val="C8901F"/>
                        </a:solidFill>
                        <a:latin typeface="Cambria Math" panose="02040503050406030204" pitchFamily="18" charset="0"/>
                        <a:ea typeface="Cambria Math"/>
                      </a:rPr>
                      <m:t> − 4.905</m:t>
                    </m:r>
                    <m:sSup>
                      <m:sSupPr>
                        <m:ctrlPr>
                          <a:rPr lang="en-US" altLang="zh-TW" sz="2400" b="0" i="1">
                            <a:solidFill>
                              <a:srgbClr val="C8901F"/>
                            </a:solidFill>
                            <a:latin typeface="Cambria Math" panose="02040503050406030204" pitchFamily="18" charset="0"/>
                            <a:ea typeface="Cambria Math"/>
                          </a:rPr>
                        </m:ctrlPr>
                      </m:sSupPr>
                      <m:e>
                        <m:r>
                          <a:rPr lang="en-US" altLang="zh-TW" sz="2400" b="0" i="1">
                            <a:solidFill>
                              <a:srgbClr val="C8901F"/>
                            </a:solidFill>
                            <a:latin typeface="Cambria Math" panose="02040503050406030204" pitchFamily="18" charset="0"/>
                            <a:ea typeface="Cambria Math"/>
                          </a:rPr>
                          <m:t>𝑡</m:t>
                        </m:r>
                      </m:e>
                      <m:sup>
                        <m:r>
                          <a:rPr lang="en-US" altLang="zh-TW" sz="2400" b="0" i="0">
                            <a:solidFill>
                              <a:srgbClr val="C8901F"/>
                            </a:solidFill>
                            <a:latin typeface="Cambria Math" panose="02040503050406030204" pitchFamily="18" charset="0"/>
                            <a:ea typeface="Cambria Math"/>
                          </a:rPr>
                          <m:t>2</m:t>
                        </m:r>
                      </m:sup>
                    </m:sSup>
                  </m:oMath>
                </a14:m>
                <a:r>
                  <a:rPr lang="zh-TW" altLang="en-US" sz="2400" b="1" dirty="0">
                    <a:solidFill>
                      <a:srgbClr val="D6006F"/>
                    </a:solidFill>
                    <a:latin typeface="Calibri"/>
                    <a:ea typeface="微軟正黑體"/>
                    <a:cs typeface="Calibri"/>
                  </a:rPr>
                  <a:t>　……②</a:t>
                </a:r>
                <a:endParaRPr lang="zh-TW" sz="2400"/>
              </a:p>
            </p:txBody>
          </p:sp>
        </mc:Choice>
        <mc:Fallback xmlns="">
          <p:pic>
            <p:nvPicPr>
              <p:cNvPr id="13" name="F13"/>
              <p:cNvPicPr/>
              <p:nvPr/>
            </p:nvPicPr>
            <p:blipFill>
              <a:blip r:embed="rId4"/>
              <a:stretch>
                <a:fillRect/>
              </a:stretch>
            </p:blipFill>
            <p:spPr>
              <a:xfrm>
                <a:off x="365760" y="1874520"/>
                <a:ext cx="795528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69748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p>
                      <m:sSupPr>
                        <m:ctrlPr>
                          <a:rPr lang="en-US" altLang="zh-TW" sz="2400" b="0" i="1">
                            <a:solidFill>
                              <a:srgbClr val="C8901F"/>
                            </a:solidFill>
                            <a:latin typeface="Cambria Math" panose="02040503050406030204" pitchFamily="18" charset="0"/>
                            <a:ea typeface="Cambria Math"/>
                          </a:rPr>
                        </m:ctrlPr>
                      </m:sSupPr>
                      <m:e>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m:t>
                    </m:r>
                    <m:sSup>
                      <m:sSupPr>
                        <m:ctrlPr>
                          <a:rPr lang="en-US" altLang="zh-TW" sz="2400" b="0" i="0">
                            <a:solidFill>
                              <a:srgbClr val="C8901F"/>
                            </a:solidFill>
                            <a:latin typeface="Cambria Math" panose="02040503050406030204" pitchFamily="18" charset="0"/>
                            <a:ea typeface="Cambria Math"/>
                          </a:rPr>
                        </m:ctrlPr>
                      </m:sSupPr>
                      <m:e>
                        <m:r>
                          <a:rPr lang="en-US" altLang="zh-TW" sz="2400" b="0" i="0">
                            <a:solidFill>
                              <a:srgbClr val="C8901F"/>
                            </a:solidFill>
                            <a:latin typeface="Cambria Math" panose="02040503050406030204" pitchFamily="18" charset="0"/>
                            <a:ea typeface="Cambria Math"/>
                          </a:rPr>
                          <m:t>56.57</m:t>
                        </m:r>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− 2</m:t>
                    </m:r>
                    <m:d>
                      <m:dPr>
                        <m:ctrlPr>
                          <a:rPr lang="en-US" altLang="zh-TW" sz="2400" b="0" i="0">
                            <a:solidFill>
                              <a:srgbClr val="C8901F"/>
                            </a:solidFill>
                            <a:latin typeface="Cambria Math" panose="02040503050406030204" pitchFamily="18" charset="0"/>
                            <a:ea typeface="Cambria Math"/>
                          </a:rPr>
                        </m:ctrlPr>
                      </m:dPr>
                      <m:e>
                        <m:r>
                          <a:rPr lang="en-US" altLang="zh-TW" sz="2400" b="0" i="0">
                            <a:solidFill>
                              <a:srgbClr val="C8901F"/>
                            </a:solidFill>
                            <a:latin typeface="Cambria Math" panose="02040503050406030204" pitchFamily="18" charset="0"/>
                            <a:ea typeface="Cambria Math"/>
                          </a:rPr>
                          <m:t>9.81</m:t>
                        </m:r>
                      </m:e>
                    </m:d>
                    <m:r>
                      <a:rPr lang="en-US" altLang="zh-TW" sz="2400" b="0" i="1">
                        <a:solidFill>
                          <a:srgbClr val="C8901F"/>
                        </a:solidFill>
                        <a:latin typeface="Cambria Math" panose="02040503050406030204" pitchFamily="18" charset="0"/>
                        <a:ea typeface="Cambria Math"/>
                      </a:rPr>
                      <m:t>𝑦</m:t>
                    </m:r>
                    <m:r>
                      <a:rPr lang="en-US" altLang="zh-TW" sz="2400" b="0" i="0">
                        <a:solidFill>
                          <a:srgbClr val="C8901F"/>
                        </a:solidFill>
                        <a:latin typeface="Cambria Math" panose="02040503050406030204" pitchFamily="18" charset="0"/>
                        <a:ea typeface="Cambria Math"/>
                      </a:rPr>
                      <m:t> = 3200 − 19.62</m:t>
                    </m:r>
                    <m:r>
                      <a:rPr lang="en-US" altLang="zh-TW" sz="2400" b="0" i="1">
                        <a:solidFill>
                          <a:srgbClr val="C8901F"/>
                        </a:solidFill>
                        <a:latin typeface="Cambria Math" panose="02040503050406030204" pitchFamily="18" charset="0"/>
                        <a:ea typeface="Cambria Math"/>
                      </a:rPr>
                      <m:t>𝑦</m:t>
                    </m:r>
                  </m:oMath>
                </a14:m>
                <a:r>
                  <a:rPr lang="zh-TW" altLang="en-US" sz="2400" b="1" dirty="0">
                    <a:solidFill>
                      <a:srgbClr val="D6006F"/>
                    </a:solidFill>
                    <a:latin typeface="Calibri"/>
                    <a:ea typeface="微軟正黑體"/>
                    <a:cs typeface="Calibri"/>
                  </a:rPr>
                  <a:t>　……③</a:t>
                </a:r>
                <a:endParaRPr lang="zh-TW" sz="2400"/>
              </a:p>
            </p:txBody>
          </p:sp>
        </mc:Choice>
        <mc:Fallback xmlns="">
          <p:pic>
            <p:nvPicPr>
              <p:cNvPr id="14" name="F14"/>
              <p:cNvPicPr/>
              <p:nvPr/>
            </p:nvPicPr>
            <p:blipFill>
              <a:blip r:embed="rId5"/>
              <a:stretch>
                <a:fillRect/>
              </a:stretch>
            </p:blipFill>
            <p:spPr>
              <a:xfrm>
                <a:off x="365760" y="2697480"/>
                <a:ext cx="7955280" cy="548640"/>
              </a:xfrm>
              <a:prstGeom prst="rect">
                <a:avLst/>
              </a:prstGeom>
              <a:noFill/>
              <a:ln>
                <a:noFill/>
              </a:ln>
            </p:spPr>
          </p:pic>
        </mc:Fallback>
      </mc:AlternateContent>
      <p:sp>
        <p:nvSpPr>
          <p:cNvPr id="15" name="T15"/>
          <p:cNvSpPr txBox="1"/>
          <p:nvPr/>
        </p:nvSpPr>
        <p:spPr>
          <a:xfrm>
            <a:off x="365760" y="3520440"/>
            <a:ext cx="7955280" cy="10058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① 水平等速　② 垂直位置　③ 不含 t</a:t>
            </a:r>
            <a:endParaRPr lang="zh-TW" sz="2400"/>
          </a:p>
          <a:p>
            <a:pPr algn="l">
              <a:lnSpc>
                <a:spcPct val="100000"/>
              </a:lnSpc>
              <a:buNone/>
            </a:pPr>
            <a:r>
              <a:rPr lang="zh-TW" altLang="en-US" sz="2400" b="0" dirty="0">
                <a:solidFill>
                  <a:srgbClr val="2B3050"/>
                </a:solidFill>
                <a:latin typeface="Calibri"/>
                <a:ea typeface="微軟正黑體"/>
                <a:cs typeface="Calibri"/>
              </a:rPr>
              <a:t>先把三條都寫好，再看題目要哪一條</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步驟 2：(a) 落地時間與水平距離</a:t>
            </a:r>
          </a:p>
        </p:txBody>
      </p:sp>
      <p:sp>
        <p:nvSpPr>
          <p:cNvPr id="11" name="T11"/>
          <p:cNvSpPr txBox="1"/>
          <p:nvPr/>
        </p:nvSpPr>
        <p:spPr>
          <a:xfrm>
            <a:off x="365760" y="868680"/>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落地 y = −500 代入②：</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07592"/>
                <a:ext cx="79552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−500 = 56.57</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− 4.905</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4.905</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− 56.57</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− 500 = 0</m:t>
                      </m:r>
                    </m:oMath>
                  </m:oMathPara>
                </a14:m>
                <a:endParaRPr lang="zh-TW" sz="2400"/>
              </a:p>
            </p:txBody>
          </p:sp>
        </mc:Choice>
        <mc:Fallback xmlns="">
          <p:pic>
            <p:nvPicPr>
              <p:cNvPr id="12" name="F12"/>
              <p:cNvPicPr/>
              <p:nvPr/>
            </p:nvPicPr>
            <p:blipFill>
              <a:blip r:embed="rId2"/>
              <a:stretch>
                <a:fillRect/>
              </a:stretch>
            </p:blipFill>
            <p:spPr>
              <a:xfrm>
                <a:off x="365760" y="1307592"/>
                <a:ext cx="79552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403860" y="2105168"/>
                <a:ext cx="7955280" cy="9601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56.57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56.57</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4.905</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500</m:t>
                                  </m:r>
                                </m:e>
                              </m:d>
                            </m:e>
                          </m:rad>
                        </m:num>
                        <m:den>
                          <m:r>
                            <a:rPr lang="en-US" altLang="zh-TW" sz="2400" b="0" i="0">
                              <a:solidFill>
                                <a:srgbClr val="2B3050"/>
                              </a:solidFill>
                              <a:latin typeface="Cambria Math" panose="02040503050406030204" pitchFamily="18" charset="0"/>
                              <a:ea typeface="Cambria Math"/>
                            </a:rPr>
                            <m:t>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4.905</m:t>
                              </m:r>
                            </m:e>
                          </m:d>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56.57 + 114.06</m:t>
                          </m:r>
                        </m:num>
                        <m:den>
                          <m:r>
                            <a:rPr lang="en-US" altLang="zh-TW" sz="2400" b="0" i="0">
                              <a:solidFill>
                                <a:srgbClr val="2B3050"/>
                              </a:solidFill>
                              <a:latin typeface="Cambria Math" panose="02040503050406030204" pitchFamily="18" charset="0"/>
                              <a:ea typeface="Cambria Math"/>
                            </a:rPr>
                            <m:t>9.81</m:t>
                          </m:r>
                        </m:den>
                      </m:f>
                      <m:r>
                        <a:rPr lang="en-US" altLang="zh-TW" sz="2400" b="0" i="0">
                          <a:solidFill>
                            <a:srgbClr val="2B3050"/>
                          </a:solidFill>
                          <a:latin typeface="Cambria Math" panose="02040503050406030204" pitchFamily="18" charset="0"/>
                          <a:ea typeface="Cambria Math"/>
                        </a:rPr>
                        <m:t> = 17.4 </m:t>
                      </m:r>
                      <m:r>
                        <m:rPr>
                          <m:sty m:val="p"/>
                        </m:rPr>
                        <a:rPr lang="en-US" altLang="zh-TW" sz="2400" b="0" i="0">
                          <a:solidFill>
                            <a:srgbClr val="2B3050"/>
                          </a:solidFill>
                          <a:latin typeface="Cambria Math" panose="02040503050406030204" pitchFamily="18" charset="0"/>
                          <a:ea typeface="Cambria Math"/>
                        </a:rPr>
                        <m:t>s</m:t>
                      </m:r>
                    </m:oMath>
                  </m:oMathPara>
                </a14:m>
                <a:endParaRPr lang="zh-TW" sz="2400" dirty="0"/>
              </a:p>
            </p:txBody>
          </p:sp>
        </mc:Choice>
        <mc:Fallback xmlns="">
          <p:sp>
            <p:nvSpPr>
              <p:cNvPr id="13" name="T13"/>
              <p:cNvSpPr txBox="1">
                <a:spLocks noRot="1" noChangeAspect="1" noMove="1" noResize="1" noEditPoints="1" noAdjustHandles="1" noChangeArrowheads="1" noChangeShapeType="1" noTextEdit="1"/>
              </p:cNvSpPr>
              <p:nvPr/>
            </p:nvSpPr>
            <p:spPr>
              <a:xfrm>
                <a:off x="403860" y="2105168"/>
                <a:ext cx="7955280" cy="960120"/>
              </a:xfrm>
              <a:prstGeom prst="rect">
                <a:avLst/>
              </a:prstGeom>
              <a:blipFill>
                <a:blip r:embed="rId3"/>
                <a:stretch>
                  <a:fillRect b="-63924"/>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T14"/>
              <p:cNvSpPr txBox="1"/>
              <p:nvPr/>
            </p:nvSpPr>
            <p:spPr>
              <a:xfrm>
                <a:off x="323850" y="3597688"/>
                <a:ext cx="7955280" cy="53035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代入①：</a:t>
                </a:r>
                <a14:m>
                  <m:oMath xmlns:m="http://schemas.openxmlformats.org/officeDocument/2006/math">
                    <m:r>
                      <a:rPr lang="en-US" altLang="zh-TW" sz="2400" b="0" i="1">
                        <a:solidFill>
                          <a:srgbClr val="D6006F"/>
                        </a:solidFill>
                        <a:latin typeface="Cambria Math" panose="02040503050406030204" pitchFamily="18" charset="0"/>
                        <a:ea typeface="Cambria Math"/>
                      </a:rPr>
                      <m:t>𝑥</m:t>
                    </m:r>
                    <m:r>
                      <a:rPr lang="en-US" altLang="zh-TW" sz="2400" b="0" i="0">
                        <a:solidFill>
                          <a:srgbClr val="D6006F"/>
                        </a:solidFill>
                        <a:latin typeface="Cambria Math" panose="02040503050406030204" pitchFamily="18" charset="0"/>
                        <a:ea typeface="Cambria Math"/>
                      </a:rPr>
                      <m:t> = 56.57 × 17.4 = 984 </m:t>
                    </m:r>
                    <m:r>
                      <m:rPr>
                        <m:sty m:val="p"/>
                      </m:rPr>
                      <a:rPr lang="en-US" altLang="zh-TW" sz="2400" b="0" i="0">
                        <a:solidFill>
                          <a:srgbClr val="D6006F"/>
                        </a:solidFill>
                        <a:latin typeface="Cambria Math" panose="02040503050406030204" pitchFamily="18" charset="0"/>
                        <a:ea typeface="Cambria Math"/>
                      </a:rPr>
                      <m:t>m</m:t>
                    </m:r>
                  </m:oMath>
                </a14:m>
                <a:endParaRPr lang="zh-TW" sz="2400"/>
              </a:p>
            </p:txBody>
          </p:sp>
        </mc:Choice>
        <mc:Fallback xmlns="">
          <p:sp>
            <p:nvSpPr>
              <p:cNvPr id="14" name="T14"/>
              <p:cNvSpPr txBox="1">
                <a:spLocks noRot="1" noChangeAspect="1" noMove="1" noResize="1" noEditPoints="1" noAdjustHandles="1" noChangeArrowheads="1" noChangeShapeType="1" noTextEdit="1"/>
              </p:cNvSpPr>
              <p:nvPr/>
            </p:nvSpPr>
            <p:spPr>
              <a:xfrm>
                <a:off x="323850" y="3597688"/>
                <a:ext cx="7955280" cy="530352"/>
              </a:xfrm>
              <a:prstGeom prst="rect">
                <a:avLst/>
              </a:prstGeom>
              <a:blipFill>
                <a:blip r:embed="rId4"/>
                <a:stretch>
                  <a:fillRect l="-1609" t="-12644" b="-9195"/>
                </a:stretch>
              </a:blipFill>
              <a:ln>
                <a:noFill/>
              </a:ln>
            </p:spPr>
            <p:txBody>
              <a:bodyPr/>
              <a:lstStyle/>
              <a:p>
                <a:r>
                  <a:rPr lang="zh-TW" altLang="en-US">
                    <a:noFill/>
                  </a:rPr>
                  <a:t> </a:t>
                </a:r>
              </a:p>
            </p:txBody>
          </p:sp>
        </mc:Fallback>
      </mc:AlternateContent>
      <p:sp>
        <p:nvSpPr>
          <p:cNvPr id="15" name="T15"/>
          <p:cNvSpPr txBox="1"/>
          <p:nvPr/>
        </p:nvSpPr>
        <p:spPr>
          <a:xfrm>
            <a:off x="365760" y="4229100"/>
            <a:ext cx="7955280" cy="5486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 (a)：</a:t>
            </a:r>
            <a:r>
              <a:rPr lang="zh-TW" altLang="en-US" sz="2400" b="0" dirty="0">
                <a:solidFill>
                  <a:srgbClr val="2B3050"/>
                </a:solidFill>
                <a:latin typeface="Calibri"/>
                <a:ea typeface="微軟正黑體"/>
                <a:cs typeface="Calibri"/>
              </a:rPr>
              <a:t>水平距離約 984 m（負根 −5.86 s 不合）</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步驟 3：(b) 最大高度</a:t>
            </a:r>
          </a:p>
        </p:txBody>
      </p:sp>
      <mc:AlternateContent xmlns:mc="http://schemas.openxmlformats.org/markup-compatibility/2006" xmlns:a14="http://schemas.microsoft.com/office/drawing/2010/main">
        <mc:Choice Requires="a14">
          <p:sp>
            <p:nvSpPr>
              <p:cNvPr id="11" name="T11"/>
              <p:cNvSpPr txBox="1"/>
              <p:nvPr/>
            </p:nvSpPr>
            <p:spPr>
              <a:xfrm>
                <a:off x="365760" y="868680"/>
                <a:ext cx="47548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最高點 </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0</m:t>
                    </m:r>
                  </m:oMath>
                </a14:m>
                <a:r>
                  <a:rPr lang="zh-TW" altLang="en-US" sz="2400" b="0" dirty="0">
                    <a:solidFill>
                      <a:srgbClr val="2B3050"/>
                    </a:solidFill>
                    <a:latin typeface="Calibri"/>
                    <a:ea typeface="微軟正黑體"/>
                    <a:cs typeface="Calibri"/>
                  </a:rPr>
                  <a:t> 代入③：</a:t>
                </a:r>
                <a:endParaRPr lang="zh-TW" sz="2400"/>
              </a:p>
            </p:txBody>
          </p:sp>
        </mc:Choice>
        <mc:Fallback xmlns="">
          <p:pic>
            <p:nvPicPr>
              <p:cNvPr id="11" name="F11"/>
              <p:cNvPicPr/>
              <p:nvPr/>
            </p:nvPicPr>
            <p:blipFill>
              <a:blip r:embed="rId2"/>
              <a:stretch>
                <a:fillRect/>
              </a:stretch>
            </p:blipFill>
            <p:spPr>
              <a:xfrm>
                <a:off x="365760" y="868680"/>
                <a:ext cx="4754880" cy="43891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07592"/>
                <a:ext cx="47548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 = 3200 − 19.62</m:t>
                      </m:r>
                      <m:r>
                        <a:rPr lang="en-US" altLang="zh-TW" sz="2400" b="0" i="1">
                          <a:solidFill>
                            <a:srgbClr val="2B3050"/>
                          </a:solidFill>
                          <a:latin typeface="Cambria Math" panose="02040503050406030204" pitchFamily="18" charset="0"/>
                          <a:ea typeface="Cambria Math"/>
                        </a:rPr>
                        <m:t>𝑦</m:t>
                      </m:r>
                    </m:oMath>
                  </m:oMathPara>
                </a14:m>
                <a:endParaRPr lang="zh-TW" sz="2400"/>
              </a:p>
            </p:txBody>
          </p:sp>
        </mc:Choice>
        <mc:Fallback xmlns="">
          <p:pic>
            <p:nvPicPr>
              <p:cNvPr id="12" name="F12"/>
              <p:cNvPicPr/>
              <p:nvPr/>
            </p:nvPicPr>
            <p:blipFill>
              <a:blip r:embed="rId3"/>
              <a:stretch>
                <a:fillRect/>
              </a:stretch>
            </p:blipFill>
            <p:spPr>
              <a:xfrm>
                <a:off x="365760" y="1307592"/>
                <a:ext cx="47548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37944"/>
                <a:ext cx="47548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3200</m:t>
                          </m:r>
                        </m:num>
                        <m:den>
                          <m:r>
                            <a:rPr lang="en-US" altLang="zh-TW" sz="2400" b="0" i="0">
                              <a:solidFill>
                                <a:srgbClr val="2B3050"/>
                              </a:solidFill>
                              <a:latin typeface="Cambria Math" panose="02040503050406030204" pitchFamily="18" charset="0"/>
                              <a:ea typeface="Cambria Math"/>
                            </a:rPr>
                            <m:t>19.62</m:t>
                          </m:r>
                        </m:den>
                      </m:f>
                      <m:r>
                        <a:rPr lang="en-US" altLang="zh-TW" sz="2400" b="0" i="0">
                          <a:solidFill>
                            <a:srgbClr val="2B3050"/>
                          </a:solidFill>
                          <a:latin typeface="Cambria Math" panose="02040503050406030204" pitchFamily="18" charset="0"/>
                          <a:ea typeface="Cambria Math"/>
                        </a:rPr>
                        <m:t> = 163 </m:t>
                      </m:r>
                      <m:r>
                        <m:rPr>
                          <m:sty m:val="p"/>
                        </m:rPr>
                        <a:rPr lang="en-US" altLang="zh-TW" sz="2400" b="0" i="0">
                          <a:solidFill>
                            <a:srgbClr val="2B3050"/>
                          </a:solidFill>
                          <a:latin typeface="Cambria Math" panose="02040503050406030204" pitchFamily="18" charset="0"/>
                          <a:ea typeface="Cambria Math"/>
                        </a:rPr>
                        <m:t>m</m:t>
                      </m:r>
                    </m:oMath>
                  </m:oMathPara>
                </a14:m>
                <a:endParaRPr lang="zh-TW" sz="2400"/>
              </a:p>
            </p:txBody>
          </p:sp>
        </mc:Choice>
        <mc:Fallback xmlns="">
          <p:pic>
            <p:nvPicPr>
              <p:cNvPr id="13" name="F13"/>
              <p:cNvPicPr/>
              <p:nvPr/>
            </p:nvPicPr>
            <p:blipFill>
              <a:blip r:embed="rId4"/>
              <a:stretch>
                <a:fillRect/>
              </a:stretch>
            </p:blipFill>
            <p:spPr>
              <a:xfrm>
                <a:off x="365760" y="1837944"/>
                <a:ext cx="47548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706624"/>
                <a:ext cx="47548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𝑦</m:t>
                          </m:r>
                        </m:e>
                        <m:sub>
                          <m:r>
                            <m:rPr>
                              <m:sty m:val="p"/>
                            </m:rPr>
                            <a:rPr lang="en-US" altLang="zh-TW" sz="2400" b="0" i="0">
                              <a:solidFill>
                                <a:srgbClr val="D6006F"/>
                              </a:solidFill>
                              <a:latin typeface="Cambria Math" panose="02040503050406030204" pitchFamily="18" charset="0"/>
                              <a:ea typeface="Cambria Math"/>
                            </a:rPr>
                            <m:t>max</m:t>
                          </m:r>
                        </m:sub>
                      </m:sSub>
                      <m:r>
                        <a:rPr lang="en-US" altLang="zh-TW" sz="2400" b="0" i="0">
                          <a:solidFill>
                            <a:srgbClr val="D6006F"/>
                          </a:solidFill>
                          <a:latin typeface="Cambria Math" panose="02040503050406030204" pitchFamily="18" charset="0"/>
                          <a:ea typeface="Cambria Math"/>
                        </a:rPr>
                        <m:t> = 500 + 163 = 663 </m:t>
                      </m:r>
                      <m:r>
                        <m:rPr>
                          <m:sty m:val="p"/>
                        </m:rPr>
                        <a:rPr lang="en-US" altLang="zh-TW" sz="2400" b="0" i="0">
                          <a:solidFill>
                            <a:srgbClr val="D6006F"/>
                          </a:solidFill>
                          <a:latin typeface="Cambria Math" panose="02040503050406030204" pitchFamily="18" charset="0"/>
                          <a:ea typeface="Cambria Math"/>
                        </a:rPr>
                        <m:t>m</m:t>
                      </m:r>
                    </m:oMath>
                  </m:oMathPara>
                </a14:m>
                <a:endParaRPr lang="zh-TW" sz="2400"/>
              </a:p>
            </p:txBody>
          </p:sp>
        </mc:Choice>
        <mc:Fallback xmlns="">
          <p:pic>
            <p:nvPicPr>
              <p:cNvPr id="14" name="F14"/>
              <p:cNvPicPr/>
              <p:nvPr/>
            </p:nvPicPr>
            <p:blipFill>
              <a:blip r:embed="rId5"/>
              <a:stretch>
                <a:fillRect/>
              </a:stretch>
            </p:blipFill>
            <p:spPr>
              <a:xfrm>
                <a:off x="365760" y="2706624"/>
                <a:ext cx="4754880" cy="548640"/>
              </a:xfrm>
              <a:prstGeom prst="rect">
                <a:avLst/>
              </a:prstGeom>
              <a:noFill/>
              <a:ln>
                <a:noFill/>
              </a:ln>
            </p:spPr>
          </p:pic>
        </mc:Fallback>
      </mc:AlternateContent>
      <p:cxnSp>
        <p:nvCxnSpPr>
          <p:cNvPr id="15" name="L15"/>
          <p:cNvCxnSpPr/>
          <p:nvPr/>
        </p:nvCxnSpPr>
        <p:spPr>
          <a:xfrm>
            <a:off x="365760" y="4526280"/>
            <a:ext cx="7863840" cy="0"/>
          </a:xfrm>
          <a:prstGeom prst="line">
            <a:avLst/>
          </a:prstGeom>
          <a:ln w="25400">
            <a:solidFill>
              <a:srgbClr val="2B3050"/>
            </a:solidFill>
          </a:ln>
        </p:spPr>
      </p:cxnSp>
      <p:sp>
        <p:nvSpPr>
          <p:cNvPr id="16" name="P16"/>
          <p:cNvSpPr/>
          <p:nvPr/>
        </p:nvSpPr>
        <p:spPr>
          <a:xfrm>
            <a:off x="5257800" y="1600012"/>
            <a:ext cx="2968492" cy="2924410"/>
          </a:xfrm>
          <a:custGeom>
            <a:avLst/>
            <a:gdLst/>
            <a:ahLst/>
            <a:cxnLst/>
            <a:rect l="0" t="0" r="r" b="b"/>
            <a:pathLst>
              <a:path w="2968492" h="2924410">
                <a:moveTo>
                  <a:pt x="0" y="719571"/>
                </a:moveTo>
                <a:lnTo>
                  <a:pt x="74212" y="615121"/>
                </a:lnTo>
                <a:lnTo>
                  <a:pt x="148425" y="518853"/>
                </a:lnTo>
                <a:lnTo>
                  <a:pt x="222637" y="430769"/>
                </a:lnTo>
                <a:lnTo>
                  <a:pt x="296849" y="350868"/>
                </a:lnTo>
                <a:lnTo>
                  <a:pt x="371062" y="279150"/>
                </a:lnTo>
                <a:lnTo>
                  <a:pt x="445274" y="215615"/>
                </a:lnTo>
                <a:lnTo>
                  <a:pt x="519486" y="160264"/>
                </a:lnTo>
                <a:lnTo>
                  <a:pt x="593698" y="113095"/>
                </a:lnTo>
                <a:lnTo>
                  <a:pt x="667911" y="74110"/>
                </a:lnTo>
                <a:lnTo>
                  <a:pt x="742123" y="43308"/>
                </a:lnTo>
                <a:lnTo>
                  <a:pt x="816335" y="20689"/>
                </a:lnTo>
                <a:lnTo>
                  <a:pt x="890548" y="6253"/>
                </a:lnTo>
                <a:lnTo>
                  <a:pt x="964760" y="0"/>
                </a:lnTo>
                <a:lnTo>
                  <a:pt x="1038972" y="1930"/>
                </a:lnTo>
                <a:lnTo>
                  <a:pt x="1113185" y="12044"/>
                </a:lnTo>
                <a:lnTo>
                  <a:pt x="1187397" y="30341"/>
                </a:lnTo>
                <a:lnTo>
                  <a:pt x="1261609" y="56821"/>
                </a:lnTo>
                <a:lnTo>
                  <a:pt x="1335822" y="91484"/>
                </a:lnTo>
                <a:lnTo>
                  <a:pt x="1410034" y="134330"/>
                </a:lnTo>
                <a:lnTo>
                  <a:pt x="1484246" y="185359"/>
                </a:lnTo>
                <a:lnTo>
                  <a:pt x="1558458" y="244572"/>
                </a:lnTo>
                <a:lnTo>
                  <a:pt x="1632671" y="311968"/>
                </a:lnTo>
                <a:lnTo>
                  <a:pt x="1706883" y="387547"/>
                </a:lnTo>
                <a:lnTo>
                  <a:pt x="1781095" y="471309"/>
                </a:lnTo>
                <a:lnTo>
                  <a:pt x="1855308" y="563254"/>
                </a:lnTo>
                <a:lnTo>
                  <a:pt x="1929520" y="663382"/>
                </a:lnTo>
                <a:lnTo>
                  <a:pt x="2003732" y="771694"/>
                </a:lnTo>
                <a:lnTo>
                  <a:pt x="2077945" y="888188"/>
                </a:lnTo>
                <a:lnTo>
                  <a:pt x="2152157" y="1012866"/>
                </a:lnTo>
                <a:lnTo>
                  <a:pt x="2226369" y="1145727"/>
                </a:lnTo>
                <a:lnTo>
                  <a:pt x="2300581" y="1286771"/>
                </a:lnTo>
                <a:lnTo>
                  <a:pt x="2374794" y="1435998"/>
                </a:lnTo>
                <a:lnTo>
                  <a:pt x="2449006" y="1593409"/>
                </a:lnTo>
                <a:lnTo>
                  <a:pt x="2523218" y="1759002"/>
                </a:lnTo>
                <a:lnTo>
                  <a:pt x="2597431" y="1932779"/>
                </a:lnTo>
                <a:lnTo>
                  <a:pt x="2671643" y="2114739"/>
                </a:lnTo>
                <a:lnTo>
                  <a:pt x="2745855" y="2304882"/>
                </a:lnTo>
                <a:lnTo>
                  <a:pt x="2820068" y="2503208"/>
                </a:lnTo>
                <a:lnTo>
                  <a:pt x="2894280" y="2709718"/>
                </a:lnTo>
                <a:lnTo>
                  <a:pt x="2968492" y="2924410"/>
                </a:lnTo>
              </a:path>
            </a:pathLst>
          </a:custGeom>
          <a:noFill/>
          <a:ln w="19050">
            <a:solidFill>
              <a:srgbClr val="8A8F9C"/>
            </a:solidFill>
            <a:prstDash val="dash"/>
          </a:ln>
        </p:spPr>
        <p:txBody>
          <a:bodyPr/>
          <a:lstStyle/>
          <a:p>
            <a:endParaRPr lang="zh-TW" altLang="en-US"/>
          </a:p>
        </p:txBody>
      </p:sp>
      <p:sp>
        <p:nvSpPr>
          <p:cNvPr id="17" name="S17"/>
          <p:cNvSpPr/>
          <p:nvPr/>
        </p:nvSpPr>
        <p:spPr>
          <a:xfrm>
            <a:off x="5193792" y="2255575"/>
            <a:ext cx="128016" cy="128016"/>
          </a:xfrm>
          <a:prstGeom prst="ellipse">
            <a:avLst/>
          </a:prstGeom>
          <a:solidFill>
            <a:srgbClr val="2B3050"/>
          </a:solidFill>
          <a:ln>
            <a:noFill/>
          </a:ln>
        </p:spPr>
        <p:txBody>
          <a:bodyPr/>
          <a:lstStyle/>
          <a:p>
            <a:endParaRPr lang="zh-TW" altLang="en-US"/>
          </a:p>
        </p:txBody>
      </p:sp>
      <p:cxnSp>
        <p:nvCxnSpPr>
          <p:cNvPr id="18" name="L18"/>
          <p:cNvCxnSpPr/>
          <p:nvPr/>
        </p:nvCxnSpPr>
        <p:spPr>
          <a:xfrm>
            <a:off x="6222560" y="1645732"/>
            <a:ext cx="0" cy="2880548"/>
          </a:xfrm>
          <a:prstGeom prst="line">
            <a:avLst/>
          </a:prstGeom>
          <a:ln w="25400">
            <a:solidFill>
              <a:srgbClr val="D6006F"/>
            </a:solidFill>
            <a:headEnd type="triangle" w="med" len="med"/>
            <a:tailEnd type="triangle" w="med" len="med"/>
          </a:ln>
        </p:spPr>
      </p:cxnSp>
      <p:sp>
        <p:nvSpPr>
          <p:cNvPr id="19" name="T19"/>
          <p:cNvSpPr txBox="1"/>
          <p:nvPr/>
        </p:nvSpPr>
        <p:spPr>
          <a:xfrm>
            <a:off x="6268280" y="2880266"/>
            <a:ext cx="12801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663 m</a:t>
            </a:r>
            <a:endParaRPr lang="zh-TW" sz="2400"/>
          </a:p>
        </p:txBody>
      </p:sp>
      <p:cxnSp>
        <p:nvCxnSpPr>
          <p:cNvPr id="20" name="L20"/>
          <p:cNvCxnSpPr/>
          <p:nvPr/>
        </p:nvCxnSpPr>
        <p:spPr>
          <a:xfrm flipV="1">
            <a:off x="5148072" y="1600012"/>
            <a:ext cx="0" cy="719571"/>
          </a:xfrm>
          <a:prstGeom prst="line">
            <a:avLst/>
          </a:prstGeom>
          <a:ln w="25400">
            <a:solidFill>
              <a:srgbClr val="C8901F"/>
            </a:solidFill>
            <a:headEnd type="triangle" w="med" len="med"/>
            <a:tailEnd type="triangle" w="med" len="med"/>
          </a:ln>
        </p:spPr>
      </p:cxnSp>
      <p:sp>
        <p:nvSpPr>
          <p:cNvPr id="21" name="T21"/>
          <p:cNvSpPr txBox="1"/>
          <p:nvPr/>
        </p:nvSpPr>
        <p:spPr>
          <a:xfrm>
            <a:off x="4187952" y="175863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163 m</a:t>
            </a:r>
            <a:endParaRPr lang="zh-TW" sz="2400"/>
          </a:p>
        </p:txBody>
      </p:sp>
      <p:sp>
        <p:nvSpPr>
          <p:cNvPr id="22" name="T22"/>
          <p:cNvSpPr txBox="1"/>
          <p:nvPr/>
        </p:nvSpPr>
        <p:spPr>
          <a:xfrm>
            <a:off x="365760" y="3657600"/>
            <a:ext cx="4754880" cy="5486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 (b)：</a:t>
            </a:r>
            <a:r>
              <a:rPr lang="zh-TW" altLang="en-US" sz="2400" b="0" dirty="0">
                <a:solidFill>
                  <a:srgbClr val="2B3050"/>
                </a:solidFill>
                <a:latin typeface="Calibri"/>
                <a:ea typeface="微軟正黑體"/>
                <a:cs typeface="Calibri"/>
              </a:rPr>
              <a:t>離地最大高度 663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8" grpId="0" animBg="1"/>
      <p:bldP spid="19" grpId="0" animBg="1"/>
      <p:bldP spid="20" grpId="0" animBg="1"/>
      <p:bldP spid="21" grpId="0" animBg="1"/>
      <p:bldP spid="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2-16　本題用到的公式與技巧</a:t>
            </a:r>
          </a:p>
        </p:txBody>
      </p:sp>
      <p:sp>
        <p:nvSpPr>
          <p:cNvPr id="11" name="T11"/>
          <p:cNvSpPr txBox="1"/>
          <p:nvPr/>
        </p:nvSpPr>
        <p:spPr>
          <a:xfrm>
            <a:off x="365760" y="84124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三條式子</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2"/>
              <a:stretch>
                <a:fillRect/>
              </a:stretch>
            </p:blipFill>
            <p:spPr>
              <a:xfrm>
                <a:off x="2560320" y="841248"/>
                <a:ext cx="5760720" cy="795528"/>
              </a:xfrm>
              <a:prstGeom prst="roundRect">
                <a:avLst/>
              </a:prstGeom>
              <a:solidFill>
                <a:srgbClr val="E8F4F6"/>
              </a:solidFill>
              <a:ln>
                <a:noFill/>
              </a:ln>
            </p:spPr>
          </p:pic>
        </mc:Fallback>
      </mc:AlternateContent>
      <p:sp>
        <p:nvSpPr>
          <p:cNvPr id="13" name="T13"/>
          <p:cNvSpPr txBox="1"/>
          <p:nvPr/>
        </p:nvSpPr>
        <p:spPr>
          <a:xfrm>
            <a:off x="365760" y="1709928"/>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不含 t</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709928"/>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𝑔𝑦</m:t>
                      </m:r>
                    </m:oMath>
                  </m:oMathPara>
                </a14:m>
                <a:endParaRPr lang="zh-TW" sz="2400"/>
              </a:p>
            </p:txBody>
          </p:sp>
        </mc:Choice>
        <mc:Fallback xmlns="">
          <p:pic>
            <p:nvPicPr>
              <p:cNvPr id="14" name="F14"/>
              <p:cNvPicPr/>
              <p:nvPr/>
            </p:nvPicPr>
            <p:blipFill>
              <a:blip r:embed="rId3"/>
              <a:stretch>
                <a:fillRect/>
              </a:stretch>
            </p:blipFill>
            <p:spPr>
              <a:xfrm>
                <a:off x="2560320" y="1709928"/>
                <a:ext cx="5760720" cy="612648"/>
              </a:xfrm>
              <a:prstGeom prst="roundRect">
                <a:avLst/>
              </a:prstGeom>
              <a:solidFill>
                <a:srgbClr val="E8F4F6"/>
              </a:solidFill>
              <a:ln>
                <a:noFill/>
              </a:ln>
            </p:spPr>
          </p:pic>
        </mc:Fallback>
      </mc:AlternateContent>
      <p:sp>
        <p:nvSpPr>
          <p:cNvPr id="15" name="T15"/>
          <p:cNvSpPr txBox="1"/>
          <p:nvPr/>
        </p:nvSpPr>
        <p:spPr>
          <a:xfrm>
            <a:off x="365760" y="2395728"/>
            <a:ext cx="2103120" cy="8412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公式解</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395728"/>
                <a:ext cx="5760720" cy="8412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𝑏</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𝑏</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r>
                                <a:rPr lang="en-US" altLang="zh-TW" sz="2400" b="0" i="1">
                                  <a:solidFill>
                                    <a:srgbClr val="2B3050"/>
                                  </a:solidFill>
                                  <a:latin typeface="Cambria Math" panose="02040503050406030204" pitchFamily="18" charset="0"/>
                                  <a:ea typeface="Cambria Math"/>
                                </a:rPr>
                                <m:t>𝑎𝑐</m:t>
                              </m:r>
                            </m:e>
                          </m:rad>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𝑎</m:t>
                          </m:r>
                        </m:den>
                      </m:f>
                      <m:r>
                        <a:rPr lang="en-US" altLang="zh-TW" sz="2400" b="0" i="0">
                          <a:solidFill>
                            <a:srgbClr val="2B3050"/>
                          </a:solidFill>
                          <a:latin typeface="Cambria Math" panose="02040503050406030204" pitchFamily="18" charset="0"/>
                          <a:ea typeface="Cambria Math"/>
                        </a:rPr>
                        <m:t>，取正根</m:t>
                      </m:r>
                    </m:oMath>
                  </m:oMathPara>
                </a14:m>
                <a:endParaRPr lang="zh-TW" sz="2400"/>
              </a:p>
            </p:txBody>
          </p:sp>
        </mc:Choice>
        <mc:Fallback xmlns="">
          <p:pic>
            <p:nvPicPr>
              <p:cNvPr id="16" name="F16"/>
              <p:cNvPicPr/>
              <p:nvPr/>
            </p:nvPicPr>
            <p:blipFill>
              <a:blip r:embed="rId4"/>
              <a:stretch>
                <a:fillRect/>
              </a:stretch>
            </p:blipFill>
            <p:spPr>
              <a:xfrm>
                <a:off x="2560320" y="2395728"/>
                <a:ext cx="5760720" cy="841248"/>
              </a:xfrm>
              <a:prstGeom prst="roundRect">
                <a:avLst/>
              </a:prstGeom>
              <a:solidFill>
                <a:srgbClr val="E8F4F6"/>
              </a:solidFill>
              <a:ln>
                <a:noFill/>
              </a:ln>
            </p:spPr>
          </p:pic>
        </mc:Fallback>
      </mc:AlternateContent>
      <p:sp>
        <p:nvSpPr>
          <p:cNvPr id="17" name="T17"/>
          <p:cNvSpPr txBox="1"/>
          <p:nvPr/>
        </p:nvSpPr>
        <p:spPr>
          <a:xfrm>
            <a:off x="365760" y="331012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技巧</a:t>
            </a:r>
            <a:endParaRPr lang="zh-TW" sz="2400"/>
          </a:p>
        </p:txBody>
      </p:sp>
      <p:sp>
        <p:nvSpPr>
          <p:cNvPr id="18" name="T18"/>
          <p:cNvSpPr txBox="1"/>
          <p:nvPr/>
        </p:nvSpPr>
        <p:spPr>
          <a:xfrm>
            <a:off x="2560320" y="331012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原點放出發點；落點在下方 y 給負號</a:t>
            </a:r>
            <a:endParaRPr lang="zh-TW" sz="2400"/>
          </a:p>
        </p:txBody>
      </p:sp>
      <p:sp>
        <p:nvSpPr>
          <p:cNvPr id="19" name="T19"/>
          <p:cNvSpPr txBox="1"/>
          <p:nvPr/>
        </p:nvSpPr>
        <p:spPr>
          <a:xfrm>
            <a:off x="365760" y="3950208"/>
            <a:ext cx="2103120" cy="5212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3950208"/>
            <a:ext cx="5760720" cy="5212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最高點 vy 歸零；問離地要加回去</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1（課本習題12）思考重點</a:t>
            </a:r>
          </a:p>
        </p:txBody>
      </p:sp>
      <p:sp>
        <p:nvSpPr>
          <p:cNvPr id="11" name="T11"/>
          <p:cNvSpPr txBox="1"/>
          <p:nvPr/>
        </p:nvSpPr>
        <p:spPr>
          <a:xfrm>
            <a:off x="365760" y="868680"/>
            <a:ext cx="7955280" cy="822960"/>
          </a:xfrm>
          <a:prstGeom prst="roundRect">
            <a:avLst/>
          </a:prstGeom>
          <a:solidFill>
            <a:srgbClr val="E8F4F6"/>
          </a:solidFill>
          <a:ln>
            <a:no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物體以水平速度 8 m/s 離開滑梯末端，</a:t>
            </a:r>
            <a:endParaRPr lang="zh-TW" sz="2400"/>
          </a:p>
          <a:p>
            <a:pPr algn="l">
              <a:lnSpc>
                <a:spcPct val="100000"/>
              </a:lnSpc>
              <a:buNone/>
            </a:pPr>
            <a:r>
              <a:rPr lang="zh-TW" altLang="en-US" sz="2400" b="0" dirty="0">
                <a:solidFill>
                  <a:srgbClr val="2B3050"/>
                </a:solidFill>
                <a:latin typeface="Calibri"/>
                <a:ea typeface="微軟正黑體"/>
                <a:cs typeface="Calibri"/>
              </a:rPr>
              <a:t>末端離地 10 m。求落地時間與水平距離。</a:t>
            </a:r>
            <a:endParaRPr lang="zh-TW" sz="2400"/>
          </a:p>
        </p:txBody>
      </p:sp>
      <p:sp>
        <p:nvSpPr>
          <p:cNvPr id="12" name="S12"/>
          <p:cNvSpPr/>
          <p:nvPr/>
        </p:nvSpPr>
        <p:spPr>
          <a:xfrm>
            <a:off x="365760" y="1837944"/>
            <a:ext cx="365760" cy="365760"/>
          </a:xfrm>
          <a:prstGeom prst="ellipse">
            <a:avLst/>
          </a:prstGeom>
          <a:solidFill>
            <a:srgbClr val="1F8899"/>
          </a:solidFill>
          <a:ln>
            <a:noFill/>
          </a:ln>
        </p:spPr>
        <p:txBody>
          <a:bodyPr/>
          <a:lstStyle/>
          <a:p>
            <a:endParaRPr lang="zh-TW" altLang="en-US"/>
          </a:p>
        </p:txBody>
      </p:sp>
      <p:sp>
        <p:nvSpPr>
          <p:cNvPr id="13" name="T13"/>
          <p:cNvSpPr txBox="1"/>
          <p:nvPr/>
        </p:nvSpPr>
        <p:spPr>
          <a:xfrm>
            <a:off x="365760" y="183794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4" name="T14"/>
          <p:cNvSpPr txBox="1"/>
          <p:nvPr/>
        </p:nvSpPr>
        <p:spPr>
          <a:xfrm>
            <a:off x="822960" y="182880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水平拋出時，垂直初速是多少？</a:t>
            </a:r>
            <a:endParaRPr lang="zh-TW" sz="2400"/>
          </a:p>
        </p:txBody>
      </p:sp>
      <p:sp>
        <p:nvSpPr>
          <p:cNvPr id="15" name="T15"/>
          <p:cNvSpPr txBox="1"/>
          <p:nvPr/>
        </p:nvSpPr>
        <p:spPr>
          <a:xfrm>
            <a:off x="1188720" y="221284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v0y = 0（初速全在水平方向）</a:t>
            </a:r>
            <a:endParaRPr lang="zh-TW" sz="2400"/>
          </a:p>
        </p:txBody>
      </p:sp>
      <p:sp>
        <p:nvSpPr>
          <p:cNvPr id="16" name="S16"/>
          <p:cNvSpPr/>
          <p:nvPr/>
        </p:nvSpPr>
        <p:spPr>
          <a:xfrm>
            <a:off x="365760" y="2752344"/>
            <a:ext cx="365760" cy="365760"/>
          </a:xfrm>
          <a:prstGeom prst="ellipse">
            <a:avLst/>
          </a:prstGeom>
          <a:solidFill>
            <a:srgbClr val="1F8899"/>
          </a:solidFill>
          <a:ln>
            <a:noFill/>
          </a:ln>
        </p:spPr>
        <p:txBody>
          <a:bodyPr/>
          <a:lstStyle/>
          <a:p>
            <a:endParaRPr lang="zh-TW" altLang="en-US"/>
          </a:p>
        </p:txBody>
      </p:sp>
      <p:sp>
        <p:nvSpPr>
          <p:cNvPr id="17" name="T17"/>
          <p:cNvSpPr txBox="1"/>
          <p:nvPr/>
        </p:nvSpPr>
        <p:spPr>
          <a:xfrm>
            <a:off x="365760" y="275234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8" name="T18"/>
          <p:cNvSpPr txBox="1"/>
          <p:nvPr/>
        </p:nvSpPr>
        <p:spPr>
          <a:xfrm>
            <a:off x="822960" y="274320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先算哪一個方向？</a:t>
            </a:r>
            <a:endParaRPr lang="zh-TW" sz="2400"/>
          </a:p>
        </p:txBody>
      </p:sp>
      <p:sp>
        <p:nvSpPr>
          <p:cNvPr id="19" name="T19"/>
          <p:cNvSpPr txBox="1"/>
          <p:nvPr/>
        </p:nvSpPr>
        <p:spPr>
          <a:xfrm>
            <a:off x="1188720" y="312724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先用 y 方向求時間 t</a:t>
            </a:r>
            <a:endParaRPr lang="zh-TW" sz="2400"/>
          </a:p>
        </p:txBody>
      </p:sp>
      <p:sp>
        <p:nvSpPr>
          <p:cNvPr id="20" name="S20"/>
          <p:cNvSpPr/>
          <p:nvPr/>
        </p:nvSpPr>
        <p:spPr>
          <a:xfrm>
            <a:off x="365760" y="3666744"/>
            <a:ext cx="365760" cy="365760"/>
          </a:xfrm>
          <a:prstGeom prst="ellipse">
            <a:avLst/>
          </a:prstGeom>
          <a:solidFill>
            <a:srgbClr val="1F8899"/>
          </a:solidFill>
          <a:ln>
            <a:noFill/>
          </a:ln>
        </p:spPr>
        <p:txBody>
          <a:bodyPr/>
          <a:lstStyle/>
          <a:p>
            <a:endParaRPr lang="zh-TW" altLang="en-US"/>
          </a:p>
        </p:txBody>
      </p:sp>
      <p:sp>
        <p:nvSpPr>
          <p:cNvPr id="21" name="T21"/>
          <p:cNvSpPr txBox="1"/>
          <p:nvPr/>
        </p:nvSpPr>
        <p:spPr>
          <a:xfrm>
            <a:off x="365760" y="366674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2" name="T22"/>
          <p:cNvSpPr txBox="1"/>
          <p:nvPr/>
        </p:nvSpPr>
        <p:spPr>
          <a:xfrm>
            <a:off x="822960" y="365760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水平距離怎麼求？</a:t>
            </a:r>
            <a:endParaRPr lang="zh-TW" sz="2400"/>
          </a:p>
        </p:txBody>
      </p:sp>
      <p:sp>
        <p:nvSpPr>
          <p:cNvPr id="23" name="T23"/>
          <p:cNvSpPr txBox="1"/>
          <p:nvPr/>
        </p:nvSpPr>
        <p:spPr>
          <a:xfrm>
            <a:off x="1188720" y="404164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x = vx × t（水平等速）</a:t>
            </a:r>
            <a:endParaRPr lang="zh-TW" sz="2400"/>
          </a:p>
        </p:txBody>
      </p:sp>
      <p:pic>
        <p:nvPicPr>
          <p:cNvPr id="3" name="圖片 2" descr="The diagram depicts a curved ramp with a velocity of 8 meters per second at a 10-meter distance.&#10;&#10;AI 產生的內容可能不正確。">
            <a:extLst>
              <a:ext uri="{FF2B5EF4-FFF2-40B4-BE49-F238E27FC236}">
                <a16:creationId xmlns:a16="http://schemas.microsoft.com/office/drawing/2014/main" id="{DEA7F0EE-98EF-6DAD-DD8B-91E82FC64FCC}"/>
              </a:ext>
            </a:extLst>
          </p:cNvPr>
          <p:cNvPicPr>
            <a:picLocks noChangeAspect="1"/>
          </p:cNvPicPr>
          <p:nvPr/>
        </p:nvPicPr>
        <p:blipFill>
          <a:blip r:embed="rId2"/>
          <a:stretch>
            <a:fillRect/>
          </a:stretch>
        </p:blipFill>
        <p:spPr>
          <a:xfrm>
            <a:off x="5196668" y="2667001"/>
            <a:ext cx="3124372" cy="21128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1　 （課本習題12）詳解</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7772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 方向：</a:t>
                </a:r>
                <a14:m>
                  <m:oMath xmlns:m="http://schemas.openxmlformats.org/officeDocument/2006/math">
                    <m:r>
                      <a:rPr lang="en-US" altLang="zh-TW" sz="2400" b="0" i="1">
                        <a:solidFill>
                          <a:srgbClr val="2B3050"/>
                        </a:solidFill>
                        <a:latin typeface="Cambria Math" panose="02040503050406030204" pitchFamily="18" charset="0"/>
                        <a:ea typeface="Cambria Math"/>
                      </a:rPr>
                      <m:t>𝑦</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𝑦</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r>
                      <a:rPr lang="en-US" altLang="zh-TW" sz="2400" b="0" i="1">
                        <a:solidFill>
                          <a:srgbClr val="2B3050"/>
                        </a:solidFill>
                        <a:latin typeface="Cambria Math" panose="02040503050406030204" pitchFamily="18" charset="0"/>
                        <a:ea typeface="Cambria Math"/>
                      </a:rPr>
                      <m:t>𝑔</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a14:m>
                <a:endParaRPr lang="zh-TW" sz="2400"/>
              </a:p>
            </p:txBody>
          </p:sp>
        </mc:Choice>
        <mc:Fallback xmlns="">
          <p:pic>
            <p:nvPicPr>
              <p:cNvPr id="11" name="F11"/>
              <p:cNvPicPr/>
              <p:nvPr/>
            </p:nvPicPr>
            <p:blipFill>
              <a:blip r:embed="rId2"/>
              <a:stretch>
                <a:fillRect/>
              </a:stretch>
            </p:blipFill>
            <p:spPr>
              <a:xfrm>
                <a:off x="365760" y="868680"/>
                <a:ext cx="795528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64592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 = 10 + 0 − 4.9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64592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148840"/>
                <a:ext cx="795528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10</m:t>
                          </m:r>
                        </m:num>
                        <m:den>
                          <m:r>
                            <a:rPr lang="en-US" altLang="zh-TW" sz="2400" b="0" i="0">
                              <a:solidFill>
                                <a:srgbClr val="2B3050"/>
                              </a:solidFill>
                              <a:latin typeface="Cambria Math" panose="02040503050406030204" pitchFamily="18" charset="0"/>
                              <a:ea typeface="Cambria Math"/>
                            </a:rPr>
                            <m:t>4.9</m:t>
                          </m:r>
                        </m:den>
                      </m:f>
                      <m:r>
                        <a:rPr lang="en-US" altLang="zh-TW" sz="2400" b="0" i="0">
                          <a:solidFill>
                            <a:srgbClr val="2B3050"/>
                          </a:solidFill>
                          <a:latin typeface="Cambria Math" panose="02040503050406030204" pitchFamily="18" charset="0"/>
                          <a:ea typeface="Cambria Math"/>
                        </a:rPr>
                        <m:t> = 2.041　→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1.43 </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3" name="F13"/>
              <p:cNvPicPr/>
              <p:nvPr/>
            </p:nvPicPr>
            <p:blipFill>
              <a:blip r:embed="rId4"/>
              <a:stretch>
                <a:fillRect/>
              </a:stretch>
            </p:blipFill>
            <p:spPr>
              <a:xfrm>
                <a:off x="365760" y="2148840"/>
                <a:ext cx="795528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971800"/>
                <a:ext cx="795528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 方向：</a:t>
                </a:r>
                <a14:m>
                  <m:oMath xmlns:m="http://schemas.openxmlformats.org/officeDocument/2006/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8 × 1.429 = 11.4 </m:t>
                    </m:r>
                    <m:r>
                      <m:rPr>
                        <m:sty m:val="p"/>
                      </m:rPr>
                      <a:rPr lang="en-US" altLang="zh-TW" sz="2400" b="0" i="0">
                        <a:solidFill>
                          <a:srgbClr val="2B3050"/>
                        </a:solidFill>
                        <a:latin typeface="Cambria Math" panose="02040503050406030204" pitchFamily="18" charset="0"/>
                        <a:ea typeface="Cambria Math"/>
                      </a:rPr>
                      <m:t>m</m:t>
                    </m:r>
                  </m:oMath>
                </a14:m>
                <a:endParaRPr lang="zh-TW" sz="2400"/>
              </a:p>
            </p:txBody>
          </p:sp>
        </mc:Choice>
        <mc:Fallback xmlns="">
          <p:pic>
            <p:nvPicPr>
              <p:cNvPr id="14" name="F14"/>
              <p:cNvPicPr/>
              <p:nvPr/>
            </p:nvPicPr>
            <p:blipFill>
              <a:blip r:embed="rId5"/>
              <a:stretch>
                <a:fillRect/>
              </a:stretch>
            </p:blipFill>
            <p:spPr>
              <a:xfrm>
                <a:off x="365760" y="2971800"/>
                <a:ext cx="7955280" cy="502920"/>
              </a:xfrm>
              <a:prstGeom prst="rect">
                <a:avLst/>
              </a:prstGeom>
              <a:noFill/>
              <a:ln>
                <a:noFill/>
              </a:ln>
            </p:spPr>
          </p:pic>
        </mc:Fallback>
      </mc:AlternateContent>
      <p:sp>
        <p:nvSpPr>
          <p:cNvPr id="15" name="T15"/>
          <p:cNvSpPr txBox="1"/>
          <p:nvPr/>
        </p:nvSpPr>
        <p:spPr>
          <a:xfrm>
            <a:off x="365760" y="3703320"/>
            <a:ext cx="7955280" cy="6400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t ≈ 1.43 s，水平距離 ≈ 11.4 m</a:t>
            </a:r>
            <a:endParaRPr lang="zh-TW" sz="2400"/>
          </a:p>
        </p:txBody>
      </p:sp>
      <p:pic>
        <p:nvPicPr>
          <p:cNvPr id="3" name="圖片 2" descr="The diagram depicts a curved ramp with a velocity of 8 meters per second at a 10-meter distance.&#10;&#10;AI 產生的內容可能不正確。">
            <a:extLst>
              <a:ext uri="{FF2B5EF4-FFF2-40B4-BE49-F238E27FC236}">
                <a16:creationId xmlns:a16="http://schemas.microsoft.com/office/drawing/2014/main" id="{0D9773EE-A2E4-292D-3B66-095446B98D77}"/>
              </a:ext>
            </a:extLst>
          </p:cNvPr>
          <p:cNvPicPr>
            <a:picLocks noChangeAspect="1"/>
          </p:cNvPicPr>
          <p:nvPr/>
        </p:nvPicPr>
        <p:blipFill>
          <a:blip r:embed="rId6"/>
          <a:stretch>
            <a:fillRect/>
          </a:stretch>
        </p:blipFill>
        <p:spPr>
          <a:xfrm>
            <a:off x="6036100" y="483986"/>
            <a:ext cx="2628761" cy="1777674"/>
          </a:xfrm>
          <a:prstGeom prst="rect">
            <a:avLst/>
          </a:prstGeom>
        </p:spPr>
      </p:pic>
      <p:sp>
        <p:nvSpPr>
          <p:cNvPr id="4" name="矩形 3">
            <a:extLst>
              <a:ext uri="{FF2B5EF4-FFF2-40B4-BE49-F238E27FC236}">
                <a16:creationId xmlns:a16="http://schemas.microsoft.com/office/drawing/2014/main" id="{DAB09D67-3692-F15C-ACBA-9CDECE301E01}"/>
              </a:ext>
            </a:extLst>
          </p:cNvPr>
          <p:cNvSpPr/>
          <p:nvPr/>
        </p:nvSpPr>
        <p:spPr>
          <a:xfrm>
            <a:off x="4996543" y="1645920"/>
            <a:ext cx="495300" cy="389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02BEA749-6464-0DCE-05B6-ACBDB5E4C7F1}"/>
              </a:ext>
            </a:extLst>
          </p:cNvPr>
          <p:cNvSpPr/>
          <p:nvPr/>
        </p:nvSpPr>
        <p:spPr>
          <a:xfrm>
            <a:off x="3559629" y="1677096"/>
            <a:ext cx="495300" cy="389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2（課本習題16）思考重點</a:t>
            </a:r>
          </a:p>
        </p:txBody>
      </p:sp>
      <p:sp>
        <p:nvSpPr>
          <p:cNvPr id="11" name="T11"/>
          <p:cNvSpPr txBox="1"/>
          <p:nvPr/>
        </p:nvSpPr>
        <p:spPr>
          <a:xfrm>
            <a:off x="365760" y="868680"/>
            <a:ext cx="7955280" cy="822960"/>
          </a:xfrm>
          <a:prstGeom prst="roundRect">
            <a:avLst/>
          </a:prstGeom>
          <a:solidFill>
            <a:srgbClr val="E8F4F6"/>
          </a:solidFill>
          <a:ln>
            <a:noFill/>
          </a:ln>
        </p:spPr>
        <p:txBody>
          <a:bodyPr wrap="square" lIns="109728" tIns="54864" rIns="109728" bIns="54864" anchor="t">
            <a:noAutofit/>
          </a:bodyPr>
          <a:lstStyle/>
          <a:p>
            <a:pPr algn="l">
              <a:lnSpc>
                <a:spcPct val="100000"/>
              </a:lnSpc>
              <a:buNone/>
            </a:pPr>
            <a:r>
              <a:rPr lang="zh-TW" altLang="en-US" sz="2400" b="0" dirty="0">
                <a:solidFill>
                  <a:srgbClr val="2B3050"/>
                </a:solidFill>
                <a:latin typeface="Calibri"/>
                <a:ea typeface="微軟正黑體"/>
                <a:cs typeface="Calibri"/>
              </a:rPr>
              <a:t>砲彈 120 m/s、仰角 45° 射出，落點低 60 m</a:t>
            </a:r>
            <a:endParaRPr lang="zh-TW" sz="2400"/>
          </a:p>
          <a:p>
            <a:pPr algn="l">
              <a:lnSpc>
                <a:spcPct val="100000"/>
              </a:lnSpc>
              <a:buNone/>
            </a:pPr>
            <a:r>
              <a:rPr lang="zh-TW" altLang="en-US" sz="2400" b="0" dirty="0">
                <a:solidFill>
                  <a:srgbClr val="2B3050"/>
                </a:solidFill>
                <a:latin typeface="Calibri"/>
                <a:ea typeface="微軟正黑體"/>
                <a:cs typeface="Calibri"/>
              </a:rPr>
              <a:t>求 (a)時間 (b)射程 (c)最大高度 (d)落地速率</a:t>
            </a:r>
            <a:endParaRPr lang="zh-TW" sz="2400"/>
          </a:p>
        </p:txBody>
      </p:sp>
      <p:sp>
        <p:nvSpPr>
          <p:cNvPr id="12" name="S12"/>
          <p:cNvSpPr/>
          <p:nvPr/>
        </p:nvSpPr>
        <p:spPr>
          <a:xfrm>
            <a:off x="365760" y="1792224"/>
            <a:ext cx="365760" cy="365760"/>
          </a:xfrm>
          <a:prstGeom prst="ellipse">
            <a:avLst/>
          </a:prstGeom>
          <a:solidFill>
            <a:srgbClr val="1F8899"/>
          </a:solidFill>
          <a:ln>
            <a:noFill/>
          </a:ln>
        </p:spPr>
        <p:txBody>
          <a:bodyPr/>
          <a:lstStyle/>
          <a:p>
            <a:endParaRPr lang="zh-TW" altLang="en-US"/>
          </a:p>
        </p:txBody>
      </p:sp>
      <p:sp>
        <p:nvSpPr>
          <p:cNvPr id="13" name="T13"/>
          <p:cNvSpPr txBox="1"/>
          <p:nvPr/>
        </p:nvSpPr>
        <p:spPr>
          <a:xfrm>
            <a:off x="365760" y="17922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4" name="T14"/>
          <p:cNvSpPr txBox="1"/>
          <p:nvPr/>
        </p:nvSpPr>
        <p:spPr>
          <a:xfrm>
            <a:off x="822960" y="17830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以射出點為原點，落點的 y＝？</a:t>
            </a:r>
            <a:endParaRPr lang="zh-TW" sz="2400"/>
          </a:p>
        </p:txBody>
      </p:sp>
      <p:sp>
        <p:nvSpPr>
          <p:cNvPr id="15" name="T15"/>
          <p:cNvSpPr txBox="1"/>
          <p:nvPr/>
        </p:nvSpPr>
        <p:spPr>
          <a:xfrm>
            <a:off x="1188720" y="21671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y = −60 m（在下方，記得負號）</a:t>
            </a:r>
            <a:endParaRPr lang="zh-TW" sz="2400"/>
          </a:p>
        </p:txBody>
      </p:sp>
      <p:sp>
        <p:nvSpPr>
          <p:cNvPr id="16" name="S16"/>
          <p:cNvSpPr/>
          <p:nvPr/>
        </p:nvSpPr>
        <p:spPr>
          <a:xfrm>
            <a:off x="365760" y="2542032"/>
            <a:ext cx="365760" cy="365760"/>
          </a:xfrm>
          <a:prstGeom prst="ellipse">
            <a:avLst/>
          </a:prstGeom>
          <a:solidFill>
            <a:srgbClr val="1F8899"/>
          </a:solidFill>
          <a:ln>
            <a:noFill/>
          </a:ln>
        </p:spPr>
        <p:txBody>
          <a:bodyPr/>
          <a:lstStyle/>
          <a:p>
            <a:endParaRPr lang="zh-TW" altLang="en-US"/>
          </a:p>
        </p:txBody>
      </p:sp>
      <p:sp>
        <p:nvSpPr>
          <p:cNvPr id="17" name="T17"/>
          <p:cNvSpPr txBox="1"/>
          <p:nvPr/>
        </p:nvSpPr>
        <p:spPr>
          <a:xfrm>
            <a:off x="365760" y="254203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8" name="T18"/>
          <p:cNvSpPr txBox="1"/>
          <p:nvPr/>
        </p:nvSpPr>
        <p:spPr>
          <a:xfrm>
            <a:off x="822960" y="253288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 會得到什麼方程式？</a:t>
            </a:r>
            <a:endParaRPr lang="zh-TW" sz="2400"/>
          </a:p>
        </p:txBody>
      </p:sp>
      <p:sp>
        <p:nvSpPr>
          <p:cNvPr id="19" name="T19"/>
          <p:cNvSpPr txBox="1"/>
          <p:nvPr/>
        </p:nvSpPr>
        <p:spPr>
          <a:xfrm>
            <a:off x="1188720" y="291693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t 的一元二次方程式 → 用公式解</a:t>
            </a:r>
            <a:endParaRPr lang="zh-TW" sz="2400"/>
          </a:p>
        </p:txBody>
      </p:sp>
      <p:sp>
        <p:nvSpPr>
          <p:cNvPr id="20" name="S20"/>
          <p:cNvSpPr/>
          <p:nvPr/>
        </p:nvSpPr>
        <p:spPr>
          <a:xfrm>
            <a:off x="365760" y="3291840"/>
            <a:ext cx="365760" cy="365760"/>
          </a:xfrm>
          <a:prstGeom prst="ellipse">
            <a:avLst/>
          </a:prstGeom>
          <a:solidFill>
            <a:srgbClr val="1F8899"/>
          </a:solidFill>
          <a:ln>
            <a:noFill/>
          </a:ln>
        </p:spPr>
        <p:txBody>
          <a:bodyPr/>
          <a:lstStyle/>
          <a:p>
            <a:endParaRPr lang="zh-TW" altLang="en-US"/>
          </a:p>
        </p:txBody>
      </p:sp>
      <p:sp>
        <p:nvSpPr>
          <p:cNvPr id="21" name="T21"/>
          <p:cNvSpPr txBox="1"/>
          <p:nvPr/>
        </p:nvSpPr>
        <p:spPr>
          <a:xfrm>
            <a:off x="365760" y="32918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2" name="T22"/>
          <p:cNvSpPr txBox="1"/>
          <p:nvPr/>
        </p:nvSpPr>
        <p:spPr>
          <a:xfrm>
            <a:off x="822960" y="32826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最高點有什麼特徵？</a:t>
            </a:r>
            <a:endParaRPr lang="zh-TW" sz="2400"/>
          </a:p>
        </p:txBody>
      </p:sp>
      <p:sp>
        <p:nvSpPr>
          <p:cNvPr id="23" name="T23"/>
          <p:cNvSpPr txBox="1"/>
          <p:nvPr/>
        </p:nvSpPr>
        <p:spPr>
          <a:xfrm>
            <a:off x="1188720" y="36667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vy = 0（水平速度仍存在）</a:t>
            </a:r>
            <a:endParaRPr lang="zh-TW" sz="2400"/>
          </a:p>
        </p:txBody>
      </p:sp>
      <p:sp>
        <p:nvSpPr>
          <p:cNvPr id="24" name="S24"/>
          <p:cNvSpPr/>
          <p:nvPr/>
        </p:nvSpPr>
        <p:spPr>
          <a:xfrm>
            <a:off x="365760" y="4041648"/>
            <a:ext cx="365760" cy="365760"/>
          </a:xfrm>
          <a:prstGeom prst="ellipse">
            <a:avLst/>
          </a:prstGeom>
          <a:solidFill>
            <a:srgbClr val="1F8899"/>
          </a:solidFill>
          <a:ln>
            <a:noFill/>
          </a:ln>
        </p:spPr>
        <p:txBody>
          <a:bodyPr/>
          <a:lstStyle/>
          <a:p>
            <a:endParaRPr lang="zh-TW" altLang="en-US"/>
          </a:p>
        </p:txBody>
      </p:sp>
      <p:sp>
        <p:nvSpPr>
          <p:cNvPr id="25" name="T25"/>
          <p:cNvSpPr txBox="1"/>
          <p:nvPr/>
        </p:nvSpPr>
        <p:spPr>
          <a:xfrm>
            <a:off x="365760" y="404164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6" name="T26"/>
          <p:cNvSpPr txBox="1"/>
          <p:nvPr/>
        </p:nvSpPr>
        <p:spPr>
          <a:xfrm>
            <a:off x="822960" y="403250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落地速率怎麼算？</a:t>
            </a:r>
            <a:endParaRPr lang="zh-TW" sz="2400"/>
          </a:p>
        </p:txBody>
      </p:sp>
      <p:sp>
        <p:nvSpPr>
          <p:cNvPr id="27" name="T27"/>
          <p:cNvSpPr txBox="1"/>
          <p:nvPr/>
        </p:nvSpPr>
        <p:spPr>
          <a:xfrm>
            <a:off x="1188720" y="441655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先求 vx、vy，再合成</a:t>
            </a:r>
            <a:endParaRPr lang="zh-TW" sz="2400"/>
          </a:p>
        </p:txBody>
      </p:sp>
      <p:pic>
        <p:nvPicPr>
          <p:cNvPr id="3" name="圖片 2" descr="The diagram illustrates a vector at a 45ￂﾰ angle, with a magnitude of 120 meters per second, and a distance of 60 meters.&#10;&#10;AI 產生的內容可能不正確。">
            <a:extLst>
              <a:ext uri="{FF2B5EF4-FFF2-40B4-BE49-F238E27FC236}">
                <a16:creationId xmlns:a16="http://schemas.microsoft.com/office/drawing/2014/main" id="{8D9759CA-85EF-526B-AAE4-9E5ABFCACB6F}"/>
              </a:ext>
            </a:extLst>
          </p:cNvPr>
          <p:cNvPicPr>
            <a:picLocks noChangeAspect="1"/>
          </p:cNvPicPr>
          <p:nvPr/>
        </p:nvPicPr>
        <p:blipFill>
          <a:blip r:embed="rId2"/>
          <a:stretch>
            <a:fillRect/>
          </a:stretch>
        </p:blipFill>
        <p:spPr>
          <a:xfrm>
            <a:off x="5370976" y="3430651"/>
            <a:ext cx="3407264" cy="14455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2　(a) 飛行時間</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r>
                        <a:rPr lang="en-US" altLang="zh-TW" sz="2400" b="0" i="0">
                          <a:solidFill>
                            <a:srgbClr val="2B3050"/>
                          </a:solidFill>
                          <a:latin typeface="Cambria Math" panose="02040503050406030204" pitchFamily="18" charset="0"/>
                          <a:ea typeface="Cambria Math"/>
                        </a:rPr>
                        <m:t> = 120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45° = 84.85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−60 = 0 + 84.85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37160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7452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4.9</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− 84.85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− 60 = 0</m:t>
                      </m:r>
                    </m:oMath>
                  </m:oMathPara>
                </a14:m>
                <a:endParaRPr lang="zh-TW" sz="2400"/>
              </a:p>
            </p:txBody>
          </p:sp>
        </mc:Choice>
        <mc:Fallback xmlns="">
          <p:pic>
            <p:nvPicPr>
              <p:cNvPr id="13" name="F13"/>
              <p:cNvPicPr/>
              <p:nvPr/>
            </p:nvPicPr>
            <p:blipFill>
              <a:blip r:embed="rId4"/>
              <a:stretch>
                <a:fillRect/>
              </a:stretch>
            </p:blipFill>
            <p:spPr>
              <a:xfrm>
                <a:off x="365760" y="187452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377440"/>
                <a:ext cx="7955280" cy="9601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84.85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84.85</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4.9</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60</m:t>
                                  </m:r>
                                </m:e>
                              </m:d>
                            </m:e>
                          </m:rad>
                        </m:num>
                        <m:den>
                          <m:r>
                            <a:rPr lang="en-US" altLang="zh-TW" sz="2400" b="0" i="0">
                              <a:solidFill>
                                <a:srgbClr val="2B3050"/>
                              </a:solidFill>
                              <a:latin typeface="Cambria Math" panose="02040503050406030204" pitchFamily="18" charset="0"/>
                              <a:ea typeface="Cambria Math"/>
                            </a:rPr>
                            <m:t>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4.9</m:t>
                              </m:r>
                            </m:e>
                          </m:d>
                        </m:den>
                      </m:f>
                    </m:oMath>
                  </m:oMathPara>
                </a14:m>
                <a:endParaRPr lang="zh-TW" sz="2400"/>
              </a:p>
            </p:txBody>
          </p:sp>
        </mc:Choice>
        <mc:Fallback xmlns="">
          <p:pic>
            <p:nvPicPr>
              <p:cNvPr id="14" name="F14"/>
              <p:cNvPicPr/>
              <p:nvPr/>
            </p:nvPicPr>
            <p:blipFill>
              <a:blip r:embed="rId5"/>
              <a:stretch>
                <a:fillRect/>
              </a:stretch>
            </p:blipFill>
            <p:spPr>
              <a:xfrm>
                <a:off x="365760" y="2377440"/>
                <a:ext cx="7955280" cy="9601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337560"/>
                <a:ext cx="7955280" cy="91440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D6006F"/>
                        </a:solidFill>
                        <a:latin typeface="Cambria Math" panose="02040503050406030204" pitchFamily="18" charset="0"/>
                        <a:ea typeface="Cambria Math"/>
                      </a:rPr>
                      <m:t>　= </m:t>
                    </m:r>
                    <m:f>
                      <m:fPr>
                        <m:ctrlPr>
                          <a:rPr lang="en-US" altLang="zh-TW" sz="2400" b="0" i="0">
                            <a:solidFill>
                              <a:srgbClr val="D6006F"/>
                            </a:solidFill>
                            <a:latin typeface="Cambria Math" panose="02040503050406030204" pitchFamily="18" charset="0"/>
                            <a:ea typeface="Cambria Math"/>
                          </a:rPr>
                        </m:ctrlPr>
                      </m:fPr>
                      <m:num>
                        <m:r>
                          <a:rPr lang="en-US" altLang="zh-TW" sz="2400" b="0" i="0">
                            <a:solidFill>
                              <a:srgbClr val="D6006F"/>
                            </a:solidFill>
                            <a:latin typeface="Cambria Math" panose="02040503050406030204" pitchFamily="18" charset="0"/>
                            <a:ea typeface="Cambria Math"/>
                          </a:rPr>
                          <m:t>84.85 ± 91.52</m:t>
                        </m:r>
                      </m:num>
                      <m:den>
                        <m:r>
                          <a:rPr lang="en-US" altLang="zh-TW" sz="2400" b="0" i="0">
                            <a:solidFill>
                              <a:srgbClr val="D6006F"/>
                            </a:solidFill>
                            <a:latin typeface="Cambria Math" panose="02040503050406030204" pitchFamily="18" charset="0"/>
                            <a:ea typeface="Cambria Math"/>
                          </a:rPr>
                          <m:t>9.8</m:t>
                        </m:r>
                      </m:den>
                    </m:f>
                    <m:r>
                      <a:rPr lang="en-US" altLang="zh-TW" sz="2400" b="0" i="0">
                        <a:solidFill>
                          <a:srgbClr val="D6006F"/>
                        </a:solidFill>
                        <a:latin typeface="Cambria Math" panose="02040503050406030204" pitchFamily="18" charset="0"/>
                        <a:ea typeface="Cambria Math"/>
                      </a:rPr>
                      <m:t> = 18.0 </m:t>
                    </m:r>
                    <m:r>
                      <m:rPr>
                        <m:sty m:val="p"/>
                      </m:rPr>
                      <a:rPr lang="en-US" altLang="zh-TW" sz="2400" b="0" i="0">
                        <a:solidFill>
                          <a:srgbClr val="D6006F"/>
                        </a:solidFill>
                        <a:latin typeface="Cambria Math" panose="02040503050406030204" pitchFamily="18" charset="0"/>
                        <a:ea typeface="Cambria Math"/>
                      </a:rPr>
                      <m:t>s</m:t>
                    </m:r>
                  </m:oMath>
                </a14:m>
                <a:r>
                  <a:rPr lang="zh-TW" altLang="en-US" sz="2400" b="0" dirty="0">
                    <a:solidFill>
                      <a:srgbClr val="D6006F"/>
                    </a:solidFill>
                    <a:latin typeface="Calibri"/>
                    <a:ea typeface="微軟正黑體"/>
                    <a:cs typeface="Calibri"/>
                  </a:rPr>
                  <a:t>（負根不合）</a:t>
                </a:r>
                <a:endParaRPr lang="zh-TW" sz="2400"/>
              </a:p>
            </p:txBody>
          </p:sp>
        </mc:Choice>
        <mc:Fallback xmlns="">
          <p:pic>
            <p:nvPicPr>
              <p:cNvPr id="15" name="F15"/>
              <p:cNvPicPr/>
              <p:nvPr/>
            </p:nvPicPr>
            <p:blipFill>
              <a:blip r:embed="rId6"/>
              <a:stretch>
                <a:fillRect/>
              </a:stretch>
            </p:blipFill>
            <p:spPr>
              <a:xfrm>
                <a:off x="365760" y="3337560"/>
                <a:ext cx="7955280" cy="914400"/>
              </a:xfrm>
              <a:prstGeom prst="rect">
                <a:avLst/>
              </a:prstGeom>
              <a:noFill/>
              <a:ln>
                <a:noFill/>
              </a:ln>
            </p:spPr>
          </p:pic>
        </mc:Fallback>
      </mc:AlternateContent>
      <p:sp>
        <p:nvSpPr>
          <p:cNvPr id="4" name="矩形 3">
            <a:extLst>
              <a:ext uri="{FF2B5EF4-FFF2-40B4-BE49-F238E27FC236}">
                <a16:creationId xmlns:a16="http://schemas.microsoft.com/office/drawing/2014/main" id="{C4DC3FB7-F726-752C-141D-5DC408DE494F}"/>
              </a:ext>
            </a:extLst>
          </p:cNvPr>
          <p:cNvSpPr/>
          <p:nvPr/>
        </p:nvSpPr>
        <p:spPr>
          <a:xfrm>
            <a:off x="4495800" y="2982685"/>
            <a:ext cx="495300" cy="389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descr="The diagram illustrates a vector at a 45ￂﾰ angle, with a magnitude of 120 meters per second, and a distance of 60 meters.&#10;&#10;AI 產生的內容可能不正確。">
            <a:extLst>
              <a:ext uri="{FF2B5EF4-FFF2-40B4-BE49-F238E27FC236}">
                <a16:creationId xmlns:a16="http://schemas.microsoft.com/office/drawing/2014/main" id="{770C20B0-5CBB-BEA9-1DC3-D4C83833B126}"/>
              </a:ext>
            </a:extLst>
          </p:cNvPr>
          <p:cNvPicPr>
            <a:picLocks noChangeAspect="1"/>
          </p:cNvPicPr>
          <p:nvPr/>
        </p:nvPicPr>
        <p:blipFill>
          <a:blip r:embed="rId7"/>
          <a:stretch>
            <a:fillRect/>
          </a:stretch>
        </p:blipFill>
        <p:spPr>
          <a:xfrm>
            <a:off x="5840151" y="3450772"/>
            <a:ext cx="3059892" cy="1298136"/>
          </a:xfrm>
          <a:prstGeom prst="rect">
            <a:avLst/>
          </a:prstGeom>
        </p:spPr>
      </p:pic>
      <p:sp>
        <p:nvSpPr>
          <p:cNvPr id="6" name="矩形 5">
            <a:extLst>
              <a:ext uri="{FF2B5EF4-FFF2-40B4-BE49-F238E27FC236}">
                <a16:creationId xmlns:a16="http://schemas.microsoft.com/office/drawing/2014/main" id="{D91BEECC-812F-B2DC-F38D-BE89B224BC06}"/>
              </a:ext>
            </a:extLst>
          </p:cNvPr>
          <p:cNvSpPr/>
          <p:nvPr/>
        </p:nvSpPr>
        <p:spPr>
          <a:xfrm>
            <a:off x="4176200" y="876605"/>
            <a:ext cx="495300" cy="389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2　(b) 射程　(c) 最大高度</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(b) </a:t>
                </a:r>
                <a14:m>
                  <m:oMath xmlns:m="http://schemas.openxmlformats.org/officeDocument/2006/math">
                    <m:r>
                      <a:rPr lang="en-US" altLang="zh-TW" sz="2400" b="0" i="1">
                        <a:solidFill>
                          <a:srgbClr val="2B3050"/>
                        </a:solidFill>
                        <a:latin typeface="Cambria Math" panose="02040503050406030204" pitchFamily="18" charset="0"/>
                        <a:ea typeface="Cambria Math"/>
                      </a:rPr>
                      <m:t>𝑅</m:t>
                    </m:r>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x</m:t>
                        </m:r>
                      </m:sub>
                    </m:sSub>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84.85 × 18.0 = 1527 </m:t>
                    </m:r>
                    <m:r>
                      <m:rPr>
                        <m:sty m:val="p"/>
                      </m:rPr>
                      <a:rPr lang="en-US" altLang="zh-TW" sz="2400" b="0" i="0">
                        <a:solidFill>
                          <a:srgbClr val="2B3050"/>
                        </a:solidFill>
                        <a:latin typeface="Cambria Math" panose="02040503050406030204" pitchFamily="18" charset="0"/>
                        <a:ea typeface="Cambria Math"/>
                      </a:rPr>
                      <m:t>m</m:t>
                    </m:r>
                  </m:oMath>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(c) 最高點 </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0：0 = 84.85 − 9.8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8.66 </m:t>
                    </m:r>
                    <m:r>
                      <m:rPr>
                        <m:sty m:val="p"/>
                      </m:rPr>
                      <a:rPr lang="en-US" altLang="zh-TW" sz="2400" b="0" i="0">
                        <a:solidFill>
                          <a:srgbClr val="2B3050"/>
                        </a:solidFill>
                        <a:latin typeface="Cambria Math" panose="02040503050406030204" pitchFamily="18" charset="0"/>
                        <a:ea typeface="Cambria Math"/>
                      </a:rPr>
                      <m:t>s</m:t>
                    </m:r>
                  </m:oMath>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𝑔</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ℎ</m:t>
                      </m:r>
                      <m:r>
                        <a:rPr lang="en-US" altLang="zh-TW" sz="2400" b="0" i="0">
                          <a:solidFill>
                            <a:srgbClr val="2B3050"/>
                          </a:solidFill>
                          <a:latin typeface="Cambria Math" panose="02040503050406030204" pitchFamily="18" charset="0"/>
                          <a:ea typeface="Cambria Math"/>
                        </a:rPr>
                        <m:t> → 0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84.85</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9.8</m:t>
                          </m:r>
                        </m:e>
                      </m:d>
                      <m:r>
                        <a:rPr lang="en-US" altLang="zh-TW" sz="2400" b="0" i="1">
                          <a:solidFill>
                            <a:srgbClr val="2B3050"/>
                          </a:solidFill>
                          <a:latin typeface="Cambria Math" panose="02040503050406030204" pitchFamily="18" charset="0"/>
                          <a:ea typeface="Cambria Math"/>
                        </a:rPr>
                        <m:t>ℎ</m:t>
                      </m:r>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D6006F"/>
                        </a:solidFill>
                        <a:latin typeface="Cambria Math" panose="02040503050406030204" pitchFamily="18" charset="0"/>
                        <a:ea typeface="Cambria Math"/>
                      </a:rPr>
                      <m:t>　　</m:t>
                    </m:r>
                    <m:r>
                      <a:rPr lang="en-US" altLang="zh-TW" sz="2400" b="0" i="1">
                        <a:solidFill>
                          <a:srgbClr val="D6006F"/>
                        </a:solidFill>
                        <a:latin typeface="Cambria Math" panose="02040503050406030204" pitchFamily="18" charset="0"/>
                        <a:ea typeface="Cambria Math"/>
                      </a:rPr>
                      <m:t>ℎ</m:t>
                    </m:r>
                    <m:r>
                      <a:rPr lang="en-US" altLang="zh-TW" sz="2400" b="0" i="0">
                        <a:solidFill>
                          <a:srgbClr val="D6006F"/>
                        </a:solidFill>
                        <a:latin typeface="Cambria Math" panose="02040503050406030204" pitchFamily="18" charset="0"/>
                        <a:ea typeface="Cambria Math"/>
                      </a:rPr>
                      <m:t> = </m:t>
                    </m:r>
                    <m:f>
                      <m:fPr>
                        <m:ctrlPr>
                          <a:rPr lang="en-US" altLang="zh-TW" sz="2400" b="0" i="0">
                            <a:solidFill>
                              <a:srgbClr val="D6006F"/>
                            </a:solidFill>
                            <a:latin typeface="Cambria Math" panose="02040503050406030204" pitchFamily="18" charset="0"/>
                            <a:ea typeface="Cambria Math"/>
                          </a:rPr>
                        </m:ctrlPr>
                      </m:fPr>
                      <m:num>
                        <m:r>
                          <a:rPr lang="en-US" altLang="zh-TW" sz="2400" b="0" i="0">
                            <a:solidFill>
                              <a:srgbClr val="D6006F"/>
                            </a:solidFill>
                            <a:latin typeface="Cambria Math" panose="02040503050406030204" pitchFamily="18" charset="0"/>
                            <a:ea typeface="Cambria Math"/>
                          </a:rPr>
                          <m:t>7200</m:t>
                        </m:r>
                      </m:num>
                      <m:den>
                        <m:r>
                          <a:rPr lang="en-US" altLang="zh-TW" sz="2400" b="0" i="0">
                            <a:solidFill>
                              <a:srgbClr val="D6006F"/>
                            </a:solidFill>
                            <a:latin typeface="Cambria Math" panose="02040503050406030204" pitchFamily="18" charset="0"/>
                            <a:ea typeface="Cambria Math"/>
                          </a:rPr>
                          <m:t>19.6</m:t>
                        </m:r>
                      </m:den>
                    </m:f>
                    <m:r>
                      <a:rPr lang="en-US" altLang="zh-TW" sz="2400" b="0" i="0">
                        <a:solidFill>
                          <a:srgbClr val="D6006F"/>
                        </a:solidFill>
                        <a:latin typeface="Cambria Math" panose="02040503050406030204" pitchFamily="18" charset="0"/>
                        <a:ea typeface="Cambria Math"/>
                      </a:rPr>
                      <m:t> = 367 </m:t>
                    </m:r>
                    <m:r>
                      <m:rPr>
                        <m:sty m:val="p"/>
                      </m:rPr>
                      <a:rPr lang="en-US" altLang="zh-TW" sz="2400" b="0" i="0">
                        <a:solidFill>
                          <a:srgbClr val="D6006F"/>
                        </a:solidFill>
                        <a:latin typeface="Cambria Math" panose="02040503050406030204" pitchFamily="18" charset="0"/>
                        <a:ea typeface="Cambria Math"/>
                      </a:rPr>
                      <m:t>m</m:t>
                    </m:r>
                  </m:oMath>
                </a14:m>
                <a:r>
                  <a:rPr lang="zh-TW" altLang="en-US" sz="2400" b="0" dirty="0">
                    <a:solidFill>
                      <a:srgbClr val="D6006F"/>
                    </a:solidFill>
                    <a:latin typeface="Calibri"/>
                    <a:ea typeface="微軟正黑體"/>
                    <a:cs typeface="Calibri"/>
                  </a:rPr>
                  <a:t>（高於射出點）</a:t>
                </a:r>
                <a:endParaRPr lang="zh-TW" sz="2400"/>
              </a:p>
            </p:txBody>
          </p:sp>
        </mc:Choice>
        <mc:Fallback xmlns="">
          <p:pic>
            <p:nvPicPr>
              <p:cNvPr id="14" name="F14"/>
              <p:cNvPicPr/>
              <p:nvPr/>
            </p:nvPicPr>
            <p:blipFill>
              <a:blip r:embed="rId5"/>
              <a:stretch>
                <a:fillRect/>
              </a:stretch>
            </p:blipFill>
            <p:spPr>
              <a:xfrm>
                <a:off x="365760" y="2514600"/>
                <a:ext cx="7955280" cy="868680"/>
              </a:xfrm>
              <a:prstGeom prst="rect">
                <a:avLst/>
              </a:prstGeom>
              <a:noFill/>
              <a:ln>
                <a:noFill/>
              </a:ln>
            </p:spPr>
          </p:pic>
        </mc:Fallback>
      </mc:AlternateContent>
      <p:sp>
        <p:nvSpPr>
          <p:cNvPr id="15" name="T15"/>
          <p:cNvSpPr txBox="1"/>
          <p:nvPr/>
        </p:nvSpPr>
        <p:spPr>
          <a:xfrm>
            <a:off x="365760" y="3611880"/>
            <a:ext cx="6388826"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最高點時間 8.66 s，不是總時間 18.0 s 的一半</a:t>
            </a:r>
            <a:endParaRPr lang="zh-TW" sz="2400"/>
          </a:p>
          <a:p>
            <a:pPr algn="l">
              <a:lnSpc>
                <a:spcPct val="100000"/>
              </a:lnSpc>
              <a:buNone/>
            </a:pPr>
            <a:r>
              <a:rPr lang="zh-TW" altLang="en-US" sz="2400" b="0" dirty="0">
                <a:solidFill>
                  <a:srgbClr val="2B3050"/>
                </a:solidFill>
                <a:latin typeface="Calibri"/>
                <a:ea typeface="微軟正黑體"/>
                <a:cs typeface="Calibri"/>
              </a:rPr>
              <a:t>因為落點比起點低</a:t>
            </a:r>
            <a:endParaRPr lang="zh-TW" sz="2400"/>
          </a:p>
        </p:txBody>
      </p:sp>
      <p:pic>
        <p:nvPicPr>
          <p:cNvPr id="3" name="圖片 2" descr="The diagram illustrates a vector at a 45ￂﾰ angle, with a magnitude of 120 meters per second, and a distance of 60 meters.&#10;&#10;AI 產生的內容可能不正確。">
            <a:extLst>
              <a:ext uri="{FF2B5EF4-FFF2-40B4-BE49-F238E27FC236}">
                <a16:creationId xmlns:a16="http://schemas.microsoft.com/office/drawing/2014/main" id="{707BCB87-7583-3E61-1306-09720A949300}"/>
              </a:ext>
            </a:extLst>
          </p:cNvPr>
          <p:cNvPicPr>
            <a:picLocks noChangeAspect="1"/>
          </p:cNvPicPr>
          <p:nvPr/>
        </p:nvPicPr>
        <p:blipFill>
          <a:blip r:embed="rId6"/>
          <a:stretch>
            <a:fillRect/>
          </a:stretch>
        </p:blipFill>
        <p:spPr>
          <a:xfrm>
            <a:off x="5921794" y="2699658"/>
            <a:ext cx="2694285" cy="1143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2　(d) 落地速率</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 = 84.85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r>
                  <a:rPr lang="zh-TW" altLang="en-US" sz="2400" b="0" dirty="0">
                    <a:solidFill>
                      <a:srgbClr val="2B3050"/>
                    </a:solidFill>
                    <a:latin typeface="Calibri"/>
                    <a:ea typeface="微軟正黑體"/>
                    <a:cs typeface="Calibri"/>
                  </a:rPr>
                  <a:t>（不變）</a:t>
                </a:r>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7955280" cy="566928"/>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84.85</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9.8</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60</m:t>
                        </m:r>
                      </m:e>
                    </m:d>
                    <m:r>
                      <a:rPr lang="en-US" altLang="zh-TW" sz="2400" b="0" i="0">
                        <a:solidFill>
                          <a:srgbClr val="2B3050"/>
                        </a:solidFill>
                        <a:latin typeface="Cambria Math" panose="02040503050406030204" pitchFamily="18" charset="0"/>
                        <a:ea typeface="Cambria Math"/>
                      </a:rPr>
                      <m:t> = 8376</m:t>
                    </m:r>
                  </m:oMath>
                </a14:m>
                <a:r>
                  <a:rPr lang="zh-TW" altLang="en-US" sz="2400" b="0" dirty="0">
                    <a:solidFill>
                      <a:srgbClr val="2B3050"/>
                    </a:solidFill>
                    <a:latin typeface="Calibri"/>
                    <a:ea typeface="微軟正黑體"/>
                    <a:cs typeface="Calibri"/>
                  </a:rPr>
                  <a:t>（低 60 m）</a:t>
                </a:r>
                <a:endParaRPr lang="zh-TW" sz="2400"/>
              </a:p>
            </p:txBody>
          </p:sp>
        </mc:Choice>
        <mc:Fallback xmlns="">
          <p:pic>
            <p:nvPicPr>
              <p:cNvPr id="12" name="F12"/>
              <p:cNvPicPr/>
              <p:nvPr/>
            </p:nvPicPr>
            <p:blipFill>
              <a:blip r:embed="rId3"/>
              <a:stretch>
                <a:fillRect/>
              </a:stretch>
            </p:blipFill>
            <p:spPr>
              <a:xfrm>
                <a:off x="365760" y="1371600"/>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38528"/>
                <a:ext cx="7955280" cy="566928"/>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8376</m:t>
                        </m:r>
                      </m:e>
                    </m:rad>
                    <m:r>
                      <a:rPr lang="en-US" altLang="zh-TW" sz="2400" b="0" i="0">
                        <a:solidFill>
                          <a:srgbClr val="2B3050"/>
                        </a:solidFill>
                        <a:latin typeface="Cambria Math" panose="02040503050406030204" pitchFamily="18" charset="0"/>
                        <a:ea typeface="Cambria Math"/>
                      </a:rPr>
                      <m:t> = −91.52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r>
                  <a:rPr lang="zh-TW" altLang="en-US" sz="2400" b="0" dirty="0">
                    <a:solidFill>
                      <a:srgbClr val="2B3050"/>
                    </a:solidFill>
                    <a:latin typeface="Calibri"/>
                    <a:ea typeface="微軟正黑體"/>
                    <a:cs typeface="Calibri"/>
                  </a:rPr>
                  <a:t>（向下取負）</a:t>
                </a:r>
                <a:endParaRPr lang="zh-TW" sz="2400"/>
              </a:p>
            </p:txBody>
          </p:sp>
        </mc:Choice>
        <mc:Fallback xmlns="">
          <p:pic>
            <p:nvPicPr>
              <p:cNvPr id="13" name="F13"/>
              <p:cNvPicPr/>
              <p:nvPr/>
            </p:nvPicPr>
            <p:blipFill>
              <a:blip r:embed="rId4"/>
              <a:stretch>
                <a:fillRect/>
              </a:stretch>
            </p:blipFill>
            <p:spPr>
              <a:xfrm>
                <a:off x="365760" y="1938528"/>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05456"/>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𝑣</m:t>
                      </m:r>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sSup>
                            <m:sSupPr>
                              <m:ctrlPr>
                                <a:rPr lang="en-US" altLang="zh-TW" sz="2400" b="0" i="0">
                                  <a:solidFill>
                                    <a:srgbClr val="D6006F"/>
                                  </a:solidFill>
                                  <a:latin typeface="Cambria Math" panose="02040503050406030204" pitchFamily="18" charset="0"/>
                                  <a:ea typeface="Cambria Math"/>
                                </a:rPr>
                              </m:ctrlPr>
                            </m:sSupPr>
                            <m:e>
                              <m:r>
                                <a:rPr lang="en-US" altLang="zh-TW" sz="2400" b="0" i="0">
                                  <a:solidFill>
                                    <a:srgbClr val="D6006F"/>
                                  </a:solidFill>
                                  <a:latin typeface="Cambria Math" panose="02040503050406030204" pitchFamily="18" charset="0"/>
                                  <a:ea typeface="Cambria Math"/>
                                </a:rPr>
                                <m:t>84.85</m:t>
                              </m:r>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m:t>
                          </m:r>
                          <m:sSup>
                            <m:sSupPr>
                              <m:ctrlPr>
                                <a:rPr lang="en-US" altLang="zh-TW" sz="2400" b="0" i="0">
                                  <a:solidFill>
                                    <a:srgbClr val="D6006F"/>
                                  </a:solidFill>
                                  <a:latin typeface="Cambria Math" panose="02040503050406030204" pitchFamily="18" charset="0"/>
                                  <a:ea typeface="Cambria Math"/>
                                </a:rPr>
                              </m:ctrlPr>
                            </m:sSupPr>
                            <m:e>
                              <m:r>
                                <a:rPr lang="en-US" altLang="zh-TW" sz="2400" b="0" i="0">
                                  <a:solidFill>
                                    <a:srgbClr val="D6006F"/>
                                  </a:solidFill>
                                  <a:latin typeface="Cambria Math" panose="02040503050406030204" pitchFamily="18" charset="0"/>
                                  <a:ea typeface="Cambria Math"/>
                                </a:rPr>
                                <m:t>91.52</m:t>
                              </m:r>
                            </m:e>
                            <m:sup>
                              <m:r>
                                <a:rPr lang="en-US" altLang="zh-TW" sz="2400" b="0" i="0">
                                  <a:solidFill>
                                    <a:srgbClr val="D6006F"/>
                                  </a:solidFill>
                                  <a:latin typeface="Cambria Math" panose="02040503050406030204" pitchFamily="18" charset="0"/>
                                  <a:ea typeface="Cambria Math"/>
                                </a:rPr>
                                <m:t>2</m:t>
                              </m:r>
                            </m:sup>
                          </m:sSup>
                        </m:e>
                      </m:rad>
                      <m:r>
                        <a:rPr lang="en-US" altLang="zh-TW" sz="2400" b="0" i="0">
                          <a:solidFill>
                            <a:srgbClr val="D6006F"/>
                          </a:solidFill>
                          <a:latin typeface="Cambria Math" panose="02040503050406030204" pitchFamily="18" charset="0"/>
                          <a:ea typeface="Cambria Math"/>
                        </a:rPr>
                        <m:t> = 124.8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4" name="F14"/>
              <p:cNvPicPr/>
              <p:nvPr/>
            </p:nvPicPr>
            <p:blipFill>
              <a:blip r:embed="rId5"/>
              <a:stretch>
                <a:fillRect/>
              </a:stretch>
            </p:blipFill>
            <p:spPr>
              <a:xfrm>
                <a:off x="365760" y="2505456"/>
                <a:ext cx="795528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099816"/>
                <a:ext cx="795528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tan</m:t>
                        </m:r>
                      </m:e>
                      <m:sup>
                        <m:r>
                          <a:rPr lang="en-US" altLang="zh-TW" sz="2400" b="0" i="0">
                            <a:solidFill>
                              <a:srgbClr val="2B3050"/>
                            </a:solidFill>
                            <a:latin typeface="Cambria Math" panose="02040503050406030204" pitchFamily="18" charset="0"/>
                            <a:ea typeface="Cambria Math"/>
                          </a:rPr>
                          <m:t>−1</m:t>
                        </m:r>
                      </m:sup>
                    </m:sSup>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91.52</m:t>
                            </m:r>
                          </m:num>
                          <m:den>
                            <m:r>
                              <a:rPr lang="en-US" altLang="zh-TW" sz="2400" b="0" i="0">
                                <a:solidFill>
                                  <a:srgbClr val="2B3050"/>
                                </a:solidFill>
                                <a:latin typeface="Cambria Math" panose="02040503050406030204" pitchFamily="18" charset="0"/>
                                <a:ea typeface="Cambria Math"/>
                              </a:rPr>
                              <m:t>84.85</m:t>
                            </m:r>
                          </m:den>
                        </m:f>
                      </m:e>
                    </m:d>
                    <m:r>
                      <a:rPr lang="en-US" altLang="zh-TW" sz="2400" b="0" i="0">
                        <a:solidFill>
                          <a:srgbClr val="2B3050"/>
                        </a:solidFill>
                        <a:latin typeface="Cambria Math" panose="02040503050406030204" pitchFamily="18" charset="0"/>
                        <a:ea typeface="Cambria Math"/>
                      </a:rPr>
                      <m:t> = 47.2°</m:t>
                    </m:r>
                  </m:oMath>
                </a14:m>
                <a:r>
                  <a:rPr lang="zh-TW" altLang="en-US" sz="2400" b="0" dirty="0">
                    <a:solidFill>
                      <a:srgbClr val="2B3050"/>
                    </a:solidFill>
                    <a:latin typeface="Calibri"/>
                    <a:ea typeface="微軟正黑體"/>
                    <a:cs typeface="Calibri"/>
                  </a:rPr>
                  <a:t>（水平以下）</a:t>
                </a:r>
                <a:endParaRPr lang="zh-TW" sz="2400"/>
              </a:p>
            </p:txBody>
          </p:sp>
        </mc:Choice>
        <mc:Fallback xmlns="">
          <p:pic>
            <p:nvPicPr>
              <p:cNvPr id="15" name="F15"/>
              <p:cNvPicPr/>
              <p:nvPr/>
            </p:nvPicPr>
            <p:blipFill>
              <a:blip r:embed="rId6"/>
              <a:stretch>
                <a:fillRect/>
              </a:stretch>
            </p:blipFill>
            <p:spPr>
              <a:xfrm>
                <a:off x="365760" y="3099816"/>
                <a:ext cx="7955280" cy="868680"/>
              </a:xfrm>
              <a:prstGeom prst="rect">
                <a:avLst/>
              </a:prstGeom>
              <a:noFill/>
              <a:ln>
                <a:noFill/>
              </a:ln>
            </p:spPr>
          </p:pic>
        </mc:Fallback>
      </mc:AlternateContent>
      <p:sp>
        <p:nvSpPr>
          <p:cNvPr id="16" name="T16"/>
          <p:cNvSpPr txBox="1"/>
          <p:nvPr/>
        </p:nvSpPr>
        <p:spPr>
          <a:xfrm>
            <a:off x="365760" y="4069080"/>
            <a:ext cx="7955280" cy="566928"/>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落地速率 ≈ 124.8 m/s</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en-US" altLang="zh-TW" sz="3200" dirty="0">
                <a:latin typeface="Calibri"/>
                <a:ea typeface="微軟正黑體"/>
              </a:rPr>
              <a:t>HW</a:t>
            </a:r>
            <a:r>
              <a:rPr lang="zh-TW" altLang="en-US" sz="3200" dirty="0">
                <a:latin typeface="Calibri"/>
                <a:ea typeface="微軟正黑體"/>
              </a:rPr>
              <a:t>練習 2　本題用到的公式</a:t>
            </a:r>
          </a:p>
        </p:txBody>
      </p:sp>
      <p:sp>
        <p:nvSpPr>
          <p:cNvPr id="11" name="T11"/>
          <p:cNvSpPr txBox="1"/>
          <p:nvPr/>
        </p:nvSpPr>
        <p:spPr>
          <a:xfrm>
            <a:off x="365760" y="84124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一元二次</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𝑏</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𝑏</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r>
                                <a:rPr lang="en-US" altLang="zh-TW" sz="2400" b="0" i="1">
                                  <a:solidFill>
                                    <a:srgbClr val="2B3050"/>
                                  </a:solidFill>
                                  <a:latin typeface="Cambria Math" panose="02040503050406030204" pitchFamily="18" charset="0"/>
                                  <a:ea typeface="Cambria Math"/>
                                </a:rPr>
                                <m:t>𝑎𝑐</m:t>
                              </m:r>
                            </m:e>
                          </m:rad>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𝑎</m:t>
                          </m:r>
                        </m:den>
                      </m:f>
                    </m:oMath>
                  </m:oMathPara>
                </a14:m>
                <a:endParaRPr lang="zh-TW" sz="2400"/>
              </a:p>
            </p:txBody>
          </p:sp>
        </mc:Choice>
        <mc:Fallback xmlns="">
          <p:pic>
            <p:nvPicPr>
              <p:cNvPr id="12" name="F12"/>
              <p:cNvPicPr/>
              <p:nvPr/>
            </p:nvPicPr>
            <p:blipFill>
              <a:blip r:embed="rId2"/>
              <a:stretch>
                <a:fillRect/>
              </a:stretch>
            </p:blipFill>
            <p:spPr>
              <a:xfrm>
                <a:off x="2560320" y="841248"/>
                <a:ext cx="5760720" cy="795528"/>
              </a:xfrm>
              <a:prstGeom prst="roundRect">
                <a:avLst/>
              </a:prstGeom>
              <a:solidFill>
                <a:srgbClr val="E8F4F6"/>
              </a:solidFill>
              <a:ln>
                <a:noFill/>
              </a:ln>
            </p:spPr>
          </p:pic>
        </mc:Fallback>
      </mc:AlternateContent>
      <p:sp>
        <p:nvSpPr>
          <p:cNvPr id="13" name="T13"/>
          <p:cNvSpPr txBox="1"/>
          <p:nvPr/>
        </p:nvSpPr>
        <p:spPr>
          <a:xfrm>
            <a:off x="365760" y="170992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最高點</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70992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 = 0，</m:t>
                      </m:r>
                      <m:r>
                        <a:rPr lang="en-US" altLang="zh-TW" sz="2400" b="0" i="1">
                          <a:solidFill>
                            <a:srgbClr val="2B3050"/>
                          </a:solidFill>
                          <a:latin typeface="Cambria Math" panose="02040503050406030204" pitchFamily="18" charset="0"/>
                          <a:ea typeface="Cambria Math"/>
                        </a:rPr>
                        <m:t>ℎ</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r>
                                    <m:rPr>
                                      <m:sty m:val="p"/>
                                    </m:rPr>
                                    <a:rPr lang="en-US" altLang="zh-TW" sz="2400" b="0" i="0">
                                      <a:solidFill>
                                        <a:srgbClr val="2B3050"/>
                                      </a:solidFill>
                                      <a:latin typeface="Cambria Math" panose="02040503050406030204" pitchFamily="18" charset="0"/>
                                      <a:ea typeface="Cambria Math"/>
                                    </a:rPr>
                                    <m:t>y</m:t>
                                  </m:r>
                                </m:sub>
                              </m:sSub>
                            </m:e>
                            <m:sup>
                              <m:r>
                                <a:rPr lang="en-US" altLang="zh-TW" sz="2400" b="0" i="0">
                                  <a:solidFill>
                                    <a:srgbClr val="2B3050"/>
                                  </a:solidFill>
                                  <a:latin typeface="Cambria Math" panose="02040503050406030204" pitchFamily="18" charset="0"/>
                                  <a:ea typeface="Cambria Math"/>
                                </a:rPr>
                                <m:t>2</m:t>
                              </m:r>
                            </m:sup>
                          </m:sSup>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𝑔</m:t>
                          </m:r>
                        </m:den>
                      </m:f>
                    </m:oMath>
                  </m:oMathPara>
                </a14:m>
                <a:endParaRPr lang="zh-TW" sz="2400"/>
              </a:p>
            </p:txBody>
          </p:sp>
        </mc:Choice>
        <mc:Fallback xmlns="">
          <p:pic>
            <p:nvPicPr>
              <p:cNvPr id="14" name="F14"/>
              <p:cNvPicPr/>
              <p:nvPr/>
            </p:nvPicPr>
            <p:blipFill>
              <a:blip r:embed="rId3"/>
              <a:stretch>
                <a:fillRect/>
              </a:stretch>
            </p:blipFill>
            <p:spPr>
              <a:xfrm>
                <a:off x="2560320" y="1709928"/>
                <a:ext cx="5760720" cy="795528"/>
              </a:xfrm>
              <a:prstGeom prst="roundRect">
                <a:avLst/>
              </a:prstGeom>
              <a:solidFill>
                <a:srgbClr val="E8F4F6"/>
              </a:solidFill>
              <a:ln>
                <a:noFill/>
              </a:ln>
            </p:spPr>
          </p:pic>
        </mc:Fallback>
      </mc:AlternateContent>
      <p:sp>
        <p:nvSpPr>
          <p:cNvPr id="15" name="T15"/>
          <p:cNvSpPr txBox="1"/>
          <p:nvPr/>
        </p:nvSpPr>
        <p:spPr>
          <a:xfrm>
            <a:off x="365760" y="2578608"/>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合成速率</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578608"/>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16" name="F16"/>
              <p:cNvPicPr/>
              <p:nvPr/>
            </p:nvPicPr>
            <p:blipFill>
              <a:blip r:embed="rId4"/>
              <a:stretch>
                <a:fillRect/>
              </a:stretch>
            </p:blipFill>
            <p:spPr>
              <a:xfrm>
                <a:off x="2560320" y="2578608"/>
                <a:ext cx="5760720" cy="612648"/>
              </a:xfrm>
              <a:prstGeom prst="roundRect">
                <a:avLst/>
              </a:prstGeom>
              <a:solidFill>
                <a:srgbClr val="E8F4F6"/>
              </a:solidFill>
              <a:ln>
                <a:noFill/>
              </a:ln>
            </p:spPr>
          </p:pic>
        </mc:Fallback>
      </mc:AlternateContent>
      <p:sp>
        <p:nvSpPr>
          <p:cNvPr id="17" name="T17"/>
          <p:cNvSpPr txBox="1"/>
          <p:nvPr/>
        </p:nvSpPr>
        <p:spPr>
          <a:xfrm>
            <a:off x="365760" y="326440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方向角</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26440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tan</m:t>
                          </m:r>
                        </m:e>
                        <m:sup>
                          <m:r>
                            <a:rPr lang="en-US" altLang="zh-TW" sz="2400" b="0" i="0">
                              <a:solidFill>
                                <a:srgbClr val="2B3050"/>
                              </a:solidFill>
                              <a:latin typeface="Cambria Math" panose="02040503050406030204" pitchFamily="18" charset="0"/>
                              <a:ea typeface="Cambria Math"/>
                            </a:rPr>
                            <m:t>−1</m:t>
                          </m:r>
                        </m:sup>
                      </m:sSup>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m:t>
                              </m:r>
                            </m:num>
                            <m:den>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den>
                          </m:f>
                        </m:e>
                      </m:d>
                    </m:oMath>
                  </m:oMathPara>
                </a14:m>
                <a:endParaRPr lang="zh-TW" sz="2400"/>
              </a:p>
            </p:txBody>
          </p:sp>
        </mc:Choice>
        <mc:Fallback xmlns="">
          <p:pic>
            <p:nvPicPr>
              <p:cNvPr id="18" name="F18"/>
              <p:cNvPicPr/>
              <p:nvPr/>
            </p:nvPicPr>
            <p:blipFill>
              <a:blip r:embed="rId5"/>
              <a:stretch>
                <a:fillRect/>
              </a:stretch>
            </p:blipFill>
            <p:spPr>
              <a:xfrm>
                <a:off x="2560320" y="3264408"/>
                <a:ext cx="5760720" cy="795528"/>
              </a:xfrm>
              <a:prstGeom prst="roundRect">
                <a:avLst/>
              </a:prstGeom>
              <a:solidFill>
                <a:srgbClr val="E8F4F6"/>
              </a:solidFill>
              <a:ln>
                <a:noFill/>
              </a:ln>
            </p:spPr>
          </p:pic>
        </mc:Fallback>
      </mc:AlternateContent>
      <p:sp>
        <p:nvSpPr>
          <p:cNvPr id="19" name="T19"/>
          <p:cNvSpPr txBox="1"/>
          <p:nvPr/>
        </p:nvSpPr>
        <p:spPr>
          <a:xfrm>
            <a:off x="365760" y="4133088"/>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33088"/>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低於起點，y 要加負號</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9418F6-5553-F080-82F8-91798DE2CCF3}"/>
              </a:ext>
            </a:extLst>
          </p:cNvPr>
          <p:cNvSpPr>
            <a:spLocks noGrp="1"/>
          </p:cNvSpPr>
          <p:nvPr>
            <p:ph type="title"/>
          </p:nvPr>
        </p:nvSpPr>
        <p:spPr/>
        <p:txBody>
          <a:bodyPr/>
          <a:lstStyle/>
          <a:p>
            <a:r>
              <a:rPr lang="zh-TW" altLang="en-US" dirty="0"/>
              <a:t>以下下周，請先預習</a:t>
            </a:r>
          </a:p>
        </p:txBody>
      </p:sp>
      <p:sp>
        <p:nvSpPr>
          <p:cNvPr id="3" name="內容版面配置區 2">
            <a:extLst>
              <a:ext uri="{FF2B5EF4-FFF2-40B4-BE49-F238E27FC236}">
                <a16:creationId xmlns:a16="http://schemas.microsoft.com/office/drawing/2014/main" id="{B1124834-B0A1-4DE6-8CC6-3C7808E5C219}"/>
              </a:ext>
            </a:extLst>
          </p:cNvPr>
          <p:cNvSpPr>
            <a:spLocks noGrp="1"/>
          </p:cNvSpPr>
          <p:nvPr>
            <p:ph sz="quarter" idx="10"/>
          </p:nvPr>
        </p:nvSpPr>
        <p:spPr/>
        <p:txBody>
          <a:bodyPr/>
          <a:lstStyle/>
          <a:p>
            <a:endParaRPr lang="zh-TW" altLang="en-US"/>
          </a:p>
        </p:txBody>
      </p:sp>
    </p:spTree>
    <p:extLst>
      <p:ext uri="{BB962C8B-B14F-4D97-AF65-F5344CB8AC3E}">
        <p14:creationId xmlns:p14="http://schemas.microsoft.com/office/powerpoint/2010/main" val="35569378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2-7</a:t>
            </a:r>
            <a:r>
              <a:rPr lang="zh-TW" altLang="en-US" dirty="0"/>
              <a:t>　</a:t>
            </a:r>
            <a:r>
              <a:rPr kumimoji="0" lang="zh-TW" altLang="en-US" spc="-150" dirty="0">
                <a:latin typeface="Times New Roman"/>
                <a:ea typeface="微軟正黑體"/>
              </a:rPr>
              <a:t>曲線運動的極座標與圓柱座標</a:t>
            </a:r>
            <a:r>
              <a:rPr lang="en-US" altLang="zh-TW" dirty="0"/>
              <a:t> </a:t>
            </a:r>
            <a:endParaRPr lang="zh-TW" altLang="en-US" dirty="0"/>
          </a:p>
        </p:txBody>
      </p:sp>
      <p:sp>
        <p:nvSpPr>
          <p:cNvPr id="3" name="內容版面配置區 2"/>
          <p:cNvSpPr>
            <a:spLocks noGrp="1"/>
          </p:cNvSpPr>
          <p:nvPr>
            <p:ph sz="quarter" idx="10"/>
          </p:nvPr>
        </p:nvSpPr>
        <p:spPr>
          <a:xfrm>
            <a:off x="324000" y="812700"/>
            <a:ext cx="4500000" cy="4087800"/>
          </a:xfrm>
        </p:spPr>
        <p:txBody>
          <a:bodyPr/>
          <a:lstStyle/>
          <a:p>
            <a:pPr marL="0" lvl="2" indent="0" algn="just">
              <a:lnSpc>
                <a:spcPct val="100000"/>
              </a:lnSpc>
              <a:buClr>
                <a:srgbClr val="1F8899"/>
              </a:buClr>
              <a:defRPr/>
            </a:pPr>
            <a:r>
              <a:rPr lang="zh-TW" altLang="en-US" b="0" dirty="0">
                <a:latin typeface="+mn-lt"/>
              </a:rPr>
              <a:t>某</a:t>
            </a:r>
            <a:r>
              <a:rPr lang="zh-TW" altLang="zh-TW" b="0" dirty="0">
                <a:latin typeface="+mn-lt"/>
              </a:rPr>
              <a:t>些質點之曲線運動路徑以圓柱座標表示遠較直角座標方便，若質點之曲線運動路徑在一平面上而與第三軸向無關，則以極座標表示之。</a:t>
            </a:r>
          </a:p>
          <a:p>
            <a:pPr marL="0" lvl="2" indent="0" algn="just">
              <a:lnSpc>
                <a:spcPct val="100000"/>
              </a:lnSpc>
              <a:buClr>
                <a:srgbClr val="1F8899"/>
              </a:buClr>
              <a:defRPr/>
            </a:pPr>
            <a:r>
              <a:rPr lang="en-US" altLang="zh-TW" b="0" dirty="0">
                <a:latin typeface="+mn-lt"/>
              </a:rPr>
              <a:t>(1)</a:t>
            </a:r>
            <a:r>
              <a:rPr lang="zh-TW" altLang="zh-TW" b="0" dirty="0">
                <a:latin typeface="+mn-lt"/>
              </a:rPr>
              <a:t>極座標</a:t>
            </a:r>
            <a:endParaRPr lang="zh-TW" altLang="en-US" b="0" dirty="0">
              <a:latin typeface="+mn-lt"/>
            </a:endParaRPr>
          </a:p>
          <a:p>
            <a:pPr marL="0" lvl="2" indent="0" algn="just">
              <a:lnSpc>
                <a:spcPct val="100000"/>
              </a:lnSpc>
              <a:buClr>
                <a:srgbClr val="1F8899"/>
              </a:buClr>
              <a:defRPr/>
            </a:pPr>
            <a:endParaRPr lang="zh-TW" altLang="en-US" b="0" dirty="0">
              <a:latin typeface="+mn-lt"/>
            </a:endParaRPr>
          </a:p>
        </p:txBody>
      </p:sp>
      <p:pic>
        <p:nvPicPr>
          <p:cNvPr id="4" name="圖片 5" descr="r9.jpg">
            <a:extLst>
              <a:ext uri="{FF2B5EF4-FFF2-40B4-BE49-F238E27FC236}">
                <a16:creationId xmlns:a16="http://schemas.microsoft.com/office/drawing/2014/main" id="{E3F93D2E-AEB1-70AD-B9FD-F0BB8F9ED1C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7616" y="1199364"/>
            <a:ext cx="3453811" cy="3633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7810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70659" name="Picture 3"/>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1363599" y="812800"/>
            <a:ext cx="5951665"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1506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位置 → 式 (2-11)</a:t>
            </a:r>
          </a:p>
        </p:txBody>
      </p:sp>
      <p:cxnSp>
        <p:nvCxnSpPr>
          <p:cNvPr id="11" name="L11"/>
          <p:cNvCxnSpPr/>
          <p:nvPr/>
        </p:nvCxnSpPr>
        <p:spPr>
          <a:xfrm>
            <a:off x="5394960" y="3931920"/>
            <a:ext cx="2377440" cy="0"/>
          </a:xfrm>
          <a:prstGeom prst="line">
            <a:avLst/>
          </a:prstGeom>
          <a:ln w="12700">
            <a:solidFill>
              <a:srgbClr val="8A8F9C"/>
            </a:solidFill>
          </a:ln>
        </p:spPr>
      </p:cxnSp>
      <p:cxnSp>
        <p:nvCxnSpPr>
          <p:cNvPr id="12" name="L12"/>
          <p:cNvCxnSpPr/>
          <p:nvPr/>
        </p:nvCxnSpPr>
        <p:spPr>
          <a:xfrm flipV="1">
            <a:off x="5394960" y="2805998"/>
            <a:ext cx="1441114" cy="1125922"/>
          </a:xfrm>
          <a:prstGeom prst="line">
            <a:avLst/>
          </a:prstGeom>
          <a:ln w="28575">
            <a:solidFill>
              <a:srgbClr val="2B3050"/>
            </a:solidFill>
            <a:tailEnd type="triangle" w="med" len="med"/>
          </a:ln>
        </p:spPr>
      </p:cxnSp>
      <p:sp>
        <p:nvSpPr>
          <p:cNvPr id="13" name="S13"/>
          <p:cNvSpPr/>
          <p:nvPr/>
        </p:nvSpPr>
        <p:spPr>
          <a:xfrm>
            <a:off x="5349240" y="3886200"/>
            <a:ext cx="91440" cy="91440"/>
          </a:xfrm>
          <a:prstGeom prst="ellipse">
            <a:avLst/>
          </a:prstGeom>
          <a:solidFill>
            <a:srgbClr val="2B3050"/>
          </a:solidFill>
          <a:ln>
            <a:noFill/>
          </a:ln>
        </p:spPr>
        <p:txBody>
          <a:bodyPr/>
          <a:lstStyle/>
          <a:p>
            <a:endParaRPr lang="zh-TW" altLang="en-US"/>
          </a:p>
        </p:txBody>
      </p:sp>
      <p:sp>
        <p:nvSpPr>
          <p:cNvPr id="14" name="T14"/>
          <p:cNvSpPr txBox="1"/>
          <p:nvPr/>
        </p:nvSpPr>
        <p:spPr>
          <a:xfrm>
            <a:off x="4983480" y="3749040"/>
            <a:ext cx="4114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S15"/>
          <p:cNvSpPr/>
          <p:nvPr/>
        </p:nvSpPr>
        <p:spPr>
          <a:xfrm>
            <a:off x="6781210" y="2751134"/>
            <a:ext cx="109728" cy="109728"/>
          </a:xfrm>
          <a:prstGeom prst="ellipse">
            <a:avLst/>
          </a:prstGeom>
          <a:solidFill>
            <a:srgbClr val="2B3050"/>
          </a:solidFill>
          <a:ln>
            <a:noFill/>
          </a:ln>
        </p:spPr>
        <p:txBody>
          <a:bodyPr/>
          <a:lstStyle/>
          <a:p>
            <a:endParaRPr lang="zh-TW" altLang="en-US"/>
          </a:p>
        </p:txBody>
      </p:sp>
      <p:sp>
        <p:nvSpPr>
          <p:cNvPr id="16" name="T16"/>
          <p:cNvSpPr txBox="1"/>
          <p:nvPr/>
        </p:nvSpPr>
        <p:spPr>
          <a:xfrm>
            <a:off x="6424594" y="2668838"/>
            <a:ext cx="4114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sp>
        <p:nvSpPr>
          <p:cNvPr id="17" name="P17"/>
          <p:cNvSpPr/>
          <p:nvPr/>
        </p:nvSpPr>
        <p:spPr>
          <a:xfrm>
            <a:off x="5801831" y="3636311"/>
            <a:ext cx="96049" cy="295609"/>
          </a:xfrm>
          <a:custGeom>
            <a:avLst/>
            <a:gdLst/>
            <a:ahLst/>
            <a:cxnLst/>
            <a:rect l="0" t="0" r="r" b="b"/>
            <a:pathLst>
              <a:path w="96049" h="295609">
                <a:moveTo>
                  <a:pt x="96049" y="295609"/>
                </a:moveTo>
                <a:lnTo>
                  <a:pt x="95360" y="269288"/>
                </a:lnTo>
                <a:lnTo>
                  <a:pt x="93294" y="243040"/>
                </a:lnTo>
                <a:lnTo>
                  <a:pt x="89857" y="216935"/>
                </a:lnTo>
                <a:lnTo>
                  <a:pt x="85059" y="191046"/>
                </a:lnTo>
                <a:lnTo>
                  <a:pt x="78913" y="165444"/>
                </a:lnTo>
                <a:lnTo>
                  <a:pt x="71435" y="140198"/>
                </a:lnTo>
                <a:lnTo>
                  <a:pt x="62645" y="115379"/>
                </a:lnTo>
                <a:lnTo>
                  <a:pt x="52569" y="91053"/>
                </a:lnTo>
                <a:lnTo>
                  <a:pt x="41234" y="67288"/>
                </a:lnTo>
                <a:lnTo>
                  <a:pt x="28671" y="44149"/>
                </a:lnTo>
                <a:lnTo>
                  <a:pt x="14913" y="21699"/>
                </a:lnTo>
                <a:lnTo>
                  <a:pt x="0" y="0"/>
                </a:lnTo>
              </a:path>
            </a:pathLst>
          </a:custGeom>
          <a:noFill/>
          <a:ln w="15875">
            <a:solidFill>
              <a:srgbClr val="8A8F9C"/>
            </a:solidFill>
          </a:ln>
        </p:spPr>
        <p:txBody>
          <a:bodyPr/>
          <a:lstStyle/>
          <a:p>
            <a:endParaRPr lang="zh-TW" altLang="en-US"/>
          </a:p>
        </p:txBody>
      </p:sp>
      <p:sp>
        <p:nvSpPr>
          <p:cNvPr id="18" name="T18"/>
          <p:cNvSpPr txBox="1"/>
          <p:nvPr/>
        </p:nvSpPr>
        <p:spPr>
          <a:xfrm>
            <a:off x="5897880" y="34290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cxnSp>
        <p:nvCxnSpPr>
          <p:cNvPr id="19" name="L19"/>
          <p:cNvCxnSpPr/>
          <p:nvPr/>
        </p:nvCxnSpPr>
        <p:spPr>
          <a:xfrm flipV="1">
            <a:off x="6836074" y="2327482"/>
            <a:ext cx="612473" cy="478517"/>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0" name="T20"/>
              <p:cNvSpPr txBox="1"/>
              <p:nvPr/>
            </p:nvSpPr>
            <p:spPr>
              <a:xfrm>
                <a:off x="7466836" y="2053162"/>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0" name="F20"/>
              <p:cNvPicPr/>
              <p:nvPr/>
            </p:nvPicPr>
            <p:blipFill>
              <a:blip r:embed="rId2"/>
              <a:stretch>
                <a:fillRect/>
              </a:stretch>
            </p:blipFill>
            <p:spPr>
              <a:xfrm>
                <a:off x="7466836" y="2053162"/>
                <a:ext cx="548640" cy="411480"/>
              </a:xfrm>
              <a:prstGeom prst="rect">
                <a:avLst/>
              </a:prstGeom>
              <a:noFill/>
              <a:ln>
                <a:noFill/>
              </a:ln>
            </p:spPr>
          </p:pic>
        </mc:Fallback>
      </mc:AlternateContent>
      <p:cxnSp>
        <p:nvCxnSpPr>
          <p:cNvPr id="21" name="L21"/>
          <p:cNvCxnSpPr/>
          <p:nvPr/>
        </p:nvCxnSpPr>
        <p:spPr>
          <a:xfrm>
            <a:off x="6357557" y="2193525"/>
            <a:ext cx="478517" cy="612473"/>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2" name="T22"/>
              <p:cNvSpPr txBox="1"/>
              <p:nvPr/>
            </p:nvSpPr>
            <p:spPr>
              <a:xfrm>
                <a:off x="5808917" y="1873485"/>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2" name="F22"/>
              <p:cNvPicPr/>
              <p:nvPr/>
            </p:nvPicPr>
            <p:blipFill>
              <a:blip r:embed="rId3"/>
              <a:stretch>
                <a:fillRect/>
              </a:stretch>
            </p:blipFill>
            <p:spPr>
              <a:xfrm>
                <a:off x="5808917" y="1873485"/>
                <a:ext cx="54864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3" name="T23"/>
              <p:cNvSpPr txBox="1"/>
              <p:nvPr/>
            </p:nvSpPr>
            <p:spPr>
              <a:xfrm>
                <a:off x="365760" y="868680"/>
                <a:ext cx="3931920" cy="59436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oMath>
                  </m:oMathPara>
                </a14:m>
                <a:endParaRPr lang="zh-TW" sz="2400"/>
              </a:p>
            </p:txBody>
          </p:sp>
        </mc:Choice>
        <mc:Fallback xmlns="">
          <p:pic>
            <p:nvPicPr>
              <p:cNvPr id="23" name="F23"/>
              <p:cNvPicPr/>
              <p:nvPr/>
            </p:nvPicPr>
            <p:blipFill>
              <a:blip r:embed="rId4"/>
              <a:stretch>
                <a:fillRect/>
              </a:stretch>
            </p:blipFill>
            <p:spPr>
              <a:xfrm>
                <a:off x="365760" y="868680"/>
                <a:ext cx="3931920" cy="594360"/>
              </a:xfrm>
              <a:prstGeom prst="rect">
                <a:avLst/>
              </a:prstGeom>
              <a:noFill/>
              <a:ln>
                <a:noFill/>
              </a:ln>
            </p:spPr>
          </p:pic>
        </mc:Fallback>
      </mc:AlternateContent>
      <p:sp>
        <p:nvSpPr>
          <p:cNvPr id="24" name="T24"/>
          <p:cNvSpPr txBox="1"/>
          <p:nvPr/>
        </p:nvSpPr>
        <p:spPr>
          <a:xfrm>
            <a:off x="7178040" y="868680"/>
            <a:ext cx="1188720" cy="59436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(2-11)</a:t>
            </a:r>
            <a:endParaRPr lang="zh-TW" sz="2400"/>
          </a:p>
        </p:txBody>
      </p:sp>
      <p:sp>
        <p:nvSpPr>
          <p:cNvPr id="25" name="T25"/>
          <p:cNvSpPr txBox="1"/>
          <p:nvPr/>
        </p:nvSpPr>
        <p:spPr>
          <a:xfrm>
            <a:off x="365760" y="164592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r：到 O 的距離（純量）</a:t>
            </a:r>
            <a:endParaRPr lang="zh-TW" sz="2400"/>
          </a:p>
        </p:txBody>
      </p:sp>
      <p:sp>
        <p:nvSpPr>
          <p:cNvPr id="26" name="T26"/>
          <p:cNvSpPr txBox="1"/>
          <p:nvPr/>
        </p:nvSpPr>
        <p:spPr>
          <a:xfrm>
            <a:off x="365760" y="210312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eᵣ</a:t>
            </a:r>
            <a:r>
              <a:rPr lang="zh-TW" altLang="en-US" sz="2400" b="0" dirty="0">
                <a:solidFill>
                  <a:srgbClr val="2B3050"/>
                </a:solidFill>
                <a:latin typeface="Calibri"/>
                <a:ea typeface="微軟正黑體"/>
                <a:cs typeface="Calibri"/>
              </a:rPr>
              <a:t>：沿 r 向外，長度 1</a:t>
            </a:r>
            <a:endParaRPr lang="zh-TW" sz="2400"/>
          </a:p>
        </p:txBody>
      </p:sp>
      <p:sp>
        <p:nvSpPr>
          <p:cNvPr id="27" name="T27"/>
          <p:cNvSpPr txBox="1"/>
          <p:nvPr/>
        </p:nvSpPr>
        <p:spPr>
          <a:xfrm>
            <a:off x="365760" y="256032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eθ</a:t>
            </a:r>
            <a:r>
              <a:rPr lang="zh-TW" altLang="en-US" sz="2400" b="0" dirty="0">
                <a:solidFill>
                  <a:srgbClr val="2B3050"/>
                </a:solidFill>
                <a:latin typeface="Calibri"/>
                <a:ea typeface="微軟正黑體"/>
                <a:cs typeface="Calibri"/>
              </a:rPr>
              <a:t>：垂直 r，往 θ 增加</a:t>
            </a:r>
            <a:endParaRPr lang="zh-TW" sz="2400"/>
          </a:p>
        </p:txBody>
      </p:sp>
      <p:sp>
        <p:nvSpPr>
          <p:cNvPr id="28" name="T28"/>
          <p:cNvSpPr txBox="1"/>
          <p:nvPr/>
        </p:nvSpPr>
        <p:spPr>
          <a:xfrm>
            <a:off x="365760" y="3200400"/>
            <a:ext cx="420624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位置：r 和 eᵣ 就寫完</a:t>
            </a:r>
            <a:endParaRPr lang="zh-TW" sz="2400"/>
          </a:p>
          <a:p>
            <a:pPr algn="l">
              <a:lnSpc>
                <a:spcPct val="100000"/>
              </a:lnSpc>
              <a:buNone/>
            </a:pPr>
            <a:r>
              <a:rPr lang="zh-TW" altLang="en-US" sz="2400" b="0" dirty="0">
                <a:solidFill>
                  <a:srgbClr val="2B3050"/>
                </a:solidFill>
                <a:latin typeface="Calibri"/>
                <a:ea typeface="微軟正黑體"/>
                <a:cs typeface="Calibri"/>
              </a:rPr>
              <a:t>但 eᵣ 會跟著 P 轉動</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圖 2-15(a)(b) 動畫：位置向量與單位向量</a:t>
            </a:r>
          </a:p>
        </p:txBody>
      </p:sp>
      <p:cxnSp>
        <p:nvCxnSpPr>
          <p:cNvPr id="11" name="L11"/>
          <p:cNvCxnSpPr/>
          <p:nvPr/>
        </p:nvCxnSpPr>
        <p:spPr>
          <a:xfrm>
            <a:off x="1325880" y="4114800"/>
            <a:ext cx="3429000" cy="0"/>
          </a:xfrm>
          <a:prstGeom prst="line">
            <a:avLst/>
          </a:prstGeom>
          <a:ln w="19050">
            <a:solidFill>
              <a:srgbClr val="2B3050"/>
            </a:solidFill>
          </a:ln>
        </p:spPr>
      </p:cxnSp>
      <p:sp>
        <p:nvSpPr>
          <p:cNvPr id="12" name="S12"/>
          <p:cNvSpPr/>
          <p:nvPr/>
        </p:nvSpPr>
        <p:spPr>
          <a:xfrm>
            <a:off x="1417320" y="4069080"/>
            <a:ext cx="91440" cy="91440"/>
          </a:xfrm>
          <a:prstGeom prst="ellipse">
            <a:avLst/>
          </a:prstGeom>
          <a:solidFill>
            <a:srgbClr val="2B3050"/>
          </a:solidFill>
          <a:ln>
            <a:noFill/>
          </a:ln>
        </p:spPr>
        <p:txBody>
          <a:bodyPr/>
          <a:lstStyle/>
          <a:p>
            <a:endParaRPr lang="zh-TW" altLang="en-US"/>
          </a:p>
        </p:txBody>
      </p:sp>
      <p:sp>
        <p:nvSpPr>
          <p:cNvPr id="13" name="T13"/>
          <p:cNvSpPr txBox="1"/>
          <p:nvPr/>
        </p:nvSpPr>
        <p:spPr>
          <a:xfrm>
            <a:off x="1078992" y="4005072"/>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4" name="P14"/>
          <p:cNvSpPr/>
          <p:nvPr/>
        </p:nvSpPr>
        <p:spPr>
          <a:xfrm>
            <a:off x="2843620" y="2068006"/>
            <a:ext cx="1088300" cy="2046794"/>
          </a:xfrm>
          <a:custGeom>
            <a:avLst/>
            <a:gdLst/>
            <a:ahLst/>
            <a:cxnLst/>
            <a:rect l="0" t="0" r="r" b="b"/>
            <a:pathLst>
              <a:path w="1088300" h="2046794">
                <a:moveTo>
                  <a:pt x="1088300" y="2046794"/>
                </a:moveTo>
                <a:lnTo>
                  <a:pt x="1086796" y="1960632"/>
                </a:lnTo>
                <a:lnTo>
                  <a:pt x="1082286" y="1874574"/>
                </a:lnTo>
                <a:lnTo>
                  <a:pt x="1074775" y="1788726"/>
                </a:lnTo>
                <a:lnTo>
                  <a:pt x="1064273" y="1703193"/>
                </a:lnTo>
                <a:lnTo>
                  <a:pt x="1050792" y="1618078"/>
                </a:lnTo>
                <a:lnTo>
                  <a:pt x="1034349" y="1533485"/>
                </a:lnTo>
                <a:lnTo>
                  <a:pt x="1014964" y="1449518"/>
                </a:lnTo>
                <a:lnTo>
                  <a:pt x="992660" y="1366279"/>
                </a:lnTo>
                <a:lnTo>
                  <a:pt x="967464" y="1283868"/>
                </a:lnTo>
                <a:lnTo>
                  <a:pt x="939408" y="1202388"/>
                </a:lnTo>
                <a:lnTo>
                  <a:pt x="908525" y="1121936"/>
                </a:lnTo>
                <a:lnTo>
                  <a:pt x="874854" y="1042610"/>
                </a:lnTo>
                <a:lnTo>
                  <a:pt x="838434" y="964509"/>
                </a:lnTo>
                <a:lnTo>
                  <a:pt x="799311" y="887725"/>
                </a:lnTo>
                <a:lnTo>
                  <a:pt x="757533" y="812354"/>
                </a:lnTo>
                <a:lnTo>
                  <a:pt x="713149" y="738487"/>
                </a:lnTo>
                <a:lnTo>
                  <a:pt x="666214" y="666214"/>
                </a:lnTo>
                <a:lnTo>
                  <a:pt x="616786" y="595623"/>
                </a:lnTo>
                <a:lnTo>
                  <a:pt x="564924" y="526800"/>
                </a:lnTo>
                <a:lnTo>
                  <a:pt x="510692" y="459829"/>
                </a:lnTo>
                <a:lnTo>
                  <a:pt x="454155" y="394791"/>
                </a:lnTo>
                <a:lnTo>
                  <a:pt x="395383" y="331766"/>
                </a:lnTo>
                <a:lnTo>
                  <a:pt x="334448" y="270831"/>
                </a:lnTo>
                <a:lnTo>
                  <a:pt x="271423" y="212059"/>
                </a:lnTo>
                <a:lnTo>
                  <a:pt x="206385" y="155522"/>
                </a:lnTo>
                <a:lnTo>
                  <a:pt x="139414" y="101290"/>
                </a:lnTo>
                <a:lnTo>
                  <a:pt x="70591" y="49428"/>
                </a:lnTo>
                <a:lnTo>
                  <a:pt x="0" y="0"/>
                </a:lnTo>
              </a:path>
            </a:pathLst>
          </a:custGeom>
          <a:noFill/>
          <a:ln w="19050">
            <a:solidFill>
              <a:srgbClr val="8A8F9C"/>
            </a:solidFill>
            <a:prstDash val="dash"/>
            <a:tailEnd type="triangle"/>
          </a:ln>
        </p:spPr>
        <p:txBody>
          <a:bodyPr/>
          <a:lstStyle/>
          <a:p>
            <a:endParaRPr lang="zh-TW" altLang="en-US"/>
          </a:p>
        </p:txBody>
      </p:sp>
      <p:sp>
        <p:nvSpPr>
          <p:cNvPr id="15" name="S15"/>
          <p:cNvSpPr/>
          <p:nvPr/>
        </p:nvSpPr>
        <p:spPr>
          <a:xfrm>
            <a:off x="3840480" y="4023360"/>
            <a:ext cx="182880" cy="182880"/>
          </a:xfrm>
          <a:prstGeom prst="ellipse">
            <a:avLst/>
          </a:prstGeom>
          <a:solidFill>
            <a:srgbClr val="2B3050"/>
          </a:solidFill>
          <a:ln>
            <a:noFill/>
          </a:ln>
        </p:spPr>
        <p:txBody>
          <a:bodyPr/>
          <a:lstStyle/>
          <a:p>
            <a:endParaRPr lang="zh-TW" altLang="en-US"/>
          </a:p>
        </p:txBody>
      </p:sp>
      <p:sp>
        <p:nvSpPr>
          <p:cNvPr id="16" name="T16"/>
          <p:cNvSpPr txBox="1"/>
          <p:nvPr/>
        </p:nvSpPr>
        <p:spPr>
          <a:xfrm>
            <a:off x="3499984" y="2137606"/>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cxnSp>
        <p:nvCxnSpPr>
          <p:cNvPr id="17" name="L17"/>
          <p:cNvCxnSpPr/>
          <p:nvPr/>
        </p:nvCxnSpPr>
        <p:spPr>
          <a:xfrm flipV="1">
            <a:off x="1463040" y="2640526"/>
            <a:ext cx="1872352" cy="1474274"/>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18" name="T18"/>
              <p:cNvSpPr txBox="1"/>
              <p:nvPr/>
            </p:nvSpPr>
            <p:spPr>
              <a:xfrm>
                <a:off x="1691640" y="2743200"/>
                <a:ext cx="1554480" cy="4572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oMath>
                  </m:oMathPara>
                </a14:m>
                <a:endParaRPr lang="zh-TW" sz="2400"/>
              </a:p>
            </p:txBody>
          </p:sp>
        </mc:Choice>
        <mc:Fallback xmlns="">
          <p:pic>
            <p:nvPicPr>
              <p:cNvPr id="18" name="F18"/>
              <p:cNvPicPr/>
              <p:nvPr/>
            </p:nvPicPr>
            <p:blipFill>
              <a:blip r:embed="rId2"/>
              <a:stretch>
                <a:fillRect/>
              </a:stretch>
            </p:blipFill>
            <p:spPr>
              <a:xfrm>
                <a:off x="1691640" y="2743200"/>
                <a:ext cx="1554480" cy="457200"/>
              </a:xfrm>
              <a:prstGeom prst="rect">
                <a:avLst/>
              </a:prstGeom>
              <a:noFill/>
              <a:ln>
                <a:noFill/>
              </a:ln>
            </p:spPr>
          </p:pic>
        </mc:Fallback>
      </mc:AlternateContent>
      <p:sp>
        <p:nvSpPr>
          <p:cNvPr id="19" name="P19"/>
          <p:cNvSpPr/>
          <p:nvPr/>
        </p:nvSpPr>
        <p:spPr>
          <a:xfrm>
            <a:off x="1921694" y="3781568"/>
            <a:ext cx="108274" cy="333232"/>
          </a:xfrm>
          <a:custGeom>
            <a:avLst/>
            <a:gdLst/>
            <a:ahLst/>
            <a:cxnLst/>
            <a:rect l="0" t="0" r="r" b="b"/>
            <a:pathLst>
              <a:path w="108274" h="333232">
                <a:moveTo>
                  <a:pt x="108274" y="333232"/>
                </a:moveTo>
                <a:lnTo>
                  <a:pt x="107497" y="303561"/>
                </a:lnTo>
                <a:lnTo>
                  <a:pt x="105168" y="273972"/>
                </a:lnTo>
                <a:lnTo>
                  <a:pt x="101294" y="244545"/>
                </a:lnTo>
                <a:lnTo>
                  <a:pt x="95885" y="215361"/>
                </a:lnTo>
                <a:lnTo>
                  <a:pt x="88956" y="186500"/>
                </a:lnTo>
                <a:lnTo>
                  <a:pt x="80526" y="158042"/>
                </a:lnTo>
                <a:lnTo>
                  <a:pt x="70618" y="130063"/>
                </a:lnTo>
                <a:lnTo>
                  <a:pt x="59260" y="102642"/>
                </a:lnTo>
                <a:lnTo>
                  <a:pt x="46482" y="75852"/>
                </a:lnTo>
                <a:lnTo>
                  <a:pt x="32320" y="49768"/>
                </a:lnTo>
                <a:lnTo>
                  <a:pt x="16811" y="24461"/>
                </a:lnTo>
                <a:lnTo>
                  <a:pt x="0" y="0"/>
                </a:lnTo>
              </a:path>
            </a:pathLst>
          </a:custGeom>
          <a:noFill/>
          <a:ln w="15875">
            <a:solidFill>
              <a:srgbClr val="2B3050"/>
            </a:solidFill>
            <a:tailEnd type="triangle"/>
          </a:ln>
        </p:spPr>
        <p:txBody>
          <a:bodyPr/>
          <a:lstStyle/>
          <a:p>
            <a:endParaRPr lang="zh-TW" altLang="en-US"/>
          </a:p>
        </p:txBody>
      </p:sp>
      <p:sp>
        <p:nvSpPr>
          <p:cNvPr id="20" name="T20"/>
          <p:cNvSpPr txBox="1"/>
          <p:nvPr/>
        </p:nvSpPr>
        <p:spPr>
          <a:xfrm>
            <a:off x="2084832" y="361188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θ</a:t>
            </a:r>
            <a:endParaRPr lang="zh-TW" sz="2400"/>
          </a:p>
        </p:txBody>
      </p:sp>
      <p:cxnSp>
        <p:nvCxnSpPr>
          <p:cNvPr id="21" name="L21"/>
          <p:cNvCxnSpPr/>
          <p:nvPr/>
        </p:nvCxnSpPr>
        <p:spPr>
          <a:xfrm flipV="1">
            <a:off x="3408544" y="2059993"/>
            <a:ext cx="684529" cy="534813"/>
          </a:xfrm>
          <a:prstGeom prst="line">
            <a:avLst/>
          </a:prstGeom>
          <a:ln w="44450">
            <a:solidFill>
              <a:srgbClr val="1F8899"/>
            </a:solidFill>
            <a:tailEnd type="triangle" w="med" len="med"/>
          </a:ln>
        </p:spPr>
      </p:cxnSp>
      <mc:AlternateContent xmlns:mc="http://schemas.openxmlformats.org/markup-compatibility/2006" xmlns:a14="http://schemas.microsoft.com/office/drawing/2010/main">
        <mc:Choice Requires="a14">
          <p:sp>
            <p:nvSpPr>
              <p:cNvPr id="22" name="T22"/>
              <p:cNvSpPr txBox="1"/>
              <p:nvPr/>
            </p:nvSpPr>
            <p:spPr>
              <a:xfrm>
                <a:off x="4120505" y="1785673"/>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2" name="F22"/>
              <p:cNvPicPr/>
              <p:nvPr/>
            </p:nvPicPr>
            <p:blipFill>
              <a:blip r:embed="rId3"/>
              <a:stretch>
                <a:fillRect/>
              </a:stretch>
            </p:blipFill>
            <p:spPr>
              <a:xfrm>
                <a:off x="4120505" y="1785673"/>
                <a:ext cx="548640" cy="411480"/>
              </a:xfrm>
              <a:prstGeom prst="rect">
                <a:avLst/>
              </a:prstGeom>
              <a:noFill/>
              <a:ln>
                <a:noFill/>
              </a:ln>
            </p:spPr>
          </p:pic>
        </mc:Fallback>
      </mc:AlternateContent>
      <p:cxnSp>
        <p:nvCxnSpPr>
          <p:cNvPr id="23" name="L23"/>
          <p:cNvCxnSpPr/>
          <p:nvPr/>
        </p:nvCxnSpPr>
        <p:spPr>
          <a:xfrm>
            <a:off x="2873731" y="1910277"/>
            <a:ext cx="534813" cy="684529"/>
          </a:xfrm>
          <a:prstGeom prst="line">
            <a:avLst/>
          </a:prstGeom>
          <a:ln w="44450">
            <a:solidFill>
              <a:srgbClr val="D6006F"/>
            </a:solidFill>
            <a:headEnd type="triangle" w="med" len="med"/>
          </a:ln>
        </p:spPr>
      </p:cxnSp>
      <mc:AlternateContent xmlns:mc="http://schemas.openxmlformats.org/markup-compatibility/2006" xmlns:a14="http://schemas.microsoft.com/office/drawing/2010/main">
        <mc:Choice Requires="a14">
          <p:sp>
            <p:nvSpPr>
              <p:cNvPr id="24" name="T24"/>
              <p:cNvSpPr txBox="1"/>
              <p:nvPr/>
            </p:nvSpPr>
            <p:spPr>
              <a:xfrm>
                <a:off x="2325091" y="1635957"/>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4" name="F24"/>
              <p:cNvPicPr/>
              <p:nvPr/>
            </p:nvPicPr>
            <p:blipFill>
              <a:blip r:embed="rId4"/>
              <a:stretch>
                <a:fillRect/>
              </a:stretch>
            </p:blipFill>
            <p:spPr>
              <a:xfrm>
                <a:off x="2325091" y="1635957"/>
                <a:ext cx="548640" cy="411480"/>
              </a:xfrm>
              <a:prstGeom prst="rect">
                <a:avLst/>
              </a:prstGeom>
              <a:noFill/>
              <a:ln>
                <a:noFill/>
              </a:ln>
            </p:spPr>
          </p:pic>
        </mc:Fallback>
      </mc:AlternateContent>
      <p:sp>
        <p:nvSpPr>
          <p:cNvPr id="25" name="T25"/>
          <p:cNvSpPr txBox="1"/>
          <p:nvPr/>
        </p:nvSpPr>
        <p:spPr>
          <a:xfrm>
            <a:off x="4892040" y="868680"/>
            <a:ext cx="347472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① </a:t>
            </a:r>
            <a:r>
              <a:rPr lang="zh-TW" altLang="en-US" sz="2400" b="0" dirty="0">
                <a:solidFill>
                  <a:srgbClr val="2B3050"/>
                </a:solidFill>
                <a:latin typeface="Calibri"/>
                <a:ea typeface="微軟正黑體"/>
                <a:cs typeface="Calibri"/>
              </a:rPr>
              <a:t>質點 P 沿曲線運動</a:t>
            </a:r>
            <a:endParaRPr lang="zh-TW" sz="2400"/>
          </a:p>
        </p:txBody>
      </p:sp>
      <p:sp>
        <p:nvSpPr>
          <p:cNvPr id="26" name="T26"/>
          <p:cNvSpPr txBox="1"/>
          <p:nvPr/>
        </p:nvSpPr>
        <p:spPr>
          <a:xfrm>
            <a:off x="4892040" y="1673352"/>
            <a:ext cx="3474720" cy="713232"/>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② </a:t>
            </a:r>
            <a:r>
              <a:rPr lang="zh-TW" altLang="en-US" sz="2400" b="0" dirty="0">
                <a:solidFill>
                  <a:srgbClr val="2B3050"/>
                </a:solidFill>
                <a:latin typeface="Calibri"/>
                <a:ea typeface="微軟正黑體"/>
                <a:cs typeface="Calibri"/>
              </a:rPr>
              <a:t>位置：r⃗ = r eᵣ，角度 θ</a:t>
            </a:r>
            <a:endParaRPr lang="zh-TW" sz="2400"/>
          </a:p>
        </p:txBody>
      </p:sp>
      <p:sp>
        <p:nvSpPr>
          <p:cNvPr id="27" name="T27"/>
          <p:cNvSpPr txBox="1"/>
          <p:nvPr/>
        </p:nvSpPr>
        <p:spPr>
          <a:xfrm>
            <a:off x="4892040" y="2478024"/>
            <a:ext cx="347472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1F8899"/>
                </a:solidFill>
                <a:latin typeface="Calibri"/>
                <a:ea typeface="微軟正黑體"/>
                <a:cs typeface="Calibri"/>
              </a:rPr>
              <a:t>③ </a:t>
            </a:r>
            <a:r>
              <a:rPr lang="zh-TW" altLang="en-US" sz="2400" b="0" dirty="0">
                <a:solidFill>
                  <a:srgbClr val="2B3050"/>
                </a:solidFill>
                <a:latin typeface="Calibri"/>
                <a:ea typeface="微軟正黑體"/>
                <a:cs typeface="Calibri"/>
              </a:rPr>
              <a:t>eᵣ：沿 r 向外，長度 1</a:t>
            </a:r>
            <a:endParaRPr lang="zh-TW" sz="2400"/>
          </a:p>
        </p:txBody>
      </p:sp>
      <p:sp>
        <p:nvSpPr>
          <p:cNvPr id="28" name="T28"/>
          <p:cNvSpPr txBox="1"/>
          <p:nvPr/>
        </p:nvSpPr>
        <p:spPr>
          <a:xfrm>
            <a:off x="4892040" y="3282696"/>
            <a:ext cx="3474720" cy="713232"/>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④ </a:t>
            </a:r>
            <a:r>
              <a:rPr lang="zh-TW" altLang="en-US" sz="2400" b="0" dirty="0">
                <a:solidFill>
                  <a:srgbClr val="2B3050"/>
                </a:solidFill>
                <a:latin typeface="Calibri"/>
                <a:ea typeface="微軟正黑體"/>
                <a:cs typeface="Calibri"/>
              </a:rPr>
              <a:t>eθ：垂直 eᵣ，指向 θ 增加</a:t>
            </a:r>
            <a:endParaRPr lang="zh-TW" sz="2400"/>
          </a:p>
        </p:txBody>
      </p:sp>
      <p:sp>
        <p:nvSpPr>
          <p:cNvPr id="29" name="T29"/>
          <p:cNvSpPr txBox="1"/>
          <p:nvPr/>
        </p:nvSpPr>
        <p:spPr>
          <a:xfrm>
            <a:off x="4892040" y="4206240"/>
            <a:ext cx="3474720" cy="6858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 和 θ 一變，P 就動</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0" presetClass="path" presetSubtype="0" fill="hold" grpId="1" nodeType="withEffect">
                                  <p:stCondLst>
                                    <p:cond delay="0"/>
                                  </p:stCondLst>
                                  <p:childTnLst>
                                    <p:animMotion origin="layout" path="M 0 0 L 0.00000 0.00000 L -0.00016 -0.01675 L -0.00066 -0.03348 L -0.00148 -0.05017 L -0.00263 -0.06680 L -0.00410 -0.08335 L -0.00590 -0.09980 L -0.00802 -0.11612 L -0.01046 -0.13231 L -0.01321 -0.14833 L -0.01628 -0.16417 L -0.01966 -0.17981 L -0.02334 -0.19523 L -0.02733 -0.21042 L -0.03160 -0.22535 L -0.03617 -0.24000 L -0.04103 -0.25436 L -0.04616 -0.26841 L -0.05157 -0.28214 L -0.05724 -0.29552 E" pathEditMode="relative" ptsTypes="">
                                      <p:cBhvr>
                                        <p:cTn id="12" dur="1500" fill="hold"/>
                                        <p:tgtEl>
                                          <p:spTgt spid="15"/>
                                        </p:tgtEl>
                                        <p:attrNameLst>
                                          <p:attrName>ppt_x</p:attrName>
                                          <p:attrName>ppt_y</p:attrName>
                                        </p:attrNameLst>
                                      </p:cBhvr>
                                    </p:animMotion>
                                  </p:childTnLst>
                                </p:cTn>
                              </p:par>
                              <p:par>
                                <p:cTn id="13" presetID="10" presetClass="entr" presetSubtype="0" fill="hold" grpId="0" nodeType="withEffect">
                                  <p:stCondLst>
                                    <p:cond delay="1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5" grpId="1"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單位向量的變化 → 式 (2-12)(2-13)</a:t>
            </a:r>
          </a:p>
        </p:txBody>
      </p:sp>
      <p:cxnSp>
        <p:nvCxnSpPr>
          <p:cNvPr id="11" name="L11"/>
          <p:cNvCxnSpPr/>
          <p:nvPr/>
        </p:nvCxnSpPr>
        <p:spPr>
          <a:xfrm flipV="1">
            <a:off x="822960" y="3792078"/>
            <a:ext cx="1545675" cy="414162"/>
          </a:xfrm>
          <a:prstGeom prst="line">
            <a:avLst/>
          </a:prstGeom>
          <a:ln w="31750">
            <a:solidFill>
              <a:srgbClr val="2B3050"/>
            </a:solidFill>
            <a:tailEnd type="triangle" w="med" len="med"/>
          </a:ln>
        </p:spPr>
      </p:cxnSp>
      <mc:AlternateContent xmlns:mc="http://schemas.openxmlformats.org/markup-compatibility/2006" xmlns:a14="http://schemas.microsoft.com/office/drawing/2010/main">
        <mc:Choice Requires="a14">
          <p:sp>
            <p:nvSpPr>
              <p:cNvPr id="12" name="T12"/>
              <p:cNvSpPr txBox="1"/>
              <p:nvPr/>
            </p:nvSpPr>
            <p:spPr>
              <a:xfrm>
                <a:off x="2231475" y="3883518"/>
                <a:ext cx="6400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2" name="F12"/>
              <p:cNvPicPr/>
              <p:nvPr/>
            </p:nvPicPr>
            <p:blipFill>
              <a:blip r:embed="rId2"/>
              <a:stretch>
                <a:fillRect/>
              </a:stretch>
            </p:blipFill>
            <p:spPr>
              <a:xfrm>
                <a:off x="2231475" y="3883518"/>
                <a:ext cx="640080" cy="411480"/>
              </a:xfrm>
              <a:prstGeom prst="rect">
                <a:avLst/>
              </a:prstGeom>
              <a:noFill/>
              <a:ln>
                <a:noFill/>
              </a:ln>
            </p:spPr>
          </p:pic>
        </mc:Fallback>
      </mc:AlternateContent>
      <p:cxnSp>
        <p:nvCxnSpPr>
          <p:cNvPr id="13" name="L13"/>
          <p:cNvCxnSpPr/>
          <p:nvPr/>
        </p:nvCxnSpPr>
        <p:spPr>
          <a:xfrm flipV="1">
            <a:off x="822960" y="2980416"/>
            <a:ext cx="1028589" cy="1225824"/>
          </a:xfrm>
          <a:prstGeom prst="line">
            <a:avLst/>
          </a:prstGeom>
          <a:ln w="31750">
            <a:solidFill>
              <a:srgbClr val="8A8F9C"/>
            </a:solidFill>
            <a:tailEnd type="triangle" w="med" len="med"/>
          </a:ln>
        </p:spPr>
      </p:cxnSp>
      <p:sp>
        <p:nvSpPr>
          <p:cNvPr id="14" name="T14"/>
          <p:cNvSpPr txBox="1"/>
          <p:nvPr/>
        </p:nvSpPr>
        <p:spPr>
          <a:xfrm>
            <a:off x="1577229" y="2504928"/>
            <a:ext cx="9144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eᵣ′</a:t>
            </a:r>
            <a:endParaRPr lang="zh-TW" sz="2400"/>
          </a:p>
        </p:txBody>
      </p:sp>
      <p:cxnSp>
        <p:nvCxnSpPr>
          <p:cNvPr id="15" name="L15"/>
          <p:cNvCxnSpPr/>
          <p:nvPr/>
        </p:nvCxnSpPr>
        <p:spPr>
          <a:xfrm>
            <a:off x="1851549" y="2980416"/>
            <a:ext cx="517086" cy="811662"/>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16" name="T16"/>
              <p:cNvSpPr txBox="1"/>
              <p:nvPr/>
            </p:nvSpPr>
            <p:spPr>
              <a:xfrm>
                <a:off x="2384412" y="3002199"/>
                <a:ext cx="82296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D6006F"/>
                          </a:solidFill>
                          <a:latin typeface="Cambria Math" panose="02040503050406030204" pitchFamily="18" charset="0"/>
                          <a:ea typeface="Cambria Math"/>
                        </a:rPr>
                        <m:t>Δ</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oMath>
                  </m:oMathPara>
                </a14:m>
                <a:endParaRPr lang="zh-TW" sz="2400"/>
              </a:p>
            </p:txBody>
          </p:sp>
        </mc:Choice>
        <mc:Fallback xmlns="">
          <p:pic>
            <p:nvPicPr>
              <p:cNvPr id="16" name="F16"/>
              <p:cNvPicPr/>
              <p:nvPr/>
            </p:nvPicPr>
            <p:blipFill>
              <a:blip r:embed="rId3"/>
              <a:stretch>
                <a:fillRect/>
              </a:stretch>
            </p:blipFill>
            <p:spPr>
              <a:xfrm>
                <a:off x="2384412" y="3002199"/>
                <a:ext cx="822960" cy="411480"/>
              </a:xfrm>
              <a:prstGeom prst="rect">
                <a:avLst/>
              </a:prstGeom>
              <a:noFill/>
              <a:ln>
                <a:noFill/>
              </a:ln>
            </p:spPr>
          </p:pic>
        </mc:Fallback>
      </mc:AlternateContent>
      <p:sp>
        <p:nvSpPr>
          <p:cNvPr id="17" name="T17"/>
          <p:cNvSpPr txBox="1"/>
          <p:nvPr/>
        </p:nvSpPr>
        <p:spPr>
          <a:xfrm>
            <a:off x="457200" y="4343400"/>
            <a:ext cx="21945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eᵣ 轉了 Δθ</a:t>
            </a:r>
            <a:endParaRPr lang="zh-TW" sz="2400"/>
          </a:p>
        </p:txBody>
      </p:sp>
      <p:cxnSp>
        <p:nvCxnSpPr>
          <p:cNvPr id="18" name="L18"/>
          <p:cNvCxnSpPr/>
          <p:nvPr/>
        </p:nvCxnSpPr>
        <p:spPr>
          <a:xfrm>
            <a:off x="4249278" y="2660565"/>
            <a:ext cx="414162" cy="1545675"/>
          </a:xfrm>
          <a:prstGeom prst="line">
            <a:avLst/>
          </a:prstGeom>
          <a:ln w="31750">
            <a:solidFill>
              <a:srgbClr val="2B3050"/>
            </a:solidFill>
            <a:headEnd type="triangle" w="med" len="med"/>
          </a:ln>
        </p:spPr>
      </p:cxnSp>
      <mc:AlternateContent xmlns:mc="http://schemas.openxmlformats.org/markup-compatibility/2006" xmlns:a14="http://schemas.microsoft.com/office/drawing/2010/main">
        <mc:Choice Requires="a14">
          <p:sp>
            <p:nvSpPr>
              <p:cNvPr id="19" name="T19"/>
              <p:cNvSpPr txBox="1"/>
              <p:nvPr/>
            </p:nvSpPr>
            <p:spPr>
              <a:xfrm>
                <a:off x="4112118" y="2752005"/>
                <a:ext cx="6400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9" name="F19"/>
              <p:cNvPicPr/>
              <p:nvPr/>
            </p:nvPicPr>
            <p:blipFill>
              <a:blip r:embed="rId4"/>
              <a:stretch>
                <a:fillRect/>
              </a:stretch>
            </p:blipFill>
            <p:spPr>
              <a:xfrm>
                <a:off x="4112118" y="2752005"/>
                <a:ext cx="640080" cy="411480"/>
              </a:xfrm>
              <a:prstGeom prst="rect">
                <a:avLst/>
              </a:prstGeom>
              <a:noFill/>
              <a:ln>
                <a:noFill/>
              </a:ln>
            </p:spPr>
          </p:pic>
        </mc:Fallback>
      </mc:AlternateContent>
      <p:cxnSp>
        <p:nvCxnSpPr>
          <p:cNvPr id="20" name="L20"/>
          <p:cNvCxnSpPr/>
          <p:nvPr/>
        </p:nvCxnSpPr>
        <p:spPr>
          <a:xfrm>
            <a:off x="3437616" y="3177651"/>
            <a:ext cx="1225824" cy="1028589"/>
          </a:xfrm>
          <a:prstGeom prst="line">
            <a:avLst/>
          </a:prstGeom>
          <a:ln w="31750">
            <a:solidFill>
              <a:srgbClr val="8A8F9C"/>
            </a:solidFill>
            <a:headEnd type="triangle" w="med" len="med"/>
          </a:ln>
        </p:spPr>
      </p:cxnSp>
      <p:sp>
        <p:nvSpPr>
          <p:cNvPr id="21" name="T21"/>
          <p:cNvSpPr txBox="1"/>
          <p:nvPr/>
        </p:nvSpPr>
        <p:spPr>
          <a:xfrm>
            <a:off x="3254736" y="2647299"/>
            <a:ext cx="9144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eθ′</a:t>
            </a:r>
            <a:endParaRPr lang="zh-TW" sz="2400"/>
          </a:p>
        </p:txBody>
      </p:sp>
      <p:cxnSp>
        <p:nvCxnSpPr>
          <p:cNvPr id="22" name="L22"/>
          <p:cNvCxnSpPr/>
          <p:nvPr/>
        </p:nvCxnSpPr>
        <p:spPr>
          <a:xfrm flipH="1">
            <a:off x="3437616" y="2660565"/>
            <a:ext cx="811662" cy="517086"/>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3" name="T23"/>
              <p:cNvSpPr txBox="1"/>
              <p:nvPr/>
            </p:nvSpPr>
            <p:spPr>
              <a:xfrm>
                <a:off x="4072047" y="2535060"/>
                <a:ext cx="82296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1F8899"/>
                          </a:solidFill>
                          <a:latin typeface="Cambria Math" panose="02040503050406030204" pitchFamily="18" charset="0"/>
                          <a:ea typeface="Cambria Math"/>
                        </a:rPr>
                        <m:t>Δ</m:t>
                      </m:r>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𝜃</m:t>
                          </m:r>
                        </m:sub>
                      </m:sSub>
                    </m:oMath>
                  </m:oMathPara>
                </a14:m>
                <a:endParaRPr lang="zh-TW" sz="2400"/>
              </a:p>
            </p:txBody>
          </p:sp>
        </mc:Choice>
        <mc:Fallback xmlns="">
          <p:pic>
            <p:nvPicPr>
              <p:cNvPr id="23" name="F23"/>
              <p:cNvPicPr/>
              <p:nvPr/>
            </p:nvPicPr>
            <p:blipFill>
              <a:blip r:embed="rId5"/>
              <a:stretch>
                <a:fillRect/>
              </a:stretch>
            </p:blipFill>
            <p:spPr>
              <a:xfrm>
                <a:off x="4072047" y="2535060"/>
                <a:ext cx="822960" cy="411480"/>
              </a:xfrm>
              <a:prstGeom prst="rect">
                <a:avLst/>
              </a:prstGeom>
              <a:noFill/>
              <a:ln>
                <a:noFill/>
              </a:ln>
            </p:spPr>
          </p:pic>
        </mc:Fallback>
      </mc:AlternateContent>
      <p:sp>
        <p:nvSpPr>
          <p:cNvPr id="24" name="T24"/>
          <p:cNvSpPr txBox="1"/>
          <p:nvPr/>
        </p:nvSpPr>
        <p:spPr>
          <a:xfrm>
            <a:off x="3200400" y="4370832"/>
            <a:ext cx="23774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eθ 也轉了 Δθ</a:t>
            </a:r>
            <a:endParaRPr lang="zh-TW" sz="2400"/>
          </a:p>
        </p:txBody>
      </p:sp>
      <mc:AlternateContent xmlns:mc="http://schemas.openxmlformats.org/markup-compatibility/2006" xmlns:a14="http://schemas.microsoft.com/office/drawing/2010/main">
        <mc:Choice Requires="a14">
          <p:sp>
            <p:nvSpPr>
              <p:cNvPr id="25" name="T25"/>
              <p:cNvSpPr txBox="1"/>
              <p:nvPr/>
            </p:nvSpPr>
            <p:spPr>
              <a:xfrm>
                <a:off x="4846320" y="868680"/>
                <a:ext cx="356616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Δ</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1·</m:t>
                      </m:r>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𝜃</m:t>
                      </m:r>
                    </m:oMath>
                  </m:oMathPara>
                </a14:m>
                <a:endParaRPr lang="zh-TW" sz="2400"/>
              </a:p>
            </p:txBody>
          </p:sp>
        </mc:Choice>
        <mc:Fallback xmlns="">
          <p:pic>
            <p:nvPicPr>
              <p:cNvPr id="25" name="F25"/>
              <p:cNvPicPr/>
              <p:nvPr/>
            </p:nvPicPr>
            <p:blipFill>
              <a:blip r:embed="rId6"/>
              <a:stretch>
                <a:fillRect/>
              </a:stretch>
            </p:blipFill>
            <p:spPr>
              <a:xfrm>
                <a:off x="4846320" y="868680"/>
                <a:ext cx="3566160" cy="502920"/>
              </a:xfrm>
              <a:prstGeom prst="rect">
                <a:avLst/>
              </a:prstGeom>
              <a:noFill/>
              <a:ln>
                <a:noFill/>
              </a:ln>
            </p:spPr>
          </p:pic>
        </mc:Fallback>
      </mc:AlternateContent>
      <p:sp>
        <p:nvSpPr>
          <p:cNvPr id="26" name="T26"/>
          <p:cNvSpPr txBox="1"/>
          <p:nvPr/>
        </p:nvSpPr>
        <p:spPr>
          <a:xfrm>
            <a:off x="4846320" y="1371600"/>
            <a:ext cx="35661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方向與 eθ 相同：</a:t>
            </a:r>
            <a:endParaRPr lang="zh-TW" sz="2400"/>
          </a:p>
        </p:txBody>
      </p:sp>
      <mc:AlternateContent xmlns:mc="http://schemas.openxmlformats.org/markup-compatibility/2006" xmlns:a14="http://schemas.microsoft.com/office/drawing/2010/main">
        <mc:Choice Requires="a14">
          <p:sp>
            <p:nvSpPr>
              <p:cNvPr id="27" name="T27"/>
              <p:cNvSpPr txBox="1"/>
              <p:nvPr/>
            </p:nvSpPr>
            <p:spPr>
              <a:xfrm>
                <a:off x="4846320" y="1810512"/>
                <a:ext cx="356616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oMath>
                </a14:m>
                <a:r>
                  <a:rPr lang="zh-TW" altLang="en-US" sz="2400" b="1" dirty="0">
                    <a:solidFill>
                      <a:srgbClr val="D6006F"/>
                    </a:solidFill>
                    <a:latin typeface="Calibri"/>
                    <a:ea typeface="微軟正黑體"/>
                    <a:cs typeface="Calibri"/>
                  </a:rPr>
                  <a:t>　(2-12)</a:t>
                </a:r>
                <a:endParaRPr lang="zh-TW" sz="2400"/>
              </a:p>
            </p:txBody>
          </p:sp>
        </mc:Choice>
        <mc:Fallback xmlns="">
          <p:pic>
            <p:nvPicPr>
              <p:cNvPr id="27" name="F27"/>
              <p:cNvPicPr/>
              <p:nvPr/>
            </p:nvPicPr>
            <p:blipFill>
              <a:blip r:embed="rId7"/>
              <a:stretch>
                <a:fillRect/>
              </a:stretch>
            </p:blipFill>
            <p:spPr>
              <a:xfrm>
                <a:off x="4846320" y="1810512"/>
                <a:ext cx="356616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8" name="T28"/>
              <p:cNvSpPr txBox="1"/>
              <p:nvPr/>
            </p:nvSpPr>
            <p:spPr>
              <a:xfrm>
                <a:off x="4846320" y="2679192"/>
                <a:ext cx="3566160" cy="4572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Δ</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1·</m:t>
                      </m:r>
                      <m:r>
                        <m:rPr>
                          <m:sty m:val="p"/>
                        </m:rPr>
                        <a:rPr lang="en-US" altLang="zh-TW" sz="2400" b="0" i="0">
                          <a:solidFill>
                            <a:srgbClr val="2B3050"/>
                          </a:solidFill>
                          <a:latin typeface="Cambria Math" panose="02040503050406030204" pitchFamily="18" charset="0"/>
                          <a:ea typeface="Cambria Math"/>
                        </a:rPr>
                        <m:t>Δ</m:t>
                      </m:r>
                      <m:r>
                        <a:rPr lang="en-US" altLang="zh-TW" sz="2400" b="0" i="1">
                          <a:solidFill>
                            <a:srgbClr val="2B3050"/>
                          </a:solidFill>
                          <a:latin typeface="Cambria Math" panose="02040503050406030204" pitchFamily="18" charset="0"/>
                          <a:ea typeface="Cambria Math"/>
                        </a:rPr>
                        <m:t>𝜃</m:t>
                      </m:r>
                    </m:oMath>
                  </m:oMathPara>
                </a14:m>
                <a:endParaRPr lang="zh-TW" sz="2400"/>
              </a:p>
            </p:txBody>
          </p:sp>
        </mc:Choice>
        <mc:Fallback xmlns="">
          <p:pic>
            <p:nvPicPr>
              <p:cNvPr id="28" name="F28"/>
              <p:cNvPicPr/>
              <p:nvPr/>
            </p:nvPicPr>
            <p:blipFill>
              <a:blip r:embed="rId8"/>
              <a:stretch>
                <a:fillRect/>
              </a:stretch>
            </p:blipFill>
            <p:spPr>
              <a:xfrm>
                <a:off x="4846320" y="2679192"/>
                <a:ext cx="3566160" cy="457200"/>
              </a:xfrm>
              <a:prstGeom prst="rect">
                <a:avLst/>
              </a:prstGeom>
              <a:noFill/>
              <a:ln>
                <a:noFill/>
              </a:ln>
            </p:spPr>
          </p:pic>
        </mc:Fallback>
      </mc:AlternateContent>
      <p:sp>
        <p:nvSpPr>
          <p:cNvPr id="29" name="T29"/>
          <p:cNvSpPr txBox="1"/>
          <p:nvPr/>
        </p:nvSpPr>
        <p:spPr>
          <a:xfrm>
            <a:off x="4846320" y="3136392"/>
            <a:ext cx="356616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方向與 eᵣ 相反：</a:t>
            </a:r>
            <a:endParaRPr lang="zh-TW" sz="2400"/>
          </a:p>
        </p:txBody>
      </p:sp>
      <mc:AlternateContent xmlns:mc="http://schemas.openxmlformats.org/markup-compatibility/2006" xmlns:a14="http://schemas.microsoft.com/office/drawing/2010/main">
        <mc:Choice Requires="a14">
          <p:sp>
            <p:nvSpPr>
              <p:cNvPr id="30" name="T30"/>
              <p:cNvSpPr txBox="1"/>
              <p:nvPr/>
            </p:nvSpPr>
            <p:spPr>
              <a:xfrm>
                <a:off x="4846320" y="3575304"/>
                <a:ext cx="3566160" cy="86868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oMath>
                </a14:m>
                <a:r>
                  <a:rPr lang="zh-TW" altLang="en-US" sz="2400" b="1" dirty="0">
                    <a:solidFill>
                      <a:srgbClr val="D6006F"/>
                    </a:solidFill>
                    <a:latin typeface="Calibri"/>
                    <a:ea typeface="微軟正黑體"/>
                    <a:cs typeface="Calibri"/>
                  </a:rPr>
                  <a:t>　(2-13)</a:t>
                </a:r>
                <a:endParaRPr lang="zh-TW" sz="2400"/>
              </a:p>
            </p:txBody>
          </p:sp>
        </mc:Choice>
        <mc:Fallback xmlns="">
          <p:pic>
            <p:nvPicPr>
              <p:cNvPr id="30" name="F30"/>
              <p:cNvPicPr/>
              <p:nvPr/>
            </p:nvPicPr>
            <p:blipFill>
              <a:blip r:embed="rId9"/>
              <a:stretch>
                <a:fillRect/>
              </a:stretch>
            </p:blipFill>
            <p:spPr>
              <a:xfrm>
                <a:off x="4846320" y="3575304"/>
                <a:ext cx="3566160" cy="86868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圖 2-15(c) 動畫：Δeᵣ 與 Δeθ</a:t>
            </a:r>
          </a:p>
        </p:txBody>
      </p:sp>
      <p:sp>
        <p:nvSpPr>
          <p:cNvPr id="11" name="S11"/>
          <p:cNvSpPr/>
          <p:nvPr/>
        </p:nvSpPr>
        <p:spPr>
          <a:xfrm>
            <a:off x="2286000" y="4023360"/>
            <a:ext cx="91440" cy="91440"/>
          </a:xfrm>
          <a:prstGeom prst="ellipse">
            <a:avLst/>
          </a:prstGeom>
          <a:solidFill>
            <a:srgbClr val="2B3050"/>
          </a:solidFill>
          <a:ln>
            <a:noFill/>
          </a:ln>
        </p:spPr>
        <p:txBody>
          <a:bodyPr/>
          <a:lstStyle/>
          <a:p>
            <a:endParaRPr lang="zh-TW" altLang="en-US"/>
          </a:p>
        </p:txBody>
      </p:sp>
      <p:sp>
        <p:nvSpPr>
          <p:cNvPr id="12" name="T12"/>
          <p:cNvSpPr txBox="1"/>
          <p:nvPr/>
        </p:nvSpPr>
        <p:spPr>
          <a:xfrm>
            <a:off x="2103120" y="4142232"/>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3" name="L13"/>
          <p:cNvCxnSpPr/>
          <p:nvPr/>
        </p:nvCxnSpPr>
        <p:spPr>
          <a:xfrm flipV="1">
            <a:off x="2331720" y="3401126"/>
            <a:ext cx="1653243" cy="667954"/>
          </a:xfrm>
          <a:prstGeom prst="line">
            <a:avLst/>
          </a:prstGeom>
          <a:ln w="38100">
            <a:solidFill>
              <a:srgbClr val="2B3050"/>
            </a:solidFill>
            <a:tailEnd type="triangle" w="med" len="med"/>
          </a:ln>
        </p:spPr>
      </p:cxnSp>
      <mc:AlternateContent xmlns:mc="http://schemas.openxmlformats.org/markup-compatibility/2006" xmlns:a14="http://schemas.microsoft.com/office/drawing/2010/main">
        <mc:Choice Requires="a14">
          <p:sp>
            <p:nvSpPr>
              <p:cNvPr id="14" name="T14"/>
              <p:cNvSpPr txBox="1"/>
              <p:nvPr/>
            </p:nvSpPr>
            <p:spPr>
              <a:xfrm>
                <a:off x="4030683" y="3263966"/>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4" name="F14"/>
              <p:cNvPicPr/>
              <p:nvPr/>
            </p:nvPicPr>
            <p:blipFill>
              <a:blip r:embed="rId2"/>
              <a:stretch>
                <a:fillRect/>
              </a:stretch>
            </p:blipFill>
            <p:spPr>
              <a:xfrm>
                <a:off x="4030683" y="3263966"/>
                <a:ext cx="548640" cy="411480"/>
              </a:xfrm>
              <a:prstGeom prst="rect">
                <a:avLst/>
              </a:prstGeom>
              <a:noFill/>
              <a:ln>
                <a:noFill/>
              </a:ln>
            </p:spPr>
          </p:pic>
        </mc:Fallback>
      </mc:AlternateContent>
      <p:cxnSp>
        <p:nvCxnSpPr>
          <p:cNvPr id="15" name="L15"/>
          <p:cNvCxnSpPr/>
          <p:nvPr/>
        </p:nvCxnSpPr>
        <p:spPr>
          <a:xfrm>
            <a:off x="1663766" y="2415837"/>
            <a:ext cx="667954" cy="1653243"/>
          </a:xfrm>
          <a:prstGeom prst="line">
            <a:avLst/>
          </a:prstGeom>
          <a:ln w="38100">
            <a:solidFill>
              <a:srgbClr val="2B3050"/>
            </a:solidFill>
            <a:headEnd type="triangle" w="med" len="med"/>
          </a:ln>
        </p:spPr>
      </p:cxnSp>
      <mc:AlternateContent xmlns:mc="http://schemas.openxmlformats.org/markup-compatibility/2006" xmlns:a14="http://schemas.microsoft.com/office/drawing/2010/main">
        <mc:Choice Requires="a14">
          <p:sp>
            <p:nvSpPr>
              <p:cNvPr id="16" name="T16"/>
              <p:cNvSpPr txBox="1"/>
              <p:nvPr/>
            </p:nvSpPr>
            <p:spPr>
              <a:xfrm>
                <a:off x="1572326" y="1867197"/>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6" name="F16"/>
              <p:cNvPicPr/>
              <p:nvPr/>
            </p:nvPicPr>
            <p:blipFill>
              <a:blip r:embed="rId3"/>
              <a:stretch>
                <a:fillRect/>
              </a:stretch>
            </p:blipFill>
            <p:spPr>
              <a:xfrm>
                <a:off x="1572326" y="1867197"/>
                <a:ext cx="548640" cy="411480"/>
              </a:xfrm>
              <a:prstGeom prst="rect">
                <a:avLst/>
              </a:prstGeom>
              <a:noFill/>
              <a:ln>
                <a:noFill/>
              </a:ln>
            </p:spPr>
          </p:pic>
        </mc:Fallback>
      </mc:AlternateContent>
      <p:cxnSp>
        <p:nvCxnSpPr>
          <p:cNvPr id="17" name="L17"/>
          <p:cNvCxnSpPr/>
          <p:nvPr/>
        </p:nvCxnSpPr>
        <p:spPr>
          <a:xfrm flipV="1">
            <a:off x="2331720" y="2626538"/>
            <a:ext cx="1048068" cy="1442542"/>
          </a:xfrm>
          <a:prstGeom prst="line">
            <a:avLst/>
          </a:prstGeom>
          <a:ln w="38100">
            <a:solidFill>
              <a:srgbClr val="8A8F9C"/>
            </a:solidFill>
            <a:tailEnd type="triangle" w="med" len="med"/>
          </a:ln>
        </p:spPr>
      </p:cxnSp>
      <p:sp>
        <p:nvSpPr>
          <p:cNvPr id="18" name="T18"/>
          <p:cNvSpPr txBox="1"/>
          <p:nvPr/>
        </p:nvSpPr>
        <p:spPr>
          <a:xfrm>
            <a:off x="3151188" y="2123618"/>
            <a:ext cx="7315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eᵣ′</a:t>
            </a:r>
            <a:endParaRPr lang="zh-TW" sz="2400"/>
          </a:p>
        </p:txBody>
      </p:sp>
      <p:cxnSp>
        <p:nvCxnSpPr>
          <p:cNvPr id="19" name="L19"/>
          <p:cNvCxnSpPr/>
          <p:nvPr/>
        </p:nvCxnSpPr>
        <p:spPr>
          <a:xfrm>
            <a:off x="889178" y="3021012"/>
            <a:ext cx="1442542" cy="1048068"/>
          </a:xfrm>
          <a:prstGeom prst="line">
            <a:avLst/>
          </a:prstGeom>
          <a:ln w="38100">
            <a:solidFill>
              <a:srgbClr val="8A8F9C"/>
            </a:solidFill>
            <a:headEnd type="triangle" w="med" len="med"/>
          </a:ln>
        </p:spPr>
      </p:cxnSp>
      <p:sp>
        <p:nvSpPr>
          <p:cNvPr id="20" name="T20"/>
          <p:cNvSpPr txBox="1"/>
          <p:nvPr/>
        </p:nvSpPr>
        <p:spPr>
          <a:xfrm>
            <a:off x="386258" y="3130740"/>
            <a:ext cx="7315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eθ′</a:t>
            </a:r>
            <a:endParaRPr lang="zh-TW" sz="2400"/>
          </a:p>
        </p:txBody>
      </p:sp>
      <p:sp>
        <p:nvSpPr>
          <p:cNvPr id="21" name="P21"/>
          <p:cNvSpPr/>
          <p:nvPr/>
        </p:nvSpPr>
        <p:spPr>
          <a:xfrm>
            <a:off x="2979125" y="3240439"/>
            <a:ext cx="327584" cy="434719"/>
          </a:xfrm>
          <a:custGeom>
            <a:avLst/>
            <a:gdLst/>
            <a:ahLst/>
            <a:cxnLst/>
            <a:rect l="0" t="0" r="r" b="b"/>
            <a:pathLst>
              <a:path w="327584" h="434719">
                <a:moveTo>
                  <a:pt x="327584" y="434719"/>
                </a:moveTo>
                <a:lnTo>
                  <a:pt x="305632" y="384232"/>
                </a:lnTo>
                <a:lnTo>
                  <a:pt x="281067" y="334963"/>
                </a:lnTo>
                <a:lnTo>
                  <a:pt x="253958" y="287047"/>
                </a:lnTo>
                <a:lnTo>
                  <a:pt x="224378" y="240616"/>
                </a:lnTo>
                <a:lnTo>
                  <a:pt x="192408" y="195796"/>
                </a:lnTo>
                <a:lnTo>
                  <a:pt x="158137" y="152711"/>
                </a:lnTo>
                <a:lnTo>
                  <a:pt x="121657" y="111478"/>
                </a:lnTo>
                <a:lnTo>
                  <a:pt x="83070" y="72212"/>
                </a:lnTo>
                <a:lnTo>
                  <a:pt x="42480" y="35018"/>
                </a:lnTo>
                <a:lnTo>
                  <a:pt x="0" y="0"/>
                </a:lnTo>
              </a:path>
            </a:pathLst>
          </a:custGeom>
          <a:noFill/>
          <a:ln w="19050">
            <a:solidFill>
              <a:srgbClr val="C8901F"/>
            </a:solidFill>
            <a:tailEnd type="triangle"/>
          </a:ln>
        </p:spPr>
        <p:txBody>
          <a:bodyPr/>
          <a:lstStyle/>
          <a:p>
            <a:endParaRPr lang="zh-TW" altLang="en-US"/>
          </a:p>
        </p:txBody>
      </p:sp>
      <p:sp>
        <p:nvSpPr>
          <p:cNvPr id="22" name="T22"/>
          <p:cNvSpPr txBox="1"/>
          <p:nvPr/>
        </p:nvSpPr>
        <p:spPr>
          <a:xfrm>
            <a:off x="3474720" y="315468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Δθ</a:t>
            </a:r>
            <a:endParaRPr lang="zh-TW" sz="2400"/>
          </a:p>
        </p:txBody>
      </p:sp>
      <p:sp>
        <p:nvSpPr>
          <p:cNvPr id="23" name="P23"/>
          <p:cNvSpPr/>
          <p:nvPr/>
        </p:nvSpPr>
        <p:spPr>
          <a:xfrm>
            <a:off x="1503079" y="3094091"/>
            <a:ext cx="434719" cy="327584"/>
          </a:xfrm>
          <a:custGeom>
            <a:avLst/>
            <a:gdLst/>
            <a:ahLst/>
            <a:cxnLst/>
            <a:rect l="0" t="0" r="r" b="b"/>
            <a:pathLst>
              <a:path w="434719" h="327584">
                <a:moveTo>
                  <a:pt x="434719" y="0"/>
                </a:moveTo>
                <a:lnTo>
                  <a:pt x="384232" y="21952"/>
                </a:lnTo>
                <a:lnTo>
                  <a:pt x="334963" y="46517"/>
                </a:lnTo>
                <a:lnTo>
                  <a:pt x="287047" y="73627"/>
                </a:lnTo>
                <a:lnTo>
                  <a:pt x="240616" y="103207"/>
                </a:lnTo>
                <a:lnTo>
                  <a:pt x="195796" y="135176"/>
                </a:lnTo>
                <a:lnTo>
                  <a:pt x="152711" y="169448"/>
                </a:lnTo>
                <a:lnTo>
                  <a:pt x="111478" y="205927"/>
                </a:lnTo>
                <a:lnTo>
                  <a:pt x="72212" y="244514"/>
                </a:lnTo>
                <a:lnTo>
                  <a:pt x="35018" y="285104"/>
                </a:lnTo>
                <a:lnTo>
                  <a:pt x="0" y="327584"/>
                </a:lnTo>
              </a:path>
            </a:pathLst>
          </a:custGeom>
          <a:noFill/>
          <a:ln w="19050">
            <a:solidFill>
              <a:srgbClr val="C8901F"/>
            </a:solidFill>
            <a:tailEnd type="triangle"/>
          </a:ln>
        </p:spPr>
        <p:txBody>
          <a:bodyPr/>
          <a:lstStyle/>
          <a:p>
            <a:endParaRPr lang="zh-TW" altLang="en-US"/>
          </a:p>
        </p:txBody>
      </p:sp>
      <p:sp>
        <p:nvSpPr>
          <p:cNvPr id="24" name="T24"/>
          <p:cNvSpPr txBox="1"/>
          <p:nvPr/>
        </p:nvSpPr>
        <p:spPr>
          <a:xfrm>
            <a:off x="960120" y="3410712"/>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Δθ</a:t>
            </a:r>
            <a:endParaRPr lang="zh-TW" sz="2400"/>
          </a:p>
        </p:txBody>
      </p:sp>
      <p:cxnSp>
        <p:nvCxnSpPr>
          <p:cNvPr id="25" name="L25"/>
          <p:cNvCxnSpPr/>
          <p:nvPr/>
        </p:nvCxnSpPr>
        <p:spPr>
          <a:xfrm>
            <a:off x="3398076" y="2626538"/>
            <a:ext cx="586887" cy="774588"/>
          </a:xfrm>
          <a:prstGeom prst="line">
            <a:avLst/>
          </a:prstGeom>
          <a:ln w="44450">
            <a:solidFill>
              <a:srgbClr val="D6006F"/>
            </a:solidFill>
            <a:headEnd type="triangle" w="med" len="med"/>
          </a:ln>
        </p:spPr>
      </p:cxnSp>
      <mc:AlternateContent xmlns:mc="http://schemas.openxmlformats.org/markup-compatibility/2006" xmlns:a14="http://schemas.microsoft.com/office/drawing/2010/main">
        <mc:Choice Requires="a14">
          <p:sp>
            <p:nvSpPr>
              <p:cNvPr id="26" name="T26"/>
              <p:cNvSpPr txBox="1"/>
              <p:nvPr/>
            </p:nvSpPr>
            <p:spPr>
              <a:xfrm>
                <a:off x="3773816" y="2556632"/>
                <a:ext cx="8686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D6006F"/>
                          </a:solidFill>
                          <a:latin typeface="Cambria Math" panose="02040503050406030204" pitchFamily="18" charset="0"/>
                          <a:ea typeface="Cambria Math"/>
                        </a:rPr>
                        <m:t>Δ</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oMath>
                  </m:oMathPara>
                </a14:m>
                <a:endParaRPr lang="zh-TW" sz="2400"/>
              </a:p>
            </p:txBody>
          </p:sp>
        </mc:Choice>
        <mc:Fallback xmlns="">
          <p:pic>
            <p:nvPicPr>
              <p:cNvPr id="26" name="F26"/>
              <p:cNvPicPr/>
              <p:nvPr/>
            </p:nvPicPr>
            <p:blipFill>
              <a:blip r:embed="rId4"/>
              <a:stretch>
                <a:fillRect/>
              </a:stretch>
            </p:blipFill>
            <p:spPr>
              <a:xfrm>
                <a:off x="3773816" y="2556632"/>
                <a:ext cx="868680" cy="411480"/>
              </a:xfrm>
              <a:prstGeom prst="rect">
                <a:avLst/>
              </a:prstGeom>
              <a:noFill/>
              <a:ln>
                <a:noFill/>
              </a:ln>
            </p:spPr>
          </p:pic>
        </mc:Fallback>
      </mc:AlternateContent>
      <p:cxnSp>
        <p:nvCxnSpPr>
          <p:cNvPr id="27" name="L27"/>
          <p:cNvCxnSpPr/>
          <p:nvPr/>
        </p:nvCxnSpPr>
        <p:spPr>
          <a:xfrm flipH="1">
            <a:off x="907466" y="2415837"/>
            <a:ext cx="756300" cy="605175"/>
          </a:xfrm>
          <a:prstGeom prst="line">
            <a:avLst/>
          </a:prstGeom>
          <a:ln w="44450">
            <a:solidFill>
              <a:srgbClr val="1F8899"/>
            </a:solidFill>
            <a:tailEnd type="triangle" w="med" len="med"/>
          </a:ln>
        </p:spPr>
      </p:cxnSp>
      <mc:AlternateContent xmlns:mc="http://schemas.openxmlformats.org/markup-compatibility/2006" xmlns:a14="http://schemas.microsoft.com/office/drawing/2010/main">
        <mc:Choice Requires="a14">
          <p:sp>
            <p:nvSpPr>
              <p:cNvPr id="28" name="T28"/>
              <p:cNvSpPr txBox="1"/>
              <p:nvPr/>
            </p:nvSpPr>
            <p:spPr>
              <a:xfrm>
                <a:off x="362072" y="2444104"/>
                <a:ext cx="86868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1F8899"/>
                          </a:solidFill>
                          <a:latin typeface="Cambria Math" panose="02040503050406030204" pitchFamily="18" charset="0"/>
                          <a:ea typeface="Cambria Math"/>
                        </a:rPr>
                        <m:t>Δ</m:t>
                      </m:r>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𝜃</m:t>
                          </m:r>
                        </m:sub>
                      </m:sSub>
                    </m:oMath>
                  </m:oMathPara>
                </a14:m>
                <a:endParaRPr lang="zh-TW" sz="2400"/>
              </a:p>
            </p:txBody>
          </p:sp>
        </mc:Choice>
        <mc:Fallback xmlns="">
          <p:pic>
            <p:nvPicPr>
              <p:cNvPr id="28" name="F28"/>
              <p:cNvPicPr/>
              <p:nvPr/>
            </p:nvPicPr>
            <p:blipFill>
              <a:blip r:embed="rId5"/>
              <a:stretch>
                <a:fillRect/>
              </a:stretch>
            </p:blipFill>
            <p:spPr>
              <a:xfrm>
                <a:off x="362072" y="2444104"/>
                <a:ext cx="868680" cy="411480"/>
              </a:xfrm>
              <a:prstGeom prst="rect">
                <a:avLst/>
              </a:prstGeom>
              <a:noFill/>
              <a:ln>
                <a:noFill/>
              </a:ln>
            </p:spPr>
          </p:pic>
        </mc:Fallback>
      </mc:AlternateContent>
      <p:sp>
        <p:nvSpPr>
          <p:cNvPr id="29" name="T29"/>
          <p:cNvSpPr txBox="1"/>
          <p:nvPr/>
        </p:nvSpPr>
        <p:spPr>
          <a:xfrm>
            <a:off x="4754880" y="868680"/>
            <a:ext cx="361188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① </a:t>
            </a:r>
            <a:r>
              <a:rPr lang="zh-TW" altLang="en-US" sz="2400" b="0" dirty="0">
                <a:solidFill>
                  <a:srgbClr val="2B3050"/>
                </a:solidFill>
                <a:latin typeface="Calibri"/>
                <a:ea typeface="微軟正黑體"/>
                <a:cs typeface="Calibri"/>
              </a:rPr>
              <a:t>θ 角時的 eᵣ、eθ</a:t>
            </a:r>
            <a:endParaRPr lang="zh-TW" sz="2400"/>
          </a:p>
        </p:txBody>
      </p:sp>
      <p:sp>
        <p:nvSpPr>
          <p:cNvPr id="30" name="T30"/>
          <p:cNvSpPr txBox="1"/>
          <p:nvPr/>
        </p:nvSpPr>
        <p:spPr>
          <a:xfrm>
            <a:off x="4754880" y="1673352"/>
            <a:ext cx="361188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C8901F"/>
                </a:solidFill>
                <a:latin typeface="Calibri"/>
                <a:ea typeface="微軟正黑體"/>
                <a:cs typeface="Calibri"/>
              </a:rPr>
              <a:t>② </a:t>
            </a:r>
            <a:r>
              <a:rPr lang="zh-TW" altLang="en-US" sz="2400" b="0" dirty="0">
                <a:solidFill>
                  <a:srgbClr val="2B3050"/>
                </a:solidFill>
                <a:latin typeface="Calibri"/>
                <a:ea typeface="微軟正黑體"/>
                <a:cs typeface="Calibri"/>
              </a:rPr>
              <a:t>θ 轉了 Δθ → 兩個都跟著轉</a:t>
            </a:r>
            <a:endParaRPr lang="zh-TW" sz="2400"/>
          </a:p>
        </p:txBody>
      </p:sp>
      <p:sp>
        <p:nvSpPr>
          <p:cNvPr id="31" name="T31"/>
          <p:cNvSpPr txBox="1"/>
          <p:nvPr/>
        </p:nvSpPr>
        <p:spPr>
          <a:xfrm>
            <a:off x="4754880" y="2478024"/>
            <a:ext cx="361188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③ </a:t>
            </a:r>
            <a:r>
              <a:rPr lang="zh-TW" altLang="en-US" sz="2400" b="0" dirty="0">
                <a:solidFill>
                  <a:srgbClr val="2B3050"/>
                </a:solidFill>
                <a:latin typeface="Calibri"/>
                <a:ea typeface="微軟正黑體"/>
                <a:cs typeface="Calibri"/>
              </a:rPr>
              <a:t>Δeᵣ：大小 1·Δθ，方向 ≈ eθ</a:t>
            </a:r>
            <a:endParaRPr lang="zh-TW" sz="2400"/>
          </a:p>
        </p:txBody>
      </p:sp>
      <p:sp>
        <p:nvSpPr>
          <p:cNvPr id="32" name="T32"/>
          <p:cNvSpPr txBox="1"/>
          <p:nvPr/>
        </p:nvSpPr>
        <p:spPr>
          <a:xfrm>
            <a:off x="4754880" y="3282696"/>
            <a:ext cx="3611880" cy="713232"/>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1F8899"/>
                </a:solidFill>
                <a:latin typeface="Calibri"/>
                <a:ea typeface="微軟正黑體"/>
                <a:cs typeface="Calibri"/>
              </a:rPr>
              <a:t>④ </a:t>
            </a:r>
            <a:r>
              <a:rPr lang="zh-TW" altLang="en-US" sz="2400" b="0" dirty="0">
                <a:solidFill>
                  <a:srgbClr val="2B3050"/>
                </a:solidFill>
                <a:latin typeface="Calibri"/>
                <a:ea typeface="微軟正黑體"/>
                <a:cs typeface="Calibri"/>
              </a:rPr>
              <a:t>Δeθ：大小 1·Δθ，方向 ≈ −eᵣ</a:t>
            </a:r>
            <a:endParaRPr lang="zh-TW" sz="2400"/>
          </a:p>
        </p:txBody>
      </p:sp>
      <mc:AlternateContent xmlns:mc="http://schemas.openxmlformats.org/markup-compatibility/2006" xmlns:a14="http://schemas.microsoft.com/office/drawing/2010/main">
        <mc:Choice Requires="a14">
          <p:sp>
            <p:nvSpPr>
              <p:cNvPr id="33" name="T33"/>
              <p:cNvSpPr txBox="1"/>
              <p:nvPr/>
            </p:nvSpPr>
            <p:spPr>
              <a:xfrm>
                <a:off x="4754880" y="4114800"/>
                <a:ext cx="3611880" cy="713232"/>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33" name="F33"/>
              <p:cNvPicPr/>
              <p:nvPr/>
            </p:nvPicPr>
            <p:blipFill>
              <a:blip r:embed="rId6"/>
              <a:stretch>
                <a:fillRect/>
              </a:stretch>
            </p:blipFill>
            <p:spPr>
              <a:xfrm>
                <a:off x="4754880" y="4114800"/>
                <a:ext cx="3611880" cy="713232"/>
              </a:xfrm>
              <a:prstGeom prst="roundRect">
                <a:avLst/>
              </a:prstGeom>
              <a:solidFill>
                <a:srgbClr val="FDECF4"/>
              </a:solidFill>
              <a:ln w="19050">
                <a:solidFill>
                  <a:srgbClr val="D6006F"/>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速度：把 (2-11) 對 t 微分 → 式 (2-14)</a:t>
            </a:r>
          </a:p>
        </p:txBody>
      </p:sp>
      <mc:AlternateContent xmlns:mc="http://schemas.openxmlformats.org/markup-compatibility/2006" xmlns:a14="http://schemas.microsoft.com/office/drawing/2010/main">
        <mc:Choice Requires="a14">
          <p:sp>
            <p:nvSpPr>
              <p:cNvPr id="11" name="T11"/>
              <p:cNvSpPr txBox="1"/>
              <p:nvPr/>
            </p:nvSpPr>
            <p:spPr>
              <a:xfrm>
                <a:off x="365760" y="868680"/>
                <a:ext cx="667512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1" name="F11"/>
              <p:cNvPicPr/>
              <p:nvPr/>
            </p:nvPicPr>
            <p:blipFill>
              <a:blip r:embed="rId2"/>
              <a:stretch>
                <a:fillRect/>
              </a:stretch>
            </p:blipFill>
            <p:spPr>
              <a:xfrm>
                <a:off x="365760" y="868680"/>
                <a:ext cx="66751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2" name="F12"/>
              <p:cNvPicPr/>
              <p:nvPr/>
            </p:nvPicPr>
            <p:blipFill>
              <a:blip r:embed="rId3"/>
              <a:stretch>
                <a:fillRect/>
              </a:stretch>
            </p:blipFill>
            <p:spPr>
              <a:xfrm>
                <a:off x="365760" y="1417320"/>
                <a:ext cx="66751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86000"/>
                <a:ext cx="7955280" cy="868680"/>
              </a:xfrm>
              <a:prstGeom prst="rect">
                <a:avLst/>
              </a:prstGeom>
              <a:noFill/>
              <a:ln>
                <a:noFill/>
              </a:ln>
            </p:spPr>
            <p:txBody>
              <a:bodyPr wrap="square" lIns="54864" tIns="27432" rIns="54864" bIns="27432" anchor="ctr">
                <a:noAutofit/>
              </a:bodyPr>
              <a:lstStyle/>
              <a:p>
                <a:pPr algn="l">
                  <a:lnSpc>
                    <a:spcPct val="100000"/>
                  </a:lnSpc>
                  <a:buNone/>
                </a:pP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a14:m>
                <a:r>
                  <a:rPr lang="zh-TW" altLang="en-US" sz="2400" b="0" dirty="0">
                    <a:solidFill>
                      <a:srgbClr val="2B3050"/>
                    </a:solidFill>
                    <a:latin typeface="Calibri"/>
                    <a:ea typeface="微軟正黑體"/>
                    <a:cs typeface="Calibri"/>
                  </a:rPr>
                  <a:t>　（連鎖律＋式 2-12）</a:t>
                </a:r>
                <a:endParaRPr lang="zh-TW" sz="2400"/>
              </a:p>
            </p:txBody>
          </p:sp>
        </mc:Choice>
        <mc:Fallback xmlns="">
          <p:pic>
            <p:nvPicPr>
              <p:cNvPr id="13" name="F13"/>
              <p:cNvPicPr/>
              <p:nvPr/>
            </p:nvPicPr>
            <p:blipFill>
              <a:blip r:embed="rId4"/>
              <a:stretch>
                <a:fillRect/>
              </a:stretch>
            </p:blipFill>
            <p:spPr>
              <a:xfrm>
                <a:off x="365760" y="228600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154680"/>
                <a:ext cx="6675120" cy="59436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𝑣</m:t>
                          </m:r>
                        </m:e>
                      </m:acc>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5"/>
              <a:stretch>
                <a:fillRect/>
              </a:stretch>
            </p:blipFill>
            <p:spPr>
              <a:xfrm>
                <a:off x="365760" y="3154680"/>
                <a:ext cx="6675120" cy="594360"/>
              </a:xfrm>
              <a:prstGeom prst="rect">
                <a:avLst/>
              </a:prstGeom>
              <a:noFill/>
              <a:ln>
                <a:noFill/>
              </a:ln>
            </p:spPr>
          </p:pic>
        </mc:Fallback>
      </mc:AlternateContent>
      <p:sp>
        <p:nvSpPr>
          <p:cNvPr id="15" name="T15"/>
          <p:cNvSpPr txBox="1"/>
          <p:nvPr/>
        </p:nvSpPr>
        <p:spPr>
          <a:xfrm>
            <a:off x="7178040" y="3154680"/>
            <a:ext cx="1188720" cy="59436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(2-14)</a:t>
            </a:r>
            <a:endParaRPr lang="zh-TW" sz="2400"/>
          </a:p>
        </p:txBody>
      </p:sp>
      <p:sp>
        <p:nvSpPr>
          <p:cNvPr id="16" name="T16"/>
          <p:cNvSpPr txBox="1"/>
          <p:nvPr/>
        </p:nvSpPr>
        <p:spPr>
          <a:xfrm>
            <a:off x="365760" y="3886200"/>
            <a:ext cx="7955280" cy="7772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口訣：</a:t>
            </a:r>
            <a:r>
              <a:rPr lang="zh-TW" altLang="en-US" sz="2400" b="1" dirty="0">
                <a:solidFill>
                  <a:srgbClr val="D6006F"/>
                </a:solidFill>
                <a:latin typeface="Calibri"/>
                <a:ea typeface="微軟正黑體"/>
                <a:cs typeface="Calibri"/>
              </a:rPr>
              <a:t>前微後不微 ＋ 前不微後微（乘積法則）</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速度分量 → 式 (2-15)</a:t>
            </a:r>
          </a:p>
        </p:txBody>
      </p:sp>
      <mc:AlternateContent xmlns:mc="http://schemas.openxmlformats.org/markup-compatibility/2006" xmlns:a14="http://schemas.microsoft.com/office/drawing/2010/main">
        <mc:Choice Requires="a14">
          <p:sp>
            <p:nvSpPr>
              <p:cNvPr id="11" name="T11"/>
              <p:cNvSpPr txBox="1"/>
              <p:nvPr/>
            </p:nvSpPr>
            <p:spPr>
              <a:xfrm>
                <a:off x="365760" y="868680"/>
                <a:ext cx="457200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1" name="F11"/>
              <p:cNvPicPr/>
              <p:nvPr/>
            </p:nvPicPr>
            <p:blipFill>
              <a:blip r:embed="rId2"/>
              <a:stretch>
                <a:fillRect/>
              </a:stretch>
            </p:blipFill>
            <p:spPr>
              <a:xfrm>
                <a:off x="365760" y="868680"/>
                <a:ext cx="457200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572000" cy="59436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m:t>
                      </m:r>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3"/>
              <a:stretch>
                <a:fillRect/>
              </a:stretch>
            </p:blipFill>
            <p:spPr>
              <a:xfrm>
                <a:off x="365760" y="1417320"/>
                <a:ext cx="4572000" cy="594360"/>
              </a:xfrm>
              <a:prstGeom prst="rect">
                <a:avLst/>
              </a:prstGeom>
              <a:noFill/>
              <a:ln>
                <a:noFill/>
              </a:ln>
            </p:spPr>
          </p:pic>
        </mc:Fallback>
      </mc:AlternateContent>
      <p:sp>
        <p:nvSpPr>
          <p:cNvPr id="13" name="T13"/>
          <p:cNvSpPr txBox="1"/>
          <p:nvPr/>
        </p:nvSpPr>
        <p:spPr>
          <a:xfrm>
            <a:off x="7178040" y="1417320"/>
            <a:ext cx="1188720" cy="59436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(2-15)</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148840"/>
                <a:ext cx="4572000" cy="50292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 稱為</a:t>
                </a:r>
                <a:r>
                  <a:rPr lang="zh-TW" altLang="en-US" sz="2400" b="1" dirty="0">
                    <a:solidFill>
                      <a:srgbClr val="1F8899"/>
                    </a:solidFill>
                    <a:latin typeface="Calibri"/>
                    <a:ea typeface="微軟正黑體"/>
                    <a:cs typeface="Calibri"/>
                  </a:rPr>
                  <a:t>角速度 ω</a:t>
                </a:r>
                <a:r>
                  <a:rPr lang="zh-TW" altLang="en-US" sz="2400" b="0" dirty="0">
                    <a:solidFill>
                      <a:srgbClr val="2B3050"/>
                    </a:solidFill>
                    <a:latin typeface="Calibri"/>
                    <a:ea typeface="微軟正黑體"/>
                    <a:cs typeface="Calibri"/>
                  </a:rPr>
                  <a:t>（rad/s）</a:t>
                </a:r>
                <a:endParaRPr lang="zh-TW" sz="2400"/>
              </a:p>
            </p:txBody>
          </p:sp>
        </mc:Choice>
        <mc:Fallback xmlns="">
          <p:pic>
            <p:nvPicPr>
              <p:cNvPr id="14" name="F14"/>
              <p:cNvPicPr/>
              <p:nvPr/>
            </p:nvPicPr>
            <p:blipFill>
              <a:blip r:embed="rId4"/>
              <a:stretch>
                <a:fillRect/>
              </a:stretch>
            </p:blipFill>
            <p:spPr>
              <a:xfrm>
                <a:off x="365760" y="2148840"/>
                <a:ext cx="4572000" cy="502920"/>
              </a:xfrm>
              <a:prstGeom prst="rect">
                <a:avLst/>
              </a:prstGeom>
              <a:noFill/>
              <a:ln>
                <a:noFill/>
              </a:ln>
            </p:spPr>
          </p:pic>
        </mc:Fallback>
      </mc:AlternateContent>
      <p:sp>
        <p:nvSpPr>
          <p:cNvPr id="15" name="T15"/>
          <p:cNvSpPr txBox="1"/>
          <p:nvPr/>
        </p:nvSpPr>
        <p:spPr>
          <a:xfrm>
            <a:off x="365760" y="2834640"/>
            <a:ext cx="4572000" cy="173736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口訣：</a:t>
            </a:r>
            <a:r>
              <a:rPr lang="zh-TW" altLang="en-US" sz="2400" b="1" dirty="0">
                <a:solidFill>
                  <a:srgbClr val="D6006F"/>
                </a:solidFill>
                <a:latin typeface="Calibri"/>
                <a:ea typeface="微軟正黑體"/>
                <a:cs typeface="Calibri"/>
              </a:rPr>
              <a:t>速度：r 點、rθ 點</a:t>
            </a:r>
            <a:endParaRPr lang="zh-TW" sz="2400"/>
          </a:p>
          <a:p>
            <a:pPr algn="l">
              <a:lnSpc>
                <a:spcPct val="100000"/>
              </a:lnSpc>
              <a:buNone/>
            </a:pPr>
            <a:r>
              <a:rPr lang="zh-TW" altLang="en-US" sz="2400" b="0" dirty="0">
                <a:solidFill>
                  <a:srgbClr val="2B3050"/>
                </a:solidFill>
                <a:latin typeface="Calibri"/>
                <a:ea typeface="微軟正黑體"/>
                <a:cs typeface="Calibri"/>
              </a:rPr>
              <a:t>vᵣ＝ṙ：長度在變</a:t>
            </a:r>
            <a:endParaRPr lang="zh-TW" sz="2400"/>
          </a:p>
          <a:p>
            <a:pPr algn="l">
              <a:lnSpc>
                <a:spcPct val="100000"/>
              </a:lnSpc>
              <a:buNone/>
            </a:pPr>
            <a:r>
              <a:rPr lang="zh-TW" altLang="en-US" sz="2400" b="0" dirty="0">
                <a:solidFill>
                  <a:srgbClr val="2B3050"/>
                </a:solidFill>
                <a:latin typeface="Calibri"/>
                <a:ea typeface="微軟正黑體"/>
                <a:cs typeface="Calibri"/>
              </a:rPr>
              <a:t>vθ＝rθ̇：角度在變</a:t>
            </a:r>
            <a:endParaRPr lang="zh-TW" sz="2400"/>
          </a:p>
        </p:txBody>
      </p:sp>
      <p:cxnSp>
        <p:nvCxnSpPr>
          <p:cNvPr id="16" name="L16"/>
          <p:cNvCxnSpPr/>
          <p:nvPr/>
        </p:nvCxnSpPr>
        <p:spPr>
          <a:xfrm>
            <a:off x="5897880" y="4389120"/>
            <a:ext cx="2011680" cy="0"/>
          </a:xfrm>
          <a:prstGeom prst="line">
            <a:avLst/>
          </a:prstGeom>
          <a:ln w="12700">
            <a:solidFill>
              <a:srgbClr val="8A8F9C"/>
            </a:solidFill>
            <a:prstDash val="dash"/>
          </a:ln>
        </p:spPr>
      </p:cxnSp>
      <p:sp>
        <p:nvSpPr>
          <p:cNvPr id="17" name="S17"/>
          <p:cNvSpPr/>
          <p:nvPr/>
        </p:nvSpPr>
        <p:spPr>
          <a:xfrm>
            <a:off x="5989320" y="4343400"/>
            <a:ext cx="91440" cy="91440"/>
          </a:xfrm>
          <a:prstGeom prst="ellipse">
            <a:avLst/>
          </a:prstGeom>
          <a:solidFill>
            <a:srgbClr val="2B3050"/>
          </a:solidFill>
          <a:ln>
            <a:noFill/>
          </a:ln>
        </p:spPr>
        <p:txBody>
          <a:bodyPr/>
          <a:lstStyle/>
          <a:p>
            <a:endParaRPr lang="zh-TW" altLang="en-US"/>
          </a:p>
        </p:txBody>
      </p:sp>
      <p:sp>
        <p:nvSpPr>
          <p:cNvPr id="18" name="T18"/>
          <p:cNvSpPr txBox="1"/>
          <p:nvPr/>
        </p:nvSpPr>
        <p:spPr>
          <a:xfrm>
            <a:off x="5669280" y="4279392"/>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9" name="P19"/>
          <p:cNvSpPr/>
          <p:nvPr/>
        </p:nvSpPr>
        <p:spPr>
          <a:xfrm>
            <a:off x="6418480" y="4140111"/>
            <a:ext cx="73760" cy="249009"/>
          </a:xfrm>
          <a:custGeom>
            <a:avLst/>
            <a:gdLst/>
            <a:ahLst/>
            <a:cxnLst/>
            <a:rect l="0" t="0" r="r" b="b"/>
            <a:pathLst>
              <a:path w="73760" h="249009">
                <a:moveTo>
                  <a:pt x="73760" y="249009"/>
                </a:moveTo>
                <a:lnTo>
                  <a:pt x="73133" y="225081"/>
                </a:lnTo>
                <a:lnTo>
                  <a:pt x="71255" y="201219"/>
                </a:lnTo>
                <a:lnTo>
                  <a:pt x="68131" y="177487"/>
                </a:lnTo>
                <a:lnTo>
                  <a:pt x="63769" y="153952"/>
                </a:lnTo>
                <a:lnTo>
                  <a:pt x="58181" y="130677"/>
                </a:lnTo>
                <a:lnTo>
                  <a:pt x="51383" y="107726"/>
                </a:lnTo>
                <a:lnTo>
                  <a:pt x="43393" y="85163"/>
                </a:lnTo>
                <a:lnTo>
                  <a:pt x="34233" y="63049"/>
                </a:lnTo>
                <a:lnTo>
                  <a:pt x="23928" y="41445"/>
                </a:lnTo>
                <a:lnTo>
                  <a:pt x="12507" y="20409"/>
                </a:lnTo>
                <a:lnTo>
                  <a:pt x="0" y="0"/>
                </a:lnTo>
              </a:path>
            </a:pathLst>
          </a:custGeom>
          <a:noFill/>
          <a:ln w="15875">
            <a:solidFill>
              <a:srgbClr val="8A8F9C"/>
            </a:solidFill>
            <a:tailEnd type="triangle"/>
          </a:ln>
        </p:spPr>
        <p:txBody>
          <a:bodyPr/>
          <a:lstStyle/>
          <a:p>
            <a:endParaRPr lang="zh-TW" altLang="en-US"/>
          </a:p>
        </p:txBody>
      </p:sp>
      <p:sp>
        <p:nvSpPr>
          <p:cNvPr id="20" name="T20"/>
          <p:cNvSpPr txBox="1"/>
          <p:nvPr/>
        </p:nvSpPr>
        <p:spPr>
          <a:xfrm>
            <a:off x="6537960" y="39319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1" name="P21"/>
          <p:cNvSpPr/>
          <p:nvPr/>
        </p:nvSpPr>
        <p:spPr>
          <a:xfrm>
            <a:off x="6719595" y="2921088"/>
            <a:ext cx="428308" cy="1579470"/>
          </a:xfrm>
          <a:custGeom>
            <a:avLst/>
            <a:gdLst/>
            <a:ahLst/>
            <a:cxnLst/>
            <a:rect l="0" t="0" r="r" b="b"/>
            <a:pathLst>
              <a:path w="428308" h="1579470">
                <a:moveTo>
                  <a:pt x="223030" y="1579470"/>
                </a:moveTo>
                <a:lnTo>
                  <a:pt x="245886" y="1549435"/>
                </a:lnTo>
                <a:lnTo>
                  <a:pt x="267727" y="1517939"/>
                </a:lnTo>
                <a:lnTo>
                  <a:pt x="288480" y="1485017"/>
                </a:lnTo>
                <a:lnTo>
                  <a:pt x="308071" y="1450706"/>
                </a:lnTo>
                <a:lnTo>
                  <a:pt x="326429" y="1415049"/>
                </a:lnTo>
                <a:lnTo>
                  <a:pt x="343484" y="1378090"/>
                </a:lnTo>
                <a:lnTo>
                  <a:pt x="359167" y="1339879"/>
                </a:lnTo>
                <a:lnTo>
                  <a:pt x="373412" y="1300467"/>
                </a:lnTo>
                <a:lnTo>
                  <a:pt x="386154" y="1259908"/>
                </a:lnTo>
                <a:lnTo>
                  <a:pt x="397330" y="1218259"/>
                </a:lnTo>
                <a:lnTo>
                  <a:pt x="406881" y="1175583"/>
                </a:lnTo>
                <a:lnTo>
                  <a:pt x="414748" y="1131942"/>
                </a:lnTo>
                <a:lnTo>
                  <a:pt x="420875" y="1087402"/>
                </a:lnTo>
                <a:lnTo>
                  <a:pt x="425211" y="1042033"/>
                </a:lnTo>
                <a:lnTo>
                  <a:pt x="427705" y="995906"/>
                </a:lnTo>
                <a:lnTo>
                  <a:pt x="428308" y="949096"/>
                </a:lnTo>
                <a:lnTo>
                  <a:pt x="426979" y="901678"/>
                </a:lnTo>
                <a:lnTo>
                  <a:pt x="423673" y="853731"/>
                </a:lnTo>
                <a:lnTo>
                  <a:pt x="418355" y="805337"/>
                </a:lnTo>
                <a:lnTo>
                  <a:pt x="410989" y="756578"/>
                </a:lnTo>
                <a:lnTo>
                  <a:pt x="401543" y="707539"/>
                </a:lnTo>
                <a:lnTo>
                  <a:pt x="389989" y="658306"/>
                </a:lnTo>
                <a:lnTo>
                  <a:pt x="376303" y="608967"/>
                </a:lnTo>
                <a:lnTo>
                  <a:pt x="360464" y="559612"/>
                </a:lnTo>
                <a:lnTo>
                  <a:pt x="342454" y="510331"/>
                </a:lnTo>
                <a:lnTo>
                  <a:pt x="322260" y="461217"/>
                </a:lnTo>
                <a:lnTo>
                  <a:pt x="299873" y="412363"/>
                </a:lnTo>
                <a:lnTo>
                  <a:pt x="275286" y="363862"/>
                </a:lnTo>
                <a:lnTo>
                  <a:pt x="248497" y="315809"/>
                </a:lnTo>
                <a:lnTo>
                  <a:pt x="219509" y="268299"/>
                </a:lnTo>
                <a:lnTo>
                  <a:pt x="188327" y="221428"/>
                </a:lnTo>
                <a:lnTo>
                  <a:pt x="154961" y="175291"/>
                </a:lnTo>
                <a:lnTo>
                  <a:pt x="119426" y="129984"/>
                </a:lnTo>
                <a:lnTo>
                  <a:pt x="81738" y="85603"/>
                </a:lnTo>
                <a:lnTo>
                  <a:pt x="41921" y="42244"/>
                </a:lnTo>
                <a:lnTo>
                  <a:pt x="0" y="0"/>
                </a:lnTo>
              </a:path>
            </a:pathLst>
          </a:custGeom>
          <a:noFill/>
          <a:ln w="19050">
            <a:solidFill>
              <a:srgbClr val="8A8F9C"/>
            </a:solidFill>
            <a:prstDash val="dash"/>
            <a:tailEnd type="triangle"/>
          </a:ln>
        </p:spPr>
        <p:txBody>
          <a:bodyPr/>
          <a:lstStyle/>
          <a:p>
            <a:endParaRPr lang="zh-TW" altLang="en-US"/>
          </a:p>
        </p:txBody>
      </p:sp>
      <p:cxnSp>
        <p:nvCxnSpPr>
          <p:cNvPr id="22" name="L22"/>
          <p:cNvCxnSpPr/>
          <p:nvPr/>
        </p:nvCxnSpPr>
        <p:spPr>
          <a:xfrm flipV="1">
            <a:off x="6035040" y="3628626"/>
            <a:ext cx="1086097" cy="760494"/>
          </a:xfrm>
          <a:prstGeom prst="line">
            <a:avLst/>
          </a:prstGeom>
          <a:ln w="25400">
            <a:solidFill>
              <a:srgbClr val="2B3050"/>
            </a:solidFill>
          </a:ln>
        </p:spPr>
      </p:cxnSp>
      <p:sp>
        <p:nvSpPr>
          <p:cNvPr id="23" name="S23"/>
          <p:cNvSpPr/>
          <p:nvPr/>
        </p:nvSpPr>
        <p:spPr>
          <a:xfrm>
            <a:off x="6860328" y="4418261"/>
            <a:ext cx="164592" cy="164592"/>
          </a:xfrm>
          <a:prstGeom prst="ellipse">
            <a:avLst/>
          </a:prstGeom>
          <a:solidFill>
            <a:srgbClr val="2B3050"/>
          </a:solidFill>
          <a:ln>
            <a:noFill/>
          </a:ln>
        </p:spPr>
        <p:txBody>
          <a:bodyPr/>
          <a:lstStyle/>
          <a:p>
            <a:endParaRPr lang="zh-TW" altLang="en-US"/>
          </a:p>
        </p:txBody>
      </p:sp>
      <p:sp>
        <p:nvSpPr>
          <p:cNvPr id="24" name="T24"/>
          <p:cNvSpPr txBox="1"/>
          <p:nvPr/>
        </p:nvSpPr>
        <p:spPr>
          <a:xfrm>
            <a:off x="7176001" y="3189714"/>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cxnSp>
        <p:nvCxnSpPr>
          <p:cNvPr id="25" name="L25"/>
          <p:cNvCxnSpPr/>
          <p:nvPr/>
        </p:nvCxnSpPr>
        <p:spPr>
          <a:xfrm flipV="1">
            <a:off x="7121137" y="3261492"/>
            <a:ext cx="524323" cy="367135"/>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6" name="T26"/>
              <p:cNvSpPr txBox="1"/>
              <p:nvPr/>
            </p:nvSpPr>
            <p:spPr>
              <a:xfrm>
                <a:off x="7663748" y="2987172"/>
                <a:ext cx="64008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6" name="F26"/>
              <p:cNvPicPr/>
              <p:nvPr/>
            </p:nvPicPr>
            <p:blipFill>
              <a:blip r:embed="rId5"/>
              <a:stretch>
                <a:fillRect/>
              </a:stretch>
            </p:blipFill>
            <p:spPr>
              <a:xfrm>
                <a:off x="7663748" y="2987172"/>
                <a:ext cx="640080" cy="384048"/>
              </a:xfrm>
              <a:prstGeom prst="rect">
                <a:avLst/>
              </a:prstGeom>
              <a:noFill/>
              <a:ln>
                <a:noFill/>
              </a:ln>
            </p:spPr>
          </p:pic>
        </mc:Fallback>
      </mc:AlternateContent>
      <p:cxnSp>
        <p:nvCxnSpPr>
          <p:cNvPr id="27" name="L27"/>
          <p:cNvCxnSpPr/>
          <p:nvPr/>
        </p:nvCxnSpPr>
        <p:spPr>
          <a:xfrm>
            <a:off x="6596659" y="2879594"/>
            <a:ext cx="524478" cy="749033"/>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8" name="T28"/>
              <p:cNvSpPr txBox="1"/>
              <p:nvPr/>
            </p:nvSpPr>
            <p:spPr>
              <a:xfrm>
                <a:off x="5956579" y="2696714"/>
                <a:ext cx="64008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8" name="F28"/>
              <p:cNvPicPr/>
              <p:nvPr/>
            </p:nvPicPr>
            <p:blipFill>
              <a:blip r:embed="rId6"/>
              <a:stretch>
                <a:fillRect/>
              </a:stretch>
            </p:blipFill>
            <p:spPr>
              <a:xfrm>
                <a:off x="5956579" y="2696714"/>
                <a:ext cx="640080" cy="384048"/>
              </a:xfrm>
              <a:prstGeom prst="rect">
                <a:avLst/>
              </a:prstGeom>
              <a:noFill/>
              <a:ln>
                <a:noFill/>
              </a:ln>
            </p:spPr>
          </p:pic>
        </mc:Fallback>
      </mc:AlternateContent>
      <p:cxnSp>
        <p:nvCxnSpPr>
          <p:cNvPr id="29" name="L29"/>
          <p:cNvCxnSpPr/>
          <p:nvPr/>
        </p:nvCxnSpPr>
        <p:spPr>
          <a:xfrm>
            <a:off x="7120982" y="2512459"/>
            <a:ext cx="155" cy="1116167"/>
          </a:xfrm>
          <a:prstGeom prst="line">
            <a:avLst/>
          </a:prstGeom>
          <a:ln w="38100">
            <a:solidFill>
              <a:srgbClr val="C8901F"/>
            </a:solidFill>
            <a:headEnd type="triangle" w="med" len="med"/>
          </a:ln>
        </p:spPr>
      </p:cxnSp>
      <mc:AlternateContent xmlns:mc="http://schemas.openxmlformats.org/markup-compatibility/2006" xmlns:a14="http://schemas.microsoft.com/office/drawing/2010/main">
        <mc:Choice Requires="a14">
          <p:sp>
            <p:nvSpPr>
              <p:cNvPr id="30" name="T30"/>
              <p:cNvSpPr txBox="1"/>
              <p:nvPr/>
            </p:nvSpPr>
            <p:spPr>
              <a:xfrm>
                <a:off x="7139270" y="2192419"/>
                <a:ext cx="45720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30" name="F30"/>
              <p:cNvPicPr/>
              <p:nvPr/>
            </p:nvPicPr>
            <p:blipFill>
              <a:blip r:embed="rId7"/>
              <a:stretch>
                <a:fillRect/>
              </a:stretch>
            </p:blipFill>
            <p:spPr>
              <a:xfrm>
                <a:off x="7139270" y="2192419"/>
                <a:ext cx="457200" cy="384048"/>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0" presetClass="path" presetSubtype="0" fill="hold" grpId="1" nodeType="withEffect">
                                  <p:stCondLst>
                                    <p:cond delay="0"/>
                                  </p:stCondLst>
                                  <p:childTnLst>
                                    <p:animMotion origin="layout" path="M 0 0 L 0.00000 0.00000 L 0.00250 -0.00584 L 0.00489 -0.01196 L 0.00716 -0.01836 L 0.00930 -0.02503 L 0.01131 -0.03197 L 0.01317 -0.03915 L 0.01489 -0.04658 L 0.01645 -0.05424 L 0.01784 -0.06213 L 0.01906 -0.07023 L 0.02011 -0.07852 L 0.02097 -0.08701 L 0.02164 -0.09567 L 0.02211 -0.10449 L 0.02238 -0.11346 L 0.02245 -0.12256 L 0.02230 -0.13178 L 0.02194 -0.14110 L 0.02136 -0.15051 L 0.02056 -0.15999 L 0.01952 -0.16952 E" pathEditMode="relative" ptsTypes="">
                                      <p:cBhvr>
                                        <p:cTn id="44" dur="1500" fill="hold"/>
                                        <p:tgtEl>
                                          <p:spTgt spid="23"/>
                                        </p:tgtEl>
                                        <p:attrNameLst>
                                          <p:attrName>ppt_x</p:attrName>
                                          <p:attrName>ppt_y</p:attrName>
                                        </p:attrNameLst>
                                      </p:cBhvr>
                                    </p:animMotion>
                                  </p:childTnLst>
                                </p:cTn>
                              </p:par>
                              <p:par>
                                <p:cTn id="45" presetID="10" presetClass="entr" presetSubtype="0" fill="hold" grpId="0" nodeType="withEffect">
                                  <p:stCondLst>
                                    <p:cond delay="150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9" grpId="0" animBg="1"/>
      <p:bldP spid="20" grpId="0" animBg="1"/>
      <p:bldP spid="21" grpId="0" animBg="1"/>
      <p:bldP spid="22" grpId="0" animBg="1"/>
      <p:bldP spid="23" grpId="0" animBg="1"/>
      <p:bldP spid="23" grpId="1" animBg="1"/>
      <p:bldP spid="24" grpId="0" animBg="1"/>
      <p:bldP spid="25" grpId="0" animBg="1"/>
      <p:bldP spid="26" grpId="0" animBg="1"/>
      <p:bldP spid="27" grpId="0" animBg="1"/>
      <p:bldP spid="28" grpId="0" animBg="1"/>
      <p:bldP spid="29" grpId="0" animBg="1"/>
      <p:bldP spid="3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加速度：把 (2-14) 再對 t 微分</a:t>
            </a:r>
          </a:p>
        </p:txBody>
      </p:sp>
      <mc:AlternateContent xmlns:mc="http://schemas.openxmlformats.org/markup-compatibility/2006" xmlns:a14="http://schemas.microsoft.com/office/drawing/2010/main">
        <mc:Choice Requires="a14">
          <p:sp>
            <p:nvSpPr>
              <p:cNvPr id="11" name="T11"/>
              <p:cNvSpPr txBox="1"/>
              <p:nvPr/>
            </p:nvSpPr>
            <p:spPr>
              <a:xfrm>
                <a:off x="365760" y="868680"/>
                <a:ext cx="667512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1" name="F11"/>
              <p:cNvPicPr/>
              <p:nvPr/>
            </p:nvPicPr>
            <p:blipFill>
              <a:blip r:embed="rId2"/>
              <a:stretch>
                <a:fillRect/>
              </a:stretch>
            </p:blipFill>
            <p:spPr>
              <a:xfrm>
                <a:off x="365760" y="868680"/>
                <a:ext cx="6675120" cy="548640"/>
              </a:xfrm>
              <a:prstGeom prst="rect">
                <a:avLst/>
              </a:prstGeom>
              <a:noFill/>
              <a:ln>
                <a:noFill/>
              </a:ln>
            </p:spPr>
          </p:pic>
        </mc:Fallback>
      </mc:AlternateContent>
      <p:sp>
        <p:nvSpPr>
          <p:cNvPr id="12" name="T12"/>
          <p:cNvSpPr txBox="1"/>
          <p:nvPr/>
        </p:nvSpPr>
        <p:spPr>
          <a:xfrm>
            <a:off x="7178040" y="868680"/>
            <a:ext cx="1188720" cy="54864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(2-14)</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365760" y="141732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3" name="F13"/>
              <p:cNvPicPr/>
              <p:nvPr/>
            </p:nvPicPr>
            <p:blipFill>
              <a:blip r:embed="rId3"/>
              <a:stretch>
                <a:fillRect/>
              </a:stretch>
            </p:blipFill>
            <p:spPr>
              <a:xfrm>
                <a:off x="365760" y="1417320"/>
                <a:ext cx="66751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28600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4" name="F14"/>
              <p:cNvPicPr/>
              <p:nvPr/>
            </p:nvPicPr>
            <p:blipFill>
              <a:blip r:embed="rId4"/>
              <a:stretch>
                <a:fillRect/>
              </a:stretch>
            </p:blipFill>
            <p:spPr>
              <a:xfrm>
                <a:off x="365760" y="2286000"/>
                <a:ext cx="6675120" cy="868680"/>
              </a:xfrm>
              <a:prstGeom prst="rect">
                <a:avLst/>
              </a:prstGeom>
              <a:noFill/>
              <a:ln>
                <a:noFill/>
              </a:ln>
            </p:spPr>
          </p:pic>
        </mc:Fallback>
      </mc:AlternateContent>
      <p:sp>
        <p:nvSpPr>
          <p:cNvPr id="15" name="T15"/>
          <p:cNvSpPr txBox="1"/>
          <p:nvPr/>
        </p:nvSpPr>
        <p:spPr>
          <a:xfrm>
            <a:off x="365760" y="3337560"/>
            <a:ext cx="7955280" cy="13258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第一項 ṙeᵣ：兩個量相乘 → 微出 2 項</a:t>
            </a:r>
            <a:endParaRPr lang="zh-TW" sz="2400"/>
          </a:p>
          <a:p>
            <a:pPr algn="l">
              <a:lnSpc>
                <a:spcPct val="100000"/>
              </a:lnSpc>
              <a:buNone/>
            </a:pPr>
            <a:r>
              <a:rPr lang="zh-TW" altLang="en-US" sz="2400" b="0" dirty="0">
                <a:solidFill>
                  <a:srgbClr val="2B3050"/>
                </a:solidFill>
                <a:latin typeface="Calibri"/>
                <a:ea typeface="微軟正黑體"/>
                <a:cs typeface="Calibri"/>
              </a:rPr>
              <a:t>第二項 rθ̇eθ：三個量相乘 → 微出 3 項</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代入單位向量的微分 → 式 (2-16)</a:t>
            </a:r>
          </a:p>
        </p:txBody>
      </p:sp>
      <mc:AlternateContent xmlns:mc="http://schemas.openxmlformats.org/markup-compatibility/2006" xmlns:a14="http://schemas.microsoft.com/office/drawing/2010/main">
        <mc:Choice Requires="a14">
          <p:sp>
            <p:nvSpPr>
              <p:cNvPr id="11" name="T11"/>
              <p:cNvSpPr txBox="1"/>
              <p:nvPr/>
            </p:nvSpPr>
            <p:spPr>
              <a:xfrm>
                <a:off x="365760" y="86868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1" name="F11"/>
              <p:cNvPicPr/>
              <p:nvPr/>
            </p:nvPicPr>
            <p:blipFill>
              <a:blip r:embed="rId2"/>
              <a:stretch>
                <a:fillRect/>
              </a:stretch>
            </p:blipFill>
            <p:spPr>
              <a:xfrm>
                <a:off x="365760" y="868680"/>
                <a:ext cx="66751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2" name="F12"/>
              <p:cNvPicPr/>
              <p:nvPr/>
            </p:nvPicPr>
            <p:blipFill>
              <a:blip r:embed="rId3"/>
              <a:stretch>
                <a:fillRect/>
              </a:stretch>
            </p:blipFill>
            <p:spPr>
              <a:xfrm>
                <a:off x="365760" y="1737360"/>
                <a:ext cx="66751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06040"/>
                <a:ext cx="7955280" cy="59436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代回：</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3" name="F13"/>
              <p:cNvPicPr/>
              <p:nvPr/>
            </p:nvPicPr>
            <p:blipFill>
              <a:blip r:embed="rId4"/>
              <a:stretch>
                <a:fillRect/>
              </a:stretch>
            </p:blipFill>
            <p:spPr>
              <a:xfrm>
                <a:off x="365760" y="2606040"/>
                <a:ext cx="795528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200400"/>
                <a:ext cx="6675120" cy="59436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5"/>
              <a:stretch>
                <a:fillRect/>
              </a:stretch>
            </p:blipFill>
            <p:spPr>
              <a:xfrm>
                <a:off x="365760" y="3200400"/>
                <a:ext cx="6675120" cy="594360"/>
              </a:xfrm>
              <a:prstGeom prst="rect">
                <a:avLst/>
              </a:prstGeom>
              <a:noFill/>
              <a:ln>
                <a:noFill/>
              </a:ln>
            </p:spPr>
          </p:pic>
        </mc:Fallback>
      </mc:AlternateContent>
      <p:sp>
        <p:nvSpPr>
          <p:cNvPr id="15" name="T15"/>
          <p:cNvSpPr txBox="1"/>
          <p:nvPr/>
        </p:nvSpPr>
        <p:spPr>
          <a:xfrm>
            <a:off x="7178040" y="3200400"/>
            <a:ext cx="1188720" cy="59436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(2-16)</a:t>
            </a:r>
            <a:endParaRPr lang="zh-TW" sz="2400"/>
          </a:p>
        </p:txBody>
      </p:sp>
      <p:sp>
        <p:nvSpPr>
          <p:cNvPr id="16" name="T16"/>
          <p:cNvSpPr txBox="1"/>
          <p:nvPr/>
        </p:nvSpPr>
        <p:spPr>
          <a:xfrm>
            <a:off x="365760" y="3977640"/>
            <a:ext cx="795528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eᵣ 項放一起、eθ 項放一起；兩個 ṙθ̇eθ 合成 2ṙθ̇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加速度分量 → 式 (2-17)</a:t>
            </a:r>
          </a:p>
        </p:txBody>
      </p:sp>
      <mc:AlternateContent xmlns:mc="http://schemas.openxmlformats.org/markup-compatibility/2006" xmlns:a14="http://schemas.microsoft.com/office/drawing/2010/main">
        <mc:Choice Requires="a14">
          <p:sp>
            <p:nvSpPr>
              <p:cNvPr id="11" name="T11"/>
              <p:cNvSpPr txBox="1"/>
              <p:nvPr/>
            </p:nvSpPr>
            <p:spPr>
              <a:xfrm>
                <a:off x="365760" y="868680"/>
                <a:ext cx="475488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1" name="F11"/>
              <p:cNvPicPr/>
              <p:nvPr/>
            </p:nvPicPr>
            <p:blipFill>
              <a:blip r:embed="rId2"/>
              <a:stretch>
                <a:fillRect/>
              </a:stretch>
            </p:blipFill>
            <p:spPr>
              <a:xfrm>
                <a:off x="365760" y="868680"/>
                <a:ext cx="47548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75488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𝑎</m:t>
                          </m:r>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sSup>
                        <m:sSupPr>
                          <m:ctrlPr>
                            <a:rPr lang="en-US" altLang="zh-TW" sz="2400" b="0" i="1">
                              <a:solidFill>
                                <a:srgbClr val="1F8899"/>
                              </a:solidFill>
                              <a:latin typeface="Cambria Math" panose="02040503050406030204" pitchFamily="18" charset="0"/>
                              <a:ea typeface="Cambria Math"/>
                            </a:rPr>
                          </m:ctrlPr>
                        </m:sSup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e>
                        <m:sup>
                          <m:r>
                            <a:rPr lang="en-US" altLang="zh-TW" sz="2400" b="0" i="0">
                              <a:solidFill>
                                <a:srgbClr val="1F8899"/>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417320"/>
                <a:ext cx="4754880" cy="548640"/>
              </a:xfrm>
              <a:prstGeom prst="rect">
                <a:avLst/>
              </a:prstGeom>
              <a:noFill/>
              <a:ln>
                <a:noFill/>
              </a:ln>
            </p:spPr>
          </p:pic>
        </mc:Fallback>
      </mc:AlternateContent>
      <p:sp>
        <p:nvSpPr>
          <p:cNvPr id="13" name="T13"/>
          <p:cNvSpPr txBox="1"/>
          <p:nvPr/>
        </p:nvSpPr>
        <p:spPr>
          <a:xfrm>
            <a:off x="7178040" y="1417320"/>
            <a:ext cx="1188720" cy="54864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(2-17)</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1965960"/>
                <a:ext cx="475488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𝑎</m:t>
                          </m:r>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4"/>
              <a:stretch>
                <a:fillRect/>
              </a:stretch>
            </p:blipFill>
            <p:spPr>
              <a:xfrm>
                <a:off x="365760" y="1965960"/>
                <a:ext cx="47548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2743200"/>
                <a:ext cx="4754880" cy="1920240"/>
              </a:xfrm>
              <a:prstGeom prst="roundRect">
                <a:avLst/>
              </a:prstGeom>
              <a:solidFill>
                <a:srgbClr val="FDECF4"/>
              </a:solidFill>
              <a:ln w="19050">
                <a:solidFill>
                  <a:srgbClr val="C0392B"/>
                </a:solidFill>
              </a:ln>
            </p:spPr>
            <p:txBody>
              <a:bodyPr wrap="square" lIns="109728" tIns="54864" rIns="109728" bIns="54864" anchor="ctr">
                <a:noAutofit/>
              </a:bodyPr>
              <a:lstStyle/>
              <a:p>
                <a:pPr algn="l">
                  <a:lnSpc>
                    <a:spcPct val="100000"/>
                  </a:lnSpc>
                  <a:buNone/>
                </a:pPr>
                <a:r>
                  <a:rPr lang="zh-TW" altLang="en-US" sz="2400" b="1" dirty="0">
                    <a:solidFill>
                      <a:srgbClr val="C0392B"/>
                    </a:solidFill>
                    <a:latin typeface="Calibri"/>
                    <a:ea typeface="微軟正黑體"/>
                    <a:cs typeface="Calibri"/>
                  </a:rPr>
                  <a:t>注意：</a:t>
                </a:r>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oMath>
                  </m:oMathPara>
                </a14:m>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5" name="F15"/>
              <p:cNvPicPr/>
              <p:nvPr/>
            </p:nvPicPr>
            <p:blipFill>
              <a:blip r:embed="rId5"/>
              <a:stretch>
                <a:fillRect/>
              </a:stretch>
            </p:blipFill>
            <p:spPr>
              <a:xfrm>
                <a:off x="365760" y="2743200"/>
                <a:ext cx="4754880" cy="1920240"/>
              </a:xfrm>
              <a:prstGeom prst="roundRect">
                <a:avLst/>
              </a:prstGeom>
              <a:solidFill>
                <a:srgbClr val="FDECF4"/>
              </a:solidFill>
              <a:ln w="19050">
                <a:solidFill>
                  <a:srgbClr val="C0392B"/>
                </a:solidFill>
              </a:ln>
            </p:spPr>
          </p:pic>
        </mc:Fallback>
      </mc:AlternateContent>
      <p:cxnSp>
        <p:nvCxnSpPr>
          <p:cNvPr id="16" name="L16"/>
          <p:cNvCxnSpPr/>
          <p:nvPr/>
        </p:nvCxnSpPr>
        <p:spPr>
          <a:xfrm>
            <a:off x="5166360" y="4069080"/>
            <a:ext cx="2423160" cy="0"/>
          </a:xfrm>
          <a:prstGeom prst="line">
            <a:avLst/>
          </a:prstGeom>
          <a:ln w="12700">
            <a:solidFill>
              <a:srgbClr val="8A8F9C"/>
            </a:solidFill>
            <a:prstDash val="dash"/>
          </a:ln>
        </p:spPr>
      </p:cxnSp>
      <p:sp>
        <p:nvSpPr>
          <p:cNvPr id="17" name="S17"/>
          <p:cNvSpPr/>
          <p:nvPr/>
        </p:nvSpPr>
        <p:spPr>
          <a:xfrm>
            <a:off x="5257800" y="4023360"/>
            <a:ext cx="91440" cy="91440"/>
          </a:xfrm>
          <a:prstGeom prst="ellipse">
            <a:avLst/>
          </a:prstGeom>
          <a:solidFill>
            <a:srgbClr val="2B3050"/>
          </a:solidFill>
          <a:ln>
            <a:noFill/>
          </a:ln>
        </p:spPr>
        <p:txBody>
          <a:bodyPr/>
          <a:lstStyle/>
          <a:p>
            <a:endParaRPr lang="zh-TW" altLang="en-US"/>
          </a:p>
        </p:txBody>
      </p:sp>
      <p:sp>
        <p:nvSpPr>
          <p:cNvPr id="18" name="T18"/>
          <p:cNvSpPr txBox="1"/>
          <p:nvPr/>
        </p:nvSpPr>
        <p:spPr>
          <a:xfrm>
            <a:off x="4937760" y="3959352"/>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9" name="P19"/>
          <p:cNvSpPr/>
          <p:nvPr/>
        </p:nvSpPr>
        <p:spPr>
          <a:xfrm>
            <a:off x="5658831" y="3781355"/>
            <a:ext cx="101889" cy="287725"/>
          </a:xfrm>
          <a:custGeom>
            <a:avLst/>
            <a:gdLst/>
            <a:ahLst/>
            <a:cxnLst/>
            <a:rect l="0" t="0" r="r" b="b"/>
            <a:pathLst>
              <a:path w="101889" h="287725">
                <a:moveTo>
                  <a:pt x="101889" y="287725"/>
                </a:moveTo>
                <a:lnTo>
                  <a:pt x="101262" y="263797"/>
                </a:lnTo>
                <a:lnTo>
                  <a:pt x="99384" y="239935"/>
                </a:lnTo>
                <a:lnTo>
                  <a:pt x="96260" y="216203"/>
                </a:lnTo>
                <a:lnTo>
                  <a:pt x="91898" y="192668"/>
                </a:lnTo>
                <a:lnTo>
                  <a:pt x="86310" y="169393"/>
                </a:lnTo>
                <a:lnTo>
                  <a:pt x="79512" y="146443"/>
                </a:lnTo>
                <a:lnTo>
                  <a:pt x="71522" y="123879"/>
                </a:lnTo>
                <a:lnTo>
                  <a:pt x="62362" y="101765"/>
                </a:lnTo>
                <a:lnTo>
                  <a:pt x="52057" y="80161"/>
                </a:lnTo>
                <a:lnTo>
                  <a:pt x="40636" y="59125"/>
                </a:lnTo>
                <a:lnTo>
                  <a:pt x="28129" y="38716"/>
                </a:lnTo>
                <a:lnTo>
                  <a:pt x="14571" y="18990"/>
                </a:lnTo>
                <a:lnTo>
                  <a:pt x="0" y="0"/>
                </a:lnTo>
              </a:path>
            </a:pathLst>
          </a:custGeom>
          <a:noFill/>
          <a:ln w="15875">
            <a:solidFill>
              <a:srgbClr val="8A8F9C"/>
            </a:solidFill>
            <a:tailEnd type="triangle"/>
          </a:ln>
        </p:spPr>
        <p:txBody>
          <a:bodyPr/>
          <a:lstStyle/>
          <a:p>
            <a:endParaRPr lang="zh-TW" altLang="en-US"/>
          </a:p>
        </p:txBody>
      </p:sp>
      <p:sp>
        <p:nvSpPr>
          <p:cNvPr id="20" name="T20"/>
          <p:cNvSpPr txBox="1"/>
          <p:nvPr/>
        </p:nvSpPr>
        <p:spPr>
          <a:xfrm>
            <a:off x="5806440" y="361188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1" name="P21"/>
          <p:cNvSpPr/>
          <p:nvPr/>
        </p:nvSpPr>
        <p:spPr>
          <a:xfrm>
            <a:off x="5998257" y="2160307"/>
            <a:ext cx="753722" cy="1955046"/>
          </a:xfrm>
          <a:custGeom>
            <a:avLst/>
            <a:gdLst/>
            <a:ahLst/>
            <a:cxnLst/>
            <a:rect l="0" t="0" r="r" b="b"/>
            <a:pathLst>
              <a:path w="753722" h="1955046">
                <a:moveTo>
                  <a:pt x="630336" y="1955046"/>
                </a:moveTo>
                <a:lnTo>
                  <a:pt x="650738" y="1908773"/>
                </a:lnTo>
                <a:lnTo>
                  <a:pt x="669500" y="1861133"/>
                </a:lnTo>
                <a:lnTo>
                  <a:pt x="686553" y="1812184"/>
                </a:lnTo>
                <a:lnTo>
                  <a:pt x="701828" y="1761989"/>
                </a:lnTo>
                <a:lnTo>
                  <a:pt x="715258" y="1710612"/>
                </a:lnTo>
                <a:lnTo>
                  <a:pt x="726780" y="1658122"/>
                </a:lnTo>
                <a:lnTo>
                  <a:pt x="736332" y="1604590"/>
                </a:lnTo>
                <a:lnTo>
                  <a:pt x="743857" y="1550092"/>
                </a:lnTo>
                <a:lnTo>
                  <a:pt x="749298" y="1494703"/>
                </a:lnTo>
                <a:lnTo>
                  <a:pt x="752603" y="1438504"/>
                </a:lnTo>
                <a:lnTo>
                  <a:pt x="753722" y="1381578"/>
                </a:lnTo>
                <a:lnTo>
                  <a:pt x="752608" y="1324008"/>
                </a:lnTo>
                <a:lnTo>
                  <a:pt x="749218" y="1265883"/>
                </a:lnTo>
                <a:lnTo>
                  <a:pt x="743514" y="1207292"/>
                </a:lnTo>
                <a:lnTo>
                  <a:pt x="735457" y="1148326"/>
                </a:lnTo>
                <a:lnTo>
                  <a:pt x="725015" y="1089079"/>
                </a:lnTo>
                <a:lnTo>
                  <a:pt x="712161" y="1029646"/>
                </a:lnTo>
                <a:lnTo>
                  <a:pt x="696867" y="970125"/>
                </a:lnTo>
                <a:lnTo>
                  <a:pt x="679113" y="910613"/>
                </a:lnTo>
                <a:lnTo>
                  <a:pt x="658881" y="851211"/>
                </a:lnTo>
                <a:lnTo>
                  <a:pt x="636158" y="792020"/>
                </a:lnTo>
                <a:lnTo>
                  <a:pt x="610935" y="733142"/>
                </a:lnTo>
                <a:lnTo>
                  <a:pt x="583205" y="674679"/>
                </a:lnTo>
                <a:lnTo>
                  <a:pt x="552969" y="616736"/>
                </a:lnTo>
                <a:lnTo>
                  <a:pt x="520229" y="559418"/>
                </a:lnTo>
                <a:lnTo>
                  <a:pt x="484992" y="502828"/>
                </a:lnTo>
                <a:lnTo>
                  <a:pt x="447270" y="447072"/>
                </a:lnTo>
                <a:lnTo>
                  <a:pt x="407078" y="392255"/>
                </a:lnTo>
                <a:lnTo>
                  <a:pt x="364439" y="338482"/>
                </a:lnTo>
                <a:lnTo>
                  <a:pt x="319374" y="285857"/>
                </a:lnTo>
                <a:lnTo>
                  <a:pt x="271915" y="234484"/>
                </a:lnTo>
                <a:lnTo>
                  <a:pt x="222093" y="184468"/>
                </a:lnTo>
                <a:lnTo>
                  <a:pt x="169947" y="135910"/>
                </a:lnTo>
                <a:lnTo>
                  <a:pt x="115518" y="88913"/>
                </a:lnTo>
                <a:lnTo>
                  <a:pt x="58852" y="43576"/>
                </a:lnTo>
                <a:lnTo>
                  <a:pt x="0" y="0"/>
                </a:lnTo>
              </a:path>
            </a:pathLst>
          </a:custGeom>
          <a:noFill/>
          <a:ln w="19050">
            <a:solidFill>
              <a:srgbClr val="8A8F9C"/>
            </a:solidFill>
            <a:prstDash val="dash"/>
            <a:tailEnd type="triangle"/>
          </a:ln>
        </p:spPr>
        <p:txBody>
          <a:bodyPr/>
          <a:lstStyle/>
          <a:p>
            <a:endParaRPr lang="zh-TW" altLang="en-US"/>
          </a:p>
        </p:txBody>
      </p:sp>
      <p:cxnSp>
        <p:nvCxnSpPr>
          <p:cNvPr id="22" name="L22"/>
          <p:cNvCxnSpPr/>
          <p:nvPr/>
        </p:nvCxnSpPr>
        <p:spPr>
          <a:xfrm flipV="1">
            <a:off x="5303520" y="2952327"/>
            <a:ext cx="1330895" cy="1116753"/>
          </a:xfrm>
          <a:prstGeom prst="line">
            <a:avLst/>
          </a:prstGeom>
          <a:ln w="25400">
            <a:solidFill>
              <a:srgbClr val="2B3050"/>
            </a:solidFill>
          </a:ln>
        </p:spPr>
      </p:cxnSp>
      <p:sp>
        <p:nvSpPr>
          <p:cNvPr id="23" name="S23"/>
          <p:cNvSpPr/>
          <p:nvPr/>
        </p:nvSpPr>
        <p:spPr>
          <a:xfrm>
            <a:off x="6546296" y="4033057"/>
            <a:ext cx="164592" cy="164592"/>
          </a:xfrm>
          <a:prstGeom prst="ellipse">
            <a:avLst/>
          </a:prstGeom>
          <a:solidFill>
            <a:srgbClr val="2B3050"/>
          </a:solidFill>
          <a:ln>
            <a:noFill/>
          </a:ln>
        </p:spPr>
        <p:txBody>
          <a:bodyPr/>
          <a:lstStyle/>
          <a:p>
            <a:endParaRPr lang="zh-TW" altLang="en-US"/>
          </a:p>
        </p:txBody>
      </p:sp>
      <p:sp>
        <p:nvSpPr>
          <p:cNvPr id="24" name="T24"/>
          <p:cNvSpPr txBox="1"/>
          <p:nvPr/>
        </p:nvSpPr>
        <p:spPr>
          <a:xfrm>
            <a:off x="6689279" y="2513415"/>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cxnSp>
        <p:nvCxnSpPr>
          <p:cNvPr id="25" name="L25"/>
          <p:cNvCxnSpPr/>
          <p:nvPr/>
        </p:nvCxnSpPr>
        <p:spPr>
          <a:xfrm flipH="1">
            <a:off x="6074038" y="2952327"/>
            <a:ext cx="560377" cy="470212"/>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6" name="T26"/>
              <p:cNvSpPr txBox="1"/>
              <p:nvPr/>
            </p:nvSpPr>
            <p:spPr>
              <a:xfrm>
                <a:off x="5948615" y="3272367"/>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𝑎</m:t>
                          </m:r>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6" name="F26"/>
              <p:cNvPicPr/>
              <p:nvPr/>
            </p:nvPicPr>
            <p:blipFill>
              <a:blip r:embed="rId6"/>
              <a:stretch>
                <a:fillRect/>
              </a:stretch>
            </p:blipFill>
            <p:spPr>
              <a:xfrm>
                <a:off x="5948615" y="3272367"/>
                <a:ext cx="731520" cy="384048"/>
              </a:xfrm>
              <a:prstGeom prst="rect">
                <a:avLst/>
              </a:prstGeom>
              <a:noFill/>
              <a:ln>
                <a:noFill/>
              </a:ln>
            </p:spPr>
          </p:pic>
        </mc:Fallback>
      </mc:AlternateContent>
      <p:cxnSp>
        <p:nvCxnSpPr>
          <p:cNvPr id="27" name="L27"/>
          <p:cNvCxnSpPr/>
          <p:nvPr/>
        </p:nvCxnSpPr>
        <p:spPr>
          <a:xfrm>
            <a:off x="6105426" y="2321903"/>
            <a:ext cx="528988" cy="630424"/>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8" name="T28"/>
              <p:cNvSpPr txBox="1"/>
              <p:nvPr/>
            </p:nvSpPr>
            <p:spPr>
              <a:xfrm>
                <a:off x="5511066" y="2093303"/>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𝑎</m:t>
                          </m:r>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8" name="F28"/>
              <p:cNvPicPr/>
              <p:nvPr/>
            </p:nvPicPr>
            <p:blipFill>
              <a:blip r:embed="rId7"/>
              <a:stretch>
                <a:fillRect/>
              </a:stretch>
            </p:blipFill>
            <p:spPr>
              <a:xfrm>
                <a:off x="5511066" y="2093303"/>
                <a:ext cx="731520" cy="384048"/>
              </a:xfrm>
              <a:prstGeom prst="rect">
                <a:avLst/>
              </a:prstGeom>
              <a:noFill/>
              <a:ln>
                <a:noFill/>
              </a:ln>
            </p:spPr>
          </p:pic>
        </mc:Fallback>
      </mc:AlternateContent>
      <p:cxnSp>
        <p:nvCxnSpPr>
          <p:cNvPr id="29" name="L29"/>
          <p:cNvCxnSpPr/>
          <p:nvPr/>
        </p:nvCxnSpPr>
        <p:spPr>
          <a:xfrm>
            <a:off x="5545050" y="2792115"/>
            <a:ext cx="1089365" cy="160212"/>
          </a:xfrm>
          <a:prstGeom prst="line">
            <a:avLst/>
          </a:prstGeom>
          <a:ln w="38100">
            <a:solidFill>
              <a:srgbClr val="C8901F"/>
            </a:solidFill>
            <a:headEnd type="triangle" w="med" len="med"/>
          </a:ln>
        </p:spPr>
      </p:cxnSp>
      <mc:AlternateContent xmlns:mc="http://schemas.openxmlformats.org/markup-compatibility/2006" xmlns:a14="http://schemas.microsoft.com/office/drawing/2010/main">
        <mc:Choice Requires="a14">
          <p:sp>
            <p:nvSpPr>
              <p:cNvPr id="30" name="T30"/>
              <p:cNvSpPr txBox="1"/>
              <p:nvPr/>
            </p:nvSpPr>
            <p:spPr>
              <a:xfrm>
                <a:off x="5133570" y="2609235"/>
                <a:ext cx="45720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𝑎</m:t>
                          </m:r>
                        </m:e>
                      </m:acc>
                    </m:oMath>
                  </m:oMathPara>
                </a14:m>
                <a:endParaRPr lang="zh-TW" sz="2400"/>
              </a:p>
            </p:txBody>
          </p:sp>
        </mc:Choice>
        <mc:Fallback xmlns="">
          <p:pic>
            <p:nvPicPr>
              <p:cNvPr id="30" name="F30"/>
              <p:cNvPicPr/>
              <p:nvPr/>
            </p:nvPicPr>
            <p:blipFill>
              <a:blip r:embed="rId8"/>
              <a:stretch>
                <a:fillRect/>
              </a:stretch>
            </p:blipFill>
            <p:spPr>
              <a:xfrm>
                <a:off x="5133570" y="2609235"/>
                <a:ext cx="457200" cy="384048"/>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0" presetClass="path" presetSubtype="0" fill="hold" grpId="1" nodeType="withEffect">
                                  <p:stCondLst>
                                    <p:cond delay="0"/>
                                  </p:stCondLst>
                                  <p:childTnLst>
                                    <p:animMotion origin="layout" path="M 0 0 L 0.00000 0.00000 L 0.00223 -0.00900 L 0.00428 -0.01826 L 0.00615 -0.02778 L 0.00782 -0.03753 L 0.00929 -0.04752 L 0.01055 -0.05773 L 0.01159 -0.06814 L 0.01241 -0.07873 L 0.01301 -0.08950 L 0.01337 -0.10043 L 0.01349 -0.11149 L 0.01337 -0.12269 L 0.01300 -0.13399 L 0.01238 -0.14538 L 0.01150 -0.15684 L 0.01035 -0.16836 L 0.00895 -0.17992 L 0.00728 -0.19149 L 0.00533 -0.20306 L 0.00312 -0.21461 L 0.00064 -0.22612 E" pathEditMode="relative" ptsTypes="">
                                      <p:cBhvr>
                                        <p:cTn id="44" dur="1500" fill="hold"/>
                                        <p:tgtEl>
                                          <p:spTgt spid="23"/>
                                        </p:tgtEl>
                                        <p:attrNameLst>
                                          <p:attrName>ppt_x</p:attrName>
                                          <p:attrName>ppt_y</p:attrName>
                                        </p:attrNameLst>
                                      </p:cBhvr>
                                    </p:animMotion>
                                  </p:childTnLst>
                                </p:cTn>
                              </p:par>
                              <p:par>
                                <p:cTn id="45" presetID="10" presetClass="entr" presetSubtype="0" fill="hold" grpId="0" nodeType="withEffect">
                                  <p:stCondLst>
                                    <p:cond delay="150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9" grpId="0" animBg="1"/>
      <p:bldP spid="20" grpId="0" animBg="1"/>
      <p:bldP spid="21" grpId="0" animBg="1"/>
      <p:bldP spid="22" grpId="0" animBg="1"/>
      <p:bldP spid="23" grpId="0" animBg="1"/>
      <p:bldP spid="23" grpId="1" animBg="1"/>
      <p:bldP spid="24" grpId="0" animBg="1"/>
      <p:bldP spid="25" grpId="0" animBg="1"/>
      <p:bldP spid="26" grpId="0" animBg="1"/>
      <p:bldP spid="27" grpId="0" animBg="1"/>
      <p:bldP spid="28" grpId="0" animBg="1"/>
      <p:bldP spid="29" grpId="0" animBg="1"/>
      <p:bldP spid="3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速度與加速度的大小</a:t>
            </a:r>
          </a:p>
        </p:txBody>
      </p:sp>
      <p:sp>
        <p:nvSpPr>
          <p:cNvPr id="11" name="T11"/>
          <p:cNvSpPr txBox="1"/>
          <p:nvPr/>
        </p:nvSpPr>
        <p:spPr>
          <a:xfrm>
            <a:off x="365760" y="868680"/>
            <a:ext cx="6675120" cy="411480"/>
          </a:xfrm>
          <a:prstGeom prst="rect">
            <a:avLst/>
          </a:prstGeom>
          <a:noFill/>
          <a:ln>
            <a:noFill/>
          </a:ln>
        </p:spPr>
        <p:txBody>
          <a:bodyPr wrap="square" lIns="54864" tIns="27432" rIns="54864" bIns="27432" anchor="ctr">
            <a:noAutofit/>
          </a:bodyPr>
          <a:lstStyle/>
          <a:p>
            <a:pPr algn="l">
              <a:lnSpc>
                <a:spcPct val="100000"/>
              </a:lnSpc>
              <a:buNone/>
            </a:pPr>
            <a:r>
              <a:rPr lang="zh-TW" altLang="en-US" sz="2400" b="1" dirty="0">
                <a:solidFill>
                  <a:srgbClr val="2B3050"/>
                </a:solidFill>
                <a:latin typeface="Calibri"/>
                <a:ea typeface="微軟正黑體"/>
                <a:cs typeface="Calibri"/>
              </a:rPr>
              <a:t>速度的大小：</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280160"/>
                <a:ext cx="7955280" cy="6400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𝑣</m:t>
                      </m:r>
                      <m:r>
                        <a:rPr lang="en-US" altLang="zh-TW" sz="2400" b="0" i="0">
                          <a:solidFill>
                            <a:srgbClr val="1F8899"/>
                          </a:solidFill>
                          <a:latin typeface="Cambria Math" panose="02040503050406030204" pitchFamily="18" charset="0"/>
                          <a:ea typeface="Cambria Math"/>
                        </a:rPr>
                        <m:t> = </m:t>
                      </m:r>
                      <m:rad>
                        <m:radPr>
                          <m:degHide m:val="on"/>
                          <m:ctrlPr>
                            <a:rPr lang="en-US" altLang="zh-TW" sz="2400" b="0" i="1">
                              <a:solidFill>
                                <a:srgbClr val="1F8899"/>
                              </a:solidFill>
                              <a:latin typeface="Cambria Math" panose="02040503050406030204" pitchFamily="18" charset="0"/>
                              <a:ea typeface="Cambria Math"/>
                            </a:rPr>
                          </m:ctrlPr>
                        </m:radPr>
                        <m:deg/>
                        <m:e>
                          <m:sSup>
                            <m:sSupPr>
                              <m:ctrlPr>
                                <a:rPr lang="en-US" altLang="zh-TW" sz="2400" b="0" i="1">
                                  <a:solidFill>
                                    <a:srgbClr val="1F8899"/>
                                  </a:solidFill>
                                  <a:latin typeface="Cambria Math" panose="02040503050406030204" pitchFamily="18" charset="0"/>
                                  <a:ea typeface="Cambria Math"/>
                                </a:rPr>
                              </m:ctrlPr>
                            </m:sSupPr>
                            <m:e>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𝑟</m:t>
                                  </m:r>
                                </m:sub>
                              </m:sSub>
                            </m:e>
                            <m:sup>
                              <m:r>
                                <a:rPr lang="en-US" altLang="zh-TW" sz="2400" b="0" i="0">
                                  <a:solidFill>
                                    <a:srgbClr val="1F8899"/>
                                  </a:solidFill>
                                  <a:latin typeface="Cambria Math" panose="02040503050406030204" pitchFamily="18" charset="0"/>
                                  <a:ea typeface="Cambria Math"/>
                                </a:rPr>
                                <m:t>2</m:t>
                              </m:r>
                            </m:sup>
                          </m:sSup>
                          <m:r>
                            <a:rPr lang="en-US" altLang="zh-TW" sz="2400" b="0" i="0">
                              <a:solidFill>
                                <a:srgbClr val="1F8899"/>
                              </a:solidFill>
                              <a:latin typeface="Cambria Math" panose="02040503050406030204" pitchFamily="18" charset="0"/>
                              <a:ea typeface="Cambria Math"/>
                            </a:rPr>
                            <m:t> + </m:t>
                          </m:r>
                          <m:sSup>
                            <m:sSupPr>
                              <m:ctrlPr>
                                <a:rPr lang="en-US" altLang="zh-TW" sz="2400" b="0" i="1">
                                  <a:solidFill>
                                    <a:srgbClr val="1F8899"/>
                                  </a:solidFill>
                                  <a:latin typeface="Cambria Math" panose="02040503050406030204" pitchFamily="18" charset="0"/>
                                  <a:ea typeface="Cambria Math"/>
                                </a:rPr>
                              </m:ctrlPr>
                            </m:sSupPr>
                            <m:e>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𝜃</m:t>
                                  </m:r>
                                </m:sub>
                              </m:sSub>
                            </m:e>
                            <m:sup>
                              <m:r>
                                <a:rPr lang="en-US" altLang="zh-TW" sz="2400" b="0" i="0">
                                  <a:solidFill>
                                    <a:srgbClr val="1F8899"/>
                                  </a:solidFill>
                                  <a:latin typeface="Cambria Math" panose="02040503050406030204" pitchFamily="18" charset="0"/>
                                  <a:ea typeface="Cambria Math"/>
                                </a:rPr>
                                <m:t>2</m:t>
                              </m:r>
                            </m:sup>
                          </m:sSup>
                        </m:e>
                      </m:rad>
                      <m:r>
                        <a:rPr lang="en-US" altLang="zh-TW" sz="2400" b="0" i="0">
                          <a:solidFill>
                            <a:srgbClr val="1F8899"/>
                          </a:solidFill>
                          <a:latin typeface="Cambria Math" panose="02040503050406030204" pitchFamily="18" charset="0"/>
                          <a:ea typeface="Cambria Math"/>
                        </a:rPr>
                        <m:t> = </m:t>
                      </m:r>
                      <m:rad>
                        <m:radPr>
                          <m:degHide m:val="on"/>
                          <m:ctrlPr>
                            <a:rPr lang="en-US" altLang="zh-TW" sz="2400" b="0" i="1">
                              <a:solidFill>
                                <a:srgbClr val="1F8899"/>
                              </a:solidFill>
                              <a:latin typeface="Cambria Math" panose="02040503050406030204" pitchFamily="18" charset="0"/>
                              <a:ea typeface="Cambria Math"/>
                            </a:rPr>
                          </m:ctrlPr>
                        </m:radPr>
                        <m:deg/>
                        <m:e>
                          <m:sSup>
                            <m:sSupPr>
                              <m:ctrlPr>
                                <a:rPr lang="en-US" altLang="zh-TW" sz="2400" b="0" i="1">
                                  <a:solidFill>
                                    <a:srgbClr val="1F8899"/>
                                  </a:solidFill>
                                  <a:latin typeface="Cambria Math" panose="02040503050406030204" pitchFamily="18" charset="0"/>
                                  <a:ea typeface="Cambria Math"/>
                                </a:rPr>
                              </m:ctrlPr>
                            </m:sSup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e>
                            <m:sup>
                              <m:r>
                                <a:rPr lang="en-US" altLang="zh-TW" sz="2400" b="0" i="0">
                                  <a:solidFill>
                                    <a:srgbClr val="1F8899"/>
                                  </a:solidFill>
                                  <a:latin typeface="Cambria Math" panose="02040503050406030204" pitchFamily="18" charset="0"/>
                                  <a:ea typeface="Cambria Math"/>
                                </a:rPr>
                                <m:t>2</m:t>
                              </m:r>
                            </m:sup>
                          </m:sSup>
                          <m:r>
                            <a:rPr lang="en-US" altLang="zh-TW" sz="2400" b="0" i="0">
                              <a:solidFill>
                                <a:srgbClr val="1F8899"/>
                              </a:solidFill>
                              <a:latin typeface="Cambria Math" panose="02040503050406030204" pitchFamily="18" charset="0"/>
                              <a:ea typeface="Cambria Math"/>
                            </a:rPr>
                            <m:t> + </m:t>
                          </m:r>
                          <m:sSup>
                            <m:sSupPr>
                              <m:ctrlPr>
                                <a:rPr lang="en-US" altLang="zh-TW" sz="2400" b="0" i="1">
                                  <a:solidFill>
                                    <a:srgbClr val="1F8899"/>
                                  </a:solidFill>
                                  <a:latin typeface="Cambria Math" panose="02040503050406030204" pitchFamily="18" charset="0"/>
                                  <a:ea typeface="Cambria Math"/>
                                </a:rPr>
                              </m:ctrlPr>
                            </m:sSupPr>
                            <m:e>
                              <m:d>
                                <m:dPr>
                                  <m:ctrlPr>
                                    <a:rPr lang="en-US" altLang="zh-TW" sz="2400" b="0" i="1">
                                      <a:solidFill>
                                        <a:srgbClr val="1F8899"/>
                                      </a:solidFill>
                                      <a:latin typeface="Cambria Math" panose="02040503050406030204" pitchFamily="18" charset="0"/>
                                      <a:ea typeface="Cambria Math"/>
                                    </a:rPr>
                                  </m:ctrlPr>
                                </m:dPr>
                                <m:e>
                                  <m:r>
                                    <a:rPr lang="en-US" altLang="zh-TW" sz="2400" b="0" i="1">
                                      <a:solidFill>
                                        <a:srgbClr val="1F8899"/>
                                      </a:solidFill>
                                      <a:latin typeface="Cambria Math" panose="02040503050406030204" pitchFamily="18" charset="0"/>
                                      <a:ea typeface="Cambria Math"/>
                                    </a:rPr>
                                    <m:t>𝑟</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e>
                              </m:d>
                            </m:e>
                            <m:sup>
                              <m:r>
                                <a:rPr lang="en-US" altLang="zh-TW" sz="2400" b="0" i="0">
                                  <a:solidFill>
                                    <a:srgbClr val="1F8899"/>
                                  </a:solidFill>
                                  <a:latin typeface="Cambria Math" panose="02040503050406030204" pitchFamily="18" charset="0"/>
                                  <a:ea typeface="Cambria Math"/>
                                </a:rPr>
                                <m:t>2</m:t>
                              </m:r>
                            </m:sup>
                          </m:sSup>
                        </m:e>
                      </m:rad>
                    </m:oMath>
                  </m:oMathPara>
                </a14:m>
                <a:endParaRPr lang="zh-TW" sz="2400"/>
              </a:p>
            </p:txBody>
          </p:sp>
        </mc:Choice>
        <mc:Fallback xmlns="">
          <p:pic>
            <p:nvPicPr>
              <p:cNvPr id="12" name="F12"/>
              <p:cNvPicPr/>
              <p:nvPr/>
            </p:nvPicPr>
            <p:blipFill>
              <a:blip r:embed="rId2"/>
              <a:stretch>
                <a:fillRect/>
              </a:stretch>
            </p:blipFill>
            <p:spPr>
              <a:xfrm>
                <a:off x="365760" y="1280160"/>
                <a:ext cx="7955280" cy="640080"/>
              </a:xfrm>
              <a:prstGeom prst="rect">
                <a:avLst/>
              </a:prstGeom>
              <a:noFill/>
              <a:ln>
                <a:noFill/>
              </a:ln>
            </p:spPr>
          </p:pic>
        </mc:Fallback>
      </mc:AlternateContent>
      <p:sp>
        <p:nvSpPr>
          <p:cNvPr id="13" name="T13"/>
          <p:cNvSpPr txBox="1"/>
          <p:nvPr/>
        </p:nvSpPr>
        <p:spPr>
          <a:xfrm>
            <a:off x="365760" y="2057400"/>
            <a:ext cx="6675120" cy="411480"/>
          </a:xfrm>
          <a:prstGeom prst="rect">
            <a:avLst/>
          </a:prstGeom>
          <a:noFill/>
          <a:ln>
            <a:noFill/>
          </a:ln>
        </p:spPr>
        <p:txBody>
          <a:bodyPr wrap="square" lIns="54864" tIns="27432" rIns="54864" bIns="27432" anchor="ctr">
            <a:noAutofit/>
          </a:bodyPr>
          <a:lstStyle/>
          <a:p>
            <a:pPr algn="l">
              <a:lnSpc>
                <a:spcPct val="100000"/>
              </a:lnSpc>
              <a:buNone/>
            </a:pPr>
            <a:r>
              <a:rPr lang="zh-TW" altLang="en-US" sz="2400" b="1" dirty="0">
                <a:solidFill>
                  <a:srgbClr val="2B3050"/>
                </a:solidFill>
                <a:latin typeface="Calibri"/>
                <a:ea typeface="微軟正黑體"/>
                <a:cs typeface="Calibri"/>
              </a:rPr>
              <a:t>加速度的大小：</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468880"/>
                <a:ext cx="7955280" cy="6400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𝑎</m:t>
                      </m:r>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sSup>
                            <m:sSupPr>
                              <m:ctrlPr>
                                <a:rPr lang="en-US" altLang="zh-TW" sz="2400" b="0" i="1">
                                  <a:solidFill>
                                    <a:srgbClr val="D6006F"/>
                                  </a:solidFill>
                                  <a:latin typeface="Cambria Math" panose="02040503050406030204" pitchFamily="18" charset="0"/>
                                  <a:ea typeface="Cambria Math"/>
                                </a:rPr>
                              </m:ctrlPr>
                            </m:sSupPr>
                            <m:e>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𝑎</m:t>
                                  </m:r>
                                </m:e>
                                <m:sub>
                                  <m:r>
                                    <a:rPr lang="en-US" altLang="zh-TW" sz="2400" b="0" i="1">
                                      <a:solidFill>
                                        <a:srgbClr val="D6006F"/>
                                      </a:solidFill>
                                      <a:latin typeface="Cambria Math" panose="02040503050406030204" pitchFamily="18" charset="0"/>
                                      <a:ea typeface="Cambria Math"/>
                                    </a:rPr>
                                    <m:t>𝑟</m:t>
                                  </m:r>
                                </m:sub>
                              </m:sSub>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m:t>
                          </m:r>
                          <m:sSup>
                            <m:sSupPr>
                              <m:ctrlPr>
                                <a:rPr lang="en-US" altLang="zh-TW" sz="2400" b="0" i="1">
                                  <a:solidFill>
                                    <a:srgbClr val="D6006F"/>
                                  </a:solidFill>
                                  <a:latin typeface="Cambria Math" panose="02040503050406030204" pitchFamily="18" charset="0"/>
                                  <a:ea typeface="Cambria Math"/>
                                </a:rPr>
                              </m:ctrlPr>
                            </m:sSupPr>
                            <m:e>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𝑎</m:t>
                                  </m:r>
                                </m:e>
                                <m:sub>
                                  <m:r>
                                    <a:rPr lang="en-US" altLang="zh-TW" sz="2400" b="0" i="1">
                                      <a:solidFill>
                                        <a:srgbClr val="D6006F"/>
                                      </a:solidFill>
                                      <a:latin typeface="Cambria Math" panose="02040503050406030204" pitchFamily="18" charset="0"/>
                                      <a:ea typeface="Cambria Math"/>
                                    </a:rPr>
                                    <m:t>𝜃</m:t>
                                  </m:r>
                                </m:sub>
                              </m:sSub>
                            </m:e>
                            <m:sup>
                              <m:r>
                                <a:rPr lang="en-US" altLang="zh-TW" sz="2400" b="0" i="0">
                                  <a:solidFill>
                                    <a:srgbClr val="D6006F"/>
                                  </a:solidFill>
                                  <a:latin typeface="Cambria Math" panose="02040503050406030204" pitchFamily="18" charset="0"/>
                                  <a:ea typeface="Cambria Math"/>
                                </a:rPr>
                                <m:t>2</m:t>
                              </m:r>
                            </m:sup>
                          </m:sSup>
                        </m:e>
                      </m:rad>
                    </m:oMath>
                  </m:oMathPara>
                </a14:m>
                <a:endParaRPr lang="zh-TW" sz="2400"/>
              </a:p>
            </p:txBody>
          </p:sp>
        </mc:Choice>
        <mc:Fallback xmlns="">
          <p:pic>
            <p:nvPicPr>
              <p:cNvPr id="14" name="F14"/>
              <p:cNvPicPr/>
              <p:nvPr/>
            </p:nvPicPr>
            <p:blipFill>
              <a:blip r:embed="rId3"/>
              <a:stretch>
                <a:fillRect/>
              </a:stretch>
            </p:blipFill>
            <p:spPr>
              <a:xfrm>
                <a:off x="365760" y="2468880"/>
                <a:ext cx="7955280" cy="6400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108960"/>
                <a:ext cx="7955280" cy="6400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sSup>
                            <m:sSupPr>
                              <m:ctrlPr>
                                <a:rPr lang="en-US" altLang="zh-TW" sz="2400" b="0" i="1">
                                  <a:solidFill>
                                    <a:srgbClr val="D6006F"/>
                                  </a:solidFill>
                                  <a:latin typeface="Cambria Math" panose="02040503050406030204" pitchFamily="18" charset="0"/>
                                  <a:ea typeface="Cambria Math"/>
                                </a:rPr>
                              </m:ctrlPr>
                            </m:sSupPr>
                            <m:e>
                              <m:d>
                                <m:dPr>
                                  <m:ctrlPr>
                                    <a:rPr lang="en-US" altLang="zh-TW" sz="2400" b="0" i="1">
                                      <a:solidFill>
                                        <a:srgbClr val="D6006F"/>
                                      </a:solidFill>
                                      <a:latin typeface="Cambria Math" panose="02040503050406030204" pitchFamily="18" charset="0"/>
                                      <a:ea typeface="Cambria Math"/>
                                    </a:rPr>
                                  </m:ctrlPr>
                                </m:d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e>
                              </m:d>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m:t>
                          </m:r>
                          <m:sSup>
                            <m:sSupPr>
                              <m:ctrlPr>
                                <a:rPr lang="en-US" altLang="zh-TW" sz="2400" b="0" i="1">
                                  <a:solidFill>
                                    <a:srgbClr val="D6006F"/>
                                  </a:solidFill>
                                  <a:latin typeface="Cambria Math" panose="02040503050406030204" pitchFamily="18" charset="0"/>
                                  <a:ea typeface="Cambria Math"/>
                                </a:rPr>
                              </m:ctrlPr>
                            </m:sSupPr>
                            <m:e>
                              <m:d>
                                <m:dPr>
                                  <m:ctrlPr>
                                    <a:rPr lang="en-US" altLang="zh-TW" sz="2400" b="0" i="1">
                                      <a:solidFill>
                                        <a:srgbClr val="D6006F"/>
                                      </a:solidFill>
                                      <a:latin typeface="Cambria Math" panose="02040503050406030204" pitchFamily="18" charset="0"/>
                                      <a:ea typeface="Cambria Math"/>
                                    </a:rPr>
                                  </m:ctrlPr>
                                </m:dPr>
                                <m:e>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d>
                            </m:e>
                            <m:sup>
                              <m:r>
                                <a:rPr lang="en-US" altLang="zh-TW" sz="2400" b="0" i="0">
                                  <a:solidFill>
                                    <a:srgbClr val="D6006F"/>
                                  </a:solidFill>
                                  <a:latin typeface="Cambria Math" panose="02040503050406030204" pitchFamily="18" charset="0"/>
                                  <a:ea typeface="Cambria Math"/>
                                </a:rPr>
                                <m:t>2</m:t>
                              </m:r>
                            </m:sup>
                          </m:sSup>
                        </m:e>
                      </m:rad>
                    </m:oMath>
                  </m:oMathPara>
                </a14:m>
                <a:endParaRPr lang="zh-TW" sz="2400"/>
              </a:p>
            </p:txBody>
          </p:sp>
        </mc:Choice>
        <mc:Fallback xmlns="">
          <p:pic>
            <p:nvPicPr>
              <p:cNvPr id="15" name="F15"/>
              <p:cNvPicPr/>
              <p:nvPr/>
            </p:nvPicPr>
            <p:blipFill>
              <a:blip r:embed="rId4"/>
              <a:stretch>
                <a:fillRect/>
              </a:stretch>
            </p:blipFill>
            <p:spPr>
              <a:xfrm>
                <a:off x="365760" y="3108960"/>
                <a:ext cx="7955280" cy="640080"/>
              </a:xfrm>
              <a:prstGeom prst="rect">
                <a:avLst/>
              </a:prstGeom>
              <a:noFill/>
              <a:ln>
                <a:noFill/>
              </a:ln>
            </p:spPr>
          </p:pic>
        </mc:Fallback>
      </mc:AlternateContent>
      <p:sp>
        <p:nvSpPr>
          <p:cNvPr id="16" name="T16"/>
          <p:cNvSpPr txBox="1"/>
          <p:nvPr/>
        </p:nvSpPr>
        <p:spPr>
          <a:xfrm>
            <a:off x="365760" y="3886200"/>
            <a:ext cx="7955280" cy="7772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兩個分量互相垂直 → 用畢氏定理合成</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圓周運動 → 式 (2-18)</a:t>
            </a:r>
          </a:p>
        </p:txBody>
      </p:sp>
      <p:sp>
        <p:nvSpPr>
          <p:cNvPr id="11" name="T11"/>
          <p:cNvSpPr txBox="1"/>
          <p:nvPr/>
        </p:nvSpPr>
        <p:spPr>
          <a:xfrm>
            <a:off x="365760" y="868680"/>
            <a:ext cx="47548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取圓心為極點，半徑固定：</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07592"/>
                <a:ext cx="47548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𝑐</m:t>
                      </m:r>
                      <m:r>
                        <a:rPr lang="en-US" altLang="zh-TW" sz="2400" b="0" i="0">
                          <a:solidFill>
                            <a:srgbClr val="2B3050"/>
                          </a:solidFill>
                          <a:latin typeface="Cambria Math" panose="02040503050406030204" pitchFamily="18" charset="0"/>
                          <a:ea typeface="Cambria Math"/>
                        </a:rPr>
                        <m:t>（常數）→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m:t>
                      </m:r>
                    </m:oMath>
                  </m:oMathPara>
                </a14:m>
                <a:endParaRPr lang="zh-TW" sz="2400"/>
              </a:p>
            </p:txBody>
          </p:sp>
        </mc:Choice>
        <mc:Fallback xmlns="">
          <p:pic>
            <p:nvPicPr>
              <p:cNvPr id="12" name="F12"/>
              <p:cNvPicPr/>
              <p:nvPr/>
            </p:nvPicPr>
            <p:blipFill>
              <a:blip r:embed="rId2"/>
              <a:stretch>
                <a:fillRect/>
              </a:stretch>
            </p:blipFill>
            <p:spPr>
              <a:xfrm>
                <a:off x="365760" y="1307592"/>
                <a:ext cx="47548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874520"/>
                <a:ext cx="475488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𝑟</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𝜃</m:t>
                          </m:r>
                        </m:e>
                      </m:acc>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𝑒</m:t>
                              </m:r>
                            </m:e>
                          </m:acc>
                        </m:e>
                        <m:sub>
                          <m:r>
                            <a:rPr lang="en-US" altLang="zh-TW" sz="2400" b="0" i="1">
                              <a:solidFill>
                                <a:srgbClr val="C8901F"/>
                              </a:solidFill>
                              <a:latin typeface="Cambria Math" panose="02040503050406030204" pitchFamily="18" charset="0"/>
                              <a:ea typeface="Cambria Math"/>
                            </a:rPr>
                            <m:t>𝜃</m:t>
                          </m:r>
                        </m:sub>
                      </m:sSub>
                    </m:oMath>
                  </m:oMathPara>
                </a14:m>
                <a:endParaRPr lang="zh-TW" sz="2400"/>
              </a:p>
            </p:txBody>
          </p:sp>
        </mc:Choice>
        <mc:Fallback xmlns="">
          <p:pic>
            <p:nvPicPr>
              <p:cNvPr id="13" name="F13"/>
              <p:cNvPicPr/>
              <p:nvPr/>
            </p:nvPicPr>
            <p:blipFill>
              <a:blip r:embed="rId3"/>
              <a:stretch>
                <a:fillRect/>
              </a:stretch>
            </p:blipFill>
            <p:spPr>
              <a:xfrm>
                <a:off x="365760" y="1874520"/>
                <a:ext cx="47548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423160"/>
                <a:ext cx="475488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𝑎</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sSup>
                        <m:sSupPr>
                          <m:ctrlPr>
                            <a:rPr lang="en-US" altLang="zh-TW" sz="2400" b="0" i="1">
                              <a:solidFill>
                                <a:srgbClr val="1F8899"/>
                              </a:solidFill>
                              <a:latin typeface="Cambria Math" panose="02040503050406030204" pitchFamily="18" charset="0"/>
                              <a:ea typeface="Cambria Math"/>
                            </a:rPr>
                          </m:ctrlPr>
                        </m:sSup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e>
                        <m:sup>
                          <m:r>
                            <a:rPr lang="en-US" altLang="zh-TW" sz="2400" b="0" i="0">
                              <a:solidFill>
                                <a:srgbClr val="1F8899"/>
                              </a:solidFill>
                              <a:latin typeface="Cambria Math" panose="02040503050406030204" pitchFamily="18" charset="0"/>
                              <a:ea typeface="Cambria Math"/>
                            </a:rPr>
                            <m:t>2</m:t>
                          </m:r>
                        </m:sup>
                      </m:sSup>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4"/>
              <a:stretch>
                <a:fillRect/>
              </a:stretch>
            </p:blipFill>
            <p:spPr>
              <a:xfrm>
                <a:off x="365760" y="2423160"/>
                <a:ext cx="4754880" cy="548640"/>
              </a:xfrm>
              <a:prstGeom prst="rect">
                <a:avLst/>
              </a:prstGeom>
              <a:noFill/>
              <a:ln>
                <a:noFill/>
              </a:ln>
            </p:spPr>
          </p:pic>
        </mc:Fallback>
      </mc:AlternateContent>
      <p:sp>
        <p:nvSpPr>
          <p:cNvPr id="15" name="T15"/>
          <p:cNvSpPr txBox="1"/>
          <p:nvPr/>
        </p:nvSpPr>
        <p:spPr>
          <a:xfrm>
            <a:off x="7178040" y="1874520"/>
            <a:ext cx="1188720" cy="109728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(2-18)</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365760" y="3154680"/>
                <a:ext cx="4754880" cy="150876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14:m>
                  <m:oMath xmlns:m="http://schemas.openxmlformats.org/officeDocument/2006/math">
                    <m:r>
                      <a:rPr lang="en-US" altLang="zh-TW" sz="2400" b="0" i="1">
                        <a:solidFill>
                          <a:srgbClr val="2B3050"/>
                        </a:solidFill>
                        <a:latin typeface="Cambria Math" panose="02040503050406030204" pitchFamily="18" charset="0"/>
                        <a:ea typeface="Cambria Math"/>
                      </a:rPr>
                      <m:t>𝜔</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：角速度</a:t>
                </a:r>
                <a:endParaRPr lang="zh-TW" sz="2400"/>
              </a:p>
              <a:p>
                <a:pPr algn="l">
                  <a:lnSpc>
                    <a:spcPct val="100000"/>
                  </a:lnSpc>
                  <a:buNone/>
                </a:pPr>
                <a14:m>
                  <m:oMath xmlns:m="http://schemas.openxmlformats.org/officeDocument/2006/math">
                    <m:r>
                      <a:rPr lang="en-US" altLang="zh-TW" sz="2400" b="0" i="1">
                        <a:solidFill>
                          <a:srgbClr val="2B3050"/>
                        </a:solidFill>
                        <a:latin typeface="Cambria Math" panose="02040503050406030204" pitchFamily="18" charset="0"/>
                        <a:ea typeface="Cambria Math"/>
                      </a:rPr>
                      <m:t>𝛼</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：角加速度</a:t>
                </a:r>
                <a:endParaRPr lang="zh-TW" sz="2400"/>
              </a:p>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r>
                        <a:rPr lang="en-US" altLang="zh-TW" sz="2400" b="0" i="1">
                          <a:solidFill>
                            <a:srgbClr val="2B3050"/>
                          </a:solidFill>
                          <a:latin typeface="Cambria Math" panose="02040503050406030204" pitchFamily="18" charset="0"/>
                          <a:ea typeface="Cambria Math"/>
                        </a:rPr>
                        <m:t>𝜔</m:t>
                      </m:r>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𝜔</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r>
                        <a:rPr lang="en-US" altLang="zh-TW" sz="2400" b="0" i="1">
                          <a:solidFill>
                            <a:srgbClr val="2B3050"/>
                          </a:solidFill>
                          <a:latin typeface="Cambria Math" panose="02040503050406030204" pitchFamily="18" charset="0"/>
                          <a:ea typeface="Cambria Math"/>
                        </a:rPr>
                        <m:t>𝛼</m:t>
                      </m:r>
                    </m:oMath>
                  </m:oMathPara>
                </a14:m>
                <a:endParaRPr lang="zh-TW" sz="2400"/>
              </a:p>
            </p:txBody>
          </p:sp>
        </mc:Choice>
        <mc:Fallback xmlns="">
          <p:pic>
            <p:nvPicPr>
              <p:cNvPr id="16" name="F16"/>
              <p:cNvPicPr/>
              <p:nvPr/>
            </p:nvPicPr>
            <p:blipFill>
              <a:blip r:embed="rId5"/>
              <a:stretch>
                <a:fillRect/>
              </a:stretch>
            </p:blipFill>
            <p:spPr>
              <a:xfrm>
                <a:off x="365760" y="3154680"/>
                <a:ext cx="4754880" cy="1508760"/>
              </a:xfrm>
              <a:prstGeom prst="roundRect">
                <a:avLst/>
              </a:prstGeom>
              <a:solidFill>
                <a:srgbClr val="E8F4F6"/>
              </a:solidFill>
              <a:ln w="19050">
                <a:solidFill>
                  <a:srgbClr val="1F8899"/>
                </a:solidFill>
              </a:ln>
            </p:spPr>
          </p:pic>
        </mc:Fallback>
      </mc:AlternateContent>
      <p:sp>
        <p:nvSpPr>
          <p:cNvPr id="17" name="S17"/>
          <p:cNvSpPr/>
          <p:nvPr/>
        </p:nvSpPr>
        <p:spPr>
          <a:xfrm>
            <a:off x="5806440" y="2788920"/>
            <a:ext cx="1828800" cy="1828800"/>
          </a:xfrm>
          <a:prstGeom prst="ellipse">
            <a:avLst/>
          </a:prstGeom>
          <a:noFill/>
          <a:ln w="15875">
            <a:solidFill>
              <a:srgbClr val="8A8F9C"/>
            </a:solidFill>
            <a:prstDash val="dash"/>
          </a:ln>
        </p:spPr>
        <p:txBody>
          <a:bodyPr/>
          <a:lstStyle/>
          <a:p>
            <a:endParaRPr lang="zh-TW" altLang="en-US"/>
          </a:p>
        </p:txBody>
      </p:sp>
      <p:sp>
        <p:nvSpPr>
          <p:cNvPr id="18" name="S18"/>
          <p:cNvSpPr/>
          <p:nvPr/>
        </p:nvSpPr>
        <p:spPr>
          <a:xfrm>
            <a:off x="6675120" y="3657600"/>
            <a:ext cx="91440" cy="91440"/>
          </a:xfrm>
          <a:prstGeom prst="ellipse">
            <a:avLst/>
          </a:prstGeom>
          <a:solidFill>
            <a:srgbClr val="2B3050"/>
          </a:solidFill>
          <a:ln>
            <a:noFill/>
          </a:ln>
        </p:spPr>
        <p:txBody>
          <a:bodyPr/>
          <a:lstStyle/>
          <a:p>
            <a:endParaRPr lang="zh-TW" altLang="en-US"/>
          </a:p>
        </p:txBody>
      </p:sp>
      <p:cxnSp>
        <p:nvCxnSpPr>
          <p:cNvPr id="19" name="L19"/>
          <p:cNvCxnSpPr/>
          <p:nvPr/>
        </p:nvCxnSpPr>
        <p:spPr>
          <a:xfrm flipV="1">
            <a:off x="6720840" y="2911426"/>
            <a:ext cx="457200" cy="791894"/>
          </a:xfrm>
          <a:prstGeom prst="line">
            <a:avLst/>
          </a:prstGeom>
          <a:ln w="19050">
            <a:solidFill>
              <a:srgbClr val="2B3050"/>
            </a:solidFill>
          </a:ln>
        </p:spPr>
      </p:cxnSp>
      <p:sp>
        <p:nvSpPr>
          <p:cNvPr id="20" name="S20"/>
          <p:cNvSpPr/>
          <p:nvPr/>
        </p:nvSpPr>
        <p:spPr>
          <a:xfrm>
            <a:off x="7104888" y="2838274"/>
            <a:ext cx="146304" cy="146304"/>
          </a:xfrm>
          <a:prstGeom prst="ellipse">
            <a:avLst/>
          </a:prstGeom>
          <a:solidFill>
            <a:srgbClr val="2B3050"/>
          </a:solidFill>
          <a:ln>
            <a:noFill/>
          </a:ln>
        </p:spPr>
        <p:txBody>
          <a:bodyPr/>
          <a:lstStyle/>
          <a:p>
            <a:endParaRPr lang="zh-TW" altLang="en-US"/>
          </a:p>
        </p:txBody>
      </p:sp>
      <p:cxnSp>
        <p:nvCxnSpPr>
          <p:cNvPr id="21" name="L21"/>
          <p:cNvCxnSpPr/>
          <p:nvPr/>
        </p:nvCxnSpPr>
        <p:spPr>
          <a:xfrm>
            <a:off x="6504930" y="2522806"/>
            <a:ext cx="673110" cy="388620"/>
          </a:xfrm>
          <a:prstGeom prst="line">
            <a:avLst/>
          </a:prstGeom>
          <a:ln w="38100">
            <a:solidFill>
              <a:srgbClr val="C8901F"/>
            </a:solidFill>
            <a:headEnd type="triangle" w="med" len="med"/>
          </a:ln>
        </p:spPr>
      </p:cxnSp>
      <mc:AlternateContent xmlns:mc="http://schemas.openxmlformats.org/markup-compatibility/2006" xmlns:a14="http://schemas.microsoft.com/office/drawing/2010/main">
        <mc:Choice Requires="a14">
          <p:sp>
            <p:nvSpPr>
              <p:cNvPr id="22" name="T22"/>
              <p:cNvSpPr txBox="1"/>
              <p:nvPr/>
            </p:nvSpPr>
            <p:spPr>
              <a:xfrm>
                <a:off x="5956290" y="2202766"/>
                <a:ext cx="54864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22" name="F22"/>
              <p:cNvPicPr/>
              <p:nvPr/>
            </p:nvPicPr>
            <p:blipFill>
              <a:blip r:embed="rId6"/>
              <a:stretch>
                <a:fillRect/>
              </a:stretch>
            </p:blipFill>
            <p:spPr>
              <a:xfrm>
                <a:off x="5956290" y="2202766"/>
                <a:ext cx="548640" cy="384048"/>
              </a:xfrm>
              <a:prstGeom prst="rect">
                <a:avLst/>
              </a:prstGeom>
              <a:noFill/>
              <a:ln>
                <a:noFill/>
              </a:ln>
            </p:spPr>
          </p:pic>
        </mc:Fallback>
      </mc:AlternateContent>
      <p:cxnSp>
        <p:nvCxnSpPr>
          <p:cNvPr id="23" name="L23"/>
          <p:cNvCxnSpPr/>
          <p:nvPr/>
        </p:nvCxnSpPr>
        <p:spPr>
          <a:xfrm flipH="1">
            <a:off x="6903720" y="2911426"/>
            <a:ext cx="274320" cy="475136"/>
          </a:xfrm>
          <a:prstGeom prst="line">
            <a:avLst/>
          </a:prstGeom>
          <a:ln w="38100">
            <a:solidFill>
              <a:srgbClr val="1F8899"/>
            </a:solidFill>
            <a:tailEnd type="triangle" w="med" len="med"/>
          </a:ln>
        </p:spPr>
      </p:cxnSp>
      <p:sp>
        <p:nvSpPr>
          <p:cNvPr id="24" name="T24"/>
          <p:cNvSpPr txBox="1"/>
          <p:nvPr/>
        </p:nvSpPr>
        <p:spPr>
          <a:xfrm>
            <a:off x="7040880" y="3291840"/>
            <a:ext cx="8229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rω²</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P spid="21" grpId="0" animBg="1"/>
      <p:bldP spid="22" grpId="0" animBg="1"/>
      <p:bldP spid="23" grpId="0" animBg="1"/>
      <p:bldP spid="2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(2) 圓柱座標：極座標 + z 軸</a:t>
            </a:r>
          </a:p>
        </p:txBody>
      </p:sp>
      <p:sp>
        <p:nvSpPr>
          <p:cNvPr id="11" name="T11"/>
          <p:cNvSpPr txBox="1"/>
          <p:nvPr/>
        </p:nvSpPr>
        <p:spPr>
          <a:xfrm>
            <a:off x="365760" y="868680"/>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z 軸單位向量 = 直角座標的 k</a:t>
            </a:r>
            <a:endParaRPr lang="zh-TW" sz="2400"/>
          </a:p>
        </p:txBody>
      </p:sp>
      <p:sp>
        <p:nvSpPr>
          <p:cNvPr id="12" name="T12"/>
          <p:cNvSpPr txBox="1"/>
          <p:nvPr/>
        </p:nvSpPr>
        <p:spPr>
          <a:xfrm>
            <a:off x="365760" y="1307592"/>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k 大小、方向永遠不變</a:t>
            </a:r>
            <a:endParaRPr lang="zh-TW" sz="2400"/>
          </a:p>
        </p:txBody>
      </p:sp>
      <p:sp>
        <p:nvSpPr>
          <p:cNvPr id="13" name="T13"/>
          <p:cNvSpPr txBox="1"/>
          <p:nvPr/>
        </p:nvSpPr>
        <p:spPr>
          <a:xfrm>
            <a:off x="365760" y="1746504"/>
            <a:ext cx="457200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z 方向就是直線運動</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286000"/>
                <a:ext cx="457200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e>
                        <m:sub>
                          <m:r>
                            <a:rPr lang="en-US" altLang="zh-TW" sz="2400" b="0" i="1">
                              <a:solidFill>
                                <a:srgbClr val="D6006F"/>
                              </a:solidFill>
                              <a:latin typeface="Cambria Math" panose="02040503050406030204" pitchFamily="18" charset="0"/>
                              <a:ea typeface="Cambria Math"/>
                            </a:rPr>
                            <m:t>𝑃</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𝑧</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𝑘</m:t>
                          </m:r>
                        </m:e>
                      </m:acc>
                    </m:oMath>
                  </m:oMathPara>
                </a14:m>
                <a:endParaRPr lang="zh-TW" sz="2400"/>
              </a:p>
            </p:txBody>
          </p:sp>
        </mc:Choice>
        <mc:Fallback xmlns="">
          <p:pic>
            <p:nvPicPr>
              <p:cNvPr id="14" name="F14"/>
              <p:cNvPicPr/>
              <p:nvPr/>
            </p:nvPicPr>
            <p:blipFill>
              <a:blip r:embed="rId2"/>
              <a:stretch>
                <a:fillRect/>
              </a:stretch>
            </p:blipFill>
            <p:spPr>
              <a:xfrm>
                <a:off x="365760" y="2286000"/>
                <a:ext cx="4572000" cy="548640"/>
              </a:xfrm>
              <a:prstGeom prst="rect">
                <a:avLst/>
              </a:prstGeom>
              <a:noFill/>
              <a:ln>
                <a:noFill/>
              </a:ln>
            </p:spPr>
          </p:pic>
        </mc:Fallback>
      </mc:AlternateContent>
      <p:sp>
        <p:nvSpPr>
          <p:cNvPr id="15" name="T15"/>
          <p:cNvSpPr txBox="1"/>
          <p:nvPr/>
        </p:nvSpPr>
        <p:spPr>
          <a:xfrm>
            <a:off x="365760" y="3108960"/>
            <a:ext cx="4572000" cy="150876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水平面：用極座標 r、θ</a:t>
            </a:r>
            <a:endParaRPr lang="zh-TW" sz="2400"/>
          </a:p>
          <a:p>
            <a:pPr algn="l">
              <a:lnSpc>
                <a:spcPct val="100000"/>
              </a:lnSpc>
              <a:buNone/>
            </a:pPr>
            <a:r>
              <a:rPr lang="zh-TW" altLang="en-US" sz="2400" b="0" dirty="0">
                <a:solidFill>
                  <a:srgbClr val="2B3050"/>
                </a:solidFill>
                <a:latin typeface="Calibri"/>
                <a:ea typeface="微軟正黑體"/>
                <a:cs typeface="Calibri"/>
              </a:rPr>
              <a:t>垂直方向：用 z</a:t>
            </a:r>
            <a:endParaRPr lang="zh-TW" sz="2400"/>
          </a:p>
          <a:p>
            <a:pPr algn="l">
              <a:lnSpc>
                <a:spcPct val="100000"/>
              </a:lnSpc>
              <a:buNone/>
            </a:pPr>
            <a:r>
              <a:rPr lang="zh-TW" altLang="en-US" sz="2400" b="0" dirty="0">
                <a:solidFill>
                  <a:srgbClr val="2B3050"/>
                </a:solidFill>
                <a:latin typeface="Calibri"/>
                <a:ea typeface="微軟正黑體"/>
                <a:cs typeface="Calibri"/>
              </a:rPr>
              <a:t>三個方向互相垂直</a:t>
            </a:r>
            <a:endParaRPr lang="zh-TW" sz="2400"/>
          </a:p>
        </p:txBody>
      </p:sp>
      <p:cxnSp>
        <p:nvCxnSpPr>
          <p:cNvPr id="16" name="L16"/>
          <p:cNvCxnSpPr/>
          <p:nvPr/>
        </p:nvCxnSpPr>
        <p:spPr>
          <a:xfrm flipV="1">
            <a:off x="5943600" y="1005840"/>
            <a:ext cx="0" cy="2651760"/>
          </a:xfrm>
          <a:prstGeom prst="line">
            <a:avLst/>
          </a:prstGeom>
          <a:ln w="15875">
            <a:solidFill>
              <a:srgbClr val="2B3050"/>
            </a:solidFill>
            <a:tailEnd type="triangle" w="med" len="med"/>
          </a:ln>
        </p:spPr>
      </p:cxnSp>
      <p:sp>
        <p:nvSpPr>
          <p:cNvPr id="17" name="T17"/>
          <p:cNvSpPr txBox="1"/>
          <p:nvPr/>
        </p:nvSpPr>
        <p:spPr>
          <a:xfrm>
            <a:off x="5989320" y="82296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z</a:t>
            </a:r>
            <a:endParaRPr lang="zh-TW" sz="2400"/>
          </a:p>
        </p:txBody>
      </p:sp>
      <p:cxnSp>
        <p:nvCxnSpPr>
          <p:cNvPr id="18" name="L18"/>
          <p:cNvCxnSpPr/>
          <p:nvPr/>
        </p:nvCxnSpPr>
        <p:spPr>
          <a:xfrm>
            <a:off x="5943600" y="3657600"/>
            <a:ext cx="2286000" cy="0"/>
          </a:xfrm>
          <a:prstGeom prst="line">
            <a:avLst/>
          </a:prstGeom>
          <a:ln w="15875">
            <a:solidFill>
              <a:srgbClr val="2B3050"/>
            </a:solidFill>
            <a:tailEnd type="triangle" w="med" len="med"/>
          </a:ln>
        </p:spPr>
      </p:cxnSp>
      <p:sp>
        <p:nvSpPr>
          <p:cNvPr id="19" name="T19"/>
          <p:cNvSpPr txBox="1"/>
          <p:nvPr/>
        </p:nvSpPr>
        <p:spPr>
          <a:xfrm>
            <a:off x="8138160" y="361188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cxnSp>
        <p:nvCxnSpPr>
          <p:cNvPr id="20" name="L20"/>
          <p:cNvCxnSpPr/>
          <p:nvPr/>
        </p:nvCxnSpPr>
        <p:spPr>
          <a:xfrm flipH="1">
            <a:off x="5212080" y="3657600"/>
            <a:ext cx="731520" cy="822960"/>
          </a:xfrm>
          <a:prstGeom prst="line">
            <a:avLst/>
          </a:prstGeom>
          <a:ln w="15875">
            <a:solidFill>
              <a:srgbClr val="2B3050"/>
            </a:solidFill>
            <a:tailEnd type="triangle" w="med" len="med"/>
          </a:ln>
        </p:spPr>
      </p:cxnSp>
      <p:sp>
        <p:nvSpPr>
          <p:cNvPr id="21" name="T21"/>
          <p:cNvSpPr txBox="1"/>
          <p:nvPr/>
        </p:nvSpPr>
        <p:spPr>
          <a:xfrm>
            <a:off x="5029200" y="43434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22" name="T22"/>
          <p:cNvSpPr txBox="1"/>
          <p:nvPr/>
        </p:nvSpPr>
        <p:spPr>
          <a:xfrm>
            <a:off x="5532120" y="338328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23" name="L23"/>
          <p:cNvCxnSpPr/>
          <p:nvPr/>
        </p:nvCxnSpPr>
        <p:spPr>
          <a:xfrm>
            <a:off x="5943600" y="3657600"/>
            <a:ext cx="1005840" cy="685800"/>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4" name="T24"/>
              <p:cNvSpPr txBox="1"/>
              <p:nvPr/>
            </p:nvSpPr>
            <p:spPr>
              <a:xfrm>
                <a:off x="6537960" y="4041648"/>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𝑟</m:t>
                      </m:r>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4" name="F24"/>
              <p:cNvPicPr/>
              <p:nvPr/>
            </p:nvPicPr>
            <p:blipFill>
              <a:blip r:embed="rId3"/>
              <a:stretch>
                <a:fillRect/>
              </a:stretch>
            </p:blipFill>
            <p:spPr>
              <a:xfrm>
                <a:off x="6537960" y="4041648"/>
                <a:ext cx="731520" cy="384048"/>
              </a:xfrm>
              <a:prstGeom prst="rect">
                <a:avLst/>
              </a:prstGeom>
              <a:noFill/>
              <a:ln>
                <a:noFill/>
              </a:ln>
            </p:spPr>
          </p:pic>
        </mc:Fallback>
      </mc:AlternateContent>
      <p:cxnSp>
        <p:nvCxnSpPr>
          <p:cNvPr id="25" name="L25"/>
          <p:cNvCxnSpPr/>
          <p:nvPr/>
        </p:nvCxnSpPr>
        <p:spPr>
          <a:xfrm flipV="1">
            <a:off x="6949440" y="2423160"/>
            <a:ext cx="0" cy="1920240"/>
          </a:xfrm>
          <a:prstGeom prst="line">
            <a:avLst/>
          </a:prstGeom>
          <a:ln w="38100">
            <a:solidFill>
              <a:srgbClr val="C8901F"/>
            </a:solidFill>
            <a:tailEnd type="triangle" w="med" len="med"/>
          </a:ln>
        </p:spPr>
      </p:cxnSp>
      <mc:AlternateContent xmlns:mc="http://schemas.openxmlformats.org/markup-compatibility/2006" xmlns:a14="http://schemas.microsoft.com/office/drawing/2010/main">
        <mc:Choice Requires="a14">
          <p:sp>
            <p:nvSpPr>
              <p:cNvPr id="26" name="T26"/>
              <p:cNvSpPr txBox="1"/>
              <p:nvPr/>
            </p:nvSpPr>
            <p:spPr>
              <a:xfrm>
                <a:off x="6995160" y="3246120"/>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C8901F"/>
                          </a:solidFill>
                          <a:latin typeface="Cambria Math" panose="02040503050406030204" pitchFamily="18" charset="0"/>
                          <a:ea typeface="Cambria Math"/>
                        </a:rPr>
                        <m:t>𝑧</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𝑘</m:t>
                          </m:r>
                        </m:e>
                      </m:acc>
                    </m:oMath>
                  </m:oMathPara>
                </a14:m>
                <a:endParaRPr lang="zh-TW" sz="2400"/>
              </a:p>
            </p:txBody>
          </p:sp>
        </mc:Choice>
        <mc:Fallback xmlns="">
          <p:pic>
            <p:nvPicPr>
              <p:cNvPr id="26" name="F26"/>
              <p:cNvPicPr/>
              <p:nvPr/>
            </p:nvPicPr>
            <p:blipFill>
              <a:blip r:embed="rId4"/>
              <a:stretch>
                <a:fillRect/>
              </a:stretch>
            </p:blipFill>
            <p:spPr>
              <a:xfrm>
                <a:off x="6995160" y="3246120"/>
                <a:ext cx="731520" cy="384048"/>
              </a:xfrm>
              <a:prstGeom prst="rect">
                <a:avLst/>
              </a:prstGeom>
              <a:noFill/>
              <a:ln>
                <a:noFill/>
              </a:ln>
            </p:spPr>
          </p:pic>
        </mc:Fallback>
      </mc:AlternateContent>
      <p:cxnSp>
        <p:nvCxnSpPr>
          <p:cNvPr id="27" name="L27"/>
          <p:cNvCxnSpPr/>
          <p:nvPr/>
        </p:nvCxnSpPr>
        <p:spPr>
          <a:xfrm flipV="1">
            <a:off x="5943600" y="2423160"/>
            <a:ext cx="1005840" cy="1234440"/>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28" name="T28"/>
              <p:cNvSpPr txBox="1"/>
              <p:nvPr/>
            </p:nvSpPr>
            <p:spPr>
              <a:xfrm>
                <a:off x="6126480" y="2743200"/>
                <a:ext cx="73152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e>
                        <m:sub>
                          <m:r>
                            <a:rPr lang="en-US" altLang="zh-TW" sz="2400" b="0" i="1">
                              <a:solidFill>
                                <a:srgbClr val="D6006F"/>
                              </a:solidFill>
                              <a:latin typeface="Cambria Math" panose="02040503050406030204" pitchFamily="18" charset="0"/>
                              <a:ea typeface="Cambria Math"/>
                            </a:rPr>
                            <m:t>𝑃</m:t>
                          </m:r>
                        </m:sub>
                      </m:sSub>
                    </m:oMath>
                  </m:oMathPara>
                </a14:m>
                <a:endParaRPr lang="zh-TW" sz="2400"/>
              </a:p>
            </p:txBody>
          </p:sp>
        </mc:Choice>
        <mc:Fallback xmlns="">
          <p:pic>
            <p:nvPicPr>
              <p:cNvPr id="28" name="F28"/>
              <p:cNvPicPr/>
              <p:nvPr/>
            </p:nvPicPr>
            <p:blipFill>
              <a:blip r:embed="rId5"/>
              <a:stretch>
                <a:fillRect/>
              </a:stretch>
            </p:blipFill>
            <p:spPr>
              <a:xfrm>
                <a:off x="6126480" y="2743200"/>
                <a:ext cx="731520" cy="384048"/>
              </a:xfrm>
              <a:prstGeom prst="rect">
                <a:avLst/>
              </a:prstGeom>
              <a:noFill/>
              <a:ln>
                <a:noFill/>
              </a:ln>
            </p:spPr>
          </p:pic>
        </mc:Fallback>
      </mc:AlternateContent>
      <p:sp>
        <p:nvSpPr>
          <p:cNvPr id="29" name="S29"/>
          <p:cNvSpPr/>
          <p:nvPr/>
        </p:nvSpPr>
        <p:spPr>
          <a:xfrm>
            <a:off x="6876288" y="2350008"/>
            <a:ext cx="146304" cy="146304"/>
          </a:xfrm>
          <a:prstGeom prst="ellipse">
            <a:avLst/>
          </a:prstGeom>
          <a:solidFill>
            <a:srgbClr val="2B3050"/>
          </a:solidFill>
          <a:ln>
            <a:noFill/>
          </a:ln>
        </p:spPr>
        <p:txBody>
          <a:bodyPr/>
          <a:lstStyle/>
          <a:p>
            <a:endParaRPr lang="zh-TW" altLang="en-US"/>
          </a:p>
        </p:txBody>
      </p:sp>
      <p:sp>
        <p:nvSpPr>
          <p:cNvPr id="30" name="T30"/>
          <p:cNvSpPr txBox="1"/>
          <p:nvPr/>
        </p:nvSpPr>
        <p:spPr>
          <a:xfrm>
            <a:off x="7040880" y="214884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sp>
        <p:nvSpPr>
          <p:cNvPr id="31" name="P31"/>
          <p:cNvSpPr/>
          <p:nvPr/>
        </p:nvSpPr>
        <p:spPr>
          <a:xfrm>
            <a:off x="5679106" y="3810998"/>
            <a:ext cx="605627" cy="120922"/>
          </a:xfrm>
          <a:custGeom>
            <a:avLst/>
            <a:gdLst/>
            <a:ahLst/>
            <a:cxnLst/>
            <a:rect l="0" t="0" r="r" b="b"/>
            <a:pathLst>
              <a:path w="605627" h="120922">
                <a:moveTo>
                  <a:pt x="0" y="56744"/>
                </a:moveTo>
                <a:lnTo>
                  <a:pt x="46443" y="79239"/>
                </a:lnTo>
                <a:lnTo>
                  <a:pt x="97130" y="97206"/>
                </a:lnTo>
                <a:lnTo>
                  <a:pt x="151075" y="110296"/>
                </a:lnTo>
                <a:lnTo>
                  <a:pt x="207227" y="118253"/>
                </a:lnTo>
                <a:lnTo>
                  <a:pt x="264494" y="120922"/>
                </a:lnTo>
                <a:lnTo>
                  <a:pt x="321761" y="118253"/>
                </a:lnTo>
                <a:lnTo>
                  <a:pt x="377914" y="110296"/>
                </a:lnTo>
                <a:lnTo>
                  <a:pt x="431858" y="97206"/>
                </a:lnTo>
                <a:lnTo>
                  <a:pt x="482545" y="79239"/>
                </a:lnTo>
                <a:lnTo>
                  <a:pt x="528988" y="56744"/>
                </a:lnTo>
                <a:lnTo>
                  <a:pt x="570283" y="30158"/>
                </a:lnTo>
                <a:lnTo>
                  <a:pt x="605627" y="0"/>
                </a:lnTo>
              </a:path>
            </a:pathLst>
          </a:custGeom>
          <a:noFill/>
          <a:ln w="15875">
            <a:solidFill>
              <a:srgbClr val="8A8F9C"/>
            </a:solidFill>
          </a:ln>
        </p:spPr>
        <p:txBody>
          <a:bodyPr/>
          <a:lstStyle/>
          <a:p>
            <a:endParaRPr lang="zh-TW" altLang="en-US"/>
          </a:p>
        </p:txBody>
      </p:sp>
      <p:sp>
        <p:nvSpPr>
          <p:cNvPr id="32" name="T32"/>
          <p:cNvSpPr txBox="1"/>
          <p:nvPr/>
        </p:nvSpPr>
        <p:spPr>
          <a:xfrm>
            <a:off x="5989320" y="39319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 圓柱座標的速度與加速度 → 式 (2-19)</a:t>
            </a:r>
          </a:p>
        </p:txBody>
      </p:sp>
      <mc:AlternateContent xmlns:mc="http://schemas.openxmlformats.org/markup-compatibility/2006" xmlns:a14="http://schemas.microsoft.com/office/drawing/2010/main">
        <mc:Choice Requires="a14">
          <p:sp>
            <p:nvSpPr>
              <p:cNvPr id="11" name="T11"/>
              <p:cNvSpPr txBox="1"/>
              <p:nvPr/>
            </p:nvSpPr>
            <p:spPr>
              <a:xfrm>
                <a:off x="365760" y="868680"/>
                <a:ext cx="6675120" cy="54864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𝑧</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1" name="F11"/>
              <p:cNvPicPr/>
              <p:nvPr/>
            </p:nvPicPr>
            <p:blipFill>
              <a:blip r:embed="rId2"/>
              <a:stretch>
                <a:fillRect/>
              </a:stretch>
            </p:blipFill>
            <p:spPr>
              <a:xfrm>
                <a:off x="365760" y="868680"/>
                <a:ext cx="66751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667512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𝑣</m:t>
                              </m:r>
                            </m:e>
                          </m:acc>
                        </m:e>
                        <m:sub>
                          <m:r>
                            <a:rPr lang="en-US" altLang="zh-TW" sz="2400" b="0" i="1">
                              <a:solidFill>
                                <a:srgbClr val="1F8899"/>
                              </a:solidFill>
                              <a:latin typeface="Cambria Math" panose="02040503050406030204" pitchFamily="18" charset="0"/>
                              <a:ea typeface="Cambria Math"/>
                            </a:rPr>
                            <m:t>𝑃</m:t>
                          </m:r>
                        </m:sub>
                      </m:sSub>
                      <m:r>
                        <a:rPr lang="en-US" altLang="zh-TW" sz="2400" b="0" i="0">
                          <a:solidFill>
                            <a:srgbClr val="1F8899"/>
                          </a:solidFill>
                          <a:latin typeface="Cambria Math" panose="02040503050406030204" pitchFamily="18" charset="0"/>
                          <a:ea typeface="Cambria Math"/>
                        </a:rPr>
                        <m:t> = </m:t>
                      </m:r>
                      <m:f>
                        <m:fPr>
                          <m:ctrlPr>
                            <a:rPr lang="en-US" altLang="zh-TW" sz="2400" b="0" i="1">
                              <a:solidFill>
                                <a:srgbClr val="1F8899"/>
                              </a:solidFill>
                              <a:latin typeface="Cambria Math" panose="02040503050406030204" pitchFamily="18" charset="0"/>
                              <a:ea typeface="Cambria Math"/>
                            </a:rPr>
                          </m:ctrlPr>
                        </m:fPr>
                        <m:num>
                          <m:r>
                            <a:rPr lang="en-US" altLang="zh-TW" sz="2400" b="0" i="1">
                              <a:solidFill>
                                <a:srgbClr val="1F8899"/>
                              </a:solidFill>
                              <a:latin typeface="Cambria Math" panose="02040503050406030204" pitchFamily="18" charset="0"/>
                              <a:ea typeface="Cambria Math"/>
                            </a:rPr>
                            <m:t>𝑑</m:t>
                          </m:r>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e>
                            <m:sub>
                              <m:r>
                                <a:rPr lang="en-US" altLang="zh-TW" sz="2400" b="0" i="1">
                                  <a:solidFill>
                                    <a:srgbClr val="1F8899"/>
                                  </a:solidFill>
                                  <a:latin typeface="Cambria Math" panose="02040503050406030204" pitchFamily="18" charset="0"/>
                                  <a:ea typeface="Cambria Math"/>
                                </a:rPr>
                                <m:t>𝑃</m:t>
                              </m:r>
                            </m:sub>
                          </m:sSub>
                        </m:num>
                        <m:den>
                          <m:r>
                            <a:rPr lang="en-US" altLang="zh-TW" sz="2400" b="0" i="1">
                              <a:solidFill>
                                <a:srgbClr val="1F8899"/>
                              </a:solidFill>
                              <a:latin typeface="Cambria Math" panose="02040503050406030204" pitchFamily="18" charset="0"/>
                              <a:ea typeface="Cambria Math"/>
                            </a:rPr>
                            <m:t>𝑑𝑡</m:t>
                          </m:r>
                        </m:den>
                      </m:f>
                      <m:r>
                        <a:rPr lang="en-US" altLang="zh-TW" sz="2400" b="0" i="0">
                          <a:solidFill>
                            <a:srgbClr val="1F8899"/>
                          </a:solidFill>
                          <a:latin typeface="Cambria Math" panose="02040503050406030204" pitchFamily="18" charset="0"/>
                          <a:ea typeface="Cambria Math"/>
                        </a:rPr>
                        <m:t> = </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𝜃</m:t>
                          </m:r>
                        </m:sub>
                      </m:sSub>
                      <m:r>
                        <a:rPr lang="en-US" altLang="zh-TW" sz="2400" b="0" i="0">
                          <a:solidFill>
                            <a:srgbClr val="1F8899"/>
                          </a:solidFill>
                          <a:latin typeface="Cambria Math" panose="02040503050406030204" pitchFamily="18" charset="0"/>
                          <a:ea typeface="Cambria Math"/>
                        </a:rPr>
                        <m:t> + </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𝑧</m:t>
                          </m:r>
                        </m:e>
                      </m:acc>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𝑘</m:t>
                          </m:r>
                        </m:e>
                      </m:acc>
                    </m:oMath>
                  </m:oMathPara>
                </a14:m>
                <a:endParaRPr lang="zh-TW" sz="2400"/>
              </a:p>
            </p:txBody>
          </p:sp>
        </mc:Choice>
        <mc:Fallback xmlns="">
          <p:pic>
            <p:nvPicPr>
              <p:cNvPr id="12" name="F12"/>
              <p:cNvPicPr/>
              <p:nvPr/>
            </p:nvPicPr>
            <p:blipFill>
              <a:blip r:embed="rId3"/>
              <a:stretch>
                <a:fillRect/>
              </a:stretch>
            </p:blipFill>
            <p:spPr>
              <a:xfrm>
                <a:off x="365760" y="1417320"/>
                <a:ext cx="6675120" cy="868680"/>
              </a:xfrm>
              <a:prstGeom prst="rect">
                <a:avLst/>
              </a:prstGeom>
              <a:noFill/>
              <a:ln>
                <a:noFill/>
              </a:ln>
            </p:spPr>
          </p:pic>
        </mc:Fallback>
      </mc:AlternateContent>
      <p:sp>
        <p:nvSpPr>
          <p:cNvPr id="13" name="T13"/>
          <p:cNvSpPr txBox="1"/>
          <p:nvPr/>
        </p:nvSpPr>
        <p:spPr>
          <a:xfrm>
            <a:off x="7178040" y="1417320"/>
            <a:ext cx="1188720" cy="868680"/>
          </a:xfrm>
          <a:prstGeom prst="rect">
            <a:avLst/>
          </a:prstGeom>
          <a:noFill/>
          <a:ln>
            <a:noFill/>
          </a:ln>
        </p:spPr>
        <p:txBody>
          <a:bodyPr wrap="square" lIns="54864" tIns="27432" rIns="54864" bIns="27432" anchor="ctr">
            <a:noAutofit/>
          </a:bodyPr>
          <a:lstStyle/>
          <a:p>
            <a:pPr algn="r">
              <a:lnSpc>
                <a:spcPct val="100000"/>
              </a:lnSpc>
              <a:buNone/>
            </a:pPr>
            <a:r>
              <a:rPr lang="zh-TW" altLang="en-US" sz="2400" b="1" dirty="0">
                <a:solidFill>
                  <a:srgbClr val="D6006F"/>
                </a:solidFill>
                <a:latin typeface="Calibri"/>
                <a:ea typeface="微軟正黑體"/>
                <a:cs typeface="Calibri"/>
              </a:rPr>
              <a:t>(2-19)</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286000"/>
                <a:ext cx="7955280" cy="868680"/>
              </a:xfrm>
              <a:prstGeom prst="rect">
                <a:avLst/>
              </a:prstGeom>
              <a:noFill/>
              <a:ln>
                <a:noFill/>
              </a:ln>
            </p:spPr>
            <p:txBody>
              <a:bodyPr wrap="square" lIns="54864" tIns="27432" rIns="54864" bIns="27432" anchor="ctr">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e>
                        <m:sub>
                          <m:r>
                            <a:rPr lang="en-US" altLang="zh-TW" sz="2400" b="0" i="1">
                              <a:solidFill>
                                <a:srgbClr val="D6006F"/>
                              </a:solidFill>
                              <a:latin typeface="Cambria Math" panose="02040503050406030204" pitchFamily="18" charset="0"/>
                              <a:ea typeface="Cambria Math"/>
                            </a:rPr>
                            <m:t>𝑃</m:t>
                          </m:r>
                        </m:sub>
                      </m:sSub>
                      <m:r>
                        <a:rPr lang="en-US" altLang="zh-TW" sz="2400" b="0" i="0">
                          <a:solidFill>
                            <a:srgbClr val="D6006F"/>
                          </a:solidFill>
                          <a:latin typeface="Cambria Math" panose="02040503050406030204" pitchFamily="18" charset="0"/>
                          <a:ea typeface="Cambria Math"/>
                        </a:rPr>
                        <m:t> = </m:t>
                      </m:r>
                      <m:f>
                        <m:fPr>
                          <m:ctrlPr>
                            <a:rPr lang="en-US" altLang="zh-TW" sz="2400" b="0" i="1">
                              <a:solidFill>
                                <a:srgbClr val="D6006F"/>
                              </a:solidFill>
                              <a:latin typeface="Cambria Math" panose="02040503050406030204" pitchFamily="18" charset="0"/>
                              <a:ea typeface="Cambria Math"/>
                            </a:rPr>
                          </m:ctrlPr>
                        </m:fPr>
                        <m:num>
                          <m:r>
                            <a:rPr lang="en-US" altLang="zh-TW" sz="2400" b="0" i="1">
                              <a:solidFill>
                                <a:srgbClr val="D6006F"/>
                              </a:solidFill>
                              <a:latin typeface="Cambria Math" panose="02040503050406030204" pitchFamily="18" charset="0"/>
                              <a:ea typeface="Cambria Math"/>
                            </a:rPr>
                            <m:t>𝑑</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𝑣</m:t>
                                  </m:r>
                                </m:e>
                              </m:acc>
                            </m:e>
                            <m:sub>
                              <m:r>
                                <a:rPr lang="en-US" altLang="zh-TW" sz="2400" b="0" i="1">
                                  <a:solidFill>
                                    <a:srgbClr val="D6006F"/>
                                  </a:solidFill>
                                  <a:latin typeface="Cambria Math" panose="02040503050406030204" pitchFamily="18" charset="0"/>
                                  <a:ea typeface="Cambria Math"/>
                                </a:rPr>
                                <m:t>𝑃</m:t>
                              </m:r>
                            </m:sub>
                          </m:sSub>
                        </m:num>
                        <m:den>
                          <m:r>
                            <a:rPr lang="en-US" altLang="zh-TW" sz="2400" b="0" i="1">
                              <a:solidFill>
                                <a:srgbClr val="D6006F"/>
                              </a:solidFill>
                              <a:latin typeface="Cambria Math" panose="02040503050406030204" pitchFamily="18" charset="0"/>
                              <a:ea typeface="Cambria Math"/>
                            </a:rPr>
                            <m:t>𝑑𝑡</m:t>
                          </m:r>
                        </m:den>
                      </m:f>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𝑧</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𝑘</m:t>
                          </m:r>
                        </m:e>
                      </m:acc>
                    </m:oMath>
                  </m:oMathPara>
                </a14:m>
                <a:endParaRPr lang="zh-TW" sz="2400"/>
              </a:p>
            </p:txBody>
          </p:sp>
        </mc:Choice>
        <mc:Fallback xmlns="">
          <p:pic>
            <p:nvPicPr>
              <p:cNvPr id="14" name="F14"/>
              <p:cNvPicPr/>
              <p:nvPr/>
            </p:nvPicPr>
            <p:blipFill>
              <a:blip r:embed="rId4"/>
              <a:stretch>
                <a:fillRect/>
              </a:stretch>
            </p:blipFill>
            <p:spPr>
              <a:xfrm>
                <a:off x="365760" y="2286000"/>
                <a:ext cx="7955280" cy="868680"/>
              </a:xfrm>
              <a:prstGeom prst="rect">
                <a:avLst/>
              </a:prstGeom>
              <a:noFill/>
              <a:ln>
                <a:noFill/>
              </a:ln>
            </p:spPr>
          </p:pic>
        </mc:Fallback>
      </mc:AlternateContent>
      <p:sp>
        <p:nvSpPr>
          <p:cNvPr id="15" name="T15"/>
          <p:cNvSpPr txBox="1"/>
          <p:nvPr/>
        </p:nvSpPr>
        <p:spPr>
          <a:xfrm>
            <a:off x="365760" y="3429000"/>
            <a:ext cx="7955280" cy="12344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前兩項：和極座標 (2-14)、(2-16) 完全一樣</a:t>
            </a:r>
            <a:endParaRPr lang="zh-TW" sz="2400"/>
          </a:p>
          <a:p>
            <a:pPr algn="l">
              <a:lnSpc>
                <a:spcPct val="100000"/>
              </a:lnSpc>
              <a:buNone/>
            </a:pPr>
            <a:r>
              <a:rPr lang="zh-TW" altLang="en-US" sz="2400" b="0" dirty="0">
                <a:solidFill>
                  <a:srgbClr val="2B3050"/>
                </a:solidFill>
                <a:latin typeface="Calibri"/>
                <a:ea typeface="微軟正黑體"/>
                <a:cs typeface="Calibri"/>
              </a:rPr>
              <a:t>最後一項：z 方向的直線運動（k 不用微）</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重點：極座標的兩個單位向量</a:t>
            </a:r>
          </a:p>
        </p:txBody>
      </p:sp>
      <p:cxnSp>
        <p:nvCxnSpPr>
          <p:cNvPr id="11" name="L11"/>
          <p:cNvCxnSpPr/>
          <p:nvPr/>
        </p:nvCxnSpPr>
        <p:spPr>
          <a:xfrm>
            <a:off x="5120640" y="4206240"/>
            <a:ext cx="2377440" cy="0"/>
          </a:xfrm>
          <a:prstGeom prst="line">
            <a:avLst/>
          </a:prstGeom>
          <a:ln w="12700">
            <a:solidFill>
              <a:srgbClr val="8A8F9C"/>
            </a:solidFill>
          </a:ln>
        </p:spPr>
      </p:cxnSp>
      <p:cxnSp>
        <p:nvCxnSpPr>
          <p:cNvPr id="12" name="L12"/>
          <p:cNvCxnSpPr/>
          <p:nvPr/>
        </p:nvCxnSpPr>
        <p:spPr>
          <a:xfrm flipV="1">
            <a:off x="5120640" y="3157283"/>
            <a:ext cx="1498065" cy="1048957"/>
          </a:xfrm>
          <a:prstGeom prst="line">
            <a:avLst/>
          </a:prstGeom>
          <a:ln w="28575">
            <a:solidFill>
              <a:srgbClr val="2B3050"/>
            </a:solidFill>
            <a:tailEnd type="triangle" w="med" len="med"/>
          </a:ln>
        </p:spPr>
      </p:cxnSp>
      <p:sp>
        <p:nvSpPr>
          <p:cNvPr id="13" name="S13"/>
          <p:cNvSpPr/>
          <p:nvPr/>
        </p:nvSpPr>
        <p:spPr>
          <a:xfrm>
            <a:off x="5074920" y="4160520"/>
            <a:ext cx="91440" cy="91440"/>
          </a:xfrm>
          <a:prstGeom prst="ellipse">
            <a:avLst/>
          </a:prstGeom>
          <a:solidFill>
            <a:srgbClr val="2B3050"/>
          </a:solidFill>
          <a:ln>
            <a:noFill/>
          </a:ln>
        </p:spPr>
        <p:txBody>
          <a:bodyPr/>
          <a:lstStyle/>
          <a:p>
            <a:endParaRPr lang="zh-TW" altLang="en-US"/>
          </a:p>
        </p:txBody>
      </p:sp>
      <p:sp>
        <p:nvSpPr>
          <p:cNvPr id="14" name="T14"/>
          <p:cNvSpPr txBox="1"/>
          <p:nvPr/>
        </p:nvSpPr>
        <p:spPr>
          <a:xfrm>
            <a:off x="4709160" y="4023360"/>
            <a:ext cx="4114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S15"/>
          <p:cNvSpPr/>
          <p:nvPr/>
        </p:nvSpPr>
        <p:spPr>
          <a:xfrm>
            <a:off x="6563841" y="3102419"/>
            <a:ext cx="109728" cy="109728"/>
          </a:xfrm>
          <a:prstGeom prst="ellipse">
            <a:avLst/>
          </a:prstGeom>
          <a:solidFill>
            <a:srgbClr val="2B3050"/>
          </a:solidFill>
          <a:ln>
            <a:noFill/>
          </a:ln>
        </p:spPr>
        <p:txBody>
          <a:bodyPr/>
          <a:lstStyle/>
          <a:p>
            <a:endParaRPr lang="zh-TW" altLang="en-US"/>
          </a:p>
        </p:txBody>
      </p:sp>
      <p:sp>
        <p:nvSpPr>
          <p:cNvPr id="16" name="T16"/>
          <p:cNvSpPr txBox="1"/>
          <p:nvPr/>
        </p:nvSpPr>
        <p:spPr>
          <a:xfrm>
            <a:off x="6207225" y="3020123"/>
            <a:ext cx="4114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sp>
        <p:nvSpPr>
          <p:cNvPr id="17" name="P17"/>
          <p:cNvSpPr/>
          <p:nvPr/>
        </p:nvSpPr>
        <p:spPr>
          <a:xfrm>
            <a:off x="5542424" y="3932330"/>
            <a:ext cx="81136" cy="273910"/>
          </a:xfrm>
          <a:custGeom>
            <a:avLst/>
            <a:gdLst/>
            <a:ahLst/>
            <a:cxnLst/>
            <a:rect l="0" t="0" r="r" b="b"/>
            <a:pathLst>
              <a:path w="81136" h="273910">
                <a:moveTo>
                  <a:pt x="81136" y="273910"/>
                </a:moveTo>
                <a:lnTo>
                  <a:pt x="80447" y="247589"/>
                </a:lnTo>
                <a:lnTo>
                  <a:pt x="78381" y="221340"/>
                </a:lnTo>
                <a:lnTo>
                  <a:pt x="74944" y="195236"/>
                </a:lnTo>
                <a:lnTo>
                  <a:pt x="70146" y="169347"/>
                </a:lnTo>
                <a:lnTo>
                  <a:pt x="63999" y="143745"/>
                </a:lnTo>
                <a:lnTo>
                  <a:pt x="56521" y="118499"/>
                </a:lnTo>
                <a:lnTo>
                  <a:pt x="47732" y="93679"/>
                </a:lnTo>
                <a:lnTo>
                  <a:pt x="37656" y="69354"/>
                </a:lnTo>
                <a:lnTo>
                  <a:pt x="26321" y="45589"/>
                </a:lnTo>
                <a:lnTo>
                  <a:pt x="13757" y="22450"/>
                </a:lnTo>
                <a:lnTo>
                  <a:pt x="0" y="0"/>
                </a:lnTo>
              </a:path>
            </a:pathLst>
          </a:custGeom>
          <a:noFill/>
          <a:ln w="15875">
            <a:solidFill>
              <a:srgbClr val="8A8F9C"/>
            </a:solidFill>
          </a:ln>
        </p:spPr>
        <p:txBody>
          <a:bodyPr/>
          <a:lstStyle/>
          <a:p>
            <a:endParaRPr lang="zh-TW" altLang="en-US"/>
          </a:p>
        </p:txBody>
      </p:sp>
      <p:sp>
        <p:nvSpPr>
          <p:cNvPr id="18" name="T18"/>
          <p:cNvSpPr txBox="1"/>
          <p:nvPr/>
        </p:nvSpPr>
        <p:spPr>
          <a:xfrm>
            <a:off x="5623560" y="37033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cxnSp>
        <p:nvCxnSpPr>
          <p:cNvPr id="19" name="L19"/>
          <p:cNvCxnSpPr/>
          <p:nvPr/>
        </p:nvCxnSpPr>
        <p:spPr>
          <a:xfrm flipV="1">
            <a:off x="6618705" y="2711477"/>
            <a:ext cx="636678" cy="445807"/>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0" name="T20"/>
              <p:cNvSpPr txBox="1"/>
              <p:nvPr/>
            </p:nvSpPr>
            <p:spPr>
              <a:xfrm>
                <a:off x="7273671" y="2437157"/>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0" name="F20"/>
              <p:cNvPicPr/>
              <p:nvPr/>
            </p:nvPicPr>
            <p:blipFill>
              <a:blip r:embed="rId2"/>
              <a:stretch>
                <a:fillRect/>
              </a:stretch>
            </p:blipFill>
            <p:spPr>
              <a:xfrm>
                <a:off x="7273671" y="2437157"/>
                <a:ext cx="548640" cy="411480"/>
              </a:xfrm>
              <a:prstGeom prst="rect">
                <a:avLst/>
              </a:prstGeom>
              <a:noFill/>
              <a:ln>
                <a:noFill/>
              </a:ln>
            </p:spPr>
          </p:pic>
        </mc:Fallback>
      </mc:AlternateContent>
      <p:cxnSp>
        <p:nvCxnSpPr>
          <p:cNvPr id="21" name="L21"/>
          <p:cNvCxnSpPr/>
          <p:nvPr/>
        </p:nvCxnSpPr>
        <p:spPr>
          <a:xfrm>
            <a:off x="6172899" y="2520606"/>
            <a:ext cx="445807" cy="636678"/>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2" name="T22"/>
              <p:cNvSpPr txBox="1"/>
              <p:nvPr/>
            </p:nvSpPr>
            <p:spPr>
              <a:xfrm>
                <a:off x="5624259" y="2200566"/>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2" name="F22"/>
              <p:cNvPicPr/>
              <p:nvPr/>
            </p:nvPicPr>
            <p:blipFill>
              <a:blip r:embed="rId3"/>
              <a:stretch>
                <a:fillRect/>
              </a:stretch>
            </p:blipFill>
            <p:spPr>
              <a:xfrm>
                <a:off x="5624259" y="2200566"/>
                <a:ext cx="548640" cy="411480"/>
              </a:xfrm>
              <a:prstGeom prst="rect">
                <a:avLst/>
              </a:prstGeom>
              <a:noFill/>
              <a:ln>
                <a:noFill/>
              </a:ln>
            </p:spPr>
          </p:pic>
        </mc:Fallback>
      </mc:AlternateContent>
      <p:sp>
        <p:nvSpPr>
          <p:cNvPr id="23" name="T23"/>
          <p:cNvSpPr txBox="1"/>
          <p:nvPr/>
        </p:nvSpPr>
        <p:spPr>
          <a:xfrm>
            <a:off x="365760" y="8686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1F8899"/>
                </a:solidFill>
                <a:latin typeface="Calibri"/>
                <a:ea typeface="微軟正黑體"/>
                <a:cs typeface="Calibri"/>
              </a:rPr>
              <a:t>e</a:t>
            </a:r>
            <a:r>
              <a:rPr lang="zh-TW" altLang="en-US" sz="2400" b="0" dirty="0">
                <a:solidFill>
                  <a:srgbClr val="1F8899"/>
                </a:solidFill>
                <a:latin typeface="Calibri"/>
                <a:ea typeface="微軟正黑體"/>
                <a:cs typeface="Calibri"/>
              </a:rPr>
              <a:t>r</a:t>
            </a:r>
            <a:r>
              <a:rPr lang="zh-TW" altLang="en-US" sz="2400" b="0" dirty="0">
                <a:solidFill>
                  <a:srgbClr val="2B3050"/>
                </a:solidFill>
                <a:latin typeface="Calibri"/>
                <a:ea typeface="微軟正黑體"/>
                <a:cs typeface="Calibri"/>
              </a:rPr>
              <a:t>：沿 r 向外（徑向）</a:t>
            </a:r>
            <a:endParaRPr lang="zh-TW" sz="2400"/>
          </a:p>
        </p:txBody>
      </p:sp>
      <p:sp>
        <p:nvSpPr>
          <p:cNvPr id="24" name="T24"/>
          <p:cNvSpPr txBox="1"/>
          <p:nvPr/>
        </p:nvSpPr>
        <p:spPr>
          <a:xfrm>
            <a:off x="365760" y="13258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e</a:t>
            </a:r>
            <a:r>
              <a:rPr lang="zh-TW" altLang="en-US" sz="2400" b="0" dirty="0">
                <a:solidFill>
                  <a:srgbClr val="D6006F"/>
                </a:solidFill>
                <a:latin typeface="Calibri"/>
                <a:ea typeface="微軟正黑體"/>
                <a:cs typeface="Calibri"/>
              </a:rPr>
              <a:t>θ</a:t>
            </a:r>
            <a:r>
              <a:rPr lang="zh-TW" altLang="en-US" sz="2400" b="0" dirty="0">
                <a:solidFill>
                  <a:srgbClr val="2B3050"/>
                </a:solidFill>
                <a:latin typeface="Calibri"/>
                <a:ea typeface="微軟正黑體"/>
                <a:cs typeface="Calibri"/>
              </a:rPr>
              <a:t>：垂直 r，指向 θ 增加</a:t>
            </a:r>
            <a:endParaRPr lang="zh-TW" sz="2400"/>
          </a:p>
        </p:txBody>
      </p:sp>
      <p:sp>
        <p:nvSpPr>
          <p:cNvPr id="25" name="T25"/>
          <p:cNvSpPr txBox="1"/>
          <p:nvPr/>
        </p:nvSpPr>
        <p:spPr>
          <a:xfrm>
            <a:off x="365760" y="2011680"/>
            <a:ext cx="4023360" cy="14630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P 移動時，兩個方向</a:t>
            </a:r>
            <a:endParaRPr lang="zh-TW" sz="2400"/>
          </a:p>
          <a:p>
            <a:pPr algn="l">
              <a:lnSpc>
                <a:spcPct val="100000"/>
              </a:lnSpc>
              <a:buNone/>
            </a:pPr>
            <a:r>
              <a:rPr lang="zh-TW" altLang="en-US" sz="2400" b="0" dirty="0">
                <a:solidFill>
                  <a:srgbClr val="2B3050"/>
                </a:solidFill>
                <a:latin typeface="Calibri"/>
                <a:ea typeface="微軟正黑體"/>
                <a:cs typeface="Calibri"/>
              </a:rPr>
              <a:t>跟著轉 → 微分不為 0</a:t>
            </a:r>
            <a:endParaRPr lang="zh-TW" sz="2400"/>
          </a:p>
          <a:p>
            <a:pPr algn="l">
              <a:lnSpc>
                <a:spcPct val="100000"/>
              </a:lnSpc>
              <a:buNone/>
            </a:pPr>
            <a:r>
              <a:rPr lang="zh-TW" altLang="en-US" sz="2400" b="0" dirty="0">
                <a:solidFill>
                  <a:srgbClr val="2B3050"/>
                </a:solidFill>
                <a:latin typeface="Calibri"/>
                <a:ea typeface="微軟正黑體"/>
                <a:cs typeface="Calibri"/>
              </a:rPr>
              <a:t>（和 2-5 的 i、j 不同）</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微積分（1）把單位向量寫成 i、j</a:t>
            </a:r>
          </a:p>
        </p:txBody>
      </p:sp>
      <p:cxnSp>
        <p:nvCxnSpPr>
          <p:cNvPr id="11" name="L11"/>
          <p:cNvCxnSpPr/>
          <p:nvPr/>
        </p:nvCxnSpPr>
        <p:spPr>
          <a:xfrm>
            <a:off x="6035040" y="3291840"/>
            <a:ext cx="2194560" cy="0"/>
          </a:xfrm>
          <a:prstGeom prst="line">
            <a:avLst/>
          </a:prstGeom>
          <a:ln w="15875">
            <a:solidFill>
              <a:srgbClr val="2B3050"/>
            </a:solidFill>
            <a:tailEnd type="triangle" w="med" len="med"/>
          </a:ln>
        </p:spPr>
      </p:cxnSp>
      <p:cxnSp>
        <p:nvCxnSpPr>
          <p:cNvPr id="12" name="L12"/>
          <p:cNvCxnSpPr/>
          <p:nvPr/>
        </p:nvCxnSpPr>
        <p:spPr>
          <a:xfrm flipV="1">
            <a:off x="6309360" y="1097280"/>
            <a:ext cx="0" cy="2468880"/>
          </a:xfrm>
          <a:prstGeom prst="line">
            <a:avLst/>
          </a:prstGeom>
          <a:ln w="15875">
            <a:solidFill>
              <a:srgbClr val="2B3050"/>
            </a:solidFill>
            <a:tailEnd type="triangle" w="med" len="med"/>
          </a:ln>
        </p:spPr>
      </p:cxnSp>
      <p:sp>
        <p:nvSpPr>
          <p:cNvPr id="13" name="T13"/>
          <p:cNvSpPr txBox="1"/>
          <p:nvPr/>
        </p:nvSpPr>
        <p:spPr>
          <a:xfrm>
            <a:off x="8092440" y="324612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6355080" y="9144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T15"/>
          <p:cNvSpPr txBox="1"/>
          <p:nvPr/>
        </p:nvSpPr>
        <p:spPr>
          <a:xfrm>
            <a:off x="5943600" y="32004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6" name="L16"/>
          <p:cNvCxnSpPr/>
          <p:nvPr/>
        </p:nvCxnSpPr>
        <p:spPr>
          <a:xfrm flipV="1">
            <a:off x="6309360" y="2505123"/>
            <a:ext cx="1123549" cy="786717"/>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17" name="T17"/>
              <p:cNvSpPr txBox="1"/>
              <p:nvPr/>
            </p:nvSpPr>
            <p:spPr>
              <a:xfrm>
                <a:off x="7478629" y="2185083"/>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17" name="F17"/>
              <p:cNvPicPr/>
              <p:nvPr/>
            </p:nvPicPr>
            <p:blipFill>
              <a:blip r:embed="rId2"/>
              <a:stretch>
                <a:fillRect/>
              </a:stretch>
            </p:blipFill>
            <p:spPr>
              <a:xfrm>
                <a:off x="7478629" y="2185083"/>
                <a:ext cx="548640" cy="411480"/>
              </a:xfrm>
              <a:prstGeom prst="rect">
                <a:avLst/>
              </a:prstGeom>
              <a:noFill/>
              <a:ln>
                <a:noFill/>
              </a:ln>
            </p:spPr>
          </p:pic>
        </mc:Fallback>
      </mc:AlternateContent>
      <p:cxnSp>
        <p:nvCxnSpPr>
          <p:cNvPr id="18" name="L18"/>
          <p:cNvCxnSpPr/>
          <p:nvPr/>
        </p:nvCxnSpPr>
        <p:spPr>
          <a:xfrm>
            <a:off x="5522643" y="2168291"/>
            <a:ext cx="786717" cy="1123549"/>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19" name="T19"/>
              <p:cNvSpPr txBox="1"/>
              <p:nvPr/>
            </p:nvSpPr>
            <p:spPr>
              <a:xfrm>
                <a:off x="4974003" y="1848251"/>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9" name="F19"/>
              <p:cNvPicPr/>
              <p:nvPr/>
            </p:nvPicPr>
            <p:blipFill>
              <a:blip r:embed="rId3"/>
              <a:stretch>
                <a:fillRect/>
              </a:stretch>
            </p:blipFill>
            <p:spPr>
              <a:xfrm>
                <a:off x="4974003" y="1848251"/>
                <a:ext cx="548640" cy="411480"/>
              </a:xfrm>
              <a:prstGeom prst="rect">
                <a:avLst/>
              </a:prstGeom>
              <a:noFill/>
              <a:ln>
                <a:noFill/>
              </a:ln>
            </p:spPr>
          </p:pic>
        </mc:Fallback>
      </mc:AlternateContent>
      <p:sp>
        <p:nvSpPr>
          <p:cNvPr id="20" name="P20"/>
          <p:cNvSpPr/>
          <p:nvPr/>
        </p:nvSpPr>
        <p:spPr>
          <a:xfrm>
            <a:off x="6692800" y="3042831"/>
            <a:ext cx="73760" cy="249009"/>
          </a:xfrm>
          <a:custGeom>
            <a:avLst/>
            <a:gdLst/>
            <a:ahLst/>
            <a:cxnLst/>
            <a:rect l="0" t="0" r="r" b="b"/>
            <a:pathLst>
              <a:path w="73760" h="249009">
                <a:moveTo>
                  <a:pt x="73760" y="249009"/>
                </a:moveTo>
                <a:lnTo>
                  <a:pt x="73133" y="225081"/>
                </a:lnTo>
                <a:lnTo>
                  <a:pt x="71255" y="201219"/>
                </a:lnTo>
                <a:lnTo>
                  <a:pt x="68131" y="177487"/>
                </a:lnTo>
                <a:lnTo>
                  <a:pt x="63769" y="153952"/>
                </a:lnTo>
                <a:lnTo>
                  <a:pt x="58181" y="130677"/>
                </a:lnTo>
                <a:lnTo>
                  <a:pt x="51383" y="107726"/>
                </a:lnTo>
                <a:lnTo>
                  <a:pt x="43393" y="85163"/>
                </a:lnTo>
                <a:lnTo>
                  <a:pt x="34233" y="63049"/>
                </a:lnTo>
                <a:lnTo>
                  <a:pt x="23928" y="41445"/>
                </a:lnTo>
                <a:lnTo>
                  <a:pt x="12507" y="20409"/>
                </a:lnTo>
                <a:lnTo>
                  <a:pt x="0" y="0"/>
                </a:lnTo>
              </a:path>
            </a:pathLst>
          </a:custGeom>
          <a:noFill/>
          <a:ln w="15875">
            <a:solidFill>
              <a:srgbClr val="8A8F9C"/>
            </a:solidFill>
          </a:ln>
        </p:spPr>
        <p:txBody>
          <a:bodyPr/>
          <a:lstStyle/>
          <a:p>
            <a:endParaRPr lang="zh-TW" altLang="en-US"/>
          </a:p>
        </p:txBody>
      </p:sp>
      <p:sp>
        <p:nvSpPr>
          <p:cNvPr id="21" name="T21"/>
          <p:cNvSpPr txBox="1"/>
          <p:nvPr/>
        </p:nvSpPr>
        <p:spPr>
          <a:xfrm>
            <a:off x="6766560" y="288036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2" name="T22"/>
          <p:cNvSpPr txBox="1"/>
          <p:nvPr/>
        </p:nvSpPr>
        <p:spPr>
          <a:xfrm>
            <a:off x="5120640" y="3657600"/>
            <a:ext cx="2743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兩個都是長度 1</a:t>
            </a:r>
            <a:endParaRPr lang="zh-TW" sz="2400"/>
          </a:p>
        </p:txBody>
      </p:sp>
      <p:sp>
        <p:nvSpPr>
          <p:cNvPr id="23" name="T23"/>
          <p:cNvSpPr txBox="1"/>
          <p:nvPr/>
        </p:nvSpPr>
        <p:spPr>
          <a:xfrm>
            <a:off x="365760" y="8686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eᵣ 在 θ 方向，長度 1：</a:t>
            </a:r>
            <a:endParaRPr lang="zh-TW" sz="2400"/>
          </a:p>
        </p:txBody>
      </p:sp>
      <mc:AlternateContent xmlns:mc="http://schemas.openxmlformats.org/markup-compatibility/2006" xmlns:a14="http://schemas.microsoft.com/office/drawing/2010/main">
        <mc:Choice Requires="a14">
          <p:sp>
            <p:nvSpPr>
              <p:cNvPr id="24" name="T24"/>
              <p:cNvSpPr txBox="1"/>
              <p:nvPr/>
            </p:nvSpPr>
            <p:spPr>
              <a:xfrm>
                <a:off x="365760" y="1325880"/>
                <a:ext cx="457200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r>
                        <m:rPr>
                          <m:sty m:val="p"/>
                        </m:rPr>
                        <a:rPr lang="en-US" altLang="zh-TW" sz="2400" b="0" i="0">
                          <a:solidFill>
                            <a:srgbClr val="1F8899"/>
                          </a:solidFill>
                          <a:latin typeface="Cambria Math" panose="02040503050406030204" pitchFamily="18" charset="0"/>
                          <a:ea typeface="Cambria Math"/>
                        </a:rPr>
                        <m:t>cos</m:t>
                      </m:r>
                      <m:r>
                        <a:rPr lang="en-US" altLang="zh-TW" sz="2400" b="0" i="1">
                          <a:solidFill>
                            <a:srgbClr val="1F8899"/>
                          </a:solidFill>
                          <a:latin typeface="Cambria Math" panose="02040503050406030204" pitchFamily="18" charset="0"/>
                          <a:ea typeface="Cambria Math"/>
                        </a:rPr>
                        <m:t>𝜃</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𝑖</m:t>
                          </m:r>
                        </m:e>
                      </m:acc>
                      <m:r>
                        <a:rPr lang="en-US" altLang="zh-TW" sz="2400" b="0" i="0">
                          <a:solidFill>
                            <a:srgbClr val="1F8899"/>
                          </a:solidFill>
                          <a:latin typeface="Cambria Math" panose="02040503050406030204" pitchFamily="18" charset="0"/>
                          <a:ea typeface="Cambria Math"/>
                        </a:rPr>
                        <m:t> + </m:t>
                      </m:r>
                      <m:r>
                        <m:rPr>
                          <m:sty m:val="p"/>
                        </m:rPr>
                        <a:rPr lang="en-US" altLang="zh-TW" sz="2400" b="0" i="0">
                          <a:solidFill>
                            <a:srgbClr val="1F8899"/>
                          </a:solidFill>
                          <a:latin typeface="Cambria Math" panose="02040503050406030204" pitchFamily="18" charset="0"/>
                          <a:ea typeface="Cambria Math"/>
                        </a:rPr>
                        <m:t>sin</m:t>
                      </m:r>
                      <m:r>
                        <a:rPr lang="en-US" altLang="zh-TW" sz="2400" b="0" i="1">
                          <a:solidFill>
                            <a:srgbClr val="1F8899"/>
                          </a:solidFill>
                          <a:latin typeface="Cambria Math" panose="02040503050406030204" pitchFamily="18" charset="0"/>
                          <a:ea typeface="Cambria Math"/>
                        </a:rPr>
                        <m:t>𝜃</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𝑗</m:t>
                          </m:r>
                        </m:e>
                      </m:acc>
                    </m:oMath>
                  </m:oMathPara>
                </a14:m>
                <a:endParaRPr lang="zh-TW" sz="2400"/>
              </a:p>
            </p:txBody>
          </p:sp>
        </mc:Choice>
        <mc:Fallback xmlns="">
          <p:pic>
            <p:nvPicPr>
              <p:cNvPr id="24" name="F24"/>
              <p:cNvPicPr/>
              <p:nvPr/>
            </p:nvPicPr>
            <p:blipFill>
              <a:blip r:embed="rId4"/>
              <a:stretch>
                <a:fillRect/>
              </a:stretch>
            </p:blipFill>
            <p:spPr>
              <a:xfrm>
                <a:off x="365760" y="1325880"/>
                <a:ext cx="4572000" cy="548640"/>
              </a:xfrm>
              <a:prstGeom prst="rect">
                <a:avLst/>
              </a:prstGeom>
              <a:noFill/>
              <a:ln>
                <a:noFill/>
              </a:ln>
            </p:spPr>
          </p:pic>
        </mc:Fallback>
      </mc:AlternateContent>
      <p:sp>
        <p:nvSpPr>
          <p:cNvPr id="25" name="T25"/>
          <p:cNvSpPr txBox="1"/>
          <p:nvPr/>
        </p:nvSpPr>
        <p:spPr>
          <a:xfrm>
            <a:off x="365760" y="187452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eθ 再往前轉 90°：</a:t>
            </a:r>
            <a:endParaRPr lang="zh-TW" sz="2400"/>
          </a:p>
        </p:txBody>
      </p:sp>
      <mc:AlternateContent xmlns:mc="http://schemas.openxmlformats.org/markup-compatibility/2006" xmlns:a14="http://schemas.microsoft.com/office/drawing/2010/main">
        <mc:Choice Requires="a14">
          <p:sp>
            <p:nvSpPr>
              <p:cNvPr id="26" name="T26"/>
              <p:cNvSpPr txBox="1"/>
              <p:nvPr/>
            </p:nvSpPr>
            <p:spPr>
              <a:xfrm>
                <a:off x="365760" y="2331720"/>
                <a:ext cx="457200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 −</m:t>
                      </m:r>
                      <m:r>
                        <m:rPr>
                          <m:sty m:val="p"/>
                        </m:rPr>
                        <a:rPr lang="en-US" altLang="zh-TW" sz="2400" b="0" i="0">
                          <a:solidFill>
                            <a:srgbClr val="D6006F"/>
                          </a:solidFill>
                          <a:latin typeface="Cambria Math" panose="02040503050406030204" pitchFamily="18" charset="0"/>
                          <a:ea typeface="Cambria Math"/>
                        </a:rPr>
                        <m:t>sin</m:t>
                      </m:r>
                      <m:r>
                        <a:rPr lang="en-US" altLang="zh-TW" sz="2400" b="0" i="1">
                          <a:solidFill>
                            <a:srgbClr val="D6006F"/>
                          </a:solidFill>
                          <a:latin typeface="Cambria Math" panose="02040503050406030204" pitchFamily="18" charset="0"/>
                          <a:ea typeface="Cambria Math"/>
                        </a:rPr>
                        <m:t>𝜃</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m:t>
                      </m:r>
                      <m:r>
                        <m:rPr>
                          <m:sty m:val="p"/>
                        </m:rPr>
                        <a:rPr lang="en-US" altLang="zh-TW" sz="2400" b="0" i="0">
                          <a:solidFill>
                            <a:srgbClr val="D6006F"/>
                          </a:solidFill>
                          <a:latin typeface="Cambria Math" panose="02040503050406030204" pitchFamily="18" charset="0"/>
                          <a:ea typeface="Cambria Math"/>
                        </a:rPr>
                        <m:t>cos</m:t>
                      </m:r>
                      <m:r>
                        <a:rPr lang="en-US" altLang="zh-TW" sz="2400" b="0" i="1">
                          <a:solidFill>
                            <a:srgbClr val="D6006F"/>
                          </a:solidFill>
                          <a:latin typeface="Cambria Math" panose="02040503050406030204" pitchFamily="18" charset="0"/>
                          <a:ea typeface="Cambria Math"/>
                        </a:rPr>
                        <m:t>𝜃</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oMath>
                  </m:oMathPara>
                </a14:m>
                <a:endParaRPr lang="zh-TW" sz="2400"/>
              </a:p>
            </p:txBody>
          </p:sp>
        </mc:Choice>
        <mc:Fallback xmlns="">
          <p:pic>
            <p:nvPicPr>
              <p:cNvPr id="26" name="F26"/>
              <p:cNvPicPr/>
              <p:nvPr/>
            </p:nvPicPr>
            <p:blipFill>
              <a:blip r:embed="rId5"/>
              <a:stretch>
                <a:fillRect/>
              </a:stretch>
            </p:blipFill>
            <p:spPr>
              <a:xfrm>
                <a:off x="365760" y="2331720"/>
                <a:ext cx="4572000" cy="548640"/>
              </a:xfrm>
              <a:prstGeom prst="rect">
                <a:avLst/>
              </a:prstGeom>
              <a:noFill/>
              <a:ln>
                <a:noFill/>
              </a:ln>
            </p:spPr>
          </p:pic>
        </mc:Fallback>
      </mc:AlternateContent>
      <p:sp>
        <p:nvSpPr>
          <p:cNvPr id="27" name="T27"/>
          <p:cNvSpPr txBox="1"/>
          <p:nvPr/>
        </p:nvSpPr>
        <p:spPr>
          <a:xfrm>
            <a:off x="365760" y="3154680"/>
            <a:ext cx="457200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重點：兩個向量只跟 θ 有關</a:t>
            </a:r>
            <a:endParaRPr lang="zh-TW" sz="2400"/>
          </a:p>
          <a:p>
            <a:pPr algn="l">
              <a:lnSpc>
                <a:spcPct val="100000"/>
              </a:lnSpc>
              <a:buNone/>
            </a:pPr>
            <a:r>
              <a:rPr lang="zh-TW" altLang="en-US" sz="2400" b="0" dirty="0">
                <a:solidFill>
                  <a:srgbClr val="2B3050"/>
                </a:solidFill>
                <a:latin typeface="Calibri"/>
                <a:ea typeface="微軟正黑體"/>
                <a:cs typeface="Calibri"/>
              </a:rPr>
              <a:t>i、j 固定不動</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3" grpId="0" animBg="1"/>
      <p:bldP spid="24" grpId="0" animBg="1"/>
      <p:bldP spid="25" grpId="0" animBg="1"/>
      <p:bldP spid="26" grpId="0" animBg="1"/>
      <p:bldP spid="2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微積分（2）對 θ 微分</a:t>
            </a:r>
          </a:p>
        </p:txBody>
      </p:sp>
      <p:sp>
        <p:nvSpPr>
          <p:cNvPr id="11" name="T11"/>
          <p:cNvSpPr txBox="1"/>
          <p:nvPr/>
        </p:nvSpPr>
        <p:spPr>
          <a:xfrm>
            <a:off x="365760" y="868680"/>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1F8899"/>
                </a:solidFill>
                <a:latin typeface="Calibri"/>
                <a:ea typeface="微軟正黑體"/>
                <a:cs typeface="Calibri"/>
              </a:rPr>
              <a:t>eᵣ 對 θ 微分：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07592"/>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d>
                        <m:dPr>
                          <m:ctrlPr>
                            <a:rPr lang="en-US" altLang="zh-TW" sz="2400" b="0" i="0">
                              <a:solidFill>
                                <a:srgbClr val="2B3050"/>
                              </a:solidFill>
                              <a:latin typeface="Cambria Math" panose="02040503050406030204" pitchFamily="18" charset="0"/>
                              <a:ea typeface="Cambria Math"/>
                            </a:rPr>
                          </m:ctrlPr>
                        </m:dPr>
                        <m:e>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e>
                      </m:d>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2" name="F12"/>
              <p:cNvPicPr/>
              <p:nvPr/>
            </p:nvPicPr>
            <p:blipFill>
              <a:blip r:embed="rId2"/>
              <a:stretch>
                <a:fillRect/>
              </a:stretch>
            </p:blipFill>
            <p:spPr>
              <a:xfrm>
                <a:off x="365760" y="1307592"/>
                <a:ext cx="7955280" cy="868680"/>
              </a:xfrm>
              <a:prstGeom prst="rect">
                <a:avLst/>
              </a:prstGeom>
              <a:noFill/>
              <a:ln>
                <a:noFill/>
              </a:ln>
            </p:spPr>
          </p:pic>
        </mc:Fallback>
      </mc:AlternateContent>
      <p:sp>
        <p:nvSpPr>
          <p:cNvPr id="13" name="T13"/>
          <p:cNvSpPr txBox="1"/>
          <p:nvPr/>
        </p:nvSpPr>
        <p:spPr>
          <a:xfrm>
            <a:off x="365760" y="2176272"/>
            <a:ext cx="795528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eθ 對 θ 微分：</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615184"/>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e>
                      </m:d>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4" name="F14"/>
              <p:cNvPicPr/>
              <p:nvPr/>
            </p:nvPicPr>
            <p:blipFill>
              <a:blip r:embed="rId3"/>
              <a:stretch>
                <a:fillRect/>
              </a:stretch>
            </p:blipFill>
            <p:spPr>
              <a:xfrm>
                <a:off x="365760" y="2615184"/>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611880"/>
                <a:ext cx="7955280" cy="9601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用到：</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oMath>
                </a14:m>
                <a:endParaRPr lang="zh-TW" sz="2400"/>
              </a:p>
            </p:txBody>
          </p:sp>
        </mc:Choice>
        <mc:Fallback xmlns="">
          <p:pic>
            <p:nvPicPr>
              <p:cNvPr id="15" name="F15"/>
              <p:cNvPicPr/>
              <p:nvPr/>
            </p:nvPicPr>
            <p:blipFill>
              <a:blip r:embed="rId4"/>
              <a:stretch>
                <a:fillRect/>
              </a:stretch>
            </p:blipFill>
            <p:spPr>
              <a:xfrm>
                <a:off x="365760" y="3611880"/>
                <a:ext cx="7955280" cy="96012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微積分（3）為什麼要用連鎖律？</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我們要的是「對時間 t」微分，不是對 θ</a:t>
            </a:r>
            <a:endParaRPr lang="zh-TW" sz="2400"/>
          </a:p>
        </p:txBody>
      </p:sp>
      <p:sp>
        <p:nvSpPr>
          <p:cNvPr id="12" name="T12"/>
          <p:cNvSpPr txBox="1"/>
          <p:nvPr/>
        </p:nvSpPr>
        <p:spPr>
          <a:xfrm>
            <a:off x="365760" y="13258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但 eᵣ 裡面沒有 t，只有 θ；</a:t>
            </a:r>
            <a:r>
              <a:rPr lang="zh-TW" altLang="en-US" sz="2400" b="1" dirty="0">
                <a:solidFill>
                  <a:srgbClr val="D6006F"/>
                </a:solidFill>
                <a:latin typeface="Calibri"/>
                <a:ea typeface="微軟正黑體"/>
                <a:cs typeface="Calibri"/>
              </a:rPr>
              <a:t>θ 又隨 t 改變</a:t>
            </a:r>
            <a:endParaRPr lang="zh-TW" sz="2400"/>
          </a:p>
        </p:txBody>
      </p:sp>
      <p:sp>
        <p:nvSpPr>
          <p:cNvPr id="13" name="T13"/>
          <p:cNvSpPr txBox="1"/>
          <p:nvPr/>
        </p:nvSpPr>
        <p:spPr>
          <a:xfrm>
            <a:off x="640080" y="1965960"/>
            <a:ext cx="1828800" cy="685800"/>
          </a:xfrm>
          <a:prstGeom prst="roundRect">
            <a:avLst/>
          </a:prstGeom>
          <a:solidFill>
            <a:srgbClr val="8A8F9C"/>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時間 t</a:t>
            </a:r>
            <a:endParaRPr lang="zh-TW" sz="2400"/>
          </a:p>
        </p:txBody>
      </p:sp>
      <p:sp>
        <p:nvSpPr>
          <p:cNvPr id="14" name="T14"/>
          <p:cNvSpPr txBox="1"/>
          <p:nvPr/>
        </p:nvSpPr>
        <p:spPr>
          <a:xfrm>
            <a:off x="3383280" y="1965960"/>
            <a:ext cx="1828800" cy="68580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角度 θ(t)</a:t>
            </a:r>
            <a:endParaRPr lang="zh-TW" sz="2400"/>
          </a:p>
        </p:txBody>
      </p:sp>
      <p:sp>
        <p:nvSpPr>
          <p:cNvPr id="15" name="T15"/>
          <p:cNvSpPr txBox="1"/>
          <p:nvPr/>
        </p:nvSpPr>
        <p:spPr>
          <a:xfrm>
            <a:off x="6126480" y="1965960"/>
            <a:ext cx="1828800" cy="68580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eᵣ(θ)</a:t>
            </a:r>
            <a:endParaRPr lang="zh-TW" sz="2400"/>
          </a:p>
        </p:txBody>
      </p:sp>
      <p:cxnSp>
        <p:nvCxnSpPr>
          <p:cNvPr id="16" name="L16"/>
          <p:cNvCxnSpPr/>
          <p:nvPr/>
        </p:nvCxnSpPr>
        <p:spPr>
          <a:xfrm>
            <a:off x="2514600" y="2304288"/>
            <a:ext cx="822960" cy="0"/>
          </a:xfrm>
          <a:prstGeom prst="line">
            <a:avLst/>
          </a:prstGeom>
          <a:ln w="31750">
            <a:solidFill>
              <a:srgbClr val="2B3050"/>
            </a:solidFill>
            <a:tailEnd type="triangle" w="med" len="med"/>
          </a:ln>
        </p:spPr>
      </p:cxnSp>
      <p:cxnSp>
        <p:nvCxnSpPr>
          <p:cNvPr id="17" name="L17"/>
          <p:cNvCxnSpPr/>
          <p:nvPr/>
        </p:nvCxnSpPr>
        <p:spPr>
          <a:xfrm>
            <a:off x="5257800" y="2304288"/>
            <a:ext cx="822960" cy="0"/>
          </a:xfrm>
          <a:prstGeom prst="line">
            <a:avLst/>
          </a:prstGeom>
          <a:ln w="31750">
            <a:solidFill>
              <a:srgbClr val="2B3050"/>
            </a:solidFill>
            <a:tailEnd type="triangle" w="med" len="med"/>
          </a:ln>
        </p:spPr>
      </p:cxnSp>
      <mc:AlternateContent xmlns:mc="http://schemas.openxmlformats.org/markup-compatibility/2006" xmlns:a14="http://schemas.microsoft.com/office/drawing/2010/main">
        <mc:Choice Requires="a14">
          <p:sp>
            <p:nvSpPr>
              <p:cNvPr id="18" name="T18"/>
              <p:cNvSpPr txBox="1"/>
              <p:nvPr/>
            </p:nvSpPr>
            <p:spPr>
              <a:xfrm>
                <a:off x="2103120" y="2697480"/>
                <a:ext cx="1737360" cy="868680"/>
              </a:xfrm>
              <a:prstGeom prst="rect">
                <a:avLst/>
              </a:prstGeom>
              <a:noFill/>
              <a:ln>
                <a:noFill/>
              </a:ln>
            </p:spPr>
            <p:txBody>
              <a:bodyPr wrap="square" lIns="54864" tIns="27432" rIns="54864" bIns="27432" anchor="t">
                <a:noAutofit/>
              </a:bodyPr>
              <a:lstStyle/>
              <a:p>
                <a:pPr algn="ctr">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8" name="F18"/>
              <p:cNvPicPr/>
              <p:nvPr/>
            </p:nvPicPr>
            <p:blipFill>
              <a:blip r:embed="rId2"/>
              <a:stretch>
                <a:fillRect/>
              </a:stretch>
            </p:blipFill>
            <p:spPr>
              <a:xfrm>
                <a:off x="2103120" y="2697480"/>
                <a:ext cx="173736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9" name="T19"/>
              <p:cNvSpPr txBox="1"/>
              <p:nvPr/>
            </p:nvSpPr>
            <p:spPr>
              <a:xfrm>
                <a:off x="4846320" y="2697480"/>
                <a:ext cx="1737360" cy="868680"/>
              </a:xfrm>
              <a:prstGeom prst="rect">
                <a:avLst/>
              </a:prstGeom>
              <a:noFill/>
              <a:ln>
                <a:noFill/>
              </a:ln>
            </p:spPr>
            <p:txBody>
              <a:bodyPr wrap="square" lIns="54864" tIns="27432" rIns="54864" bIns="27432" anchor="t">
                <a:noAutofit/>
              </a:bodyPr>
              <a:lstStyle/>
              <a:p>
                <a:pPr algn="ctr">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oMath>
                  </m:oMathPara>
                </a14:m>
                <a:endParaRPr lang="zh-TW" sz="2400"/>
              </a:p>
            </p:txBody>
          </p:sp>
        </mc:Choice>
        <mc:Fallback xmlns="">
          <p:pic>
            <p:nvPicPr>
              <p:cNvPr id="19" name="F19"/>
              <p:cNvPicPr/>
              <p:nvPr/>
            </p:nvPicPr>
            <p:blipFill>
              <a:blip r:embed="rId3"/>
              <a:stretch>
                <a:fillRect/>
              </a:stretch>
            </p:blipFill>
            <p:spPr>
              <a:xfrm>
                <a:off x="4846320" y="2697480"/>
                <a:ext cx="1737360" cy="868680"/>
              </a:xfrm>
              <a:prstGeom prst="rect">
                <a:avLst/>
              </a:prstGeom>
              <a:noFill/>
              <a:ln>
                <a:noFill/>
              </a:ln>
            </p:spPr>
          </p:pic>
        </mc:Fallback>
      </mc:AlternateContent>
      <p:sp>
        <p:nvSpPr>
          <p:cNvPr id="20" name="T20"/>
          <p:cNvSpPr txBox="1"/>
          <p:nvPr/>
        </p:nvSpPr>
        <p:spPr>
          <a:xfrm>
            <a:off x="365760" y="3657600"/>
            <a:ext cx="7955280" cy="9144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兩層關係 → 一層一層微分，再相乘（連鎖律）</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微積分（4）eᵣ 對時間微分</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連鎖律：先對 θ 微，再乘上 θ 對 t 的微分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258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2" name="F12"/>
              <p:cNvPicPr/>
              <p:nvPr/>
            </p:nvPicPr>
            <p:blipFill>
              <a:blip r:embed="rId2"/>
              <a:stretch>
                <a:fillRect/>
              </a:stretch>
            </p:blipFill>
            <p:spPr>
              <a:xfrm>
                <a:off x="365760" y="13258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19456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　（代入第 (2) 頁結果）</a:t>
                </a:r>
                <a:endParaRPr lang="zh-TW" sz="2400"/>
              </a:p>
            </p:txBody>
          </p:sp>
        </mc:Choice>
        <mc:Fallback xmlns="">
          <p:pic>
            <p:nvPicPr>
              <p:cNvPr id="13" name="F13"/>
              <p:cNvPicPr/>
              <p:nvPr/>
            </p:nvPicPr>
            <p:blipFill>
              <a:blip r:embed="rId3"/>
              <a:stretch>
                <a:fillRect/>
              </a:stretch>
            </p:blipFill>
            <p:spPr>
              <a:xfrm>
                <a:off x="365760" y="21945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74320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4"/>
              <a:stretch>
                <a:fillRect/>
              </a:stretch>
            </p:blipFill>
            <p:spPr>
              <a:xfrm>
                <a:off x="365760" y="274320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429000"/>
                <a:ext cx="7955280" cy="11430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意義：eᵣ 轉動的快慢＝</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（角速度）</a:t>
                </a:r>
                <a:endParaRPr lang="zh-TW" sz="2400"/>
              </a:p>
              <a:p>
                <a:pPr algn="l">
                  <a:lnSpc>
                    <a:spcPct val="100000"/>
                  </a:lnSpc>
                  <a:buNone/>
                </a:pPr>
                <a:r>
                  <a:rPr lang="zh-TW" altLang="en-US" sz="2400" b="0" dirty="0">
                    <a:solidFill>
                      <a:srgbClr val="2B3050"/>
                    </a:solidFill>
                    <a:latin typeface="Calibri"/>
                    <a:ea typeface="微軟正黑體"/>
                    <a:cs typeface="Calibri"/>
                  </a:rPr>
                  <a:t>變化的方向＝eθ（往 θ 增加的方向）</a:t>
                </a:r>
                <a:endParaRPr lang="zh-TW" sz="2400"/>
              </a:p>
            </p:txBody>
          </p:sp>
        </mc:Choice>
        <mc:Fallback xmlns="">
          <p:pic>
            <p:nvPicPr>
              <p:cNvPr id="15" name="F15"/>
              <p:cNvPicPr/>
              <p:nvPr/>
            </p:nvPicPr>
            <p:blipFill>
              <a:blip r:embed="rId5"/>
              <a:stretch>
                <a:fillRect/>
              </a:stretch>
            </p:blipFill>
            <p:spPr>
              <a:xfrm>
                <a:off x="365760" y="3429000"/>
                <a:ext cx="7955280" cy="114300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微積分（5）eθ 對時間微分</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一樣用連鎖律，一步一步寫</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258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2" name="F12"/>
              <p:cNvPicPr/>
              <p:nvPr/>
            </p:nvPicPr>
            <p:blipFill>
              <a:blip r:embed="rId2"/>
              <a:stretch>
                <a:fillRect/>
              </a:stretch>
            </p:blipFill>
            <p:spPr>
              <a:xfrm>
                <a:off x="365760" y="13258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19456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e>
                    </m:d>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　（代入第 (2) 頁結果）</a:t>
                </a:r>
                <a:endParaRPr lang="zh-TW" sz="2400"/>
              </a:p>
            </p:txBody>
          </p:sp>
        </mc:Choice>
        <mc:Fallback xmlns="">
          <p:pic>
            <p:nvPicPr>
              <p:cNvPr id="13" name="F13"/>
              <p:cNvPicPr/>
              <p:nvPr/>
            </p:nvPicPr>
            <p:blipFill>
              <a:blip r:embed="rId3"/>
              <a:stretch>
                <a:fillRect/>
              </a:stretch>
            </p:blipFill>
            <p:spPr>
              <a:xfrm>
                <a:off x="365760" y="21945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74320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oMath>
                  </m:oMathPara>
                </a14:m>
                <a:endParaRPr lang="zh-TW" sz="2400"/>
              </a:p>
            </p:txBody>
          </p:sp>
        </mc:Choice>
        <mc:Fallback xmlns="">
          <p:pic>
            <p:nvPicPr>
              <p:cNvPr id="14" name="F14"/>
              <p:cNvPicPr/>
              <p:nvPr/>
            </p:nvPicPr>
            <p:blipFill>
              <a:blip r:embed="rId4"/>
              <a:stretch>
                <a:fillRect/>
              </a:stretch>
            </p:blipFill>
            <p:spPr>
              <a:xfrm>
                <a:off x="365760" y="2743200"/>
                <a:ext cx="7955280" cy="548640"/>
              </a:xfrm>
              <a:prstGeom prst="rect">
                <a:avLst/>
              </a:prstGeom>
              <a:noFill/>
              <a:ln>
                <a:noFill/>
              </a:ln>
            </p:spPr>
          </p:pic>
        </mc:Fallback>
      </mc:AlternateContent>
      <p:sp>
        <p:nvSpPr>
          <p:cNvPr id="15" name="T15"/>
          <p:cNvSpPr txBox="1"/>
          <p:nvPr/>
        </p:nvSpPr>
        <p:spPr>
          <a:xfrm>
            <a:off x="365760" y="3429000"/>
            <a:ext cx="7955280" cy="11430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意義：負號表示 eθ 的變化方向</a:t>
            </a:r>
            <a:endParaRPr lang="zh-TW" sz="2400"/>
          </a:p>
          <a:p>
            <a:pPr algn="l">
              <a:lnSpc>
                <a:spcPct val="100000"/>
              </a:lnSpc>
              <a:buNone/>
            </a:pPr>
            <a:r>
              <a:rPr lang="zh-TW" altLang="en-US" sz="2400" b="0" dirty="0">
                <a:solidFill>
                  <a:srgbClr val="2B3050"/>
                </a:solidFill>
                <a:latin typeface="Calibri"/>
                <a:ea typeface="微軟正黑體"/>
                <a:cs typeface="Calibri"/>
              </a:rPr>
              <a:t>指向 −eᵣ，也就是指回 O 點</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微積分（6）用分量再驗算一次</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0">
                              <a:solidFill>
                                <a:srgbClr val="2B3050"/>
                              </a:solidFill>
                              <a:latin typeface="Cambria Math" panose="02040503050406030204" pitchFamily="18" charset="0"/>
                              <a:ea typeface="Cambria Math"/>
                            </a:rPr>
                          </m:ctrlPr>
                        </m:dPr>
                        <m:e>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e>
                      </m:d>
                    </m:oMath>
                  </m:oMathPara>
                </a14:m>
                <a:endParaRPr lang="zh-TW" sz="2400"/>
              </a:p>
            </p:txBody>
          </p:sp>
        </mc:Choice>
        <mc:Fallback xmlns="">
          <p:pic>
            <p:nvPicPr>
              <p:cNvPr id="11" name="F11"/>
              <p:cNvPicPr/>
              <p:nvPr/>
            </p:nvPicPr>
            <p:blipFill>
              <a:blip r:embed="rId2"/>
              <a:stretch>
                <a:fillRect/>
              </a:stretch>
            </p:blipFill>
            <p:spPr>
              <a:xfrm>
                <a:off x="365760" y="8686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𝑖</m:t>
                          </m:r>
                        </m:e>
                      </m:acc>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𝑗</m:t>
                          </m:r>
                        </m:e>
                      </m:acc>
                    </m:oMath>
                  </m:oMathPara>
                </a14:m>
                <a:endParaRPr lang="zh-TW" sz="2400"/>
              </a:p>
            </p:txBody>
          </p:sp>
        </mc:Choice>
        <mc:Fallback xmlns="">
          <p:pic>
            <p:nvPicPr>
              <p:cNvPr id="12" name="F12"/>
              <p:cNvPicPr/>
              <p:nvPr/>
            </p:nvPicPr>
            <p:blipFill>
              <a:blip r:embed="rId3"/>
              <a:stretch>
                <a:fillRect/>
              </a:stretch>
            </p:blipFill>
            <p:spPr>
              <a:xfrm>
                <a:off x="365760" y="17373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8600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sin</m:t>
                        </m:r>
                        <m:r>
                          <a:rPr lang="en-US" altLang="zh-TW" sz="2400" b="0" i="1">
                            <a:solidFill>
                              <a:srgbClr val="D6006F"/>
                            </a:solidFill>
                            <a:latin typeface="Cambria Math" panose="02040503050406030204" pitchFamily="18" charset="0"/>
                            <a:ea typeface="Cambria Math"/>
                          </a:rPr>
                          <m:t>𝜃</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m:t>
                        </m:r>
                        <m:r>
                          <m:rPr>
                            <m:sty m:val="p"/>
                          </m:rPr>
                          <a:rPr lang="en-US" altLang="zh-TW" sz="2400" b="0" i="0">
                            <a:solidFill>
                              <a:srgbClr val="D6006F"/>
                            </a:solidFill>
                            <a:latin typeface="Cambria Math" panose="02040503050406030204" pitchFamily="18" charset="0"/>
                            <a:ea typeface="Cambria Math"/>
                          </a:rPr>
                          <m:t>cos</m:t>
                        </m:r>
                        <m:r>
                          <a:rPr lang="en-US" altLang="zh-TW" sz="2400" b="0" i="1">
                            <a:solidFill>
                              <a:srgbClr val="D6006F"/>
                            </a:solidFill>
                            <a:latin typeface="Cambria Math" panose="02040503050406030204" pitchFamily="18" charset="0"/>
                            <a:ea typeface="Cambria Math"/>
                          </a:rPr>
                          <m:t>𝜃</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e>
                    </m:d>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a14:m>
                <a:r>
                  <a:rPr lang="zh-TW" altLang="en-US" sz="2400" b="0" dirty="0">
                    <a:solidFill>
                      <a:srgbClr val="D6006F"/>
                    </a:solidFill>
                    <a:latin typeface="Calibri"/>
                    <a:ea typeface="微軟正黑體"/>
                    <a:cs typeface="Calibri"/>
                  </a:rPr>
                  <a:t> ✓</a:t>
                </a:r>
                <a:endParaRPr lang="zh-TW" sz="2400"/>
              </a:p>
            </p:txBody>
          </p:sp>
        </mc:Choice>
        <mc:Fallback xmlns="">
          <p:pic>
            <p:nvPicPr>
              <p:cNvPr id="13" name="F13"/>
              <p:cNvPicPr/>
              <p:nvPr/>
            </p:nvPicPr>
            <p:blipFill>
              <a:blip r:embed="rId4"/>
              <a:stretch>
                <a:fillRect/>
              </a:stretch>
            </p:blipFill>
            <p:spPr>
              <a:xfrm>
                <a:off x="365760" y="228600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063240"/>
                <a:ext cx="7955280" cy="150876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連鎖律的小例子：</a:t>
                </a:r>
                <a:endParaRPr lang="zh-TW" sz="2400"/>
              </a:p>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5"/>
              <a:stretch>
                <a:fillRect/>
              </a:stretch>
            </p:blipFill>
            <p:spPr>
              <a:xfrm>
                <a:off x="365760" y="3063240"/>
                <a:ext cx="7955280" cy="150876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公式推導（7）速度：乘積法則</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oMath>
                  </m:oMathPara>
                </a14:m>
                <a:endParaRPr lang="zh-TW" sz="2400"/>
              </a:p>
            </p:txBody>
          </p:sp>
        </mc:Choice>
        <mc:Fallback xmlns="">
          <p:pic>
            <p:nvPicPr>
              <p:cNvPr id="11" name="F11"/>
              <p:cNvPicPr/>
              <p:nvPr/>
            </p:nvPicPr>
            <p:blipFill>
              <a:blip r:embed="rId2"/>
              <a:stretch>
                <a:fillRect/>
              </a:stretch>
            </p:blipFill>
            <p:spPr>
              <a:xfrm>
                <a:off x="365760" y="868680"/>
                <a:ext cx="484632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48463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𝑟</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e>
                      </m:d>
                    </m:oMath>
                  </m:oMathPara>
                </a14:m>
                <a:endParaRPr lang="zh-TW" sz="2400"/>
              </a:p>
            </p:txBody>
          </p:sp>
        </mc:Choice>
        <mc:Fallback xmlns="">
          <p:pic>
            <p:nvPicPr>
              <p:cNvPr id="12" name="F12"/>
              <p:cNvPicPr/>
              <p:nvPr/>
            </p:nvPicPr>
            <p:blipFill>
              <a:blip r:embed="rId3"/>
              <a:stretch>
                <a:fillRect/>
              </a:stretch>
            </p:blipFill>
            <p:spPr>
              <a:xfrm>
                <a:off x="365760" y="137160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40280"/>
                <a:ext cx="484632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p:txBody>
          </p:sp>
        </mc:Choice>
        <mc:Fallback xmlns="">
          <p:pic>
            <p:nvPicPr>
              <p:cNvPr id="13" name="F13"/>
              <p:cNvPicPr/>
              <p:nvPr/>
            </p:nvPicPr>
            <p:blipFill>
              <a:blip r:embed="rId4"/>
              <a:stretch>
                <a:fillRect/>
              </a:stretch>
            </p:blipFill>
            <p:spPr>
              <a:xfrm>
                <a:off x="365760" y="2240280"/>
                <a:ext cx="484632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10896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5"/>
              <a:stretch>
                <a:fillRect/>
              </a:stretch>
            </p:blipFill>
            <p:spPr>
              <a:xfrm>
                <a:off x="365760" y="310896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794760"/>
                <a:ext cx="4846320" cy="9144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乘積法則：</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𝑓𝑔</m:t>
                        </m:r>
                      </m:e>
                    </m:d>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𝑓</m:t>
                        </m:r>
                      </m:e>
                    </m:acc>
                    <m:r>
                      <a:rPr lang="en-US" altLang="zh-TW" sz="2400" b="0" i="1">
                        <a:solidFill>
                          <a:srgbClr val="2B3050"/>
                        </a:solidFill>
                        <a:latin typeface="Cambria Math" panose="02040503050406030204" pitchFamily="18" charset="0"/>
                        <a:ea typeface="Cambria Math"/>
                      </a:rPr>
                      <m:t>𝑔</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𝑓</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𝑔</m:t>
                        </m:r>
                      </m:e>
                    </m:acc>
                  </m:oMath>
                </a14:m>
                <a:endParaRPr lang="zh-TW" sz="2400"/>
              </a:p>
            </p:txBody>
          </p:sp>
        </mc:Choice>
        <mc:Fallback xmlns="">
          <p:pic>
            <p:nvPicPr>
              <p:cNvPr id="15" name="F15"/>
              <p:cNvPicPr/>
              <p:nvPr/>
            </p:nvPicPr>
            <p:blipFill>
              <a:blip r:embed="rId6"/>
              <a:stretch>
                <a:fillRect/>
              </a:stretch>
            </p:blipFill>
            <p:spPr>
              <a:xfrm>
                <a:off x="365760" y="3794760"/>
                <a:ext cx="4846320" cy="914400"/>
              </a:xfrm>
              <a:prstGeom prst="roundRect">
                <a:avLst/>
              </a:prstGeom>
              <a:solidFill>
                <a:srgbClr val="E8F4F6"/>
              </a:solidFill>
              <a:ln w="19050">
                <a:solidFill>
                  <a:srgbClr val="1F8899"/>
                </a:solidFill>
              </a:ln>
            </p:spPr>
          </p:pic>
        </mc:Fallback>
      </mc:AlternateContent>
      <p:cxnSp>
        <p:nvCxnSpPr>
          <p:cNvPr id="16" name="L16"/>
          <p:cNvCxnSpPr/>
          <p:nvPr/>
        </p:nvCxnSpPr>
        <p:spPr>
          <a:xfrm>
            <a:off x="5349240" y="3063240"/>
            <a:ext cx="2148840" cy="0"/>
          </a:xfrm>
          <a:prstGeom prst="line">
            <a:avLst/>
          </a:prstGeom>
          <a:ln w="12700">
            <a:solidFill>
              <a:srgbClr val="8A8F9C"/>
            </a:solidFill>
            <a:prstDash val="dash"/>
          </a:ln>
        </p:spPr>
      </p:cxnSp>
      <p:sp>
        <p:nvSpPr>
          <p:cNvPr id="17" name="S17"/>
          <p:cNvSpPr/>
          <p:nvPr/>
        </p:nvSpPr>
        <p:spPr>
          <a:xfrm>
            <a:off x="5440680" y="3017520"/>
            <a:ext cx="91440" cy="91440"/>
          </a:xfrm>
          <a:prstGeom prst="ellipse">
            <a:avLst/>
          </a:prstGeom>
          <a:solidFill>
            <a:srgbClr val="2B3050"/>
          </a:solidFill>
          <a:ln>
            <a:noFill/>
          </a:ln>
        </p:spPr>
        <p:txBody>
          <a:bodyPr/>
          <a:lstStyle/>
          <a:p>
            <a:endParaRPr lang="zh-TW" altLang="en-US"/>
          </a:p>
        </p:txBody>
      </p:sp>
      <p:sp>
        <p:nvSpPr>
          <p:cNvPr id="18" name="T18"/>
          <p:cNvSpPr txBox="1"/>
          <p:nvPr/>
        </p:nvSpPr>
        <p:spPr>
          <a:xfrm>
            <a:off x="5120640" y="2953512"/>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9" name="P19"/>
          <p:cNvSpPr/>
          <p:nvPr/>
        </p:nvSpPr>
        <p:spPr>
          <a:xfrm>
            <a:off x="5882347" y="2834640"/>
            <a:ext cx="61253" cy="228600"/>
          </a:xfrm>
          <a:custGeom>
            <a:avLst/>
            <a:gdLst/>
            <a:ahLst/>
            <a:cxnLst/>
            <a:rect l="0" t="0" r="r" b="b"/>
            <a:pathLst>
              <a:path w="61253" h="228600">
                <a:moveTo>
                  <a:pt x="61253" y="228600"/>
                </a:moveTo>
                <a:lnTo>
                  <a:pt x="60627" y="204672"/>
                </a:lnTo>
                <a:lnTo>
                  <a:pt x="58749" y="180810"/>
                </a:lnTo>
                <a:lnTo>
                  <a:pt x="55624" y="157078"/>
                </a:lnTo>
                <a:lnTo>
                  <a:pt x="51262" y="133543"/>
                </a:lnTo>
                <a:lnTo>
                  <a:pt x="45674" y="110268"/>
                </a:lnTo>
                <a:lnTo>
                  <a:pt x="38876" y="87317"/>
                </a:lnTo>
                <a:lnTo>
                  <a:pt x="30886" y="64754"/>
                </a:lnTo>
                <a:lnTo>
                  <a:pt x="21726" y="42640"/>
                </a:lnTo>
                <a:lnTo>
                  <a:pt x="11421" y="21036"/>
                </a:lnTo>
                <a:lnTo>
                  <a:pt x="0" y="0"/>
                </a:lnTo>
              </a:path>
            </a:pathLst>
          </a:custGeom>
          <a:noFill/>
          <a:ln w="15875">
            <a:solidFill>
              <a:srgbClr val="8A8F9C"/>
            </a:solidFill>
            <a:tailEnd type="triangle"/>
          </a:ln>
        </p:spPr>
        <p:txBody>
          <a:bodyPr/>
          <a:lstStyle/>
          <a:p>
            <a:endParaRPr lang="zh-TW" altLang="en-US"/>
          </a:p>
        </p:txBody>
      </p:sp>
      <p:sp>
        <p:nvSpPr>
          <p:cNvPr id="20" name="T20"/>
          <p:cNvSpPr txBox="1"/>
          <p:nvPr/>
        </p:nvSpPr>
        <p:spPr>
          <a:xfrm>
            <a:off x="5989320" y="260604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1" name="P21"/>
          <p:cNvSpPr/>
          <p:nvPr/>
        </p:nvSpPr>
        <p:spPr>
          <a:xfrm>
            <a:off x="6470703" y="1603951"/>
            <a:ext cx="289600" cy="1569206"/>
          </a:xfrm>
          <a:custGeom>
            <a:avLst/>
            <a:gdLst/>
            <a:ahLst/>
            <a:cxnLst/>
            <a:rect l="0" t="0" r="r" b="b"/>
            <a:pathLst>
              <a:path w="289600" h="1569206">
                <a:moveTo>
                  <a:pt x="61497" y="1569206"/>
                </a:moveTo>
                <a:lnTo>
                  <a:pt x="87500" y="1534236"/>
                </a:lnTo>
                <a:lnTo>
                  <a:pt x="112309" y="1497583"/>
                </a:lnTo>
                <a:lnTo>
                  <a:pt x="135837" y="1459289"/>
                </a:lnTo>
                <a:lnTo>
                  <a:pt x="158001" y="1419398"/>
                </a:lnTo>
                <a:lnTo>
                  <a:pt x="178717" y="1377962"/>
                </a:lnTo>
                <a:lnTo>
                  <a:pt x="197906" y="1335033"/>
                </a:lnTo>
                <a:lnTo>
                  <a:pt x="215486" y="1290669"/>
                </a:lnTo>
                <a:lnTo>
                  <a:pt x="231384" y="1244930"/>
                </a:lnTo>
                <a:lnTo>
                  <a:pt x="245522" y="1197881"/>
                </a:lnTo>
                <a:lnTo>
                  <a:pt x="257831" y="1149590"/>
                </a:lnTo>
                <a:lnTo>
                  <a:pt x="268241" y="1100128"/>
                </a:lnTo>
                <a:lnTo>
                  <a:pt x="276684" y="1049569"/>
                </a:lnTo>
                <a:lnTo>
                  <a:pt x="283098" y="997992"/>
                </a:lnTo>
                <a:lnTo>
                  <a:pt x="287423" y="945478"/>
                </a:lnTo>
                <a:lnTo>
                  <a:pt x="289600" y="892111"/>
                </a:lnTo>
                <a:lnTo>
                  <a:pt x="289576" y="837976"/>
                </a:lnTo>
                <a:lnTo>
                  <a:pt x="287301" y="783165"/>
                </a:lnTo>
                <a:lnTo>
                  <a:pt x="282727" y="727769"/>
                </a:lnTo>
                <a:lnTo>
                  <a:pt x="275812" y="671881"/>
                </a:lnTo>
                <a:lnTo>
                  <a:pt x="266516" y="615601"/>
                </a:lnTo>
                <a:lnTo>
                  <a:pt x="254804" y="559025"/>
                </a:lnTo>
                <a:lnTo>
                  <a:pt x="240644" y="502255"/>
                </a:lnTo>
                <a:lnTo>
                  <a:pt x="224010" y="445394"/>
                </a:lnTo>
                <a:lnTo>
                  <a:pt x="204878" y="388546"/>
                </a:lnTo>
                <a:lnTo>
                  <a:pt x="183229" y="331816"/>
                </a:lnTo>
                <a:lnTo>
                  <a:pt x="159050" y="275313"/>
                </a:lnTo>
                <a:lnTo>
                  <a:pt x="132329" y="219143"/>
                </a:lnTo>
                <a:lnTo>
                  <a:pt x="103063" y="163417"/>
                </a:lnTo>
                <a:lnTo>
                  <a:pt x="71249" y="108244"/>
                </a:lnTo>
                <a:lnTo>
                  <a:pt x="36892" y="53735"/>
                </a:lnTo>
                <a:lnTo>
                  <a:pt x="0" y="0"/>
                </a:lnTo>
              </a:path>
            </a:pathLst>
          </a:custGeom>
          <a:noFill/>
          <a:ln w="19050">
            <a:solidFill>
              <a:srgbClr val="8A8F9C"/>
            </a:solidFill>
            <a:prstDash val="dash"/>
            <a:tailEnd type="triangle"/>
          </a:ln>
        </p:spPr>
        <p:txBody>
          <a:bodyPr/>
          <a:lstStyle/>
          <a:p>
            <a:endParaRPr lang="zh-TW" altLang="en-US"/>
          </a:p>
        </p:txBody>
      </p:sp>
      <p:cxnSp>
        <p:nvCxnSpPr>
          <p:cNvPr id="22" name="L22"/>
          <p:cNvCxnSpPr/>
          <p:nvPr/>
        </p:nvCxnSpPr>
        <p:spPr>
          <a:xfrm flipV="1">
            <a:off x="5486400" y="2331720"/>
            <a:ext cx="1267030" cy="731520"/>
          </a:xfrm>
          <a:prstGeom prst="line">
            <a:avLst/>
          </a:prstGeom>
          <a:ln w="25400">
            <a:solidFill>
              <a:srgbClr val="2B3050"/>
            </a:solidFill>
          </a:ln>
        </p:spPr>
      </p:cxnSp>
      <p:sp>
        <p:nvSpPr>
          <p:cNvPr id="23" name="S23"/>
          <p:cNvSpPr/>
          <p:nvPr/>
        </p:nvSpPr>
        <p:spPr>
          <a:xfrm>
            <a:off x="6449903" y="3090862"/>
            <a:ext cx="164592" cy="164592"/>
          </a:xfrm>
          <a:prstGeom prst="ellipse">
            <a:avLst/>
          </a:prstGeom>
          <a:solidFill>
            <a:srgbClr val="2B3050"/>
          </a:solidFill>
          <a:ln>
            <a:noFill/>
          </a:ln>
        </p:spPr>
        <p:txBody>
          <a:bodyPr/>
          <a:lstStyle/>
          <a:p>
            <a:endParaRPr lang="zh-TW" altLang="en-US"/>
          </a:p>
        </p:txBody>
      </p:sp>
      <p:sp>
        <p:nvSpPr>
          <p:cNvPr id="24" name="T24"/>
          <p:cNvSpPr txBox="1"/>
          <p:nvPr/>
        </p:nvSpPr>
        <p:spPr>
          <a:xfrm>
            <a:off x="6808294" y="1892808"/>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P</a:t>
            </a:r>
            <a:endParaRPr lang="zh-TW" sz="2400"/>
          </a:p>
        </p:txBody>
      </p:sp>
      <p:cxnSp>
        <p:nvCxnSpPr>
          <p:cNvPr id="25" name="L25"/>
          <p:cNvCxnSpPr/>
          <p:nvPr/>
        </p:nvCxnSpPr>
        <p:spPr>
          <a:xfrm flipV="1">
            <a:off x="6753430" y="2011680"/>
            <a:ext cx="554326" cy="320040"/>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6" name="T26"/>
              <p:cNvSpPr txBox="1"/>
              <p:nvPr/>
            </p:nvSpPr>
            <p:spPr>
              <a:xfrm>
                <a:off x="7302070" y="2286000"/>
                <a:ext cx="54864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oMath>
                  </m:oMathPara>
                </a14:m>
                <a:endParaRPr lang="zh-TW" sz="2400"/>
              </a:p>
            </p:txBody>
          </p:sp>
        </mc:Choice>
        <mc:Fallback xmlns="">
          <p:pic>
            <p:nvPicPr>
              <p:cNvPr id="26" name="F26"/>
              <p:cNvPicPr/>
              <p:nvPr/>
            </p:nvPicPr>
            <p:blipFill>
              <a:blip r:embed="rId7"/>
              <a:stretch>
                <a:fillRect/>
              </a:stretch>
            </p:blipFill>
            <p:spPr>
              <a:xfrm>
                <a:off x="7302070" y="2286000"/>
                <a:ext cx="548640" cy="384048"/>
              </a:xfrm>
              <a:prstGeom prst="rect">
                <a:avLst/>
              </a:prstGeom>
              <a:noFill/>
              <a:ln>
                <a:noFill/>
              </a:ln>
            </p:spPr>
          </p:pic>
        </mc:Fallback>
      </mc:AlternateContent>
      <p:cxnSp>
        <p:nvCxnSpPr>
          <p:cNvPr id="27" name="L27"/>
          <p:cNvCxnSpPr/>
          <p:nvPr/>
        </p:nvCxnSpPr>
        <p:spPr>
          <a:xfrm>
            <a:off x="6250510" y="1460637"/>
            <a:ext cx="502920" cy="871083"/>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8" name="T28"/>
              <p:cNvSpPr txBox="1"/>
              <p:nvPr/>
            </p:nvSpPr>
            <p:spPr>
              <a:xfrm>
                <a:off x="5564710" y="1277757"/>
                <a:ext cx="64008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28" name="F28"/>
              <p:cNvPicPr/>
              <p:nvPr/>
            </p:nvPicPr>
            <p:blipFill>
              <a:blip r:embed="rId8"/>
              <a:stretch>
                <a:fillRect/>
              </a:stretch>
            </p:blipFill>
            <p:spPr>
              <a:xfrm>
                <a:off x="5564710" y="1277757"/>
                <a:ext cx="640080" cy="384048"/>
              </a:xfrm>
              <a:prstGeom prst="rect">
                <a:avLst/>
              </a:prstGeom>
              <a:noFill/>
              <a:ln>
                <a:noFill/>
              </a:ln>
            </p:spPr>
          </p:pic>
        </mc:Fallback>
      </mc:AlternateContent>
      <p:cxnSp>
        <p:nvCxnSpPr>
          <p:cNvPr id="29" name="L29"/>
          <p:cNvCxnSpPr/>
          <p:nvPr/>
        </p:nvCxnSpPr>
        <p:spPr>
          <a:xfrm flipV="1">
            <a:off x="6753430" y="1140597"/>
            <a:ext cx="51406" cy="1191123"/>
          </a:xfrm>
          <a:prstGeom prst="line">
            <a:avLst/>
          </a:prstGeom>
          <a:ln w="38100">
            <a:solidFill>
              <a:srgbClr val="C8901F"/>
            </a:solidFill>
            <a:tailEnd type="triangle" w="med" len="med"/>
          </a:ln>
        </p:spPr>
      </p:cxnSp>
      <mc:AlternateContent xmlns:mc="http://schemas.openxmlformats.org/markup-compatibility/2006" xmlns:a14="http://schemas.microsoft.com/office/drawing/2010/main">
        <mc:Choice Requires="a14">
          <p:sp>
            <p:nvSpPr>
              <p:cNvPr id="30" name="T30"/>
              <p:cNvSpPr txBox="1"/>
              <p:nvPr/>
            </p:nvSpPr>
            <p:spPr>
              <a:xfrm>
                <a:off x="6850555" y="866277"/>
                <a:ext cx="45720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30" name="F30"/>
              <p:cNvPicPr/>
              <p:nvPr/>
            </p:nvPicPr>
            <p:blipFill>
              <a:blip r:embed="rId9"/>
              <a:stretch>
                <a:fillRect/>
              </a:stretch>
            </p:blipFill>
            <p:spPr>
              <a:xfrm>
                <a:off x="6850555" y="866277"/>
                <a:ext cx="457200" cy="384048"/>
              </a:xfrm>
              <a:prstGeom prst="rect">
                <a:avLst/>
              </a:prstGeom>
              <a:noFill/>
              <a:ln>
                <a:noFill/>
              </a:ln>
            </p:spPr>
          </p:pic>
        </mc:Fallback>
      </mc:AlternateContent>
      <p:sp>
        <p:nvSpPr>
          <p:cNvPr id="31" name="T31"/>
          <p:cNvSpPr txBox="1"/>
          <p:nvPr/>
        </p:nvSpPr>
        <p:spPr>
          <a:xfrm>
            <a:off x="5257800" y="3291840"/>
            <a:ext cx="3108960" cy="141732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ṙ：r 伸長的快慢</a:t>
            </a:r>
            <a:endParaRPr lang="zh-TW" sz="2400"/>
          </a:p>
          <a:p>
            <a:pPr algn="l">
              <a:lnSpc>
                <a:spcPct val="100000"/>
              </a:lnSpc>
              <a:buNone/>
            </a:pPr>
            <a:r>
              <a:rPr lang="zh-TW" altLang="en-US" sz="2400" b="0" dirty="0">
                <a:solidFill>
                  <a:srgbClr val="2B3050"/>
                </a:solidFill>
                <a:latin typeface="Calibri"/>
                <a:ea typeface="微軟正黑體"/>
                <a:cs typeface="Calibri"/>
              </a:rPr>
              <a:t>rθ̇：轉動造成</a:t>
            </a:r>
            <a:endParaRPr lang="zh-TW" sz="2400"/>
          </a:p>
          <a:p>
            <a:pPr algn="l">
              <a:lnSpc>
                <a:spcPct val="100000"/>
              </a:lnSpc>
              <a:buNone/>
            </a:pPr>
            <a:r>
              <a:rPr lang="zh-TW" altLang="en-US" sz="2400" b="0" dirty="0">
                <a:solidFill>
                  <a:srgbClr val="2B3050"/>
                </a:solidFill>
                <a:latin typeface="Calibri"/>
                <a:ea typeface="微軟正黑體"/>
                <a:cs typeface="Calibri"/>
              </a:rPr>
              <a:t>r 越大，轉得越快</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0" presetClass="path" presetSubtype="0" fill="hold" grpId="1" nodeType="withEffect">
                                  <p:stCondLst>
                                    <p:cond delay="0"/>
                                  </p:stCondLst>
                                  <p:childTnLst>
                                    <p:animMotion origin="layout" path="M 0 0 L 0.00000 0.00000 L 0.00284 -0.00680 L 0.00556 -0.01393 L 0.00813 -0.02137 L 0.01055 -0.02913 L 0.01282 -0.03718 L 0.01492 -0.04553 L 0.01684 -0.05415 L 0.01858 -0.06305 L 0.02013 -0.07219 L 0.02147 -0.08158 L 0.02261 -0.09120 L 0.02353 -0.10103 L 0.02423 -0.11106 L 0.02471 -0.12127 L 0.02495 -0.13164 L 0.02494 -0.14217 L 0.02469 -0.15282 L 0.02419 -0.16359 E" pathEditMode="relative" ptsTypes="">
                                      <p:cBhvr>
                                        <p:cTn id="46" dur="1500" fill="hold"/>
                                        <p:tgtEl>
                                          <p:spTgt spid="23"/>
                                        </p:tgtEl>
                                        <p:attrNameLst>
                                          <p:attrName>ppt_x</p:attrName>
                                          <p:attrName>ppt_y</p:attrName>
                                        </p:attrNameLst>
                                      </p:cBhvr>
                                    </p:animMotion>
                                  </p:childTnLst>
                                </p:cTn>
                              </p:par>
                              <p:par>
                                <p:cTn id="47" presetID="10" presetClass="entr" presetSubtype="0" fill="hold" grpId="0" nodeType="withEffect">
                                  <p:stCondLst>
                                    <p:cond delay="15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9" grpId="0" animBg="1"/>
      <p:bldP spid="20" grpId="0" animBg="1"/>
      <p:bldP spid="21" grpId="0" animBg="1"/>
      <p:bldP spid="22" grpId="0" animBg="1"/>
      <p:bldP spid="23" grpId="0" animBg="1"/>
      <p:bldP spid="23" grpId="1"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公式推導（8）加速度：再微分一次</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e>
                      </m:d>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e>
                      </m:d>
                    </m:oMath>
                  </m:oMathPara>
                </a14:m>
                <a:endParaRPr lang="zh-TW" sz="2400"/>
              </a:p>
            </p:txBody>
          </p:sp>
        </mc:Choice>
        <mc:Fallback xmlns="">
          <p:pic>
            <p:nvPicPr>
              <p:cNvPr id="11" name="F11"/>
              <p:cNvPicPr/>
              <p:nvPr/>
            </p:nvPicPr>
            <p:blipFill>
              <a:blip r:embed="rId2"/>
              <a:stretch>
                <a:fillRect/>
              </a:stretch>
            </p:blipFill>
            <p:spPr>
              <a:xfrm>
                <a:off x="365760" y="8686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r>
                      <a:rPr lang="en-US" altLang="zh-TW" sz="2400" b="0" i="1">
                        <a:solidFill>
                          <a:srgbClr val="2B3050"/>
                        </a:solidFill>
                        <a:latin typeface="Cambria Math" panose="02040503050406030204" pitchFamily="18" charset="0"/>
                        <a:ea typeface="Cambria Math"/>
                      </a:rPr>
                      <m:t>第一項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a14:m>
                <a:r>
                  <a:rPr lang="zh-TW" altLang="en-US" sz="2400" b="0" dirty="0">
                    <a:solidFill>
                      <a:srgbClr val="2B3050"/>
                    </a:solidFill>
                    <a:latin typeface="Calibri"/>
                    <a:ea typeface="微軟正黑體"/>
                    <a:cs typeface="Calibri"/>
                  </a:rPr>
                  <a:t>　（乘積法則）</a:t>
                </a:r>
                <a:endParaRPr lang="zh-TW" sz="2400"/>
              </a:p>
            </p:txBody>
          </p:sp>
        </mc:Choice>
        <mc:Fallback xmlns="">
          <p:pic>
            <p:nvPicPr>
              <p:cNvPr id="12" name="F12"/>
              <p:cNvPicPr/>
              <p:nvPr/>
            </p:nvPicPr>
            <p:blipFill>
              <a:blip r:embed="rId3"/>
              <a:stretch>
                <a:fillRect/>
              </a:stretch>
            </p:blipFill>
            <p:spPr>
              <a:xfrm>
                <a:off x="365760" y="17373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86000"/>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第二項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e>
                      </m:d>
                    </m:oMath>
                  </m:oMathPara>
                </a14:m>
                <a:endParaRPr lang="zh-TW" sz="2400"/>
              </a:p>
            </p:txBody>
          </p:sp>
        </mc:Choice>
        <mc:Fallback xmlns="">
          <p:pic>
            <p:nvPicPr>
              <p:cNvPr id="13" name="F13"/>
              <p:cNvPicPr/>
              <p:nvPr/>
            </p:nvPicPr>
            <p:blipFill>
              <a:blip r:embed="rId4"/>
              <a:stretch>
                <a:fillRect/>
              </a:stretch>
            </p:blipFill>
            <p:spPr>
              <a:xfrm>
                <a:off x="365760" y="2286000"/>
                <a:ext cx="795528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880360"/>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m:t>
                      </m:r>
                      <m:d>
                        <m:dPr>
                          <m:ctrlPr>
                            <a:rPr lang="en-US" altLang="zh-TW" sz="2400" b="0" i="1">
                              <a:solidFill>
                                <a:srgbClr val="D6006F"/>
                              </a:solidFill>
                              <a:latin typeface="Cambria Math" panose="02040503050406030204" pitchFamily="18" charset="0"/>
                              <a:ea typeface="Cambria Math"/>
                            </a:rPr>
                          </m:ctrlPr>
                        </m:dPr>
                        <m:e>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d>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14" name="F14"/>
              <p:cNvPicPr/>
              <p:nvPr/>
            </p:nvPicPr>
            <p:blipFill>
              <a:blip r:embed="rId5"/>
              <a:stretch>
                <a:fillRect/>
              </a:stretch>
            </p:blipFill>
            <p:spPr>
              <a:xfrm>
                <a:off x="365760" y="2880360"/>
                <a:ext cx="7955280" cy="594360"/>
              </a:xfrm>
              <a:prstGeom prst="rect">
                <a:avLst/>
              </a:prstGeom>
              <a:noFill/>
              <a:ln>
                <a:noFill/>
              </a:ln>
            </p:spPr>
          </p:pic>
        </mc:Fallback>
      </mc:AlternateContent>
      <p:sp>
        <p:nvSpPr>
          <p:cNvPr id="15" name="T15"/>
          <p:cNvSpPr txBox="1"/>
          <p:nvPr/>
        </p:nvSpPr>
        <p:spPr>
          <a:xfrm>
            <a:off x="365760" y="3611880"/>
            <a:ext cx="7955280" cy="105156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第二項 r·θ̇·eθ：每次只微一個，另外兩個不動</a:t>
            </a:r>
            <a:endParaRPr lang="zh-TW" sz="2400"/>
          </a:p>
          <a:p>
            <a:pPr algn="l">
              <a:lnSpc>
                <a:spcPct val="100000"/>
              </a:lnSpc>
              <a:buNone/>
            </a:pPr>
            <a:r>
              <a:rPr lang="zh-TW" altLang="en-US" sz="2400" b="0" dirty="0">
                <a:solidFill>
                  <a:srgbClr val="2B3050"/>
                </a:solidFill>
                <a:latin typeface="Calibri"/>
                <a:ea typeface="微軟正黑體"/>
                <a:cs typeface="Calibri"/>
              </a:rPr>
              <a:t>兩個 ṙθ̇ eθ 合併 → 2ṙθ̇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加速度四項的物理意義</a:t>
            </a:r>
          </a:p>
        </p:txBody>
      </p:sp>
      <p:cxnSp>
        <p:nvCxnSpPr>
          <p:cNvPr id="11" name="L11"/>
          <p:cNvCxnSpPr/>
          <p:nvPr/>
        </p:nvCxnSpPr>
        <p:spPr>
          <a:xfrm flipV="1">
            <a:off x="731520" y="1509723"/>
            <a:ext cx="1888122" cy="2696517"/>
          </a:xfrm>
          <a:prstGeom prst="line">
            <a:avLst/>
          </a:prstGeom>
          <a:ln w="50800">
            <a:solidFill>
              <a:srgbClr val="2B3050"/>
            </a:solidFill>
          </a:ln>
        </p:spPr>
      </p:cxnSp>
      <p:sp>
        <p:nvSpPr>
          <p:cNvPr id="12" name="S12"/>
          <p:cNvSpPr/>
          <p:nvPr/>
        </p:nvSpPr>
        <p:spPr>
          <a:xfrm>
            <a:off x="667512" y="4142232"/>
            <a:ext cx="128016" cy="128016"/>
          </a:xfrm>
          <a:prstGeom prst="ellipse">
            <a:avLst/>
          </a:prstGeom>
          <a:solidFill>
            <a:srgbClr val="2B3050"/>
          </a:solidFill>
          <a:ln>
            <a:noFill/>
          </a:ln>
        </p:spPr>
        <p:txBody>
          <a:bodyPr/>
          <a:lstStyle/>
          <a:p>
            <a:endParaRPr lang="zh-TW" altLang="en-US"/>
          </a:p>
        </p:txBody>
      </p:sp>
      <p:sp>
        <p:nvSpPr>
          <p:cNvPr id="13" name="T13"/>
          <p:cNvSpPr txBox="1"/>
          <p:nvPr/>
        </p:nvSpPr>
        <p:spPr>
          <a:xfrm>
            <a:off x="320040" y="402336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4" name="S14"/>
          <p:cNvSpPr/>
          <p:nvPr/>
        </p:nvSpPr>
        <p:spPr>
          <a:xfrm>
            <a:off x="1889684" y="2307978"/>
            <a:ext cx="201168" cy="201168"/>
          </a:xfrm>
          <a:prstGeom prst="ellipse">
            <a:avLst/>
          </a:prstGeom>
          <a:solidFill>
            <a:srgbClr val="C8901F"/>
          </a:solidFill>
          <a:ln w="19050">
            <a:solidFill>
              <a:srgbClr val="2B3050"/>
            </a:solidFill>
          </a:ln>
        </p:spPr>
        <p:txBody>
          <a:bodyPr/>
          <a:lstStyle/>
          <a:p>
            <a:endParaRPr lang="zh-TW" altLang="en-US"/>
          </a:p>
        </p:txBody>
      </p:sp>
      <p:sp>
        <p:nvSpPr>
          <p:cNvPr id="15" name="P15"/>
          <p:cNvSpPr/>
          <p:nvPr/>
        </p:nvSpPr>
        <p:spPr>
          <a:xfrm>
            <a:off x="1046207" y="3756820"/>
            <a:ext cx="233953" cy="449420"/>
          </a:xfrm>
          <a:custGeom>
            <a:avLst/>
            <a:gdLst/>
            <a:ahLst/>
            <a:cxnLst/>
            <a:rect l="0" t="0" r="r" b="b"/>
            <a:pathLst>
              <a:path w="233953" h="449420">
                <a:moveTo>
                  <a:pt x="233953" y="449420"/>
                </a:moveTo>
                <a:lnTo>
                  <a:pt x="231865" y="401602"/>
                </a:lnTo>
                <a:lnTo>
                  <a:pt x="225618" y="354149"/>
                </a:lnTo>
                <a:lnTo>
                  <a:pt x="215259" y="307421"/>
                </a:lnTo>
                <a:lnTo>
                  <a:pt x="200866" y="261774"/>
                </a:lnTo>
                <a:lnTo>
                  <a:pt x="182550" y="217554"/>
                </a:lnTo>
                <a:lnTo>
                  <a:pt x="160449" y="175100"/>
                </a:lnTo>
                <a:lnTo>
                  <a:pt x="134733" y="134733"/>
                </a:lnTo>
                <a:lnTo>
                  <a:pt x="105596" y="96761"/>
                </a:lnTo>
                <a:lnTo>
                  <a:pt x="73260" y="61473"/>
                </a:lnTo>
                <a:lnTo>
                  <a:pt x="37972" y="29137"/>
                </a:lnTo>
                <a:lnTo>
                  <a:pt x="0" y="0"/>
                </a:lnTo>
              </a:path>
            </a:pathLst>
          </a:custGeom>
          <a:noFill/>
          <a:ln w="15875">
            <a:solidFill>
              <a:srgbClr val="8A8F9C"/>
            </a:solidFill>
          </a:ln>
        </p:spPr>
        <p:txBody>
          <a:bodyPr/>
          <a:lstStyle/>
          <a:p>
            <a:endParaRPr lang="zh-TW" altLang="en-US"/>
          </a:p>
        </p:txBody>
      </p:sp>
      <p:cxnSp>
        <p:nvCxnSpPr>
          <p:cNvPr id="16" name="L16"/>
          <p:cNvCxnSpPr/>
          <p:nvPr/>
        </p:nvCxnSpPr>
        <p:spPr>
          <a:xfrm>
            <a:off x="731520" y="4206240"/>
            <a:ext cx="2560320" cy="0"/>
          </a:xfrm>
          <a:prstGeom prst="line">
            <a:avLst/>
          </a:prstGeom>
          <a:ln w="12700">
            <a:solidFill>
              <a:srgbClr val="8A8F9C"/>
            </a:solidFill>
            <a:prstDash val="dash"/>
          </a:ln>
        </p:spPr>
      </p:cxnSp>
      <p:cxnSp>
        <p:nvCxnSpPr>
          <p:cNvPr id="17" name="L17"/>
          <p:cNvCxnSpPr/>
          <p:nvPr/>
        </p:nvCxnSpPr>
        <p:spPr>
          <a:xfrm flipV="1">
            <a:off x="1990268" y="1884239"/>
            <a:ext cx="367135" cy="524323"/>
          </a:xfrm>
          <a:prstGeom prst="line">
            <a:avLst/>
          </a:prstGeom>
          <a:ln w="38100">
            <a:solidFill>
              <a:srgbClr val="1F8899"/>
            </a:solidFill>
            <a:tailEnd type="triangle" w="med" len="med"/>
          </a:ln>
        </p:spPr>
      </p:cxnSp>
      <p:sp>
        <p:nvSpPr>
          <p:cNvPr id="18" name="T18"/>
          <p:cNvSpPr txBox="1"/>
          <p:nvPr/>
        </p:nvSpPr>
        <p:spPr>
          <a:xfrm>
            <a:off x="2447468" y="1631322"/>
            <a:ext cx="5486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①</a:t>
            </a:r>
            <a:endParaRPr lang="zh-TW" sz="2400"/>
          </a:p>
        </p:txBody>
      </p:sp>
      <p:cxnSp>
        <p:nvCxnSpPr>
          <p:cNvPr id="19" name="L19"/>
          <p:cNvCxnSpPr/>
          <p:nvPr/>
        </p:nvCxnSpPr>
        <p:spPr>
          <a:xfrm flipH="1">
            <a:off x="1544461" y="2408562"/>
            <a:ext cx="445807" cy="636678"/>
          </a:xfrm>
          <a:prstGeom prst="line">
            <a:avLst/>
          </a:prstGeom>
          <a:ln w="38100">
            <a:solidFill>
              <a:srgbClr val="C0392B"/>
            </a:solidFill>
            <a:tailEnd type="triangle" w="med" len="med"/>
          </a:ln>
        </p:spPr>
      </p:cxnSp>
      <p:sp>
        <p:nvSpPr>
          <p:cNvPr id="20" name="T20"/>
          <p:cNvSpPr txBox="1"/>
          <p:nvPr/>
        </p:nvSpPr>
        <p:spPr>
          <a:xfrm>
            <a:off x="1761668" y="2911482"/>
            <a:ext cx="5486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0392B"/>
                </a:solidFill>
                <a:latin typeface="Calibri"/>
                <a:ea typeface="微軟正黑體"/>
                <a:cs typeface="Calibri"/>
              </a:rPr>
              <a:t>②</a:t>
            </a:r>
            <a:endParaRPr lang="zh-TW" sz="2400"/>
          </a:p>
        </p:txBody>
      </p:sp>
      <p:cxnSp>
        <p:nvCxnSpPr>
          <p:cNvPr id="21" name="L21"/>
          <p:cNvCxnSpPr/>
          <p:nvPr/>
        </p:nvCxnSpPr>
        <p:spPr>
          <a:xfrm>
            <a:off x="1391042" y="1988979"/>
            <a:ext cx="599226" cy="419583"/>
          </a:xfrm>
          <a:prstGeom prst="line">
            <a:avLst/>
          </a:prstGeom>
          <a:ln w="38100">
            <a:solidFill>
              <a:srgbClr val="D6006F"/>
            </a:solidFill>
            <a:headEnd type="triangle" w="med" len="med"/>
          </a:ln>
        </p:spPr>
      </p:cxnSp>
      <p:sp>
        <p:nvSpPr>
          <p:cNvPr id="22" name="T22"/>
          <p:cNvSpPr txBox="1"/>
          <p:nvPr/>
        </p:nvSpPr>
        <p:spPr>
          <a:xfrm>
            <a:off x="933842" y="1760379"/>
            <a:ext cx="5486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③④</a:t>
            </a:r>
            <a:endParaRPr lang="zh-TW" sz="2400"/>
          </a:p>
        </p:txBody>
      </p:sp>
      <p:sp>
        <p:nvSpPr>
          <p:cNvPr id="23" name="T23"/>
          <p:cNvSpPr txBox="1"/>
          <p:nvPr/>
        </p:nvSpPr>
        <p:spPr>
          <a:xfrm>
            <a:off x="4206240" y="868680"/>
            <a:ext cx="1463040" cy="777240"/>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① r̈</a:t>
            </a:r>
            <a:endParaRPr lang="zh-TW" sz="2400"/>
          </a:p>
        </p:txBody>
      </p:sp>
      <p:sp>
        <p:nvSpPr>
          <p:cNvPr id="24" name="T24"/>
          <p:cNvSpPr txBox="1"/>
          <p:nvPr/>
        </p:nvSpPr>
        <p:spPr>
          <a:xfrm>
            <a:off x="5760720" y="868680"/>
            <a:ext cx="2606040" cy="777240"/>
          </a:xfrm>
          <a:prstGeom prst="roundRect">
            <a:avLst/>
          </a:prstGeom>
          <a:solidFill>
            <a:srgbClr val="E8F4F6"/>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沿桿子方向加速</a:t>
            </a:r>
            <a:endParaRPr lang="zh-TW" sz="2400"/>
          </a:p>
        </p:txBody>
      </p:sp>
      <p:sp>
        <p:nvSpPr>
          <p:cNvPr id="25" name="T25"/>
          <p:cNvSpPr txBox="1"/>
          <p:nvPr/>
        </p:nvSpPr>
        <p:spPr>
          <a:xfrm>
            <a:off x="4206240" y="1737360"/>
            <a:ext cx="1463040" cy="777240"/>
          </a:xfrm>
          <a:prstGeom prst="roundRect">
            <a:avLst/>
          </a:prstGeom>
          <a:solidFill>
            <a:srgbClr val="C0392B"/>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② −rθ̇²</a:t>
            </a:r>
            <a:endParaRPr lang="zh-TW" sz="2400"/>
          </a:p>
        </p:txBody>
      </p:sp>
      <p:sp>
        <p:nvSpPr>
          <p:cNvPr id="26" name="T26"/>
          <p:cNvSpPr txBox="1"/>
          <p:nvPr/>
        </p:nvSpPr>
        <p:spPr>
          <a:xfrm>
            <a:off x="5760720" y="1737360"/>
            <a:ext cx="2606040" cy="777240"/>
          </a:xfrm>
          <a:prstGeom prst="roundRect">
            <a:avLst/>
          </a:prstGeom>
          <a:solidFill>
            <a:srgbClr val="FDECF4"/>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向心，指向 O</a:t>
            </a:r>
            <a:endParaRPr lang="zh-TW" sz="2400"/>
          </a:p>
        </p:txBody>
      </p:sp>
      <p:sp>
        <p:nvSpPr>
          <p:cNvPr id="27" name="T27"/>
          <p:cNvSpPr txBox="1"/>
          <p:nvPr/>
        </p:nvSpPr>
        <p:spPr>
          <a:xfrm>
            <a:off x="4206240" y="2606040"/>
            <a:ext cx="1463040" cy="77724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③ rθ̈</a:t>
            </a:r>
            <a:endParaRPr lang="zh-TW" sz="2400"/>
          </a:p>
        </p:txBody>
      </p:sp>
      <p:sp>
        <p:nvSpPr>
          <p:cNvPr id="28" name="T28"/>
          <p:cNvSpPr txBox="1"/>
          <p:nvPr/>
        </p:nvSpPr>
        <p:spPr>
          <a:xfrm>
            <a:off x="5760720" y="2606040"/>
            <a:ext cx="2606040" cy="777240"/>
          </a:xfrm>
          <a:prstGeom prst="roundRect">
            <a:avLst/>
          </a:prstGeom>
          <a:solidFill>
            <a:srgbClr val="FDECF4"/>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轉速變快造成</a:t>
            </a:r>
            <a:endParaRPr lang="zh-TW" sz="2400"/>
          </a:p>
        </p:txBody>
      </p:sp>
      <p:sp>
        <p:nvSpPr>
          <p:cNvPr id="29" name="T29"/>
          <p:cNvSpPr txBox="1"/>
          <p:nvPr/>
        </p:nvSpPr>
        <p:spPr>
          <a:xfrm>
            <a:off x="4206240" y="3474720"/>
            <a:ext cx="1463040" cy="777240"/>
          </a:xfrm>
          <a:prstGeom prst="roundRect">
            <a:avLst/>
          </a:prstGeom>
          <a:solidFill>
            <a:srgbClr val="D6006F"/>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④ 2ṙθ̇</a:t>
            </a:r>
            <a:endParaRPr lang="zh-TW" sz="2400"/>
          </a:p>
        </p:txBody>
      </p:sp>
      <p:sp>
        <p:nvSpPr>
          <p:cNvPr id="30" name="T30"/>
          <p:cNvSpPr txBox="1"/>
          <p:nvPr/>
        </p:nvSpPr>
        <p:spPr>
          <a:xfrm>
            <a:off x="5760720" y="3474720"/>
            <a:ext cx="2606040" cy="777240"/>
          </a:xfrm>
          <a:prstGeom prst="roundRect">
            <a:avLst/>
          </a:prstGeom>
          <a:solidFill>
            <a:srgbClr val="FDECF4"/>
          </a:solidFill>
          <a:ln>
            <a:noFill/>
          </a:ln>
        </p:spPr>
        <p:txBody>
          <a:bodyPr wrap="square" lIns="91440" tIns="45720" rIns="91440" bIns="45720" anchor="ctr">
            <a:noAutofit/>
          </a:bodyPr>
          <a:lstStyle/>
          <a:p>
            <a:pPr algn="l">
              <a:lnSpc>
                <a:spcPct val="100000"/>
              </a:lnSpc>
              <a:buNone/>
            </a:pPr>
            <a:r>
              <a:rPr lang="zh-TW" altLang="en-US" sz="2400" b="0" dirty="0">
                <a:solidFill>
                  <a:srgbClr val="2B3050"/>
                </a:solidFill>
                <a:latin typeface="Calibri"/>
                <a:ea typeface="微軟正黑體"/>
                <a:cs typeface="Calibri"/>
              </a:rPr>
              <a:t>邊轉邊往外滑（科氏）</a:t>
            </a:r>
            <a:endParaRPr lang="zh-TW" sz="2400"/>
          </a:p>
        </p:txBody>
      </p:sp>
      <p:sp>
        <p:nvSpPr>
          <p:cNvPr id="31" name="T31"/>
          <p:cNvSpPr txBox="1"/>
          <p:nvPr/>
        </p:nvSpPr>
        <p:spPr>
          <a:xfrm>
            <a:off x="4206240" y="4343400"/>
            <a:ext cx="4160520" cy="411480"/>
          </a:xfrm>
          <a:prstGeom prst="roundRect">
            <a:avLst/>
          </a:prstGeom>
          <a:solidFill>
            <a:srgbClr val="FFFFFF"/>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①② → aᵣ　③④ → aθ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2-7 極座標公式總表</a:t>
            </a:r>
          </a:p>
        </p:txBody>
      </p:sp>
      <p:sp>
        <p:nvSpPr>
          <p:cNvPr id="11" name="T11"/>
          <p:cNvSpPr txBox="1"/>
          <p:nvPr/>
        </p:nvSpPr>
        <p:spPr>
          <a:xfrm>
            <a:off x="365760" y="84124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速度</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2"/>
              <a:stretch>
                <a:fillRect/>
              </a:stretch>
            </p:blipFill>
            <p:spPr>
              <a:xfrm>
                <a:off x="2560320" y="841248"/>
                <a:ext cx="5760720" cy="566928"/>
              </a:xfrm>
              <a:prstGeom prst="roundRect">
                <a:avLst/>
              </a:prstGeom>
              <a:solidFill>
                <a:srgbClr val="E8F4F6"/>
              </a:solidFill>
              <a:ln>
                <a:noFill/>
              </a:ln>
            </p:spPr>
          </p:pic>
        </mc:Fallback>
      </mc:AlternateContent>
      <p:sp>
        <p:nvSpPr>
          <p:cNvPr id="13" name="T13"/>
          <p:cNvSpPr txBox="1"/>
          <p:nvPr/>
        </p:nvSpPr>
        <p:spPr>
          <a:xfrm>
            <a:off x="365760" y="1481328"/>
            <a:ext cx="2103120" cy="9326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加速度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481328"/>
                <a:ext cx="5760720" cy="9326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oMath>
                  </m:oMathPara>
                </a14:m>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3"/>
              <a:stretch>
                <a:fillRect/>
              </a:stretch>
            </p:blipFill>
            <p:spPr>
              <a:xfrm>
                <a:off x="2560320" y="1481328"/>
                <a:ext cx="5760720" cy="932688"/>
              </a:xfrm>
              <a:prstGeom prst="roundRect">
                <a:avLst/>
              </a:prstGeom>
              <a:solidFill>
                <a:srgbClr val="E8F4F6"/>
              </a:solidFill>
              <a:ln>
                <a:noFill/>
              </a:ln>
            </p:spPr>
          </p:pic>
        </mc:Fallback>
      </mc:AlternateContent>
      <p:sp>
        <p:nvSpPr>
          <p:cNvPr id="15" name="T15"/>
          <p:cNvSpPr txBox="1"/>
          <p:nvPr/>
        </p:nvSpPr>
        <p:spPr>
          <a:xfrm>
            <a:off x="365760" y="2487168"/>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大小</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487168"/>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16" name="F16"/>
              <p:cNvPicPr/>
              <p:nvPr/>
            </p:nvPicPr>
            <p:blipFill>
              <a:blip r:embed="rId4"/>
              <a:stretch>
                <a:fillRect/>
              </a:stretch>
            </p:blipFill>
            <p:spPr>
              <a:xfrm>
                <a:off x="2560320" y="2487168"/>
                <a:ext cx="5760720" cy="612648"/>
              </a:xfrm>
              <a:prstGeom prst="roundRect">
                <a:avLst/>
              </a:prstGeom>
              <a:solidFill>
                <a:srgbClr val="E8F4F6"/>
              </a:solidFill>
              <a:ln>
                <a:noFill/>
              </a:ln>
            </p:spPr>
          </p:pic>
        </mc:Fallback>
      </mc:AlternateContent>
      <p:sp>
        <p:nvSpPr>
          <p:cNvPr id="17" name="T17"/>
          <p:cNvSpPr txBox="1"/>
          <p:nvPr/>
        </p:nvSpPr>
        <p:spPr>
          <a:xfrm>
            <a:off x="365760" y="317296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圓周運動</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17296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固定：</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8" name="F18"/>
              <p:cNvPicPr/>
              <p:nvPr/>
            </p:nvPicPr>
            <p:blipFill>
              <a:blip r:embed="rId5"/>
              <a:stretch>
                <a:fillRect/>
              </a:stretch>
            </p:blipFill>
            <p:spPr>
              <a:xfrm>
                <a:off x="2560320" y="3172968"/>
                <a:ext cx="5760720" cy="566928"/>
              </a:xfrm>
              <a:prstGeom prst="roundRect">
                <a:avLst/>
              </a:prstGeom>
              <a:solidFill>
                <a:srgbClr val="E8F4F6"/>
              </a:solidFill>
              <a:ln>
                <a:noFill/>
              </a:ln>
            </p:spPr>
          </p:pic>
        </mc:Fallback>
      </mc:AlternateContent>
      <p:sp>
        <p:nvSpPr>
          <p:cNvPr id="19" name="T19"/>
          <p:cNvSpPr txBox="1"/>
          <p:nvPr/>
        </p:nvSpPr>
        <p:spPr>
          <a:xfrm>
            <a:off x="365760" y="3813048"/>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圓柱座標</a:t>
            </a:r>
            <a:endParaRPr lang="zh-TW" sz="2400"/>
          </a:p>
        </p:txBody>
      </p:sp>
      <p:sp>
        <p:nvSpPr>
          <p:cNvPr id="20" name="T20"/>
          <p:cNvSpPr txBox="1"/>
          <p:nvPr/>
        </p:nvSpPr>
        <p:spPr>
          <a:xfrm>
            <a:off x="2560320" y="3813048"/>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再加上 z 方向：z̈ k</a:t>
            </a:r>
            <a:endParaRPr lang="zh-TW" sz="2400"/>
          </a:p>
        </p:txBody>
      </p:sp>
      <p:sp>
        <p:nvSpPr>
          <p:cNvPr id="21" name="T21"/>
          <p:cNvSpPr txBox="1"/>
          <p:nvPr/>
        </p:nvSpPr>
        <p:spPr>
          <a:xfrm>
            <a:off x="365760" y="4361688"/>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2" name="T22"/>
          <p:cNvSpPr txBox="1"/>
          <p:nvPr/>
        </p:nvSpPr>
        <p:spPr>
          <a:xfrm>
            <a:off x="2560320" y="4361688"/>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aᵣ 兩點減平方；aθ 兩點加兩倍</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53602"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2737956" y="812800"/>
            <a:ext cx="3202951"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2941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54626" name="Picture 2"/>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323850" y="1178189"/>
            <a:ext cx="8031163" cy="3357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41004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讀題</a:t>
            </a:r>
          </a:p>
        </p:txBody>
      </p:sp>
      <p:sp>
        <p:nvSpPr>
          <p:cNvPr id="11" name="T11"/>
          <p:cNvSpPr txBox="1"/>
          <p:nvPr/>
        </p:nvSpPr>
        <p:spPr>
          <a:xfrm>
            <a:off x="365760" y="8686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OA 桿繞 O 轉動：</a:t>
            </a:r>
            <a:endParaRPr lang="zh-TW" sz="2400"/>
          </a:p>
        </p:txBody>
      </p:sp>
      <p:sp>
        <p:nvSpPr>
          <p:cNvPr id="12" name="T12"/>
          <p:cNvSpPr txBox="1"/>
          <p:nvPr/>
        </p:nvSpPr>
        <p:spPr>
          <a:xfrm>
            <a:off x="365760" y="13258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　θ = 0.2t²（rad）</a:t>
            </a:r>
            <a:endParaRPr lang="zh-TW" sz="2400"/>
          </a:p>
        </p:txBody>
      </p:sp>
      <p:sp>
        <p:nvSpPr>
          <p:cNvPr id="13" name="T13"/>
          <p:cNvSpPr txBox="1"/>
          <p:nvPr/>
        </p:nvSpPr>
        <p:spPr>
          <a:xfrm>
            <a:off x="365760" y="17830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滑塊 B 沿桿滑動：</a:t>
            </a:r>
            <a:endParaRPr lang="zh-TW" sz="2400"/>
          </a:p>
        </p:txBody>
      </p:sp>
      <p:sp>
        <p:nvSpPr>
          <p:cNvPr id="14" name="T14"/>
          <p:cNvSpPr txBox="1"/>
          <p:nvPr/>
        </p:nvSpPr>
        <p:spPr>
          <a:xfrm>
            <a:off x="365760" y="22402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　r = 0.1 + 0.04t²（m）</a:t>
            </a:r>
            <a:endParaRPr lang="zh-TW" sz="2400"/>
          </a:p>
        </p:txBody>
      </p:sp>
      <p:sp>
        <p:nvSpPr>
          <p:cNvPr id="15" name="T15"/>
          <p:cNvSpPr txBox="1"/>
          <p:nvPr/>
        </p:nvSpPr>
        <p:spPr>
          <a:xfrm>
            <a:off x="365760" y="26974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求：t = 3 s 時 B 的速度與加速度</a:t>
            </a:r>
            <a:endParaRPr lang="zh-TW" sz="2400"/>
          </a:p>
        </p:txBody>
      </p:sp>
      <p:cxnSp>
        <p:nvCxnSpPr>
          <p:cNvPr id="16" name="L16"/>
          <p:cNvCxnSpPr/>
          <p:nvPr/>
        </p:nvCxnSpPr>
        <p:spPr>
          <a:xfrm>
            <a:off x="6766560" y="4343400"/>
            <a:ext cx="1188720" cy="0"/>
          </a:xfrm>
          <a:prstGeom prst="line">
            <a:avLst/>
          </a:prstGeom>
          <a:ln w="15875">
            <a:solidFill>
              <a:srgbClr val="8A8F9C"/>
            </a:solidFill>
            <a:prstDash val="dash"/>
          </a:ln>
        </p:spPr>
      </p:cxnSp>
      <p:cxnSp>
        <p:nvCxnSpPr>
          <p:cNvPr id="17" name="L17"/>
          <p:cNvCxnSpPr/>
          <p:nvPr/>
        </p:nvCxnSpPr>
        <p:spPr>
          <a:xfrm>
            <a:off x="6018782" y="1137618"/>
            <a:ext cx="747778" cy="3205782"/>
          </a:xfrm>
          <a:prstGeom prst="line">
            <a:avLst/>
          </a:prstGeom>
          <a:ln w="50800">
            <a:solidFill>
              <a:srgbClr val="2B3050"/>
            </a:solidFill>
          </a:ln>
        </p:spPr>
      </p:cxnSp>
      <p:sp>
        <p:nvSpPr>
          <p:cNvPr id="18" name="S18"/>
          <p:cNvSpPr/>
          <p:nvPr/>
        </p:nvSpPr>
        <p:spPr>
          <a:xfrm>
            <a:off x="6693408" y="4270248"/>
            <a:ext cx="146304" cy="146304"/>
          </a:xfrm>
          <a:prstGeom prst="ellipse">
            <a:avLst/>
          </a:prstGeom>
          <a:solidFill>
            <a:srgbClr val="FFFFFF"/>
          </a:solidFill>
          <a:ln w="19050">
            <a:solidFill>
              <a:srgbClr val="2B3050"/>
            </a:solidFill>
          </a:ln>
        </p:spPr>
        <p:txBody>
          <a:bodyPr/>
          <a:lstStyle/>
          <a:p>
            <a:endParaRPr lang="zh-TW" altLang="en-US"/>
          </a:p>
        </p:txBody>
      </p:sp>
      <p:sp>
        <p:nvSpPr>
          <p:cNvPr id="19" name="T19"/>
          <p:cNvSpPr txBox="1"/>
          <p:nvPr/>
        </p:nvSpPr>
        <p:spPr>
          <a:xfrm>
            <a:off x="6629400" y="42976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20" name="T20"/>
          <p:cNvSpPr txBox="1"/>
          <p:nvPr/>
        </p:nvSpPr>
        <p:spPr>
          <a:xfrm>
            <a:off x="5561582" y="954738"/>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sp>
        <p:nvSpPr>
          <p:cNvPr id="21" name="S21"/>
          <p:cNvSpPr/>
          <p:nvPr/>
        </p:nvSpPr>
        <p:spPr>
          <a:xfrm>
            <a:off x="6250544" y="2461826"/>
            <a:ext cx="201168" cy="201168"/>
          </a:xfrm>
          <a:prstGeom prst="ellipse">
            <a:avLst/>
          </a:prstGeom>
          <a:solidFill>
            <a:srgbClr val="C8901F"/>
          </a:solidFill>
          <a:ln w="19050">
            <a:solidFill>
              <a:srgbClr val="2B3050"/>
            </a:solidFill>
          </a:ln>
        </p:spPr>
        <p:txBody>
          <a:bodyPr/>
          <a:lstStyle/>
          <a:p>
            <a:endParaRPr lang="zh-TW" altLang="en-US"/>
          </a:p>
        </p:txBody>
      </p:sp>
      <p:sp>
        <p:nvSpPr>
          <p:cNvPr id="22" name="T22"/>
          <p:cNvSpPr txBox="1"/>
          <p:nvPr/>
        </p:nvSpPr>
        <p:spPr>
          <a:xfrm>
            <a:off x="6488288" y="237953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B</a:t>
            </a:r>
            <a:endParaRPr lang="zh-TW" sz="2400"/>
          </a:p>
        </p:txBody>
      </p:sp>
      <p:sp>
        <p:nvSpPr>
          <p:cNvPr id="23" name="P23"/>
          <p:cNvSpPr/>
          <p:nvPr/>
        </p:nvSpPr>
        <p:spPr>
          <a:xfrm>
            <a:off x="6687168" y="3886479"/>
            <a:ext cx="536592" cy="456921"/>
          </a:xfrm>
          <a:custGeom>
            <a:avLst/>
            <a:gdLst/>
            <a:ahLst/>
            <a:cxnLst/>
            <a:rect l="0" t="0" r="r" b="b"/>
            <a:pathLst>
              <a:path w="536592" h="456921">
                <a:moveTo>
                  <a:pt x="536592" y="456921"/>
                </a:moveTo>
                <a:lnTo>
                  <a:pt x="535478" y="425029"/>
                </a:lnTo>
                <a:lnTo>
                  <a:pt x="532143" y="393292"/>
                </a:lnTo>
                <a:lnTo>
                  <a:pt x="526601" y="361864"/>
                </a:lnTo>
                <a:lnTo>
                  <a:pt x="518881" y="330900"/>
                </a:lnTo>
                <a:lnTo>
                  <a:pt x="509019" y="300550"/>
                </a:lnTo>
                <a:lnTo>
                  <a:pt x="497065" y="270961"/>
                </a:lnTo>
                <a:lnTo>
                  <a:pt x="483076" y="242279"/>
                </a:lnTo>
                <a:lnTo>
                  <a:pt x="467120" y="214642"/>
                </a:lnTo>
                <a:lnTo>
                  <a:pt x="449275" y="188186"/>
                </a:lnTo>
                <a:lnTo>
                  <a:pt x="429627" y="163039"/>
                </a:lnTo>
                <a:lnTo>
                  <a:pt x="408274" y="139324"/>
                </a:lnTo>
                <a:lnTo>
                  <a:pt x="385318" y="117156"/>
                </a:lnTo>
                <a:lnTo>
                  <a:pt x="360872" y="96643"/>
                </a:lnTo>
                <a:lnTo>
                  <a:pt x="335055" y="77886"/>
                </a:lnTo>
                <a:lnTo>
                  <a:pt x="307992" y="60975"/>
                </a:lnTo>
                <a:lnTo>
                  <a:pt x="279815" y="45993"/>
                </a:lnTo>
                <a:lnTo>
                  <a:pt x="250662" y="33013"/>
                </a:lnTo>
                <a:lnTo>
                  <a:pt x="220675" y="22098"/>
                </a:lnTo>
                <a:lnTo>
                  <a:pt x="189999" y="13302"/>
                </a:lnTo>
                <a:lnTo>
                  <a:pt x="158784" y="6667"/>
                </a:lnTo>
                <a:lnTo>
                  <a:pt x="127182" y="2226"/>
                </a:lnTo>
                <a:lnTo>
                  <a:pt x="95348" y="0"/>
                </a:lnTo>
                <a:lnTo>
                  <a:pt x="63436" y="0"/>
                </a:lnTo>
                <a:lnTo>
                  <a:pt x="31602" y="2226"/>
                </a:lnTo>
                <a:lnTo>
                  <a:pt x="0" y="6667"/>
                </a:lnTo>
              </a:path>
            </a:pathLst>
          </a:custGeom>
          <a:noFill/>
          <a:ln w="15875">
            <a:solidFill>
              <a:srgbClr val="8A8F9C"/>
            </a:solidFill>
          </a:ln>
        </p:spPr>
        <p:txBody>
          <a:bodyPr/>
          <a:lstStyle/>
          <a:p>
            <a:endParaRPr lang="zh-TW" altLang="en-US"/>
          </a:p>
        </p:txBody>
      </p:sp>
      <p:sp>
        <p:nvSpPr>
          <p:cNvPr id="24" name="T24"/>
          <p:cNvSpPr txBox="1"/>
          <p:nvPr/>
        </p:nvSpPr>
        <p:spPr>
          <a:xfrm>
            <a:off x="7086600" y="356616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5" name="T25"/>
          <p:cNvSpPr txBox="1"/>
          <p:nvPr/>
        </p:nvSpPr>
        <p:spPr>
          <a:xfrm>
            <a:off x="5873044" y="3361465"/>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r</a:t>
            </a:r>
            <a:endParaRPr lang="zh-TW" sz="24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題目給 r(t)、θ(t)，用哪種座標？</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極座標（徑向 r、橫向 θ）</a:t>
            </a:r>
            <a:endParaRPr lang="zh-TW" sz="2400"/>
          </a:p>
        </p:txBody>
      </p:sp>
      <p:sp>
        <p:nvSpPr>
          <p:cNvPr id="15" name="S15"/>
          <p:cNvSpPr/>
          <p:nvPr/>
        </p:nvSpPr>
        <p:spPr>
          <a:xfrm>
            <a:off x="365760" y="1691640"/>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6916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6824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公式需要哪些量？</a:t>
            </a:r>
            <a:endParaRPr lang="zh-TW" sz="2400"/>
          </a:p>
        </p:txBody>
      </p:sp>
      <p:sp>
        <p:nvSpPr>
          <p:cNvPr id="18" name="T18"/>
          <p:cNvSpPr txBox="1"/>
          <p:nvPr/>
        </p:nvSpPr>
        <p:spPr>
          <a:xfrm>
            <a:off x="1188720" y="20665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r、ṙ、r̈、θ、θ̇、θ̈ 共六個</a:t>
            </a:r>
            <a:endParaRPr lang="zh-TW" sz="2400"/>
          </a:p>
        </p:txBody>
      </p:sp>
      <p:sp>
        <p:nvSpPr>
          <p:cNvPr id="19" name="S19"/>
          <p:cNvSpPr/>
          <p:nvPr/>
        </p:nvSpPr>
        <p:spPr>
          <a:xfrm>
            <a:off x="365760" y="2478024"/>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4780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4688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ṙ、r̈ 怎麼來？</a:t>
            </a:r>
            <a:endParaRPr lang="zh-TW" sz="2400"/>
          </a:p>
        </p:txBody>
      </p:sp>
      <p:sp>
        <p:nvSpPr>
          <p:cNvPr id="22" name="T22"/>
          <p:cNvSpPr txBox="1"/>
          <p:nvPr/>
        </p:nvSpPr>
        <p:spPr>
          <a:xfrm>
            <a:off x="1188720" y="28529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對 t 微分一次、兩次，再代 t = 3</a:t>
            </a:r>
            <a:endParaRPr lang="zh-TW" sz="2400"/>
          </a:p>
        </p:txBody>
      </p:sp>
      <p:sp>
        <p:nvSpPr>
          <p:cNvPr id="23" name="S23"/>
          <p:cNvSpPr/>
          <p:nvPr/>
        </p:nvSpPr>
        <p:spPr>
          <a:xfrm>
            <a:off x="365760" y="3264408"/>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26440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25526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θ 用什麼單位計算？</a:t>
            </a:r>
            <a:endParaRPr lang="zh-TW" sz="2400"/>
          </a:p>
        </p:txBody>
      </p:sp>
      <p:sp>
        <p:nvSpPr>
          <p:cNvPr id="26" name="T26"/>
          <p:cNvSpPr txBox="1"/>
          <p:nvPr/>
        </p:nvSpPr>
        <p:spPr>
          <a:xfrm>
            <a:off x="1188720" y="363931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弳度 rad；度數只用來畫圖</a:t>
            </a:r>
            <a:endParaRPr lang="zh-TW" sz="2400"/>
          </a:p>
        </p:txBody>
      </p:sp>
      <p:sp>
        <p:nvSpPr>
          <p:cNvPr id="27" name="S27"/>
          <p:cNvSpPr/>
          <p:nvPr/>
        </p:nvSpPr>
        <p:spPr>
          <a:xfrm>
            <a:off x="365760" y="4050792"/>
            <a:ext cx="365760" cy="365760"/>
          </a:xfrm>
          <a:prstGeom prst="ellipse">
            <a:avLst/>
          </a:prstGeom>
          <a:solidFill>
            <a:srgbClr val="1F8899"/>
          </a:solidFill>
          <a:ln>
            <a:noFill/>
          </a:ln>
        </p:spPr>
        <p:txBody>
          <a:bodyPr/>
          <a:lstStyle/>
          <a:p>
            <a:endParaRPr lang="zh-TW" altLang="en-US"/>
          </a:p>
        </p:txBody>
      </p:sp>
      <p:sp>
        <p:nvSpPr>
          <p:cNvPr id="28" name="T28"/>
          <p:cNvSpPr txBox="1"/>
          <p:nvPr/>
        </p:nvSpPr>
        <p:spPr>
          <a:xfrm>
            <a:off x="365760" y="40507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9" name="T29"/>
          <p:cNvSpPr txBox="1"/>
          <p:nvPr/>
        </p:nvSpPr>
        <p:spPr>
          <a:xfrm>
            <a:off x="822960" y="40416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aᵣ 就是 r̈ 嗎？</a:t>
            </a:r>
            <a:endParaRPr lang="zh-TW" sz="2400"/>
          </a:p>
        </p:txBody>
      </p:sp>
      <p:sp>
        <p:nvSpPr>
          <p:cNvPr id="30" name="T30"/>
          <p:cNvSpPr txBox="1"/>
          <p:nvPr/>
        </p:nvSpPr>
        <p:spPr>
          <a:xfrm>
            <a:off x="1188720" y="44256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不是！aᵣ = r̈ − rθ̇²（還有向心項）</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步驟 1：r 微分兩次，代 t = 3</a:t>
            </a:r>
          </a:p>
        </p:txBody>
      </p:sp>
      <mc:AlternateContent xmlns:mc="http://schemas.openxmlformats.org/markup-compatibility/2006" xmlns:a14="http://schemas.microsoft.com/office/drawing/2010/main">
        <mc:Choice Requires="a14">
          <p:sp>
            <p:nvSpPr>
              <p:cNvPr id="11" name="T11"/>
              <p:cNvSpPr txBox="1"/>
              <p:nvPr/>
            </p:nvSpPr>
            <p:spPr>
              <a:xfrm>
                <a:off x="365760" y="86868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 0.1 + 0.04</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0.08</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2" name="F12"/>
              <p:cNvPicPr/>
              <p:nvPr/>
            </p:nvPicPr>
            <p:blipFill>
              <a:blip r:embed="rId3"/>
              <a:stretch>
                <a:fillRect/>
              </a:stretch>
            </p:blipFill>
            <p:spPr>
              <a:xfrm>
                <a:off x="365760" y="141732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0.08</m:t>
                      </m:r>
                    </m:oMath>
                  </m:oMathPara>
                </a14:m>
                <a:endParaRPr lang="zh-TW" sz="2400"/>
              </a:p>
            </p:txBody>
          </p:sp>
        </mc:Choice>
        <mc:Fallback xmlns="">
          <p:pic>
            <p:nvPicPr>
              <p:cNvPr id="13" name="F13"/>
              <p:cNvPicPr/>
              <p:nvPr/>
            </p:nvPicPr>
            <p:blipFill>
              <a:blip r:embed="rId4"/>
              <a:stretch>
                <a:fillRect/>
              </a:stretch>
            </p:blipFill>
            <p:spPr>
              <a:xfrm>
                <a:off x="365760" y="196596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931920" y="86868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𝑟</m:t>
                      </m:r>
                      <m:r>
                        <a:rPr lang="en-US" altLang="zh-TW" sz="2400" b="0" i="0">
                          <a:solidFill>
                            <a:srgbClr val="D6006F"/>
                          </a:solidFill>
                          <a:latin typeface="Cambria Math" panose="02040503050406030204" pitchFamily="18" charset="0"/>
                          <a:ea typeface="Cambria Math"/>
                        </a:rPr>
                        <m:t> = 0.1 + 0.04</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9</m:t>
                          </m:r>
                        </m:e>
                      </m:d>
                      <m:r>
                        <a:rPr lang="en-US" altLang="zh-TW" sz="2400" b="0" i="0">
                          <a:solidFill>
                            <a:srgbClr val="D6006F"/>
                          </a:solidFill>
                          <a:latin typeface="Cambria Math" panose="02040503050406030204" pitchFamily="18" charset="0"/>
                          <a:ea typeface="Cambria Math"/>
                        </a:rPr>
                        <m:t> = 0.46 </m:t>
                      </m:r>
                      <m:r>
                        <m:rPr>
                          <m:sty m:val="p"/>
                        </m:rPr>
                        <a:rPr lang="en-US" altLang="zh-TW" sz="2400" b="0" i="0">
                          <a:solidFill>
                            <a:srgbClr val="D6006F"/>
                          </a:solidFill>
                          <a:latin typeface="Cambria Math" panose="02040503050406030204" pitchFamily="18" charset="0"/>
                          <a:ea typeface="Cambria Math"/>
                        </a:rPr>
                        <m:t>m</m:t>
                      </m:r>
                    </m:oMath>
                  </m:oMathPara>
                </a14:m>
                <a:endParaRPr lang="zh-TW" sz="2400"/>
              </a:p>
            </p:txBody>
          </p:sp>
        </mc:Choice>
        <mc:Fallback xmlns="">
          <p:pic>
            <p:nvPicPr>
              <p:cNvPr id="14" name="F14"/>
              <p:cNvPicPr/>
              <p:nvPr/>
            </p:nvPicPr>
            <p:blipFill>
              <a:blip r:embed="rId5"/>
              <a:stretch>
                <a:fillRect/>
              </a:stretch>
            </p:blipFill>
            <p:spPr>
              <a:xfrm>
                <a:off x="3931920" y="86868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931920" y="141732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0.08</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3</m:t>
                          </m:r>
                        </m:e>
                      </m:d>
                      <m:r>
                        <a:rPr lang="en-US" altLang="zh-TW" sz="2400" b="0" i="0">
                          <a:solidFill>
                            <a:srgbClr val="D6006F"/>
                          </a:solidFill>
                          <a:latin typeface="Cambria Math" panose="02040503050406030204" pitchFamily="18" charset="0"/>
                          <a:ea typeface="Cambria Math"/>
                        </a:rPr>
                        <m:t> = 0.24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5" name="F15"/>
              <p:cNvPicPr/>
              <p:nvPr/>
            </p:nvPicPr>
            <p:blipFill>
              <a:blip r:embed="rId6"/>
              <a:stretch>
                <a:fillRect/>
              </a:stretch>
            </p:blipFill>
            <p:spPr>
              <a:xfrm>
                <a:off x="3931920" y="141732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3931920" y="196596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0.08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6" name="F16"/>
              <p:cNvPicPr/>
              <p:nvPr/>
            </p:nvPicPr>
            <p:blipFill>
              <a:blip r:embed="rId7"/>
              <a:stretch>
                <a:fillRect/>
              </a:stretch>
            </p:blipFill>
            <p:spPr>
              <a:xfrm>
                <a:off x="3931920" y="196596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7" name="T17"/>
              <p:cNvSpPr txBox="1"/>
              <p:nvPr/>
            </p:nvSpPr>
            <p:spPr>
              <a:xfrm>
                <a:off x="365760" y="2743200"/>
                <a:ext cx="795528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微分公式：</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sup>
                        </m:sSup>
                      </m:e>
                    </m:d>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𝑛</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r>
                          <a:rPr lang="en-US" altLang="zh-TW" sz="2400" b="0" i="0">
                            <a:solidFill>
                              <a:srgbClr val="2B3050"/>
                            </a:solidFill>
                            <a:latin typeface="Cambria Math" panose="02040503050406030204" pitchFamily="18" charset="0"/>
                            <a:ea typeface="Cambria Math"/>
                          </a:rPr>
                          <m:t>−1</m:t>
                        </m:r>
                      </m:sup>
                    </m:sSup>
                    <m:r>
                      <a:rPr lang="en-US" altLang="zh-TW" sz="2400" b="0" i="0">
                        <a:solidFill>
                          <a:srgbClr val="2B3050"/>
                        </a:solidFill>
                        <a:latin typeface="Cambria Math" panose="02040503050406030204" pitchFamily="18" charset="0"/>
                        <a:ea typeface="Cambria Math"/>
                      </a:rPr>
                      <m:t>；常數微分 = 0</m:t>
                    </m:r>
                  </m:oMath>
                </a14:m>
                <a:endParaRPr lang="zh-TW" sz="2400"/>
              </a:p>
            </p:txBody>
          </p:sp>
        </mc:Choice>
        <mc:Fallback xmlns="">
          <p:pic>
            <p:nvPicPr>
              <p:cNvPr id="17" name="F17"/>
              <p:cNvPicPr/>
              <p:nvPr/>
            </p:nvPicPr>
            <p:blipFill>
              <a:blip r:embed="rId8"/>
              <a:stretch>
                <a:fillRect/>
              </a:stretch>
            </p:blipFill>
            <p:spPr>
              <a:xfrm>
                <a:off x="365760" y="2743200"/>
                <a:ext cx="7955280" cy="731520"/>
              </a:xfrm>
              <a:prstGeom prst="roundRect">
                <a:avLst/>
              </a:prstGeom>
              <a:solidFill>
                <a:srgbClr val="E8F4F6"/>
              </a:solidFill>
              <a:ln w="19050">
                <a:solidFill>
                  <a:srgbClr val="1F8899"/>
                </a:solidFill>
              </a:ln>
            </p:spPr>
          </p:pic>
        </mc:Fallback>
      </mc:AlternateContent>
      <p:sp>
        <p:nvSpPr>
          <p:cNvPr id="18" name="T18"/>
          <p:cNvSpPr txBox="1"/>
          <p:nvPr/>
        </p:nvSpPr>
        <p:spPr>
          <a:xfrm>
            <a:off x="365760" y="3611880"/>
            <a:ext cx="7955280" cy="86868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先微分、再代數字；順序不能反</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步驟 2：θ 微分兩次，代 t = 3</a:t>
            </a:r>
          </a:p>
        </p:txBody>
      </p:sp>
      <mc:AlternateContent xmlns:mc="http://schemas.openxmlformats.org/markup-compatibility/2006" xmlns:a14="http://schemas.microsoft.com/office/drawing/2010/main">
        <mc:Choice Requires="a14">
          <p:sp>
            <p:nvSpPr>
              <p:cNvPr id="11" name="T11"/>
              <p:cNvSpPr txBox="1"/>
              <p:nvPr/>
            </p:nvSpPr>
            <p:spPr>
              <a:xfrm>
                <a:off x="365760" y="86868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0.2</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0.4</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2" name="F12"/>
              <p:cNvPicPr/>
              <p:nvPr/>
            </p:nvPicPr>
            <p:blipFill>
              <a:blip r:embed="rId3"/>
              <a:stretch>
                <a:fillRect/>
              </a:stretch>
            </p:blipFill>
            <p:spPr>
              <a:xfrm>
                <a:off x="365760" y="141732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0.4</m:t>
                      </m:r>
                    </m:oMath>
                  </m:oMathPara>
                </a14:m>
                <a:endParaRPr lang="zh-TW" sz="2400"/>
              </a:p>
            </p:txBody>
          </p:sp>
        </mc:Choice>
        <mc:Fallback xmlns="">
          <p:pic>
            <p:nvPicPr>
              <p:cNvPr id="13" name="F13"/>
              <p:cNvPicPr/>
              <p:nvPr/>
            </p:nvPicPr>
            <p:blipFill>
              <a:blip r:embed="rId4"/>
              <a:stretch>
                <a:fillRect/>
              </a:stretch>
            </p:blipFill>
            <p:spPr>
              <a:xfrm>
                <a:off x="365760" y="196596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931920" y="86868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𝜃</m:t>
                      </m:r>
                      <m:r>
                        <a:rPr lang="en-US" altLang="zh-TW" sz="2400" b="0" i="0">
                          <a:solidFill>
                            <a:srgbClr val="D6006F"/>
                          </a:solidFill>
                          <a:latin typeface="Cambria Math" panose="02040503050406030204" pitchFamily="18" charset="0"/>
                          <a:ea typeface="Cambria Math"/>
                        </a:rPr>
                        <m:t> = 0.2</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9</m:t>
                          </m:r>
                        </m:e>
                      </m:d>
                      <m:r>
                        <a:rPr lang="en-US" altLang="zh-TW" sz="2400" b="0" i="0">
                          <a:solidFill>
                            <a:srgbClr val="D6006F"/>
                          </a:solidFill>
                          <a:latin typeface="Cambria Math" panose="02040503050406030204" pitchFamily="18" charset="0"/>
                          <a:ea typeface="Cambria Math"/>
                        </a:rPr>
                        <m:t> = 1.8 </m:t>
                      </m:r>
                      <m:r>
                        <m:rPr>
                          <m:sty m:val="p"/>
                        </m:rPr>
                        <a:rPr lang="en-US" altLang="zh-TW" sz="2400" b="0" i="0">
                          <a:solidFill>
                            <a:srgbClr val="D6006F"/>
                          </a:solidFill>
                          <a:latin typeface="Cambria Math" panose="02040503050406030204" pitchFamily="18" charset="0"/>
                          <a:ea typeface="Cambria Math"/>
                        </a:rPr>
                        <m:t>rad</m:t>
                      </m:r>
                    </m:oMath>
                  </m:oMathPara>
                </a14:m>
                <a:endParaRPr lang="zh-TW" sz="2400"/>
              </a:p>
            </p:txBody>
          </p:sp>
        </mc:Choice>
        <mc:Fallback xmlns="">
          <p:pic>
            <p:nvPicPr>
              <p:cNvPr id="14" name="F14"/>
              <p:cNvPicPr/>
              <p:nvPr/>
            </p:nvPicPr>
            <p:blipFill>
              <a:blip r:embed="rId5"/>
              <a:stretch>
                <a:fillRect/>
              </a:stretch>
            </p:blipFill>
            <p:spPr>
              <a:xfrm>
                <a:off x="3931920" y="86868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931920" y="141732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0.4</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3</m:t>
                          </m:r>
                        </m:e>
                      </m:d>
                      <m:r>
                        <a:rPr lang="en-US" altLang="zh-TW" sz="2400" b="0" i="0">
                          <a:solidFill>
                            <a:srgbClr val="D6006F"/>
                          </a:solidFill>
                          <a:latin typeface="Cambria Math" panose="02040503050406030204" pitchFamily="18" charset="0"/>
                          <a:ea typeface="Cambria Math"/>
                        </a:rPr>
                        <m:t> = 1.2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5" name="F15"/>
              <p:cNvPicPr/>
              <p:nvPr/>
            </p:nvPicPr>
            <p:blipFill>
              <a:blip r:embed="rId6"/>
              <a:stretch>
                <a:fillRect/>
              </a:stretch>
            </p:blipFill>
            <p:spPr>
              <a:xfrm>
                <a:off x="3931920" y="141732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3931920" y="1965960"/>
                <a:ext cx="443484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0.4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6" name="F16"/>
              <p:cNvPicPr/>
              <p:nvPr/>
            </p:nvPicPr>
            <p:blipFill>
              <a:blip r:embed="rId7"/>
              <a:stretch>
                <a:fillRect/>
              </a:stretch>
            </p:blipFill>
            <p:spPr>
              <a:xfrm>
                <a:off x="3931920" y="1965960"/>
                <a:ext cx="443484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7" name="T17"/>
              <p:cNvSpPr txBox="1"/>
              <p:nvPr/>
            </p:nvSpPr>
            <p:spPr>
              <a:xfrm>
                <a:off x="365760" y="2743200"/>
                <a:ext cx="7955280" cy="8686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換成度：</a:t>
                </a:r>
                <a14:m>
                  <m:oMath xmlns:m="http://schemas.openxmlformats.org/officeDocument/2006/math">
                    <m:r>
                      <a:rPr lang="en-US" altLang="zh-TW" sz="2400" b="0" i="0">
                        <a:solidFill>
                          <a:srgbClr val="2B3050"/>
                        </a:solidFill>
                        <a:latin typeface="Cambria Math" panose="02040503050406030204" pitchFamily="18" charset="0"/>
                        <a:ea typeface="Cambria Math"/>
                      </a:rPr>
                      <m:t>1.8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180°</m:t>
                        </m:r>
                      </m:num>
                      <m:den>
                        <m:r>
                          <a:rPr lang="en-US" altLang="zh-TW" sz="2400" b="0" i="1">
                            <a:solidFill>
                              <a:srgbClr val="2B3050"/>
                            </a:solidFill>
                            <a:latin typeface="Cambria Math" panose="02040503050406030204" pitchFamily="18" charset="0"/>
                            <a:ea typeface="Cambria Math"/>
                          </a:rPr>
                          <m:t>𝜋</m:t>
                        </m:r>
                      </m:den>
                    </m:f>
                    <m:r>
                      <a:rPr lang="en-US" altLang="zh-TW" sz="2400" b="0" i="0">
                        <a:solidFill>
                          <a:srgbClr val="2B3050"/>
                        </a:solidFill>
                        <a:latin typeface="Cambria Math" panose="02040503050406030204" pitchFamily="18" charset="0"/>
                        <a:ea typeface="Cambria Math"/>
                      </a:rPr>
                      <m:t> = 103.1°</m:t>
                    </m:r>
                  </m:oMath>
                </a14:m>
                <a:endParaRPr lang="zh-TW" sz="2400"/>
              </a:p>
            </p:txBody>
          </p:sp>
        </mc:Choice>
        <mc:Fallback xmlns="">
          <p:pic>
            <p:nvPicPr>
              <p:cNvPr id="17" name="F17"/>
              <p:cNvPicPr/>
              <p:nvPr/>
            </p:nvPicPr>
            <p:blipFill>
              <a:blip r:embed="rId8"/>
              <a:stretch>
                <a:fillRect/>
              </a:stretch>
            </p:blipFill>
            <p:spPr>
              <a:xfrm>
                <a:off x="365760" y="2743200"/>
                <a:ext cx="7955280" cy="868680"/>
              </a:xfrm>
              <a:prstGeom prst="roundRect">
                <a:avLst/>
              </a:prstGeom>
              <a:solidFill>
                <a:srgbClr val="E8F4F6"/>
              </a:solidFill>
              <a:ln w="19050">
                <a:solidFill>
                  <a:srgbClr val="1F8899"/>
                </a:solidFill>
              </a:ln>
            </p:spPr>
          </p:pic>
        </mc:Fallback>
      </mc:AlternateContent>
      <p:sp>
        <p:nvSpPr>
          <p:cNvPr id="18" name="T18"/>
          <p:cNvSpPr txBox="1"/>
          <p:nvPr/>
        </p:nvSpPr>
        <p:spPr>
          <a:xfrm>
            <a:off x="365760" y="3749040"/>
            <a:ext cx="7955280" cy="77724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課本寫 103.2°，是進位差異，不影響答案</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步驟 3：速度</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0.24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1" name="F11"/>
              <p:cNvPicPr/>
              <p:nvPr/>
            </p:nvPicPr>
            <p:blipFill>
              <a:blip r:embed="rId2"/>
              <a:stretch>
                <a:fillRect/>
              </a:stretch>
            </p:blipFill>
            <p:spPr>
              <a:xfrm>
                <a:off x="365760" y="868680"/>
                <a:ext cx="484632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99032"/>
                <a:ext cx="484632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0.46</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1.2</m:t>
                          </m:r>
                        </m:e>
                      </m:d>
                      <m:r>
                        <a:rPr lang="en-US" altLang="zh-TW" sz="2400" b="0" i="0">
                          <a:solidFill>
                            <a:srgbClr val="2B3050"/>
                          </a:solidFill>
                          <a:latin typeface="Cambria Math" panose="02040503050406030204" pitchFamily="18" charset="0"/>
                          <a:ea typeface="Cambria Math"/>
                        </a:rPr>
                        <m:t> = 0.552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2" name="F12"/>
              <p:cNvPicPr/>
              <p:nvPr/>
            </p:nvPicPr>
            <p:blipFill>
              <a:blip r:embed="rId3"/>
              <a:stretch>
                <a:fillRect/>
              </a:stretch>
            </p:blipFill>
            <p:spPr>
              <a:xfrm>
                <a:off x="365760" y="1399032"/>
                <a:ext cx="484632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34488" y="2416278"/>
                <a:ext cx="484632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0.24</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0.552</m:t>
                              </m:r>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sp>
            <p:nvSpPr>
              <p:cNvPr id="13" name="T13"/>
              <p:cNvSpPr txBox="1">
                <a:spLocks noRot="1" noChangeAspect="1" noMove="1" noResize="1" noEditPoints="1" noAdjustHandles="1" noChangeArrowheads="1" noChangeShapeType="1" noTextEdit="1"/>
              </p:cNvSpPr>
              <p:nvPr/>
            </p:nvSpPr>
            <p:spPr>
              <a:xfrm>
                <a:off x="334488" y="2416278"/>
                <a:ext cx="4846320" cy="566928"/>
              </a:xfrm>
              <a:prstGeom prst="rect">
                <a:avLst/>
              </a:prstGeom>
              <a:blipFill>
                <a:blip r:embed="rId4"/>
                <a:stretch>
                  <a:fillRect/>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T14"/>
              <p:cNvSpPr txBox="1"/>
              <p:nvPr/>
            </p:nvSpPr>
            <p:spPr>
              <a:xfrm>
                <a:off x="334488" y="2983206"/>
                <a:ext cx="484632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0.0576 + 0.3047</m:t>
                          </m:r>
                        </m:e>
                      </m:rad>
                    </m:oMath>
                  </m:oMathPara>
                </a14:m>
                <a:endParaRPr lang="zh-TW" sz="2400"/>
              </a:p>
            </p:txBody>
          </p:sp>
        </mc:Choice>
        <mc:Fallback xmlns="">
          <p:sp>
            <p:nvSpPr>
              <p:cNvPr id="14" name="T14"/>
              <p:cNvSpPr txBox="1">
                <a:spLocks noRot="1" noChangeAspect="1" noMove="1" noResize="1" noEditPoints="1" noAdjustHandles="1" noChangeArrowheads="1" noChangeShapeType="1" noTextEdit="1"/>
              </p:cNvSpPr>
              <p:nvPr/>
            </p:nvSpPr>
            <p:spPr>
              <a:xfrm>
                <a:off x="334488" y="2983206"/>
                <a:ext cx="4846320" cy="566928"/>
              </a:xfrm>
              <a:prstGeom prst="rect">
                <a:avLst/>
              </a:prstGeom>
              <a:blipFill>
                <a:blip r:embed="rId5"/>
                <a:stretch>
                  <a:fillRect/>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T15"/>
              <p:cNvSpPr txBox="1"/>
              <p:nvPr/>
            </p:nvSpPr>
            <p:spPr>
              <a:xfrm>
                <a:off x="334488" y="3550134"/>
                <a:ext cx="484632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r>
                            <a:rPr lang="en-US" altLang="zh-TW" sz="2400" b="0" i="0">
                              <a:solidFill>
                                <a:srgbClr val="D6006F"/>
                              </a:solidFill>
                              <a:latin typeface="Cambria Math" panose="02040503050406030204" pitchFamily="18" charset="0"/>
                              <a:ea typeface="Cambria Math"/>
                            </a:rPr>
                            <m:t>0.3623</m:t>
                          </m:r>
                        </m:e>
                      </m:rad>
                      <m:r>
                        <a:rPr lang="en-US" altLang="zh-TW" sz="2400" b="0" i="0">
                          <a:solidFill>
                            <a:srgbClr val="D6006F"/>
                          </a:solidFill>
                          <a:latin typeface="Cambria Math" panose="02040503050406030204" pitchFamily="18" charset="0"/>
                          <a:ea typeface="Cambria Math"/>
                        </a:rPr>
                        <m:t> = 0.602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sp>
            <p:nvSpPr>
              <p:cNvPr id="15" name="T15"/>
              <p:cNvSpPr txBox="1">
                <a:spLocks noRot="1" noChangeAspect="1" noMove="1" noResize="1" noEditPoints="1" noAdjustHandles="1" noChangeArrowheads="1" noChangeShapeType="1" noTextEdit="1"/>
              </p:cNvSpPr>
              <p:nvPr/>
            </p:nvSpPr>
            <p:spPr>
              <a:xfrm>
                <a:off x="334488" y="3550134"/>
                <a:ext cx="4846320" cy="566928"/>
              </a:xfrm>
              <a:prstGeom prst="rect">
                <a:avLst/>
              </a:prstGeom>
              <a:blipFill>
                <a:blip r:embed="rId6"/>
                <a:stretch>
                  <a:fillRect/>
                </a:stretch>
              </a:blipFill>
              <a:ln>
                <a:noFill/>
              </a:ln>
            </p:spPr>
            <p:txBody>
              <a:bodyPr/>
              <a:lstStyle/>
              <a:p>
                <a:r>
                  <a:rPr lang="zh-TW" altLang="en-US">
                    <a:noFill/>
                  </a:rPr>
                  <a:t> </a:t>
                </a:r>
              </a:p>
            </p:txBody>
          </p:sp>
        </mc:Fallback>
      </mc:AlternateContent>
      <p:cxnSp>
        <p:nvCxnSpPr>
          <p:cNvPr id="16" name="L16"/>
          <p:cNvCxnSpPr/>
          <p:nvPr/>
        </p:nvCxnSpPr>
        <p:spPr>
          <a:xfrm>
            <a:off x="6949440" y="4343400"/>
            <a:ext cx="1188720" cy="0"/>
          </a:xfrm>
          <a:prstGeom prst="line">
            <a:avLst/>
          </a:prstGeom>
          <a:ln w="15875">
            <a:solidFill>
              <a:srgbClr val="8A8F9C"/>
            </a:solidFill>
            <a:prstDash val="dash"/>
          </a:ln>
        </p:spPr>
      </p:cxnSp>
      <p:cxnSp>
        <p:nvCxnSpPr>
          <p:cNvPr id="17" name="L17"/>
          <p:cNvCxnSpPr/>
          <p:nvPr/>
        </p:nvCxnSpPr>
        <p:spPr>
          <a:xfrm>
            <a:off x="6243205" y="1315717"/>
            <a:ext cx="706235" cy="3027683"/>
          </a:xfrm>
          <a:prstGeom prst="line">
            <a:avLst/>
          </a:prstGeom>
          <a:ln w="50800">
            <a:solidFill>
              <a:srgbClr val="2B3050"/>
            </a:solidFill>
          </a:ln>
        </p:spPr>
      </p:cxnSp>
      <p:sp>
        <p:nvSpPr>
          <p:cNvPr id="18" name="S18"/>
          <p:cNvSpPr/>
          <p:nvPr/>
        </p:nvSpPr>
        <p:spPr>
          <a:xfrm>
            <a:off x="6876288" y="4270248"/>
            <a:ext cx="146304" cy="146304"/>
          </a:xfrm>
          <a:prstGeom prst="ellipse">
            <a:avLst/>
          </a:prstGeom>
          <a:solidFill>
            <a:srgbClr val="FFFFFF"/>
          </a:solidFill>
          <a:ln w="19050">
            <a:solidFill>
              <a:srgbClr val="2B3050"/>
            </a:solidFill>
          </a:ln>
        </p:spPr>
        <p:txBody>
          <a:bodyPr/>
          <a:lstStyle/>
          <a:p>
            <a:endParaRPr lang="zh-TW" altLang="en-US"/>
          </a:p>
        </p:txBody>
      </p:sp>
      <p:sp>
        <p:nvSpPr>
          <p:cNvPr id="19" name="T19"/>
          <p:cNvSpPr txBox="1"/>
          <p:nvPr/>
        </p:nvSpPr>
        <p:spPr>
          <a:xfrm>
            <a:off x="6812280" y="42976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20" name="T20"/>
          <p:cNvSpPr txBox="1"/>
          <p:nvPr/>
        </p:nvSpPr>
        <p:spPr>
          <a:xfrm>
            <a:off x="5786005" y="1132837"/>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sp>
        <p:nvSpPr>
          <p:cNvPr id="21" name="S21"/>
          <p:cNvSpPr/>
          <p:nvPr/>
        </p:nvSpPr>
        <p:spPr>
          <a:xfrm>
            <a:off x="6454195" y="2550876"/>
            <a:ext cx="201168" cy="201168"/>
          </a:xfrm>
          <a:prstGeom prst="ellipse">
            <a:avLst/>
          </a:prstGeom>
          <a:solidFill>
            <a:srgbClr val="C8901F"/>
          </a:solidFill>
          <a:ln w="19050">
            <a:solidFill>
              <a:srgbClr val="2B3050"/>
            </a:solidFill>
          </a:ln>
        </p:spPr>
        <p:txBody>
          <a:bodyPr/>
          <a:lstStyle/>
          <a:p>
            <a:endParaRPr lang="zh-TW" altLang="en-US"/>
          </a:p>
        </p:txBody>
      </p:sp>
      <p:sp>
        <p:nvSpPr>
          <p:cNvPr id="22" name="T22"/>
          <p:cNvSpPr txBox="1"/>
          <p:nvPr/>
        </p:nvSpPr>
        <p:spPr>
          <a:xfrm>
            <a:off x="6691939" y="24685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B</a:t>
            </a:r>
            <a:endParaRPr lang="zh-TW" sz="2400"/>
          </a:p>
        </p:txBody>
      </p:sp>
      <p:sp>
        <p:nvSpPr>
          <p:cNvPr id="23" name="P23"/>
          <p:cNvSpPr/>
          <p:nvPr/>
        </p:nvSpPr>
        <p:spPr>
          <a:xfrm>
            <a:off x="6870048" y="3886479"/>
            <a:ext cx="536592" cy="456921"/>
          </a:xfrm>
          <a:custGeom>
            <a:avLst/>
            <a:gdLst/>
            <a:ahLst/>
            <a:cxnLst/>
            <a:rect l="0" t="0" r="r" b="b"/>
            <a:pathLst>
              <a:path w="536592" h="456921">
                <a:moveTo>
                  <a:pt x="536592" y="456921"/>
                </a:moveTo>
                <a:lnTo>
                  <a:pt x="535478" y="425029"/>
                </a:lnTo>
                <a:lnTo>
                  <a:pt x="532143" y="393292"/>
                </a:lnTo>
                <a:lnTo>
                  <a:pt x="526601" y="361864"/>
                </a:lnTo>
                <a:lnTo>
                  <a:pt x="518881" y="330900"/>
                </a:lnTo>
                <a:lnTo>
                  <a:pt x="509019" y="300550"/>
                </a:lnTo>
                <a:lnTo>
                  <a:pt x="497065" y="270961"/>
                </a:lnTo>
                <a:lnTo>
                  <a:pt x="483076" y="242279"/>
                </a:lnTo>
                <a:lnTo>
                  <a:pt x="467120" y="214642"/>
                </a:lnTo>
                <a:lnTo>
                  <a:pt x="449275" y="188186"/>
                </a:lnTo>
                <a:lnTo>
                  <a:pt x="429627" y="163039"/>
                </a:lnTo>
                <a:lnTo>
                  <a:pt x="408274" y="139324"/>
                </a:lnTo>
                <a:lnTo>
                  <a:pt x="385318" y="117156"/>
                </a:lnTo>
                <a:lnTo>
                  <a:pt x="360872" y="96643"/>
                </a:lnTo>
                <a:lnTo>
                  <a:pt x="335055" y="77886"/>
                </a:lnTo>
                <a:lnTo>
                  <a:pt x="307992" y="60975"/>
                </a:lnTo>
                <a:lnTo>
                  <a:pt x="279815" y="45993"/>
                </a:lnTo>
                <a:lnTo>
                  <a:pt x="250662" y="33013"/>
                </a:lnTo>
                <a:lnTo>
                  <a:pt x="220675" y="22098"/>
                </a:lnTo>
                <a:lnTo>
                  <a:pt x="189999" y="13302"/>
                </a:lnTo>
                <a:lnTo>
                  <a:pt x="158784" y="6667"/>
                </a:lnTo>
                <a:lnTo>
                  <a:pt x="127182" y="2226"/>
                </a:lnTo>
                <a:lnTo>
                  <a:pt x="95348" y="0"/>
                </a:lnTo>
                <a:lnTo>
                  <a:pt x="63436" y="0"/>
                </a:lnTo>
                <a:lnTo>
                  <a:pt x="31602" y="2226"/>
                </a:lnTo>
                <a:lnTo>
                  <a:pt x="0" y="6667"/>
                </a:lnTo>
              </a:path>
            </a:pathLst>
          </a:custGeom>
          <a:noFill/>
          <a:ln w="15875">
            <a:solidFill>
              <a:srgbClr val="8A8F9C"/>
            </a:solidFill>
          </a:ln>
        </p:spPr>
        <p:txBody>
          <a:bodyPr/>
          <a:lstStyle/>
          <a:p>
            <a:endParaRPr lang="zh-TW" altLang="en-US"/>
          </a:p>
        </p:txBody>
      </p:sp>
      <p:sp>
        <p:nvSpPr>
          <p:cNvPr id="24" name="T24"/>
          <p:cNvSpPr txBox="1"/>
          <p:nvPr/>
        </p:nvSpPr>
        <p:spPr>
          <a:xfrm>
            <a:off x="7269480" y="356616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5" name="T25"/>
          <p:cNvSpPr txBox="1"/>
          <p:nvPr/>
        </p:nvSpPr>
        <p:spPr>
          <a:xfrm>
            <a:off x="6066310" y="340599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r</a:t>
            </a:r>
            <a:endParaRPr lang="zh-TW" sz="2400"/>
          </a:p>
        </p:txBody>
      </p:sp>
      <p:cxnSp>
        <p:nvCxnSpPr>
          <p:cNvPr id="26" name="L26"/>
          <p:cNvCxnSpPr/>
          <p:nvPr/>
        </p:nvCxnSpPr>
        <p:spPr>
          <a:xfrm>
            <a:off x="6445105" y="2181278"/>
            <a:ext cx="109674" cy="470181"/>
          </a:xfrm>
          <a:prstGeom prst="line">
            <a:avLst/>
          </a:prstGeom>
          <a:ln w="38100">
            <a:solidFill>
              <a:srgbClr val="1F8899"/>
            </a:solidFill>
            <a:headEnd type="triangle" w="med" len="med"/>
          </a:ln>
        </p:spPr>
      </p:cxnSp>
      <p:cxnSp>
        <p:nvCxnSpPr>
          <p:cNvPr id="27" name="L27"/>
          <p:cNvCxnSpPr/>
          <p:nvPr/>
        </p:nvCxnSpPr>
        <p:spPr>
          <a:xfrm flipH="1">
            <a:off x="5473362" y="2651460"/>
            <a:ext cx="1081417" cy="252251"/>
          </a:xfrm>
          <a:prstGeom prst="line">
            <a:avLst/>
          </a:prstGeom>
          <a:ln w="38100">
            <a:solidFill>
              <a:srgbClr val="D6006F"/>
            </a:solidFill>
            <a:tailEnd type="triangle" w="med" len="med"/>
          </a:ln>
        </p:spPr>
      </p:cxnSp>
      <p:cxnSp>
        <p:nvCxnSpPr>
          <p:cNvPr id="28" name="L28"/>
          <p:cNvCxnSpPr/>
          <p:nvPr/>
        </p:nvCxnSpPr>
        <p:spPr>
          <a:xfrm>
            <a:off x="5363688" y="2433529"/>
            <a:ext cx="1191091" cy="217931"/>
          </a:xfrm>
          <a:prstGeom prst="line">
            <a:avLst/>
          </a:prstGeom>
          <a:ln w="44450">
            <a:solidFill>
              <a:srgbClr val="C8901F"/>
            </a:solidFill>
            <a:headEnd type="triangle" w="med" len="med"/>
          </a:ln>
        </p:spPr>
      </p:cxnSp>
      <p:sp>
        <p:nvSpPr>
          <p:cNvPr id="29" name="T29"/>
          <p:cNvSpPr txBox="1"/>
          <p:nvPr/>
        </p:nvSpPr>
        <p:spPr>
          <a:xfrm>
            <a:off x="6646219" y="173706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vᵣ</a:t>
            </a:r>
            <a:endParaRPr lang="zh-TW" sz="2400"/>
          </a:p>
        </p:txBody>
      </p:sp>
      <p:sp>
        <p:nvSpPr>
          <p:cNvPr id="30" name="T30"/>
          <p:cNvSpPr txBox="1"/>
          <p:nvPr/>
        </p:nvSpPr>
        <p:spPr>
          <a:xfrm>
            <a:off x="5091739" y="269718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vθ</a:t>
            </a:r>
            <a:endParaRPr lang="zh-TW" sz="2400"/>
          </a:p>
        </p:txBody>
      </p:sp>
      <p:sp>
        <p:nvSpPr>
          <p:cNvPr id="31" name="T31"/>
          <p:cNvSpPr txBox="1"/>
          <p:nvPr/>
        </p:nvSpPr>
        <p:spPr>
          <a:xfrm>
            <a:off x="5180808" y="1976329"/>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v</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6" grpId="0" animBg="1"/>
      <p:bldP spid="27" grpId="0" animBg="1"/>
      <p:bldP spid="28" grpId="0" animBg="1"/>
      <p:bldP spid="29" grpId="0" animBg="1"/>
      <p:bldP spid="30" grpId="0" animBg="1"/>
      <p:bldP spid="3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步驟 4：徑向加速度 aᵣ</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0.08 − 0.46</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1.2</m:t>
                              </m:r>
                            </m:e>
                          </m:d>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0.08 − 0.46</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1.44</m:t>
                          </m:r>
                        </m:e>
                      </m:d>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0.08 − 0.662</m:t>
                      </m:r>
                    </m:oMath>
                  </m:oMathPara>
                </a14:m>
                <a:endParaRPr lang="zh-TW" sz="2400"/>
              </a:p>
            </p:txBody>
          </p:sp>
        </mc:Choice>
        <mc:Fallback xmlns="">
          <p:pic>
            <p:nvPicPr>
              <p:cNvPr id="14" name="F14"/>
              <p:cNvPicPr/>
              <p:nvPr/>
            </p:nvPicPr>
            <p:blipFill>
              <a:blip r:embed="rId5"/>
              <a:stretch>
                <a:fillRect/>
              </a:stretch>
            </p:blipFill>
            <p:spPr>
              <a:xfrm>
                <a:off x="365760" y="251460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06324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−0.582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5" name="F15"/>
              <p:cNvPicPr/>
              <p:nvPr/>
            </p:nvPicPr>
            <p:blipFill>
              <a:blip r:embed="rId6"/>
              <a:stretch>
                <a:fillRect/>
              </a:stretch>
            </p:blipFill>
            <p:spPr>
              <a:xfrm>
                <a:off x="365760" y="3063240"/>
                <a:ext cx="7955280" cy="548640"/>
              </a:xfrm>
              <a:prstGeom prst="rect">
                <a:avLst/>
              </a:prstGeom>
              <a:noFill/>
              <a:ln>
                <a:noFill/>
              </a:ln>
            </p:spPr>
          </p:pic>
        </mc:Fallback>
      </mc:AlternateContent>
      <p:sp>
        <p:nvSpPr>
          <p:cNvPr id="16" name="T16"/>
          <p:cNvSpPr txBox="1"/>
          <p:nvPr/>
        </p:nvSpPr>
        <p:spPr>
          <a:xfrm>
            <a:off x="365760" y="3749040"/>
            <a:ext cx="7955280" cy="7772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負號：aᵣ 指向 O（向心），不是向外</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步驟 5：橫向加速度 aθ 與大小</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0.46</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0.4</m:t>
                          </m:r>
                        </m:e>
                      </m:d>
                      <m:r>
                        <a:rPr lang="en-US" altLang="zh-TW" sz="2400" b="0" i="0">
                          <a:solidFill>
                            <a:srgbClr val="2B3050"/>
                          </a:solidFill>
                          <a:latin typeface="Cambria Math" panose="02040503050406030204" pitchFamily="18" charset="0"/>
                          <a:ea typeface="Cambria Math"/>
                        </a:rPr>
                        <m:t>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0.24</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1.2</m:t>
                          </m:r>
                        </m:e>
                      </m:d>
                    </m:oMath>
                  </m:oMathPara>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0.184 + 0.576 = 0.76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−0.582</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0.76</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0.339 + 0.578</m:t>
                          </m:r>
                        </m:e>
                      </m:rad>
                    </m:oMath>
                  </m:oMathPara>
                </a14:m>
                <a:endParaRPr lang="zh-TW" sz="2400"/>
              </a:p>
            </p:txBody>
          </p:sp>
        </mc:Choice>
        <mc:Fallback xmlns="">
          <p:pic>
            <p:nvPicPr>
              <p:cNvPr id="14" name="F14"/>
              <p:cNvPicPr/>
              <p:nvPr/>
            </p:nvPicPr>
            <p:blipFill>
              <a:blip r:embed="rId5"/>
              <a:stretch>
                <a:fillRect/>
              </a:stretch>
            </p:blipFill>
            <p:spPr>
              <a:xfrm>
                <a:off x="365760" y="2514600"/>
                <a:ext cx="795528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108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r>
                            <a:rPr lang="en-US" altLang="zh-TW" sz="2400" b="0" i="0">
                              <a:solidFill>
                                <a:srgbClr val="D6006F"/>
                              </a:solidFill>
                              <a:latin typeface="Cambria Math" panose="02040503050406030204" pitchFamily="18" charset="0"/>
                              <a:ea typeface="Cambria Math"/>
                            </a:rPr>
                            <m:t>0.917</m:t>
                          </m:r>
                        </m:e>
                      </m:rad>
                      <m:r>
                        <a:rPr lang="en-US" altLang="zh-TW" sz="2400" b="0" i="0">
                          <a:solidFill>
                            <a:srgbClr val="D6006F"/>
                          </a:solidFill>
                          <a:latin typeface="Cambria Math" panose="02040503050406030204" pitchFamily="18" charset="0"/>
                          <a:ea typeface="Cambria Math"/>
                        </a:rPr>
                        <m:t> = 0.957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5" name="F15"/>
              <p:cNvPicPr/>
              <p:nvPr/>
            </p:nvPicPr>
            <p:blipFill>
              <a:blip r:embed="rId6"/>
              <a:stretch>
                <a:fillRect/>
              </a:stretch>
            </p:blipFill>
            <p:spPr>
              <a:xfrm>
                <a:off x="365760" y="3108960"/>
                <a:ext cx="7955280" cy="548640"/>
              </a:xfrm>
              <a:prstGeom prst="rect">
                <a:avLst/>
              </a:prstGeom>
              <a:noFill/>
              <a:ln>
                <a:noFill/>
              </a:ln>
            </p:spPr>
          </p:pic>
        </mc:Fallback>
      </mc:AlternateContent>
      <p:sp>
        <p:nvSpPr>
          <p:cNvPr id="16" name="T16"/>
          <p:cNvSpPr txBox="1"/>
          <p:nvPr/>
        </p:nvSpPr>
        <p:spPr>
          <a:xfrm>
            <a:off x="365760" y="3840480"/>
            <a:ext cx="7955280" cy="6858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2ṙθ̇ 稱為科氏（Coriolis）加速度項</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加速度分量圖與答案</a:t>
            </a:r>
          </a:p>
        </p:txBody>
      </p:sp>
      <p:cxnSp>
        <p:nvCxnSpPr>
          <p:cNvPr id="11" name="L11"/>
          <p:cNvCxnSpPr/>
          <p:nvPr/>
        </p:nvCxnSpPr>
        <p:spPr>
          <a:xfrm>
            <a:off x="6949440" y="4343400"/>
            <a:ext cx="1188720" cy="0"/>
          </a:xfrm>
          <a:prstGeom prst="line">
            <a:avLst/>
          </a:prstGeom>
          <a:ln w="15875">
            <a:solidFill>
              <a:srgbClr val="8A8F9C"/>
            </a:solidFill>
            <a:prstDash val="dash"/>
          </a:ln>
        </p:spPr>
      </p:cxnSp>
      <p:cxnSp>
        <p:nvCxnSpPr>
          <p:cNvPr id="12" name="L12"/>
          <p:cNvCxnSpPr/>
          <p:nvPr/>
        </p:nvCxnSpPr>
        <p:spPr>
          <a:xfrm>
            <a:off x="6243205" y="1315717"/>
            <a:ext cx="706235" cy="3027683"/>
          </a:xfrm>
          <a:prstGeom prst="line">
            <a:avLst/>
          </a:prstGeom>
          <a:ln w="50800">
            <a:solidFill>
              <a:srgbClr val="2B3050"/>
            </a:solidFill>
          </a:ln>
        </p:spPr>
      </p:cxnSp>
      <p:sp>
        <p:nvSpPr>
          <p:cNvPr id="13" name="S13"/>
          <p:cNvSpPr/>
          <p:nvPr/>
        </p:nvSpPr>
        <p:spPr>
          <a:xfrm>
            <a:off x="6876288" y="4270248"/>
            <a:ext cx="146304" cy="146304"/>
          </a:xfrm>
          <a:prstGeom prst="ellipse">
            <a:avLst/>
          </a:prstGeom>
          <a:solidFill>
            <a:srgbClr val="FFFFFF"/>
          </a:solidFill>
          <a:ln w="19050">
            <a:solidFill>
              <a:srgbClr val="2B3050"/>
            </a:solidFill>
          </a:ln>
        </p:spPr>
        <p:txBody>
          <a:bodyPr/>
          <a:lstStyle/>
          <a:p>
            <a:endParaRPr lang="zh-TW" altLang="en-US"/>
          </a:p>
        </p:txBody>
      </p:sp>
      <p:sp>
        <p:nvSpPr>
          <p:cNvPr id="14" name="T14"/>
          <p:cNvSpPr txBox="1"/>
          <p:nvPr/>
        </p:nvSpPr>
        <p:spPr>
          <a:xfrm>
            <a:off x="6812280" y="42976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T15"/>
          <p:cNvSpPr txBox="1"/>
          <p:nvPr/>
        </p:nvSpPr>
        <p:spPr>
          <a:xfrm>
            <a:off x="5786005" y="1132837"/>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A</a:t>
            </a:r>
            <a:endParaRPr lang="zh-TW" sz="2400"/>
          </a:p>
        </p:txBody>
      </p:sp>
      <p:sp>
        <p:nvSpPr>
          <p:cNvPr id="16" name="S16"/>
          <p:cNvSpPr/>
          <p:nvPr/>
        </p:nvSpPr>
        <p:spPr>
          <a:xfrm>
            <a:off x="6454195" y="2550876"/>
            <a:ext cx="201168" cy="201168"/>
          </a:xfrm>
          <a:prstGeom prst="ellipse">
            <a:avLst/>
          </a:prstGeom>
          <a:solidFill>
            <a:srgbClr val="C8901F"/>
          </a:solidFill>
          <a:ln w="19050">
            <a:solidFill>
              <a:srgbClr val="2B3050"/>
            </a:solidFill>
          </a:ln>
        </p:spPr>
        <p:txBody>
          <a:bodyPr/>
          <a:lstStyle/>
          <a:p>
            <a:endParaRPr lang="zh-TW" altLang="en-US"/>
          </a:p>
        </p:txBody>
      </p:sp>
      <p:sp>
        <p:nvSpPr>
          <p:cNvPr id="17" name="T17"/>
          <p:cNvSpPr txBox="1"/>
          <p:nvPr/>
        </p:nvSpPr>
        <p:spPr>
          <a:xfrm>
            <a:off x="6691939" y="24685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B</a:t>
            </a:r>
            <a:endParaRPr lang="zh-TW" sz="2400"/>
          </a:p>
        </p:txBody>
      </p:sp>
      <p:sp>
        <p:nvSpPr>
          <p:cNvPr id="18" name="P18"/>
          <p:cNvSpPr/>
          <p:nvPr/>
        </p:nvSpPr>
        <p:spPr>
          <a:xfrm>
            <a:off x="6870048" y="3886479"/>
            <a:ext cx="536592" cy="456921"/>
          </a:xfrm>
          <a:custGeom>
            <a:avLst/>
            <a:gdLst/>
            <a:ahLst/>
            <a:cxnLst/>
            <a:rect l="0" t="0" r="r" b="b"/>
            <a:pathLst>
              <a:path w="536592" h="456921">
                <a:moveTo>
                  <a:pt x="536592" y="456921"/>
                </a:moveTo>
                <a:lnTo>
                  <a:pt x="535478" y="425029"/>
                </a:lnTo>
                <a:lnTo>
                  <a:pt x="532143" y="393292"/>
                </a:lnTo>
                <a:lnTo>
                  <a:pt x="526601" y="361864"/>
                </a:lnTo>
                <a:lnTo>
                  <a:pt x="518881" y="330900"/>
                </a:lnTo>
                <a:lnTo>
                  <a:pt x="509019" y="300550"/>
                </a:lnTo>
                <a:lnTo>
                  <a:pt x="497065" y="270961"/>
                </a:lnTo>
                <a:lnTo>
                  <a:pt x="483076" y="242279"/>
                </a:lnTo>
                <a:lnTo>
                  <a:pt x="467120" y="214642"/>
                </a:lnTo>
                <a:lnTo>
                  <a:pt x="449275" y="188186"/>
                </a:lnTo>
                <a:lnTo>
                  <a:pt x="429627" y="163039"/>
                </a:lnTo>
                <a:lnTo>
                  <a:pt x="408274" y="139324"/>
                </a:lnTo>
                <a:lnTo>
                  <a:pt x="385318" y="117156"/>
                </a:lnTo>
                <a:lnTo>
                  <a:pt x="360872" y="96643"/>
                </a:lnTo>
                <a:lnTo>
                  <a:pt x="335055" y="77886"/>
                </a:lnTo>
                <a:lnTo>
                  <a:pt x="307992" y="60975"/>
                </a:lnTo>
                <a:lnTo>
                  <a:pt x="279815" y="45993"/>
                </a:lnTo>
                <a:lnTo>
                  <a:pt x="250662" y="33013"/>
                </a:lnTo>
                <a:lnTo>
                  <a:pt x="220675" y="22098"/>
                </a:lnTo>
                <a:lnTo>
                  <a:pt x="189999" y="13302"/>
                </a:lnTo>
                <a:lnTo>
                  <a:pt x="158784" y="6667"/>
                </a:lnTo>
                <a:lnTo>
                  <a:pt x="127182" y="2226"/>
                </a:lnTo>
                <a:lnTo>
                  <a:pt x="95348" y="0"/>
                </a:lnTo>
                <a:lnTo>
                  <a:pt x="63436" y="0"/>
                </a:lnTo>
                <a:lnTo>
                  <a:pt x="31602" y="2226"/>
                </a:lnTo>
                <a:lnTo>
                  <a:pt x="0" y="6667"/>
                </a:lnTo>
              </a:path>
            </a:pathLst>
          </a:custGeom>
          <a:noFill/>
          <a:ln w="15875">
            <a:solidFill>
              <a:srgbClr val="8A8F9C"/>
            </a:solidFill>
          </a:ln>
        </p:spPr>
        <p:txBody>
          <a:bodyPr/>
          <a:lstStyle/>
          <a:p>
            <a:endParaRPr lang="zh-TW" altLang="en-US"/>
          </a:p>
        </p:txBody>
      </p:sp>
      <p:sp>
        <p:nvSpPr>
          <p:cNvPr id="19" name="T19"/>
          <p:cNvSpPr txBox="1"/>
          <p:nvPr/>
        </p:nvSpPr>
        <p:spPr>
          <a:xfrm>
            <a:off x="7269480" y="356616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θ</a:t>
            </a:r>
            <a:endParaRPr lang="zh-TW" sz="2400"/>
          </a:p>
        </p:txBody>
      </p:sp>
      <p:sp>
        <p:nvSpPr>
          <p:cNvPr id="20" name="T20"/>
          <p:cNvSpPr txBox="1"/>
          <p:nvPr/>
        </p:nvSpPr>
        <p:spPr>
          <a:xfrm>
            <a:off x="6066310" y="340599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r</a:t>
            </a:r>
            <a:endParaRPr lang="zh-TW" sz="2400"/>
          </a:p>
        </p:txBody>
      </p:sp>
      <p:cxnSp>
        <p:nvCxnSpPr>
          <p:cNvPr id="21" name="L21"/>
          <p:cNvCxnSpPr/>
          <p:nvPr/>
        </p:nvCxnSpPr>
        <p:spPr>
          <a:xfrm>
            <a:off x="6554779" y="2651460"/>
            <a:ext cx="181336" cy="777402"/>
          </a:xfrm>
          <a:prstGeom prst="line">
            <a:avLst/>
          </a:prstGeom>
          <a:ln w="38100">
            <a:solidFill>
              <a:srgbClr val="1F8899"/>
            </a:solidFill>
            <a:tailEnd type="triangle" w="med" len="med"/>
          </a:ln>
        </p:spPr>
      </p:cxnSp>
      <p:cxnSp>
        <p:nvCxnSpPr>
          <p:cNvPr id="22" name="L22"/>
          <p:cNvCxnSpPr/>
          <p:nvPr/>
        </p:nvCxnSpPr>
        <p:spPr>
          <a:xfrm flipH="1">
            <a:off x="5539615" y="2651460"/>
            <a:ext cx="1015164" cy="236797"/>
          </a:xfrm>
          <a:prstGeom prst="line">
            <a:avLst/>
          </a:prstGeom>
          <a:ln w="38100">
            <a:solidFill>
              <a:srgbClr val="D6006F"/>
            </a:solidFill>
            <a:tailEnd type="triangle" w="med" len="med"/>
          </a:ln>
        </p:spPr>
      </p:cxnSp>
      <p:cxnSp>
        <p:nvCxnSpPr>
          <p:cNvPr id="23" name="L23"/>
          <p:cNvCxnSpPr/>
          <p:nvPr/>
        </p:nvCxnSpPr>
        <p:spPr>
          <a:xfrm flipH="1">
            <a:off x="5720951" y="2651460"/>
            <a:ext cx="833828" cy="1014199"/>
          </a:xfrm>
          <a:prstGeom prst="line">
            <a:avLst/>
          </a:prstGeom>
          <a:ln w="44450">
            <a:solidFill>
              <a:srgbClr val="C8901F"/>
            </a:solidFill>
            <a:tailEnd type="triangle" w="med" len="med"/>
          </a:ln>
        </p:spPr>
      </p:cxnSp>
      <p:sp>
        <p:nvSpPr>
          <p:cNvPr id="24" name="T24"/>
          <p:cNvSpPr txBox="1"/>
          <p:nvPr/>
        </p:nvSpPr>
        <p:spPr>
          <a:xfrm>
            <a:off x="6783379" y="306294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aᵣ</a:t>
            </a:r>
            <a:endParaRPr lang="zh-TW" sz="2400"/>
          </a:p>
        </p:txBody>
      </p:sp>
      <p:sp>
        <p:nvSpPr>
          <p:cNvPr id="25" name="T25"/>
          <p:cNvSpPr txBox="1"/>
          <p:nvPr/>
        </p:nvSpPr>
        <p:spPr>
          <a:xfrm>
            <a:off x="5228899" y="2102820"/>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aθ</a:t>
            </a:r>
            <a:endParaRPr lang="zh-TW" sz="2400"/>
          </a:p>
        </p:txBody>
      </p:sp>
      <p:sp>
        <p:nvSpPr>
          <p:cNvPr id="26" name="T26"/>
          <p:cNvSpPr txBox="1"/>
          <p:nvPr/>
        </p:nvSpPr>
        <p:spPr>
          <a:xfrm>
            <a:off x="5172311" y="3665658"/>
            <a:ext cx="731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a</a:t>
            </a:r>
            <a:endParaRPr lang="zh-TW" sz="2400"/>
          </a:p>
        </p:txBody>
      </p:sp>
      <p:sp>
        <p:nvSpPr>
          <p:cNvPr id="27" name="T27"/>
          <p:cNvSpPr txBox="1"/>
          <p:nvPr/>
        </p:nvSpPr>
        <p:spPr>
          <a:xfrm>
            <a:off x="365760" y="868680"/>
            <a:ext cx="475488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速度：</a:t>
            </a:r>
            <a:r>
              <a:rPr lang="zh-TW" altLang="en-US" sz="2400" b="0" dirty="0">
                <a:solidFill>
                  <a:srgbClr val="2B3050"/>
                </a:solidFill>
                <a:latin typeface="Calibri"/>
                <a:ea typeface="微軟正黑體"/>
                <a:cs typeface="Calibri"/>
              </a:rPr>
              <a:t>v = 0.602 m/s</a:t>
            </a:r>
            <a:endParaRPr lang="zh-TW" sz="2400"/>
          </a:p>
          <a:p>
            <a:pPr algn="l">
              <a:lnSpc>
                <a:spcPct val="100000"/>
              </a:lnSpc>
              <a:buNone/>
            </a:pPr>
            <a:r>
              <a:rPr lang="zh-TW" altLang="en-US" sz="2400" b="0" dirty="0">
                <a:solidFill>
                  <a:srgbClr val="2B3050"/>
                </a:solidFill>
                <a:latin typeface="Calibri"/>
                <a:ea typeface="微軟正黑體"/>
                <a:cs typeface="Calibri"/>
              </a:rPr>
              <a:t>vᵣ = 0.24，vθ = 0.552</a:t>
            </a:r>
            <a:endParaRPr lang="zh-TW" sz="2400"/>
          </a:p>
        </p:txBody>
      </p:sp>
      <p:sp>
        <p:nvSpPr>
          <p:cNvPr id="28" name="T28"/>
          <p:cNvSpPr txBox="1"/>
          <p:nvPr/>
        </p:nvSpPr>
        <p:spPr>
          <a:xfrm>
            <a:off x="365760" y="2377440"/>
            <a:ext cx="4754880" cy="137160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加速度：</a:t>
            </a:r>
            <a:r>
              <a:rPr lang="zh-TW" altLang="en-US" sz="2400" b="0" dirty="0">
                <a:solidFill>
                  <a:srgbClr val="2B3050"/>
                </a:solidFill>
                <a:latin typeface="Calibri"/>
                <a:ea typeface="微軟正黑體"/>
                <a:cs typeface="Calibri"/>
              </a:rPr>
              <a:t>a = 0.957 m/s²</a:t>
            </a:r>
            <a:endParaRPr lang="zh-TW" sz="2400"/>
          </a:p>
          <a:p>
            <a:pPr algn="l">
              <a:lnSpc>
                <a:spcPct val="100000"/>
              </a:lnSpc>
              <a:buNone/>
            </a:pPr>
            <a:r>
              <a:rPr lang="zh-TW" altLang="en-US" sz="2400" b="0" dirty="0">
                <a:solidFill>
                  <a:srgbClr val="2B3050"/>
                </a:solidFill>
                <a:latin typeface="Calibri"/>
                <a:ea typeface="微軟正黑體"/>
                <a:cs typeface="Calibri"/>
              </a:rPr>
              <a:t>aᵣ = −0.582，aθ = 0.76</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2-17　本題用到的公式</a:t>
            </a:r>
          </a:p>
        </p:txBody>
      </p:sp>
      <p:sp>
        <p:nvSpPr>
          <p:cNvPr id="11" name="T11"/>
          <p:cNvSpPr txBox="1"/>
          <p:nvPr/>
        </p:nvSpPr>
        <p:spPr>
          <a:xfrm>
            <a:off x="365760" y="841248"/>
            <a:ext cx="2103120" cy="7498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冪次微分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7498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sup>
                          </m:sSup>
                        </m:e>
                      </m:d>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𝑛</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r>
                            <a:rPr lang="en-US" altLang="zh-TW" sz="2400" b="0" i="0">
                              <a:solidFill>
                                <a:srgbClr val="2B3050"/>
                              </a:solidFill>
                              <a:latin typeface="Cambria Math" panose="02040503050406030204" pitchFamily="18" charset="0"/>
                              <a:ea typeface="Cambria Math"/>
                            </a:rPr>
                            <m:t>−1</m:t>
                          </m:r>
                        </m:sup>
                      </m:sSup>
                    </m:oMath>
                  </m:oMathPara>
                </a14:m>
                <a:endParaRPr lang="zh-TW" sz="2400"/>
              </a:p>
            </p:txBody>
          </p:sp>
        </mc:Choice>
        <mc:Fallback xmlns="">
          <p:pic>
            <p:nvPicPr>
              <p:cNvPr id="12" name="F12"/>
              <p:cNvPicPr/>
              <p:nvPr/>
            </p:nvPicPr>
            <p:blipFill>
              <a:blip r:embed="rId2"/>
              <a:stretch>
                <a:fillRect/>
              </a:stretch>
            </p:blipFill>
            <p:spPr>
              <a:xfrm>
                <a:off x="2560320" y="841248"/>
                <a:ext cx="5760720" cy="749808"/>
              </a:xfrm>
              <a:prstGeom prst="roundRect">
                <a:avLst/>
              </a:prstGeom>
              <a:solidFill>
                <a:srgbClr val="E8F4F6"/>
              </a:solidFill>
              <a:ln>
                <a:noFill/>
              </a:ln>
            </p:spPr>
          </p:pic>
        </mc:Fallback>
      </mc:AlternateContent>
      <p:sp>
        <p:nvSpPr>
          <p:cNvPr id="13" name="T13"/>
          <p:cNvSpPr txBox="1"/>
          <p:nvPr/>
        </p:nvSpPr>
        <p:spPr>
          <a:xfrm>
            <a:off x="365760" y="166420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速度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66420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3"/>
              <a:stretch>
                <a:fillRect/>
              </a:stretch>
            </p:blipFill>
            <p:spPr>
              <a:xfrm>
                <a:off x="2560320" y="1664208"/>
                <a:ext cx="5760720" cy="566928"/>
              </a:xfrm>
              <a:prstGeom prst="roundRect">
                <a:avLst/>
              </a:prstGeom>
              <a:solidFill>
                <a:srgbClr val="E8F4F6"/>
              </a:solidFill>
              <a:ln>
                <a:noFill/>
              </a:ln>
            </p:spPr>
          </p:pic>
        </mc:Fallback>
      </mc:AlternateContent>
      <p:sp>
        <p:nvSpPr>
          <p:cNvPr id="15" name="T15"/>
          <p:cNvSpPr txBox="1"/>
          <p:nvPr/>
        </p:nvSpPr>
        <p:spPr>
          <a:xfrm>
            <a:off x="365760" y="2304288"/>
            <a:ext cx="2103120" cy="9784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加速度</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304288"/>
                <a:ext cx="5760720" cy="9784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oMath>
                  </m:oMathPara>
                </a14:m>
                <a:endParaRPr lang="zh-TW" sz="2400"/>
              </a:p>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6" name="F16"/>
              <p:cNvPicPr/>
              <p:nvPr/>
            </p:nvPicPr>
            <p:blipFill>
              <a:blip r:embed="rId4"/>
              <a:stretch>
                <a:fillRect/>
              </a:stretch>
            </p:blipFill>
            <p:spPr>
              <a:xfrm>
                <a:off x="2560320" y="2304288"/>
                <a:ext cx="5760720" cy="978408"/>
              </a:xfrm>
              <a:prstGeom prst="roundRect">
                <a:avLst/>
              </a:prstGeom>
              <a:solidFill>
                <a:srgbClr val="E8F4F6"/>
              </a:solidFill>
              <a:ln>
                <a:noFill/>
              </a:ln>
            </p:spPr>
          </p:pic>
        </mc:Fallback>
      </mc:AlternateContent>
      <p:sp>
        <p:nvSpPr>
          <p:cNvPr id="17" name="T17"/>
          <p:cNvSpPr txBox="1"/>
          <p:nvPr/>
        </p:nvSpPr>
        <p:spPr>
          <a:xfrm>
            <a:off x="365760" y="3355848"/>
            <a:ext cx="2103120" cy="7040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弳度換度</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355848"/>
                <a:ext cx="5760720" cy="7040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度 = </m:t>
                      </m:r>
                      <m:r>
                        <a:rPr lang="en-US" altLang="zh-TW" sz="2400" b="0" i="1">
                          <a:solidFill>
                            <a:srgbClr val="2B3050"/>
                          </a:solidFill>
                          <a:latin typeface="Cambria Math" panose="02040503050406030204" pitchFamily="18" charset="0"/>
                          <a:ea typeface="Cambria Math"/>
                        </a:rPr>
                        <m:t>𝑟𝑎𝑑</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180°</m:t>
                          </m:r>
                        </m:num>
                        <m:den>
                          <m:r>
                            <a:rPr lang="en-US" altLang="zh-TW" sz="2400" b="0" i="1">
                              <a:solidFill>
                                <a:srgbClr val="2B3050"/>
                              </a:solidFill>
                              <a:latin typeface="Cambria Math" panose="02040503050406030204" pitchFamily="18" charset="0"/>
                              <a:ea typeface="Cambria Math"/>
                            </a:rPr>
                            <m:t>𝜋</m:t>
                          </m:r>
                        </m:den>
                      </m:f>
                    </m:oMath>
                  </m:oMathPara>
                </a14:m>
                <a:endParaRPr lang="zh-TW" sz="2400"/>
              </a:p>
            </p:txBody>
          </p:sp>
        </mc:Choice>
        <mc:Fallback xmlns="">
          <p:pic>
            <p:nvPicPr>
              <p:cNvPr id="18" name="F18"/>
              <p:cNvPicPr/>
              <p:nvPr/>
            </p:nvPicPr>
            <p:blipFill>
              <a:blip r:embed="rId5"/>
              <a:stretch>
                <a:fillRect/>
              </a:stretch>
            </p:blipFill>
            <p:spPr>
              <a:xfrm>
                <a:off x="2560320" y="3355848"/>
                <a:ext cx="5760720" cy="704088"/>
              </a:xfrm>
              <a:prstGeom prst="roundRect">
                <a:avLst/>
              </a:prstGeom>
              <a:solidFill>
                <a:srgbClr val="E8F4F6"/>
              </a:solidFill>
              <a:ln>
                <a:noFill/>
              </a:ln>
            </p:spPr>
          </p:pic>
        </mc:Fallback>
      </mc:AlternateContent>
      <p:sp>
        <p:nvSpPr>
          <p:cNvPr id="19" name="T19"/>
          <p:cNvSpPr txBox="1"/>
          <p:nvPr/>
        </p:nvSpPr>
        <p:spPr>
          <a:xfrm>
            <a:off x="365760" y="4133088"/>
            <a:ext cx="2103120" cy="4754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33088"/>
            <a:ext cx="5760720" cy="4754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先微分，再代值</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讀題</a:t>
            </a:r>
          </a:p>
        </p:txBody>
      </p:sp>
      <p:sp>
        <p:nvSpPr>
          <p:cNvPr id="11" name="T11"/>
          <p:cNvSpPr txBox="1"/>
          <p:nvPr/>
        </p:nvSpPr>
        <p:spPr>
          <a:xfrm>
            <a:off x="365760" y="868680"/>
            <a:ext cx="4846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例題 2-17 的桿子，改成</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307592"/>
                <a:ext cx="484632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𝑟</m:t>
                      </m:r>
                      <m:r>
                        <a:rPr lang="en-US" altLang="zh-TW" sz="2400" b="0" i="0">
                          <a:solidFill>
                            <a:srgbClr val="1F8899"/>
                          </a:solidFill>
                          <a:latin typeface="Cambria Math" panose="02040503050406030204" pitchFamily="18" charset="0"/>
                          <a:ea typeface="Cambria Math"/>
                        </a:rPr>
                        <m:t> = 0.3</m:t>
                      </m:r>
                      <m:d>
                        <m:dPr>
                          <m:ctrlPr>
                            <a:rPr lang="en-US" altLang="zh-TW" sz="2400" b="0" i="0">
                              <a:solidFill>
                                <a:srgbClr val="1F8899"/>
                              </a:solidFill>
                              <a:latin typeface="Cambria Math" panose="02040503050406030204" pitchFamily="18" charset="0"/>
                              <a:ea typeface="Cambria Math"/>
                            </a:rPr>
                          </m:ctrlPr>
                        </m:dPr>
                        <m:e>
                          <m:r>
                            <a:rPr lang="en-US" altLang="zh-TW" sz="2400" b="0" i="0">
                              <a:solidFill>
                                <a:srgbClr val="1F8899"/>
                              </a:solidFill>
                              <a:latin typeface="Cambria Math" panose="02040503050406030204" pitchFamily="18" charset="0"/>
                              <a:ea typeface="Cambria Math"/>
                            </a:rPr>
                            <m:t>1 − </m:t>
                          </m:r>
                          <m:r>
                            <m:rPr>
                              <m:sty m:val="p"/>
                            </m:rPr>
                            <a:rPr lang="en-US" altLang="zh-TW" sz="2400" b="0" i="0">
                              <a:solidFill>
                                <a:srgbClr val="1F8899"/>
                              </a:solidFill>
                              <a:latin typeface="Cambria Math" panose="02040503050406030204" pitchFamily="18" charset="0"/>
                              <a:ea typeface="Cambria Math"/>
                            </a:rPr>
                            <m:t>cos</m:t>
                          </m:r>
                          <m:r>
                            <a:rPr lang="en-US" altLang="zh-TW" sz="2400" b="0" i="1">
                              <a:solidFill>
                                <a:srgbClr val="1F8899"/>
                              </a:solidFill>
                              <a:latin typeface="Cambria Math" panose="02040503050406030204" pitchFamily="18" charset="0"/>
                              <a:ea typeface="Cambria Math"/>
                            </a:rPr>
                            <m:t>𝜃</m:t>
                          </m:r>
                        </m:e>
                      </m:d>
                      <m:r>
                        <a:rPr lang="en-US" altLang="zh-TW" sz="2400" b="0" i="0">
                          <a:solidFill>
                            <a:srgbClr val="1F8899"/>
                          </a:solidFill>
                          <a:latin typeface="Cambria Math" panose="02040503050406030204" pitchFamily="18" charset="0"/>
                          <a:ea typeface="Cambria Math"/>
                        </a:rPr>
                        <m:t> </m:t>
                      </m:r>
                      <m:r>
                        <m:rPr>
                          <m:sty m:val="p"/>
                        </m:rPr>
                        <a:rPr lang="en-US" altLang="zh-TW" sz="2400" b="0" i="0">
                          <a:solidFill>
                            <a:srgbClr val="1F8899"/>
                          </a:solidFill>
                          <a:latin typeface="Cambria Math" panose="02040503050406030204" pitchFamily="18" charset="0"/>
                          <a:ea typeface="Cambria Math"/>
                        </a:rPr>
                        <m:t>m</m:t>
                      </m:r>
                    </m:oMath>
                  </m:oMathPara>
                </a14:m>
                <a:endParaRPr lang="zh-TW" sz="2400"/>
              </a:p>
            </p:txBody>
          </p:sp>
        </mc:Choice>
        <mc:Fallback xmlns="">
          <p:pic>
            <p:nvPicPr>
              <p:cNvPr id="12" name="F12"/>
              <p:cNvPicPr/>
              <p:nvPr/>
            </p:nvPicPr>
            <p:blipFill>
              <a:blip r:embed="rId2"/>
              <a:stretch>
                <a:fillRect/>
              </a:stretch>
            </p:blipFill>
            <p:spPr>
              <a:xfrm>
                <a:off x="365760" y="1307592"/>
                <a:ext cx="4846320" cy="502920"/>
              </a:xfrm>
              <a:prstGeom prst="rect">
                <a:avLst/>
              </a:prstGeom>
              <a:noFill/>
              <a:ln>
                <a:noFill/>
              </a:ln>
            </p:spPr>
          </p:pic>
        </mc:Fallback>
      </mc:AlternateContent>
      <p:sp>
        <p:nvSpPr>
          <p:cNvPr id="13" name="T13"/>
          <p:cNvSpPr txBox="1"/>
          <p:nvPr/>
        </p:nvSpPr>
        <p:spPr>
          <a:xfrm>
            <a:off x="365760" y="1810512"/>
            <a:ext cx="4846320" cy="438912"/>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當 θ = 90° 時：</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249424"/>
                <a:ext cx="484632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𝑣</m:t>
                      </m:r>
                      <m:r>
                        <a:rPr lang="en-US" altLang="zh-TW" sz="2400" b="0" i="0">
                          <a:solidFill>
                            <a:srgbClr val="1F8899"/>
                          </a:solidFill>
                          <a:latin typeface="Cambria Math" panose="02040503050406030204" pitchFamily="18" charset="0"/>
                          <a:ea typeface="Cambria Math"/>
                        </a:rPr>
                        <m:t> = 0.8 </m:t>
                      </m:r>
                      <m:r>
                        <m:rPr>
                          <m:sty m:val="p"/>
                        </m:rPr>
                        <a:rPr lang="en-US" altLang="zh-TW" sz="2400" b="0" i="0">
                          <a:solidFill>
                            <a:srgbClr val="1F8899"/>
                          </a:solidFill>
                          <a:latin typeface="Cambria Math" panose="02040503050406030204" pitchFamily="18" charset="0"/>
                          <a:ea typeface="Cambria Math"/>
                        </a:rPr>
                        <m:t>m</m:t>
                      </m:r>
                      <m:r>
                        <a:rPr lang="en-US" altLang="zh-TW" sz="2400" b="0" i="0">
                          <a:solidFill>
                            <a:srgbClr val="1F8899"/>
                          </a:solidFill>
                          <a:latin typeface="Cambria Math" panose="02040503050406030204" pitchFamily="18" charset="0"/>
                          <a:ea typeface="Cambria Math"/>
                        </a:rPr>
                        <m:t>/</m:t>
                      </m:r>
                      <m:r>
                        <m:rPr>
                          <m:sty m:val="p"/>
                        </m:rPr>
                        <a:rPr lang="en-US" altLang="zh-TW" sz="2400" b="0" i="0">
                          <a:solidFill>
                            <a:srgbClr val="1F8899"/>
                          </a:solidFill>
                          <a:latin typeface="Cambria Math" panose="02040503050406030204" pitchFamily="18" charset="0"/>
                          <a:ea typeface="Cambria Math"/>
                        </a:rPr>
                        <m:t>s</m:t>
                      </m:r>
                      <m:r>
                        <a:rPr lang="en-US" altLang="zh-TW" sz="2400" b="0" i="0">
                          <a:solidFill>
                            <a:srgbClr val="1F8899"/>
                          </a:solidFill>
                          <a:latin typeface="Cambria Math" panose="02040503050406030204" pitchFamily="18" charset="0"/>
                          <a:ea typeface="Cambria Math"/>
                        </a:rPr>
                        <m:t>，</m:t>
                      </m:r>
                      <m:r>
                        <a:rPr lang="en-US" altLang="zh-TW" sz="2400" b="0" i="1">
                          <a:solidFill>
                            <a:srgbClr val="1F8899"/>
                          </a:solidFill>
                          <a:latin typeface="Cambria Math" panose="02040503050406030204" pitchFamily="18" charset="0"/>
                          <a:ea typeface="Cambria Math"/>
                        </a:rPr>
                        <m:t>𝑎</m:t>
                      </m:r>
                      <m:r>
                        <a:rPr lang="en-US" altLang="zh-TW" sz="2400" b="0" i="0">
                          <a:solidFill>
                            <a:srgbClr val="1F8899"/>
                          </a:solidFill>
                          <a:latin typeface="Cambria Math" panose="02040503050406030204" pitchFamily="18" charset="0"/>
                          <a:ea typeface="Cambria Math"/>
                        </a:rPr>
                        <m:t> = 6 </m:t>
                      </m:r>
                      <m:r>
                        <m:rPr>
                          <m:sty m:val="p"/>
                        </m:rPr>
                        <a:rPr lang="en-US" altLang="zh-TW" sz="2400" b="0" i="0">
                          <a:solidFill>
                            <a:srgbClr val="1F8899"/>
                          </a:solidFill>
                          <a:latin typeface="Cambria Math" panose="02040503050406030204" pitchFamily="18" charset="0"/>
                          <a:ea typeface="Cambria Math"/>
                        </a:rPr>
                        <m:t>m</m:t>
                      </m:r>
                      <m:r>
                        <a:rPr lang="en-US" altLang="zh-TW" sz="2400" b="0" i="0">
                          <a:solidFill>
                            <a:srgbClr val="1F8899"/>
                          </a:solidFill>
                          <a:latin typeface="Cambria Math" panose="02040503050406030204" pitchFamily="18" charset="0"/>
                          <a:ea typeface="Cambria Math"/>
                        </a:rPr>
                        <m:t>/</m:t>
                      </m:r>
                      <m:sSup>
                        <m:sSupPr>
                          <m:ctrlPr>
                            <a:rPr lang="en-US" altLang="zh-TW" sz="2400" b="0" i="0">
                              <a:solidFill>
                                <a:srgbClr val="1F8899"/>
                              </a:solidFill>
                              <a:latin typeface="Cambria Math" panose="02040503050406030204" pitchFamily="18" charset="0"/>
                              <a:ea typeface="Cambria Math"/>
                            </a:rPr>
                          </m:ctrlPr>
                        </m:sSupPr>
                        <m:e>
                          <m:r>
                            <m:rPr>
                              <m:sty m:val="p"/>
                            </m:rPr>
                            <a:rPr lang="en-US" altLang="zh-TW" sz="2400" b="0" i="0">
                              <a:solidFill>
                                <a:srgbClr val="1F8899"/>
                              </a:solidFill>
                              <a:latin typeface="Cambria Math" panose="02040503050406030204" pitchFamily="18" charset="0"/>
                              <a:ea typeface="Cambria Math"/>
                            </a:rPr>
                            <m:t>s</m:t>
                          </m:r>
                        </m:e>
                        <m:sup>
                          <m:r>
                            <a:rPr lang="en-US" altLang="zh-TW" sz="2400" b="0" i="0">
                              <a:solidFill>
                                <a:srgbClr val="1F8899"/>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3"/>
              <a:stretch>
                <a:fillRect/>
              </a:stretch>
            </p:blipFill>
            <p:spPr>
              <a:xfrm>
                <a:off x="365760" y="2249424"/>
                <a:ext cx="4846320" cy="502920"/>
              </a:xfrm>
              <a:prstGeom prst="rect">
                <a:avLst/>
              </a:prstGeom>
              <a:noFill/>
              <a:ln>
                <a:noFill/>
              </a:ln>
            </p:spPr>
          </p:pic>
        </mc:Fallback>
      </mc:AlternateContent>
      <p:sp>
        <p:nvSpPr>
          <p:cNvPr id="15" name="T15"/>
          <p:cNvSpPr txBox="1"/>
          <p:nvPr/>
        </p:nvSpPr>
        <p:spPr>
          <a:xfrm>
            <a:off x="365760" y="2752344"/>
            <a:ext cx="484632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求：角速度 θ̇ 及角加速度 θ̈</a:t>
            </a:r>
            <a:endParaRPr lang="zh-TW" sz="2400"/>
          </a:p>
        </p:txBody>
      </p:sp>
      <p:sp>
        <p:nvSpPr>
          <p:cNvPr id="16" name="P16"/>
          <p:cNvSpPr/>
          <p:nvPr/>
        </p:nvSpPr>
        <p:spPr>
          <a:xfrm>
            <a:off x="4754880" y="1948464"/>
            <a:ext cx="1851660" cy="2138113"/>
          </a:xfrm>
          <a:custGeom>
            <a:avLst/>
            <a:gdLst/>
            <a:ahLst/>
            <a:cxnLst/>
            <a:rect l="0" t="0" r="r" b="b"/>
            <a:pathLst>
              <a:path w="1851660" h="2138113">
                <a:moveTo>
                  <a:pt x="1645920" y="1069056"/>
                </a:moveTo>
                <a:lnTo>
                  <a:pt x="1650404" y="1068585"/>
                </a:lnTo>
                <a:lnTo>
                  <a:pt x="1663511" y="1065317"/>
                </a:lnTo>
                <a:lnTo>
                  <a:pt x="1684227" y="1056610"/>
                </a:lnTo>
                <a:lnTo>
                  <a:pt x="1710918" y="1040118"/>
                </a:lnTo>
                <a:lnTo>
                  <a:pt x="1741404" y="1013929"/>
                </a:lnTo>
                <a:lnTo>
                  <a:pt x="1773074" y="976673"/>
                </a:lnTo>
                <a:lnTo>
                  <a:pt x="1803007" y="927615"/>
                </a:lnTo>
                <a:lnTo>
                  <a:pt x="1828119" y="866704"/>
                </a:lnTo>
                <a:lnTo>
                  <a:pt x="1845318" y="794609"/>
                </a:lnTo>
                <a:lnTo>
                  <a:pt x="1851660" y="712704"/>
                </a:lnTo>
                <a:lnTo>
                  <a:pt x="1844502" y="623034"/>
                </a:lnTo>
                <a:lnTo>
                  <a:pt x="1821643" y="528237"/>
                </a:lnTo>
                <a:lnTo>
                  <a:pt x="1781449" y="431444"/>
                </a:lnTo>
                <a:lnTo>
                  <a:pt x="1722951" y="336156"/>
                </a:lnTo>
                <a:lnTo>
                  <a:pt x="1645920" y="246096"/>
                </a:lnTo>
                <a:lnTo>
                  <a:pt x="1550905" y="165053"/>
                </a:lnTo>
                <a:lnTo>
                  <a:pt x="1439243" y="96716"/>
                </a:lnTo>
                <a:lnTo>
                  <a:pt x="1313026" y="44513"/>
                </a:lnTo>
                <a:lnTo>
                  <a:pt x="1175046" y="11456"/>
                </a:lnTo>
                <a:lnTo>
                  <a:pt x="1028700" y="0"/>
                </a:lnTo>
                <a:lnTo>
                  <a:pt x="877871" y="11927"/>
                </a:lnTo>
                <a:lnTo>
                  <a:pt x="726784" y="48252"/>
                </a:lnTo>
                <a:lnTo>
                  <a:pt x="579850" y="109163"/>
                </a:lnTo>
                <a:lnTo>
                  <a:pt x="441497" y="193992"/>
                </a:lnTo>
                <a:lnTo>
                  <a:pt x="315996" y="301224"/>
                </a:lnTo>
                <a:lnTo>
                  <a:pt x="207295" y="428539"/>
                </a:lnTo>
                <a:lnTo>
                  <a:pt x="118864" y="572886"/>
                </a:lnTo>
                <a:lnTo>
                  <a:pt x="53558" y="730589"/>
                </a:lnTo>
                <a:lnTo>
                  <a:pt x="13500" y="897482"/>
                </a:lnTo>
                <a:lnTo>
                  <a:pt x="0" y="1069056"/>
                </a:lnTo>
                <a:lnTo>
                  <a:pt x="13500" y="1240631"/>
                </a:lnTo>
                <a:lnTo>
                  <a:pt x="53558" y="1407523"/>
                </a:lnTo>
                <a:lnTo>
                  <a:pt x="118864" y="1565227"/>
                </a:lnTo>
                <a:lnTo>
                  <a:pt x="207295" y="1709574"/>
                </a:lnTo>
                <a:lnTo>
                  <a:pt x="315996" y="1836889"/>
                </a:lnTo>
                <a:lnTo>
                  <a:pt x="441497" y="1944121"/>
                </a:lnTo>
                <a:lnTo>
                  <a:pt x="579850" y="2028950"/>
                </a:lnTo>
                <a:lnTo>
                  <a:pt x="726784" y="2089861"/>
                </a:lnTo>
                <a:lnTo>
                  <a:pt x="877871" y="2126186"/>
                </a:lnTo>
                <a:lnTo>
                  <a:pt x="1028700" y="2138113"/>
                </a:lnTo>
                <a:lnTo>
                  <a:pt x="1175046" y="2126657"/>
                </a:lnTo>
                <a:lnTo>
                  <a:pt x="1313026" y="2093600"/>
                </a:lnTo>
                <a:lnTo>
                  <a:pt x="1439243" y="2041397"/>
                </a:lnTo>
                <a:lnTo>
                  <a:pt x="1550905" y="1973060"/>
                </a:lnTo>
                <a:lnTo>
                  <a:pt x="1645920" y="1892016"/>
                </a:lnTo>
                <a:lnTo>
                  <a:pt x="1722951" y="1801957"/>
                </a:lnTo>
                <a:lnTo>
                  <a:pt x="1781449" y="1706669"/>
                </a:lnTo>
                <a:lnTo>
                  <a:pt x="1821643" y="1609876"/>
                </a:lnTo>
                <a:lnTo>
                  <a:pt x="1844502" y="1515079"/>
                </a:lnTo>
                <a:lnTo>
                  <a:pt x="1851660" y="1425409"/>
                </a:lnTo>
                <a:lnTo>
                  <a:pt x="1845318" y="1343504"/>
                </a:lnTo>
                <a:lnTo>
                  <a:pt x="1828119" y="1271409"/>
                </a:lnTo>
                <a:lnTo>
                  <a:pt x="1803007" y="1210498"/>
                </a:lnTo>
                <a:lnTo>
                  <a:pt x="1773074" y="1161439"/>
                </a:lnTo>
                <a:lnTo>
                  <a:pt x="1741404" y="1124184"/>
                </a:lnTo>
                <a:lnTo>
                  <a:pt x="1710918" y="1097995"/>
                </a:lnTo>
                <a:lnTo>
                  <a:pt x="1684227" y="1081503"/>
                </a:lnTo>
                <a:lnTo>
                  <a:pt x="1663511" y="1072795"/>
                </a:lnTo>
                <a:lnTo>
                  <a:pt x="1650404" y="1069528"/>
                </a:lnTo>
                <a:lnTo>
                  <a:pt x="1645920" y="1069056"/>
                </a:lnTo>
              </a:path>
            </a:pathLst>
          </a:custGeom>
          <a:noFill/>
          <a:ln w="19050">
            <a:solidFill>
              <a:srgbClr val="8A8F9C"/>
            </a:solidFill>
            <a:prstDash val="dash"/>
          </a:ln>
        </p:spPr>
        <p:txBody>
          <a:bodyPr/>
          <a:lstStyle/>
          <a:p>
            <a:endParaRPr lang="zh-TW" altLang="en-US"/>
          </a:p>
        </p:txBody>
      </p:sp>
      <p:cxnSp>
        <p:nvCxnSpPr>
          <p:cNvPr id="17" name="L17"/>
          <p:cNvCxnSpPr/>
          <p:nvPr/>
        </p:nvCxnSpPr>
        <p:spPr>
          <a:xfrm>
            <a:off x="6217920" y="3017520"/>
            <a:ext cx="1280160" cy="0"/>
          </a:xfrm>
          <a:prstGeom prst="line">
            <a:avLst/>
          </a:prstGeom>
          <a:ln w="12700">
            <a:solidFill>
              <a:srgbClr val="8A8F9C"/>
            </a:solidFill>
          </a:ln>
        </p:spPr>
      </p:cxnSp>
      <p:sp>
        <p:nvSpPr>
          <p:cNvPr id="18" name="S18"/>
          <p:cNvSpPr/>
          <p:nvPr/>
        </p:nvSpPr>
        <p:spPr>
          <a:xfrm>
            <a:off x="6355080" y="2971800"/>
            <a:ext cx="91440" cy="91440"/>
          </a:xfrm>
          <a:prstGeom prst="ellipse">
            <a:avLst/>
          </a:prstGeom>
          <a:solidFill>
            <a:srgbClr val="2B3050"/>
          </a:solidFill>
          <a:ln>
            <a:noFill/>
          </a:ln>
        </p:spPr>
        <p:txBody>
          <a:bodyPr/>
          <a:lstStyle/>
          <a:p>
            <a:endParaRPr lang="zh-TW" altLang="en-US"/>
          </a:p>
        </p:txBody>
      </p:sp>
      <p:sp>
        <p:nvSpPr>
          <p:cNvPr id="19" name="T19"/>
          <p:cNvSpPr txBox="1"/>
          <p:nvPr/>
        </p:nvSpPr>
        <p:spPr>
          <a:xfrm>
            <a:off x="6263640" y="3035808"/>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20" name="L20"/>
          <p:cNvCxnSpPr/>
          <p:nvPr/>
        </p:nvCxnSpPr>
        <p:spPr>
          <a:xfrm flipV="1">
            <a:off x="6400800" y="573329"/>
            <a:ext cx="0" cy="2444191"/>
          </a:xfrm>
          <a:prstGeom prst="line">
            <a:avLst/>
          </a:prstGeom>
          <a:ln w="44450">
            <a:solidFill>
              <a:srgbClr val="2B3050"/>
            </a:solidFill>
          </a:ln>
        </p:spPr>
      </p:cxnSp>
      <p:sp>
        <p:nvSpPr>
          <p:cNvPr id="21" name="S21"/>
          <p:cNvSpPr/>
          <p:nvPr/>
        </p:nvSpPr>
        <p:spPr>
          <a:xfrm>
            <a:off x="6300216" y="2093976"/>
            <a:ext cx="201168" cy="201168"/>
          </a:xfrm>
          <a:prstGeom prst="ellipse">
            <a:avLst/>
          </a:prstGeom>
          <a:solidFill>
            <a:srgbClr val="C8901F"/>
          </a:solidFill>
          <a:ln w="19050">
            <a:solidFill>
              <a:srgbClr val="2B3050"/>
            </a:solidFill>
          </a:ln>
        </p:spPr>
        <p:txBody>
          <a:bodyPr/>
          <a:lstStyle/>
          <a:p>
            <a:endParaRPr lang="zh-TW" altLang="en-US"/>
          </a:p>
        </p:txBody>
      </p:sp>
      <p:sp>
        <p:nvSpPr>
          <p:cNvPr id="22" name="T22"/>
          <p:cNvSpPr txBox="1"/>
          <p:nvPr/>
        </p:nvSpPr>
        <p:spPr>
          <a:xfrm>
            <a:off x="6510528" y="20574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C8901F"/>
                </a:solidFill>
                <a:latin typeface="Calibri"/>
                <a:ea typeface="微軟正黑體"/>
                <a:cs typeface="Calibri"/>
              </a:rPr>
              <a:t>B</a:t>
            </a:r>
            <a:endParaRPr lang="zh-TW" sz="2400"/>
          </a:p>
        </p:txBody>
      </p:sp>
      <p:sp>
        <p:nvSpPr>
          <p:cNvPr id="23" name="T23"/>
          <p:cNvSpPr txBox="1"/>
          <p:nvPr/>
        </p:nvSpPr>
        <p:spPr>
          <a:xfrm>
            <a:off x="5349240" y="4069080"/>
            <a:ext cx="30175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B 的路徑：心臟線</a:t>
            </a:r>
            <a:endParaRPr lang="zh-TW" sz="24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r 是誰的函數？</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r 是 θ 的函數，不是 t → 微分要用連鎖律</a:t>
            </a:r>
            <a:endParaRPr lang="zh-TW" sz="2400"/>
          </a:p>
        </p:txBody>
      </p:sp>
      <p:sp>
        <p:nvSpPr>
          <p:cNvPr id="15" name="S15"/>
          <p:cNvSpPr/>
          <p:nvPr/>
        </p:nvSpPr>
        <p:spPr>
          <a:xfrm>
            <a:off x="365760" y="1691640"/>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6916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6824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未知數有幾個？</a:t>
            </a:r>
            <a:endParaRPr lang="zh-TW" sz="2400"/>
          </a:p>
        </p:txBody>
      </p:sp>
      <p:sp>
        <p:nvSpPr>
          <p:cNvPr id="18" name="T18"/>
          <p:cNvSpPr txBox="1"/>
          <p:nvPr/>
        </p:nvSpPr>
        <p:spPr>
          <a:xfrm>
            <a:off x="1188720" y="20665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θ̇、θ̈ 兩個</a:t>
            </a:r>
            <a:endParaRPr lang="zh-TW" sz="2400"/>
          </a:p>
        </p:txBody>
      </p:sp>
      <p:sp>
        <p:nvSpPr>
          <p:cNvPr id="19" name="S19"/>
          <p:cNvSpPr/>
          <p:nvPr/>
        </p:nvSpPr>
        <p:spPr>
          <a:xfrm>
            <a:off x="365760" y="2478024"/>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4780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4688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條件有幾個？</a:t>
            </a:r>
            <a:endParaRPr lang="zh-TW" sz="2400"/>
          </a:p>
        </p:txBody>
      </p:sp>
      <p:sp>
        <p:nvSpPr>
          <p:cNvPr id="22" name="T22"/>
          <p:cNvSpPr txBox="1"/>
          <p:nvPr/>
        </p:nvSpPr>
        <p:spPr>
          <a:xfrm>
            <a:off x="1188720" y="28529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 和 a 兩個 → 剛好兩條方程式</a:t>
            </a:r>
            <a:endParaRPr lang="zh-TW" sz="2400"/>
          </a:p>
        </p:txBody>
      </p:sp>
      <p:sp>
        <p:nvSpPr>
          <p:cNvPr id="23" name="S23"/>
          <p:cNvSpPr/>
          <p:nvPr/>
        </p:nvSpPr>
        <p:spPr>
          <a:xfrm>
            <a:off x="365760" y="3264408"/>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26440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25526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先解哪一個？</a:t>
            </a:r>
            <a:endParaRPr lang="zh-TW" sz="2400"/>
          </a:p>
        </p:txBody>
      </p:sp>
      <p:sp>
        <p:nvSpPr>
          <p:cNvPr id="26" name="T26"/>
          <p:cNvSpPr txBox="1"/>
          <p:nvPr/>
        </p:nvSpPr>
        <p:spPr>
          <a:xfrm>
            <a:off x="1188720" y="363931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v 只含 θ̇ → 先由 v 求 θ̇，再由 a 求 θ̈</a:t>
            </a:r>
            <a:endParaRPr lang="zh-TW" sz="2400"/>
          </a:p>
        </p:txBody>
      </p:sp>
      <p:sp>
        <p:nvSpPr>
          <p:cNvPr id="27" name="S27"/>
          <p:cNvSpPr/>
          <p:nvPr/>
        </p:nvSpPr>
        <p:spPr>
          <a:xfrm>
            <a:off x="365760" y="4050792"/>
            <a:ext cx="365760" cy="365760"/>
          </a:xfrm>
          <a:prstGeom prst="ellipse">
            <a:avLst/>
          </a:prstGeom>
          <a:solidFill>
            <a:srgbClr val="1F8899"/>
          </a:solidFill>
          <a:ln>
            <a:noFill/>
          </a:ln>
        </p:spPr>
        <p:txBody>
          <a:bodyPr/>
          <a:lstStyle/>
          <a:p>
            <a:endParaRPr lang="zh-TW" altLang="en-US"/>
          </a:p>
        </p:txBody>
      </p:sp>
      <p:sp>
        <p:nvSpPr>
          <p:cNvPr id="28" name="T28"/>
          <p:cNvSpPr txBox="1"/>
          <p:nvPr/>
        </p:nvSpPr>
        <p:spPr>
          <a:xfrm>
            <a:off x="365760" y="40507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9" name="T29"/>
          <p:cNvSpPr txBox="1"/>
          <p:nvPr/>
        </p:nvSpPr>
        <p:spPr>
          <a:xfrm>
            <a:off x="822960" y="40416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θ = 90° 有什麼好處？</a:t>
            </a:r>
            <a:endParaRPr lang="zh-TW" sz="2400"/>
          </a:p>
        </p:txBody>
      </p:sp>
      <p:sp>
        <p:nvSpPr>
          <p:cNvPr id="30" name="T30"/>
          <p:cNvSpPr txBox="1"/>
          <p:nvPr/>
        </p:nvSpPr>
        <p:spPr>
          <a:xfrm>
            <a:off x="1188720" y="44256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sin90° = 1、cos90° = 0，式子變簡單</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1：r 對 t 微分（連鎖律）</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 0.3 − 0.3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oMath>
                  </m:oMathPara>
                </a14:m>
                <a:endParaRPr lang="zh-TW" sz="2400"/>
              </a:p>
            </p:txBody>
          </p:sp>
        </mc:Choice>
        <mc:Fallback xmlns="">
          <p:pic>
            <p:nvPicPr>
              <p:cNvPr id="11" name="F11"/>
              <p:cNvPicPr/>
              <p:nvPr/>
            </p:nvPicPr>
            <p:blipFill>
              <a:blip r:embed="rId2"/>
              <a:stretch>
                <a:fillRect/>
              </a:stretch>
            </p:blipFill>
            <p:spPr>
              <a:xfrm>
                <a:off x="365760" y="8686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37160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𝑑𝑟</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0.3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3"/>
              <a:stretch>
                <a:fillRect/>
              </a:stretch>
            </p:blipFill>
            <p:spPr>
              <a:xfrm>
                <a:off x="365760" y="137160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2402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r>
                        <a:rPr lang="en-US" altLang="zh-TW" sz="2400" b="0" i="0">
                          <a:solidFill>
                            <a:srgbClr val="2B3050"/>
                          </a:solidFill>
                          <a:latin typeface="Cambria Math" panose="02040503050406030204" pitchFamily="18" charset="0"/>
                          <a:ea typeface="Cambria Math"/>
                        </a:rPr>
                        <m:t> = 0.3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+ 0.3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3" name="F13"/>
              <p:cNvPicPr/>
              <p:nvPr/>
            </p:nvPicPr>
            <p:blipFill>
              <a:blip r:embed="rId4"/>
              <a:stretch>
                <a:fillRect/>
              </a:stretch>
            </p:blipFill>
            <p:spPr>
              <a:xfrm>
                <a:off x="365760" y="22402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246120"/>
                <a:ext cx="7955280" cy="137160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二次微分用乘積法則：</a:t>
                </a:r>
                <a:r>
                  <a:rPr lang="zh-TW" altLang="en-US" sz="2400" b="0" dirty="0">
                    <a:solidFill>
                      <a:srgbClr val="2B3050"/>
                    </a:solidFill>
                    <a:latin typeface="Calibri"/>
                    <a:ea typeface="微軟正黑體"/>
                    <a:cs typeface="Calibri"/>
                  </a:rPr>
                  <a:t>sinθ 和 θ 點都隨 t 變</a:t>
                </a:r>
                <a:endParaRPr lang="zh-TW" sz="2400"/>
              </a:p>
              <a:p>
                <a:pPr algn="l">
                  <a:lnSpc>
                    <a:spcPct val="100000"/>
                  </a:lnSpc>
                  <a:buNone/>
                </a:pP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r>
                  <a:rPr lang="zh-TW" altLang="en-US" sz="2400" b="0" dirty="0">
                    <a:solidFill>
                      <a:srgbClr val="2B3050"/>
                    </a:solidFill>
                    <a:latin typeface="Calibri"/>
                    <a:ea typeface="微軟正黑體"/>
                    <a:cs typeface="Calibri"/>
                  </a:rPr>
                  <a:t>（連鎖律）</a:t>
                </a:r>
                <a:endParaRPr lang="zh-TW" sz="2400"/>
              </a:p>
            </p:txBody>
          </p:sp>
        </mc:Choice>
        <mc:Fallback xmlns="">
          <p:pic>
            <p:nvPicPr>
              <p:cNvPr id="14" name="F14"/>
              <p:cNvPicPr/>
              <p:nvPr/>
            </p:nvPicPr>
            <p:blipFill>
              <a:blip r:embed="rId5"/>
              <a:stretch>
                <a:fillRect/>
              </a:stretch>
            </p:blipFill>
            <p:spPr>
              <a:xfrm>
                <a:off x="365760" y="3246120"/>
                <a:ext cx="7955280" cy="137160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2：代 θ = 90°</a:t>
            </a:r>
          </a:p>
        </p:txBody>
      </p:sp>
      <p:sp>
        <p:nvSpPr>
          <p:cNvPr id="11" name="T11"/>
          <p:cNvSpPr txBox="1"/>
          <p:nvPr/>
        </p:nvSpPr>
        <p:spPr>
          <a:xfrm>
            <a:off x="365760" y="868680"/>
            <a:ext cx="402336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sin90° = 1，cos90° = 0</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365760" y="146304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𝑟</m:t>
                      </m:r>
                      <m:r>
                        <a:rPr lang="en-US" altLang="zh-TW" sz="2400" b="0" i="0">
                          <a:solidFill>
                            <a:srgbClr val="D6006F"/>
                          </a:solidFill>
                          <a:latin typeface="Cambria Math" panose="02040503050406030204" pitchFamily="18" charset="0"/>
                          <a:ea typeface="Cambria Math"/>
                        </a:rPr>
                        <m:t> = 0.3</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1 − 0</m:t>
                          </m:r>
                        </m:e>
                      </m:d>
                      <m:r>
                        <a:rPr lang="en-US" altLang="zh-TW" sz="2400" b="0" i="0">
                          <a:solidFill>
                            <a:srgbClr val="D6006F"/>
                          </a:solidFill>
                          <a:latin typeface="Cambria Math" panose="02040503050406030204" pitchFamily="18" charset="0"/>
                          <a:ea typeface="Cambria Math"/>
                        </a:rPr>
                        <m:t> = 0.3 </m:t>
                      </m:r>
                      <m:r>
                        <m:rPr>
                          <m:sty m:val="p"/>
                        </m:rPr>
                        <a:rPr lang="en-US" altLang="zh-TW" sz="2400" b="0" i="0">
                          <a:solidFill>
                            <a:srgbClr val="D6006F"/>
                          </a:solidFill>
                          <a:latin typeface="Cambria Math" panose="02040503050406030204" pitchFamily="18" charset="0"/>
                          <a:ea typeface="Cambria Math"/>
                        </a:rPr>
                        <m:t>m</m:t>
                      </m:r>
                    </m:oMath>
                  </m:oMathPara>
                </a14:m>
                <a:endParaRPr lang="zh-TW" sz="2400"/>
              </a:p>
            </p:txBody>
          </p:sp>
        </mc:Choice>
        <mc:Fallback xmlns="">
          <p:pic>
            <p:nvPicPr>
              <p:cNvPr id="12" name="F12"/>
              <p:cNvPicPr/>
              <p:nvPr/>
            </p:nvPicPr>
            <p:blipFill>
              <a:blip r:embed="rId2"/>
              <a:stretch>
                <a:fillRect/>
              </a:stretch>
            </p:blipFill>
            <p:spPr>
              <a:xfrm>
                <a:off x="365760" y="146304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011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0.3</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1</m:t>
                          </m:r>
                        </m:e>
                      </m:d>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0.3</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13" name="F13"/>
              <p:cNvPicPr/>
              <p:nvPr/>
            </p:nvPicPr>
            <p:blipFill>
              <a:blip r:embed="rId3"/>
              <a:stretch>
                <a:fillRect/>
              </a:stretch>
            </p:blipFill>
            <p:spPr>
              <a:xfrm>
                <a:off x="365760" y="2011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6032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r>
                        <a:rPr lang="en-US" altLang="zh-TW" sz="2400" b="0" i="0">
                          <a:solidFill>
                            <a:srgbClr val="D6006F"/>
                          </a:solidFill>
                          <a:latin typeface="Cambria Math" panose="02040503050406030204" pitchFamily="18" charset="0"/>
                          <a:ea typeface="Cambria Math"/>
                        </a:rPr>
                        <m:t> = 0.3</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0</m:t>
                          </m:r>
                        </m:e>
                      </m:d>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+ 0.3</m:t>
                      </m:r>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1</m:t>
                          </m:r>
                        </m:e>
                      </m:d>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0.3</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4"/>
              <a:stretch>
                <a:fillRect/>
              </a:stretch>
            </p:blipFill>
            <p:spPr>
              <a:xfrm>
                <a:off x="365760" y="2560320"/>
                <a:ext cx="7955280" cy="548640"/>
              </a:xfrm>
              <a:prstGeom prst="rect">
                <a:avLst/>
              </a:prstGeom>
              <a:noFill/>
              <a:ln>
                <a:noFill/>
              </a:ln>
            </p:spPr>
          </p:pic>
        </mc:Fallback>
      </mc:AlternateContent>
      <p:sp>
        <p:nvSpPr>
          <p:cNvPr id="15" name="T15"/>
          <p:cNvSpPr txBox="1"/>
          <p:nvPr/>
        </p:nvSpPr>
        <p:spPr>
          <a:xfrm>
            <a:off x="365760" y="3337560"/>
            <a:ext cx="7955280" cy="10058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θ̇、θ̈ 還不知道，先保留成符號</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3：由 v 求 θ̇</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62179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0.3</m:t>
                      </m:r>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2</m:t>
                          </m:r>
                        </m:e>
                      </m:ra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0.4243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3"/>
              <a:stretch>
                <a:fillRect/>
              </a:stretch>
            </p:blipFill>
            <p:spPr>
              <a:xfrm>
                <a:off x="365760" y="1417320"/>
                <a:ext cx="7955280" cy="62179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039112"/>
                <a:ext cx="7955280" cy="530352"/>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0.4243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0.8</m:t>
                      </m:r>
                    </m:oMath>
                  </m:oMathPara>
                </a14:m>
                <a:endParaRPr lang="zh-TW" sz="2400"/>
              </a:p>
            </p:txBody>
          </p:sp>
        </mc:Choice>
        <mc:Fallback xmlns="">
          <p:pic>
            <p:nvPicPr>
              <p:cNvPr id="13" name="F13"/>
              <p:cNvPicPr/>
              <p:nvPr/>
            </p:nvPicPr>
            <p:blipFill>
              <a:blip r:embed="rId4"/>
              <a:stretch>
                <a:fillRect/>
              </a:stretch>
            </p:blipFill>
            <p:spPr>
              <a:xfrm>
                <a:off x="365760" y="2039112"/>
                <a:ext cx="7955280" cy="530352"/>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69464"/>
                <a:ext cx="7955280" cy="548640"/>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1.886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a14:m>
                <a:r>
                  <a:rPr lang="zh-TW" altLang="en-US" sz="2400" b="0" dirty="0">
                    <a:solidFill>
                      <a:srgbClr val="D6006F"/>
                    </a:solidFill>
                    <a:latin typeface="Calibri"/>
                    <a:ea typeface="微軟正黑體"/>
                    <a:cs typeface="Calibri"/>
                  </a:rPr>
                  <a:t>　→　</a:t>
                </a:r>
                <a14:m>
                  <m:oMath xmlns:m="http://schemas.openxmlformats.org/officeDocument/2006/math">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3.556</m:t>
                    </m:r>
                  </m:oMath>
                </a14:m>
                <a:endParaRPr lang="zh-TW" sz="2400"/>
              </a:p>
            </p:txBody>
          </p:sp>
        </mc:Choice>
        <mc:Fallback xmlns="">
          <p:pic>
            <p:nvPicPr>
              <p:cNvPr id="14" name="F14"/>
              <p:cNvPicPr/>
              <p:nvPr/>
            </p:nvPicPr>
            <p:blipFill>
              <a:blip r:embed="rId5"/>
              <a:stretch>
                <a:fillRect/>
              </a:stretch>
            </p:blipFill>
            <p:spPr>
              <a:xfrm>
                <a:off x="365760" y="2569464"/>
                <a:ext cx="7955280" cy="548640"/>
              </a:xfrm>
              <a:prstGeom prst="rect">
                <a:avLst/>
              </a:prstGeom>
              <a:noFill/>
              <a:ln>
                <a:noFill/>
              </a:ln>
            </p:spPr>
          </p:pic>
        </mc:Fallback>
      </mc:AlternateContent>
      <p:sp>
        <p:nvSpPr>
          <p:cNvPr id="15" name="T15"/>
          <p:cNvSpPr txBox="1"/>
          <p:nvPr/>
        </p:nvSpPr>
        <p:spPr>
          <a:xfrm>
            <a:off x="365760" y="3337560"/>
            <a:ext cx="7955280" cy="10058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θ̇² 後面一直會用到，先算好</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4：寫出兩個加速度分量</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− 0.3</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3.556</m:t>
                          </m:r>
                        </m:e>
                      </m:d>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− 1.067</m:t>
                      </m:r>
                    </m:oMath>
                  </m:oMathPara>
                </a14:m>
                <a:endParaRPr lang="zh-TW" sz="2400"/>
              </a:p>
            </p:txBody>
          </p:sp>
        </mc:Choice>
        <mc:Fallback xmlns="">
          <p:pic>
            <p:nvPicPr>
              <p:cNvPr id="11" name="F11"/>
              <p:cNvPicPr/>
              <p:nvPr/>
            </p:nvPicPr>
            <p:blipFill>
              <a:blip r:embed="rId2"/>
              <a:stretch>
                <a:fillRect/>
              </a:stretch>
            </p:blipFill>
            <p:spPr>
              <a:xfrm>
                <a:off x="365760" y="868680"/>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35608"/>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3"/>
              <a:stretch>
                <a:fillRect/>
              </a:stretch>
            </p:blipFill>
            <p:spPr>
              <a:xfrm>
                <a:off x="365760" y="1435608"/>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002536"/>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+ 0.6</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3.556</m:t>
                          </m:r>
                        </m:e>
                      </m:d>
                      <m:r>
                        <a:rPr lang="en-US" altLang="zh-TW" sz="2400" b="0" i="0">
                          <a:solidFill>
                            <a:srgbClr val="2B3050"/>
                          </a:solidFill>
                          <a:latin typeface="Cambria Math" panose="02040503050406030204" pitchFamily="18" charset="0"/>
                          <a:ea typeface="Cambria Math"/>
                        </a:rPr>
                        <m:t> = 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+ 2.134</m:t>
                      </m:r>
                    </m:oMath>
                  </m:oMathPara>
                </a14:m>
                <a:endParaRPr lang="zh-TW" sz="2400"/>
              </a:p>
            </p:txBody>
          </p:sp>
        </mc:Choice>
        <mc:Fallback xmlns="">
          <p:pic>
            <p:nvPicPr>
              <p:cNvPr id="13" name="F13"/>
              <p:cNvPicPr/>
              <p:nvPr/>
            </p:nvPicPr>
            <p:blipFill>
              <a:blip r:embed="rId4"/>
              <a:stretch>
                <a:fillRect/>
              </a:stretch>
            </p:blipFill>
            <p:spPr>
              <a:xfrm>
                <a:off x="365760" y="2002536"/>
                <a:ext cx="7955280" cy="566928"/>
              </a:xfrm>
              <a:prstGeom prst="rect">
                <a:avLst/>
              </a:prstGeom>
              <a:noFill/>
              <a:ln>
                <a:noFill/>
              </a:ln>
            </p:spPr>
          </p:pic>
        </mc:Fallback>
      </mc:AlternateContent>
      <p:sp>
        <p:nvSpPr>
          <p:cNvPr id="14" name="T14"/>
          <p:cNvSpPr txBox="1"/>
          <p:nvPr/>
        </p:nvSpPr>
        <p:spPr>
          <a:xfrm>
            <a:off x="365760" y="2743200"/>
            <a:ext cx="7955280" cy="914400"/>
          </a:xfrm>
          <a:prstGeom prst="roundRect">
            <a:avLst/>
          </a:prstGeom>
          <a:solidFill>
            <a:srgbClr val="FDECF4"/>
          </a:solidFill>
          <a:ln w="19050">
            <a:solidFill>
              <a:srgbClr val="C0392B"/>
            </a:solidFill>
          </a:ln>
        </p:spPr>
        <p:txBody>
          <a:bodyPr wrap="square" lIns="109728" tIns="54864" rIns="109728" bIns="54864" anchor="ctr">
            <a:noAutofit/>
          </a:bodyPr>
          <a:lstStyle/>
          <a:p>
            <a:pPr algn="l">
              <a:lnSpc>
                <a:spcPct val="100000"/>
              </a:lnSpc>
              <a:buNone/>
            </a:pPr>
            <a:r>
              <a:rPr lang="zh-TW" altLang="en-US" sz="2400" b="1" dirty="0">
                <a:solidFill>
                  <a:srgbClr val="C0392B"/>
                </a:solidFill>
                <a:latin typeface="Calibri"/>
                <a:ea typeface="微軟正黑體"/>
                <a:cs typeface="Calibri"/>
              </a:rPr>
              <a:t>注意：</a:t>
            </a:r>
            <a:r>
              <a:rPr lang="zh-TW" altLang="en-US" sz="2400" b="0" dirty="0">
                <a:solidFill>
                  <a:srgbClr val="2B3050"/>
                </a:solidFill>
                <a:latin typeface="Calibri"/>
                <a:ea typeface="微軟正黑體"/>
                <a:cs typeface="Calibri"/>
              </a:rPr>
              <a:t>課本式中寫「2rθ̇」是筆誤</a:t>
            </a:r>
            <a:endParaRPr lang="zh-TW" sz="2400"/>
          </a:p>
          <a:p>
            <a:pPr algn="l">
              <a:lnSpc>
                <a:spcPct val="100000"/>
              </a:lnSpc>
              <a:buNone/>
            </a:pPr>
            <a:r>
              <a:rPr lang="zh-TW" altLang="en-US" sz="2400" b="0" dirty="0">
                <a:solidFill>
                  <a:srgbClr val="2B3050"/>
                </a:solidFill>
                <a:latin typeface="Calibri"/>
                <a:ea typeface="微軟正黑體"/>
                <a:cs typeface="Calibri"/>
              </a:rPr>
              <a:t>應為 2ṙθ̇（數值 2.134 是用 ṙ 算的，正確）</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5：由 a 列方程式</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6</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36</m:t>
                      </m:r>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− 1.067</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0.09</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− 0.640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+ 1.138</m:t>
                      </m:r>
                    </m:oMath>
                  </m:oMathPara>
                </a14:m>
                <a:endParaRPr lang="zh-TW" sz="2400"/>
              </a:p>
            </p:txBody>
          </p:sp>
        </mc:Choice>
        <mc:Fallback xmlns="">
          <p:pic>
            <p:nvPicPr>
              <p:cNvPr id="12" name="F12"/>
              <p:cNvPicPr/>
              <p:nvPr/>
            </p:nvPicPr>
            <p:blipFill>
              <a:blip r:embed="rId3"/>
              <a:stretch>
                <a:fillRect/>
              </a:stretch>
            </p:blipFill>
            <p:spPr>
              <a:xfrm>
                <a:off x="365760" y="1417320"/>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84248"/>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0.3</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+ 2.134</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0.09</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+ 1.280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+ 4.551</m:t>
                      </m:r>
                    </m:oMath>
                  </m:oMathPara>
                </a14:m>
                <a:endParaRPr lang="zh-TW" sz="2400"/>
              </a:p>
            </p:txBody>
          </p:sp>
        </mc:Choice>
        <mc:Fallback xmlns="">
          <p:pic>
            <p:nvPicPr>
              <p:cNvPr id="13" name="F13"/>
              <p:cNvPicPr/>
              <p:nvPr/>
            </p:nvPicPr>
            <p:blipFill>
              <a:blip r:embed="rId4"/>
              <a:stretch>
                <a:fillRect/>
              </a:stretch>
            </p:blipFill>
            <p:spPr>
              <a:xfrm>
                <a:off x="365760" y="1984248"/>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51176"/>
                <a:ext cx="7955280" cy="56692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相加：</a:t>
                </a:r>
                <a14:m>
                  <m:oMath xmlns:m="http://schemas.openxmlformats.org/officeDocument/2006/math">
                    <m:r>
                      <a:rPr lang="en-US" altLang="zh-TW" sz="2400" b="0" i="0">
                        <a:solidFill>
                          <a:srgbClr val="2B3050"/>
                        </a:solidFill>
                        <a:latin typeface="Cambria Math" panose="02040503050406030204" pitchFamily="18" charset="0"/>
                        <a:ea typeface="Cambria Math"/>
                      </a:rPr>
                      <m:t>0.18</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+ 0.640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+ 5.689 = 36</m:t>
                    </m:r>
                  </m:oMath>
                </a14:m>
                <a:endParaRPr lang="zh-TW" sz="2400"/>
              </a:p>
            </p:txBody>
          </p:sp>
        </mc:Choice>
        <mc:Fallback xmlns="">
          <p:pic>
            <p:nvPicPr>
              <p:cNvPr id="14" name="F14"/>
              <p:cNvPicPr/>
              <p:nvPr/>
            </p:nvPicPr>
            <p:blipFill>
              <a:blip r:embed="rId5"/>
              <a:stretch>
                <a:fillRect/>
              </a:stretch>
            </p:blipFill>
            <p:spPr>
              <a:xfrm>
                <a:off x="365760" y="2551176"/>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118104"/>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0.18</m:t>
                      </m:r>
                      <m:sSup>
                        <m:sSupPr>
                          <m:ctrlPr>
                            <a:rPr lang="en-US" altLang="zh-TW" sz="2400" b="0" i="1">
                              <a:solidFill>
                                <a:srgbClr val="D6006F"/>
                              </a:solidFill>
                              <a:latin typeface="Cambria Math" panose="02040503050406030204" pitchFamily="18" charset="0"/>
                              <a:ea typeface="Cambria Math"/>
                            </a:rPr>
                          </m:ctrlPr>
                        </m:sSup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+ 0.640</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− 30.31 = 0</m:t>
                      </m:r>
                    </m:oMath>
                  </m:oMathPara>
                </a14:m>
                <a:endParaRPr lang="zh-TW" sz="2400"/>
              </a:p>
            </p:txBody>
          </p:sp>
        </mc:Choice>
        <mc:Fallback xmlns="">
          <p:pic>
            <p:nvPicPr>
              <p:cNvPr id="15" name="F15"/>
              <p:cNvPicPr/>
              <p:nvPr/>
            </p:nvPicPr>
            <p:blipFill>
              <a:blip r:embed="rId6"/>
              <a:stretch>
                <a:fillRect/>
              </a:stretch>
            </p:blipFill>
            <p:spPr>
              <a:xfrm>
                <a:off x="365760" y="3118104"/>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365760" y="3794760"/>
                <a:ext cx="7955280" cy="7772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展開：</a:t>
                </a:r>
                <a14:m>
                  <m:oMath xmlns:m="http://schemas.openxmlformats.org/officeDocument/2006/math">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𝑎</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𝑏</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𝑎</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𝑎𝑏</m:t>
                    </m:r>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𝑏</m:t>
                        </m:r>
                      </m:e>
                      <m:sup>
                        <m:r>
                          <a:rPr lang="en-US" altLang="zh-TW" sz="2400" b="0" i="0">
                            <a:solidFill>
                              <a:srgbClr val="2B3050"/>
                            </a:solidFill>
                            <a:latin typeface="Cambria Math" panose="02040503050406030204" pitchFamily="18" charset="0"/>
                            <a:ea typeface="Cambria Math"/>
                          </a:rPr>
                          <m:t>2</m:t>
                        </m:r>
                      </m:sup>
                    </m:sSup>
                  </m:oMath>
                </a14:m>
                <a:endParaRPr lang="zh-TW" sz="2400"/>
              </a:p>
            </p:txBody>
          </p:sp>
        </mc:Choice>
        <mc:Fallback xmlns="">
          <p:pic>
            <p:nvPicPr>
              <p:cNvPr id="16" name="F16"/>
              <p:cNvPicPr/>
              <p:nvPr/>
            </p:nvPicPr>
            <p:blipFill>
              <a:blip r:embed="rId7"/>
              <a:stretch>
                <a:fillRect/>
              </a:stretch>
            </p:blipFill>
            <p:spPr>
              <a:xfrm>
                <a:off x="365760" y="3794760"/>
                <a:ext cx="7955280" cy="77724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步驟 6：公式解求 θ̈</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9601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−0.640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0.640</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0.18</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30.31</m:t>
                                  </m:r>
                                </m:e>
                              </m:d>
                            </m:e>
                          </m:rad>
                        </m:num>
                        <m:den>
                          <m:r>
                            <a:rPr lang="en-US" altLang="zh-TW" sz="2400" b="0" i="0">
                              <a:solidFill>
                                <a:srgbClr val="2B3050"/>
                              </a:solidFill>
                              <a:latin typeface="Cambria Math" panose="02040503050406030204" pitchFamily="18" charset="0"/>
                              <a:ea typeface="Cambria Math"/>
                            </a:rPr>
                            <m:t>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0.18</m:t>
                              </m:r>
                            </m:e>
                          </m:d>
                        </m:den>
                      </m:f>
                    </m:oMath>
                  </m:oMathPara>
                </a14:m>
                <a:endParaRPr lang="zh-TW" sz="2400"/>
              </a:p>
            </p:txBody>
          </p:sp>
        </mc:Choice>
        <mc:Fallback xmlns="">
          <p:pic>
            <p:nvPicPr>
              <p:cNvPr id="11" name="F11"/>
              <p:cNvPicPr/>
              <p:nvPr/>
            </p:nvPicPr>
            <p:blipFill>
              <a:blip r:embed="rId2"/>
              <a:stretch>
                <a:fillRect/>
              </a:stretch>
            </p:blipFill>
            <p:spPr>
              <a:xfrm>
                <a:off x="365760" y="868680"/>
                <a:ext cx="7955280" cy="9601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82880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−0.640 ± 4.715</m:t>
                          </m:r>
                        </m:num>
                        <m:den>
                          <m:r>
                            <a:rPr lang="en-US" altLang="zh-TW" sz="2400" b="0" i="0">
                              <a:solidFill>
                                <a:srgbClr val="2B3050"/>
                              </a:solidFill>
                              <a:latin typeface="Cambria Math" panose="02040503050406030204" pitchFamily="18" charset="0"/>
                              <a:ea typeface="Cambria Math"/>
                            </a:rPr>
                            <m:t>0.36</m:t>
                          </m:r>
                        </m:den>
                      </m:f>
                    </m:oMath>
                  </m:oMathPara>
                </a14:m>
                <a:endParaRPr lang="zh-TW" sz="2400"/>
              </a:p>
            </p:txBody>
          </p:sp>
        </mc:Choice>
        <mc:Fallback xmlns="">
          <p:pic>
            <p:nvPicPr>
              <p:cNvPr id="12" name="F12"/>
              <p:cNvPicPr/>
              <p:nvPr/>
            </p:nvPicPr>
            <p:blipFill>
              <a:blip r:embed="rId3"/>
              <a:stretch>
                <a:fillRect/>
              </a:stretch>
            </p:blipFill>
            <p:spPr>
              <a:xfrm>
                <a:off x="365760" y="182880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97480"/>
                <a:ext cx="7955280" cy="566928"/>
              </a:xfrm>
              <a:prstGeom prst="rect">
                <a:avLst/>
              </a:prstGeom>
              <a:noFill/>
              <a:ln>
                <a:noFill/>
              </a:ln>
            </p:spPr>
            <p:txBody>
              <a:bodyPr wrap="square" lIns="54864" tIns="27432" rIns="54864" bIns="27432" anchor="t">
                <a:noAutofit/>
              </a:bodyPr>
              <a:lstStyle/>
              <a:p>
                <a:pPr algn="l">
                  <a:lnSpc>
                    <a:spcPct val="100000"/>
                  </a:lnSpc>
                  <a:buNone/>
                </a:pPr>
                <a14:m>
                  <m:oMath xmlns:m="http://schemas.openxmlformats.org/officeDocument/2006/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11.32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a14:m>
                <a:r>
                  <a:rPr lang="zh-TW" altLang="en-US" sz="2400" b="0" dirty="0">
                    <a:solidFill>
                      <a:srgbClr val="D6006F"/>
                    </a:solidFill>
                    <a:latin typeface="Calibri"/>
                    <a:ea typeface="微軟正黑體"/>
                    <a:cs typeface="Calibri"/>
                  </a:rPr>
                  <a:t>　或　</a:t>
                </a:r>
                <a14:m>
                  <m:oMath xmlns:m="http://schemas.openxmlformats.org/officeDocument/2006/math">
                    <m:r>
                      <a:rPr lang="en-US" altLang="zh-TW" sz="2400" b="0" i="0">
                        <a:solidFill>
                          <a:srgbClr val="D6006F"/>
                        </a:solidFill>
                        <a:latin typeface="Cambria Math" panose="02040503050406030204" pitchFamily="18" charset="0"/>
                        <a:ea typeface="Cambria Math"/>
                      </a:rPr>
                      <m:t>−14.88</m:t>
                    </m:r>
                  </m:oMath>
                </a14:m>
                <a:endParaRPr lang="zh-TW" sz="2400"/>
              </a:p>
            </p:txBody>
          </p:sp>
        </mc:Choice>
        <mc:Fallback xmlns="">
          <p:pic>
            <p:nvPicPr>
              <p:cNvPr id="13" name="F13"/>
              <p:cNvPicPr/>
              <p:nvPr/>
            </p:nvPicPr>
            <p:blipFill>
              <a:blip r:embed="rId4"/>
              <a:stretch>
                <a:fillRect/>
              </a:stretch>
            </p:blipFill>
            <p:spPr>
              <a:xfrm>
                <a:off x="365760" y="2697480"/>
                <a:ext cx="7955280" cy="566928"/>
              </a:xfrm>
              <a:prstGeom prst="rect">
                <a:avLst/>
              </a:prstGeom>
              <a:noFill/>
              <a:ln>
                <a:noFill/>
              </a:ln>
            </p:spPr>
          </p:pic>
        </mc:Fallback>
      </mc:AlternateContent>
      <p:sp>
        <p:nvSpPr>
          <p:cNvPr id="14" name="T14"/>
          <p:cNvSpPr txBox="1"/>
          <p:nvPr/>
        </p:nvSpPr>
        <p:spPr>
          <a:xfrm>
            <a:off x="365760" y="3383280"/>
            <a:ext cx="7955280" cy="566928"/>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θ̇ = 1.886 rad/s，θ̈ = 11.32 rad/s²（課本取正根）</a:t>
            </a:r>
            <a:endParaRPr lang="zh-TW" sz="2400"/>
          </a:p>
        </p:txBody>
      </p:sp>
      <p:sp>
        <p:nvSpPr>
          <p:cNvPr id="15" name="T15"/>
          <p:cNvSpPr txBox="1"/>
          <p:nvPr/>
        </p:nvSpPr>
        <p:spPr>
          <a:xfrm>
            <a:off x="365760" y="4023360"/>
            <a:ext cx="7955280" cy="621792"/>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負根也符合 a = 6，代表轉速在變慢</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2-18　本題用到的公式與技巧</a:t>
            </a:r>
          </a:p>
        </p:txBody>
      </p:sp>
      <p:sp>
        <p:nvSpPr>
          <p:cNvPr id="11" name="T11"/>
          <p:cNvSpPr txBox="1"/>
          <p:nvPr/>
        </p:nvSpPr>
        <p:spPr>
          <a:xfrm>
            <a:off x="365760" y="84124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連鎖律</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𝑑𝑟</m:t>
                          </m:r>
                        </m:num>
                        <m:den>
                          <m:r>
                            <a:rPr lang="en-US" altLang="zh-TW" sz="2400" b="0" i="1">
                              <a:solidFill>
                                <a:srgbClr val="2B3050"/>
                              </a:solidFill>
                              <a:latin typeface="Cambria Math" panose="02040503050406030204" pitchFamily="18" charset="0"/>
                              <a:ea typeface="Cambria Math"/>
                            </a:rPr>
                            <m:t>𝑑</m:t>
                          </m:r>
                          <m:r>
                            <a:rPr lang="en-US" altLang="zh-TW" sz="2400" b="0" i="1">
                              <a:solidFill>
                                <a:srgbClr val="2B3050"/>
                              </a:solidFill>
                              <a:latin typeface="Cambria Math" panose="02040503050406030204" pitchFamily="18" charset="0"/>
                              <a:ea typeface="Cambria Math"/>
                            </a:rPr>
                            <m:t>𝜃</m:t>
                          </m:r>
                        </m:den>
                      </m:f>
                      <m:r>
                        <a:rPr lang="en-US" altLang="zh-TW" sz="2400" b="0" i="0">
                          <a:solidFill>
                            <a:srgbClr val="2B3050"/>
                          </a:solidFill>
                          <a:latin typeface="Cambria Math" panose="02040503050406030204" pitchFamily="18" charset="0"/>
                          <a:ea typeface="Cambria Math"/>
                        </a:rPr>
                        <m:t>·</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2" name="F12"/>
              <p:cNvPicPr/>
              <p:nvPr/>
            </p:nvPicPr>
            <p:blipFill>
              <a:blip r:embed="rId2"/>
              <a:stretch>
                <a:fillRect/>
              </a:stretch>
            </p:blipFill>
            <p:spPr>
              <a:xfrm>
                <a:off x="2560320" y="841248"/>
                <a:ext cx="5760720" cy="795528"/>
              </a:xfrm>
              <a:prstGeom prst="roundRect">
                <a:avLst/>
              </a:prstGeom>
              <a:solidFill>
                <a:srgbClr val="E8F4F6"/>
              </a:solidFill>
              <a:ln>
                <a:noFill/>
              </a:ln>
            </p:spPr>
          </p:pic>
        </mc:Fallback>
      </mc:AlternateContent>
      <p:sp>
        <p:nvSpPr>
          <p:cNvPr id="13" name="T13"/>
          <p:cNvSpPr txBox="1"/>
          <p:nvPr/>
        </p:nvSpPr>
        <p:spPr>
          <a:xfrm>
            <a:off x="365760" y="1709928"/>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乘積法則</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709928"/>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0">
                              <a:solidFill>
                                <a:srgbClr val="2B3050"/>
                              </a:solidFill>
                              <a:latin typeface="Cambria Math" panose="02040503050406030204" pitchFamily="18" charset="0"/>
                              <a:ea typeface="Cambria Math"/>
                            </a:rPr>
                          </m:ctrlPr>
                        </m:dPr>
                        <m:e>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cos</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m:oMathPara>
                </a14:m>
                <a:endParaRPr lang="zh-TW" sz="2400"/>
              </a:p>
            </p:txBody>
          </p:sp>
        </mc:Choice>
        <mc:Fallback xmlns="">
          <p:pic>
            <p:nvPicPr>
              <p:cNvPr id="14" name="F14"/>
              <p:cNvPicPr/>
              <p:nvPr/>
            </p:nvPicPr>
            <p:blipFill>
              <a:blip r:embed="rId3"/>
              <a:stretch>
                <a:fillRect/>
              </a:stretch>
            </p:blipFill>
            <p:spPr>
              <a:xfrm>
                <a:off x="2560320" y="1709928"/>
                <a:ext cx="5760720" cy="795528"/>
              </a:xfrm>
              <a:prstGeom prst="roundRect">
                <a:avLst/>
              </a:prstGeom>
              <a:solidFill>
                <a:srgbClr val="E8F4F6"/>
              </a:solidFill>
              <a:ln>
                <a:noFill/>
              </a:ln>
            </p:spPr>
          </p:pic>
        </mc:Fallback>
      </mc:AlternateContent>
      <p:sp>
        <p:nvSpPr>
          <p:cNvPr id="15" name="T15"/>
          <p:cNvSpPr txBox="1"/>
          <p:nvPr/>
        </p:nvSpPr>
        <p:spPr>
          <a:xfrm>
            <a:off x="365760" y="257860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解題順序</a:t>
            </a:r>
            <a:endParaRPr lang="zh-TW" sz="2400"/>
          </a:p>
        </p:txBody>
      </p:sp>
      <p:sp>
        <p:nvSpPr>
          <p:cNvPr id="16" name="T16"/>
          <p:cNvSpPr txBox="1"/>
          <p:nvPr/>
        </p:nvSpPr>
        <p:spPr>
          <a:xfrm>
            <a:off x="2560320" y="257860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v 只含 θ̇ → 先解；再用 a 解 θ̈</a:t>
            </a:r>
            <a:endParaRPr lang="zh-TW" sz="2400"/>
          </a:p>
        </p:txBody>
      </p:sp>
      <p:sp>
        <p:nvSpPr>
          <p:cNvPr id="17" name="T17"/>
          <p:cNvSpPr txBox="1"/>
          <p:nvPr/>
        </p:nvSpPr>
        <p:spPr>
          <a:xfrm>
            <a:off x="365760" y="3218688"/>
            <a:ext cx="2103120" cy="8412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公式解</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218688"/>
                <a:ext cx="5760720" cy="8412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𝑥</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𝑏</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𝑏</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r>
                                <a:rPr lang="en-US" altLang="zh-TW" sz="2400" b="0" i="1">
                                  <a:solidFill>
                                    <a:srgbClr val="2B3050"/>
                                  </a:solidFill>
                                  <a:latin typeface="Cambria Math" panose="02040503050406030204" pitchFamily="18" charset="0"/>
                                  <a:ea typeface="Cambria Math"/>
                                </a:rPr>
                                <m:t>𝑎𝑐</m:t>
                              </m:r>
                            </m:e>
                          </m:rad>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𝑎</m:t>
                          </m:r>
                        </m:den>
                      </m:f>
                    </m:oMath>
                  </m:oMathPara>
                </a14:m>
                <a:endParaRPr lang="zh-TW" sz="2400"/>
              </a:p>
            </p:txBody>
          </p:sp>
        </mc:Choice>
        <mc:Fallback xmlns="">
          <p:pic>
            <p:nvPicPr>
              <p:cNvPr id="18" name="F18"/>
              <p:cNvPicPr/>
              <p:nvPr/>
            </p:nvPicPr>
            <p:blipFill>
              <a:blip r:embed="rId4"/>
              <a:stretch>
                <a:fillRect/>
              </a:stretch>
            </p:blipFill>
            <p:spPr>
              <a:xfrm>
                <a:off x="2560320" y="3218688"/>
                <a:ext cx="5760720" cy="841248"/>
              </a:xfrm>
              <a:prstGeom prst="roundRect">
                <a:avLst/>
              </a:prstGeom>
              <a:solidFill>
                <a:srgbClr val="E8F4F6"/>
              </a:solidFill>
              <a:ln>
                <a:noFill/>
              </a:ln>
            </p:spPr>
          </p:pic>
        </mc:Fallback>
      </mc:AlternateContent>
      <p:sp>
        <p:nvSpPr>
          <p:cNvPr id="19" name="T19"/>
          <p:cNvSpPr txBox="1"/>
          <p:nvPr/>
        </p:nvSpPr>
        <p:spPr>
          <a:xfrm>
            <a:off x="365760" y="4133088"/>
            <a:ext cx="2103120" cy="5212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133088"/>
            <a:ext cx="5760720" cy="5212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r 跟著 θ 走：先對 θ 微，再乘 θ̇</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pic>
        <p:nvPicPr>
          <p:cNvPr id="156674"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2812733" y="812800"/>
            <a:ext cx="3053397"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9163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讀題</a:t>
            </a:r>
          </a:p>
        </p:txBody>
      </p:sp>
      <p:sp>
        <p:nvSpPr>
          <p:cNvPr id="11" name="T11"/>
          <p:cNvSpPr txBox="1"/>
          <p:nvPr/>
        </p:nvSpPr>
        <p:spPr>
          <a:xfrm>
            <a:off x="365760" y="8686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物體用 r = 2 m 的連桿</a:t>
            </a:r>
            <a:endParaRPr lang="zh-TW" sz="2400"/>
          </a:p>
        </p:txBody>
      </p:sp>
      <p:sp>
        <p:nvSpPr>
          <p:cNvPr id="12" name="T12"/>
          <p:cNvSpPr txBox="1"/>
          <p:nvPr/>
        </p:nvSpPr>
        <p:spPr>
          <a:xfrm>
            <a:off x="365760" y="13258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繞 O 點做水平圓周運動</a:t>
            </a:r>
            <a:endParaRPr lang="zh-TW" sz="2400"/>
          </a:p>
        </p:txBody>
      </p:sp>
      <p:sp>
        <p:nvSpPr>
          <p:cNvPr id="13" name="T13"/>
          <p:cNvSpPr txBox="1"/>
          <p:nvPr/>
        </p:nvSpPr>
        <p:spPr>
          <a:xfrm>
            <a:off x="365760" y="17830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θ(t) = t² − 2t（rad）</a:t>
            </a:r>
            <a:endParaRPr lang="zh-TW" sz="2400"/>
          </a:p>
        </p:txBody>
      </p:sp>
      <p:sp>
        <p:nvSpPr>
          <p:cNvPr id="14" name="T14"/>
          <p:cNvSpPr txBox="1"/>
          <p:nvPr/>
        </p:nvSpPr>
        <p:spPr>
          <a:xfrm>
            <a:off x="365760" y="2240280"/>
            <a:ext cx="45720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求：t = 3 s 的速度、加速度</a:t>
            </a:r>
            <a:endParaRPr lang="zh-TW" sz="2400"/>
          </a:p>
        </p:txBody>
      </p:sp>
      <p:sp>
        <p:nvSpPr>
          <p:cNvPr id="15" name="P15"/>
          <p:cNvSpPr/>
          <p:nvPr/>
        </p:nvSpPr>
        <p:spPr>
          <a:xfrm>
            <a:off x="5303520" y="1645920"/>
            <a:ext cx="2560320" cy="2560320"/>
          </a:xfrm>
          <a:custGeom>
            <a:avLst/>
            <a:gdLst/>
            <a:ahLst/>
            <a:cxnLst/>
            <a:rect l="0" t="0" r="r" b="b"/>
            <a:pathLst>
              <a:path w="2560320" h="2560320">
                <a:moveTo>
                  <a:pt x="2560320" y="1280160"/>
                </a:moveTo>
                <a:lnTo>
                  <a:pt x="2544559" y="1079899"/>
                </a:lnTo>
                <a:lnTo>
                  <a:pt x="2497665" y="884569"/>
                </a:lnTo>
                <a:lnTo>
                  <a:pt x="2420791" y="698980"/>
                </a:lnTo>
                <a:lnTo>
                  <a:pt x="2315831" y="527701"/>
                </a:lnTo>
                <a:lnTo>
                  <a:pt x="2185370" y="374950"/>
                </a:lnTo>
                <a:lnTo>
                  <a:pt x="2032619" y="244489"/>
                </a:lnTo>
                <a:lnTo>
                  <a:pt x="1861340" y="139529"/>
                </a:lnTo>
                <a:lnTo>
                  <a:pt x="1675751" y="62655"/>
                </a:lnTo>
                <a:lnTo>
                  <a:pt x="1480421" y="15761"/>
                </a:lnTo>
                <a:lnTo>
                  <a:pt x="1280160" y="0"/>
                </a:lnTo>
                <a:lnTo>
                  <a:pt x="1079899" y="15761"/>
                </a:lnTo>
                <a:lnTo>
                  <a:pt x="884569" y="62655"/>
                </a:lnTo>
                <a:lnTo>
                  <a:pt x="698980" y="139529"/>
                </a:lnTo>
                <a:lnTo>
                  <a:pt x="527701" y="244489"/>
                </a:lnTo>
                <a:lnTo>
                  <a:pt x="374950" y="374950"/>
                </a:lnTo>
                <a:lnTo>
                  <a:pt x="244489" y="527701"/>
                </a:lnTo>
                <a:lnTo>
                  <a:pt x="139529" y="698980"/>
                </a:lnTo>
                <a:lnTo>
                  <a:pt x="62655" y="884569"/>
                </a:lnTo>
                <a:lnTo>
                  <a:pt x="15761" y="1079899"/>
                </a:lnTo>
                <a:lnTo>
                  <a:pt x="0" y="1280160"/>
                </a:lnTo>
                <a:lnTo>
                  <a:pt x="15761" y="1480421"/>
                </a:lnTo>
                <a:lnTo>
                  <a:pt x="62655" y="1675751"/>
                </a:lnTo>
                <a:lnTo>
                  <a:pt x="139529" y="1861340"/>
                </a:lnTo>
                <a:lnTo>
                  <a:pt x="244489" y="2032619"/>
                </a:lnTo>
                <a:lnTo>
                  <a:pt x="374950" y="2185370"/>
                </a:lnTo>
                <a:lnTo>
                  <a:pt x="527701" y="2315831"/>
                </a:lnTo>
                <a:lnTo>
                  <a:pt x="698980" y="2420791"/>
                </a:lnTo>
                <a:lnTo>
                  <a:pt x="884569" y="2497665"/>
                </a:lnTo>
                <a:lnTo>
                  <a:pt x="1079899" y="2544559"/>
                </a:lnTo>
                <a:lnTo>
                  <a:pt x="1280160" y="2560320"/>
                </a:lnTo>
                <a:lnTo>
                  <a:pt x="1480421" y="2544559"/>
                </a:lnTo>
                <a:lnTo>
                  <a:pt x="1675751" y="2497665"/>
                </a:lnTo>
                <a:lnTo>
                  <a:pt x="1861340" y="2420791"/>
                </a:lnTo>
                <a:lnTo>
                  <a:pt x="2032619" y="2315831"/>
                </a:lnTo>
                <a:lnTo>
                  <a:pt x="2185370" y="2185370"/>
                </a:lnTo>
                <a:lnTo>
                  <a:pt x="2315831" y="2032619"/>
                </a:lnTo>
                <a:lnTo>
                  <a:pt x="2420791" y="1861340"/>
                </a:lnTo>
                <a:lnTo>
                  <a:pt x="2497665" y="1675751"/>
                </a:lnTo>
                <a:lnTo>
                  <a:pt x="2544559" y="1480421"/>
                </a:lnTo>
                <a:lnTo>
                  <a:pt x="2560320" y="1280160"/>
                </a:lnTo>
              </a:path>
            </a:pathLst>
          </a:custGeom>
          <a:noFill/>
          <a:ln w="19050">
            <a:solidFill>
              <a:srgbClr val="8A8F9C"/>
            </a:solidFill>
          </a:ln>
        </p:spPr>
        <p:txBody>
          <a:bodyPr/>
          <a:lstStyle/>
          <a:p>
            <a:endParaRPr lang="zh-TW" altLang="en-US"/>
          </a:p>
        </p:txBody>
      </p:sp>
      <p:sp>
        <p:nvSpPr>
          <p:cNvPr id="16" name="S16"/>
          <p:cNvSpPr/>
          <p:nvPr/>
        </p:nvSpPr>
        <p:spPr>
          <a:xfrm>
            <a:off x="6537960" y="2880360"/>
            <a:ext cx="91440" cy="91440"/>
          </a:xfrm>
          <a:prstGeom prst="ellipse">
            <a:avLst/>
          </a:prstGeom>
          <a:solidFill>
            <a:srgbClr val="2B3050"/>
          </a:solidFill>
          <a:ln>
            <a:noFill/>
          </a:ln>
        </p:spPr>
        <p:txBody>
          <a:bodyPr/>
          <a:lstStyle/>
          <a:p>
            <a:endParaRPr lang="zh-TW" altLang="en-US"/>
          </a:p>
        </p:txBody>
      </p:sp>
      <p:sp>
        <p:nvSpPr>
          <p:cNvPr id="17" name="T17"/>
          <p:cNvSpPr txBox="1"/>
          <p:nvPr/>
        </p:nvSpPr>
        <p:spPr>
          <a:xfrm>
            <a:off x="6492240" y="292608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8" name="L18"/>
          <p:cNvCxnSpPr/>
          <p:nvPr/>
        </p:nvCxnSpPr>
        <p:spPr>
          <a:xfrm>
            <a:off x="6583680" y="2926080"/>
            <a:ext cx="1645920" cy="0"/>
          </a:xfrm>
          <a:prstGeom prst="line">
            <a:avLst/>
          </a:prstGeom>
          <a:ln w="12700">
            <a:solidFill>
              <a:srgbClr val="8A8F9C"/>
            </a:solidFill>
            <a:prstDash val="dash"/>
          </a:ln>
        </p:spPr>
      </p:cxnSp>
      <p:cxnSp>
        <p:nvCxnSpPr>
          <p:cNvPr id="19" name="L19"/>
          <p:cNvCxnSpPr/>
          <p:nvPr/>
        </p:nvCxnSpPr>
        <p:spPr>
          <a:xfrm flipV="1">
            <a:off x="6583680" y="2487116"/>
            <a:ext cx="1202547" cy="438964"/>
          </a:xfrm>
          <a:prstGeom prst="line">
            <a:avLst/>
          </a:prstGeom>
          <a:ln w="25400">
            <a:solidFill>
              <a:srgbClr val="2B3050"/>
            </a:solidFill>
          </a:ln>
        </p:spPr>
      </p:cxnSp>
      <p:sp>
        <p:nvSpPr>
          <p:cNvPr id="20" name="T20"/>
          <p:cNvSpPr txBox="1"/>
          <p:nvPr/>
        </p:nvSpPr>
        <p:spPr>
          <a:xfrm>
            <a:off x="6819194" y="2139670"/>
            <a:ext cx="100584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r = 2</a:t>
            </a:r>
            <a:endParaRPr lang="zh-TW" sz="2400"/>
          </a:p>
        </p:txBody>
      </p:sp>
      <p:sp>
        <p:nvSpPr>
          <p:cNvPr id="21" name="S21"/>
          <p:cNvSpPr/>
          <p:nvPr/>
        </p:nvSpPr>
        <p:spPr>
          <a:xfrm>
            <a:off x="7703931" y="2404820"/>
            <a:ext cx="164592" cy="164592"/>
          </a:xfrm>
          <a:prstGeom prst="ellipse">
            <a:avLst/>
          </a:prstGeom>
          <a:solidFill>
            <a:srgbClr val="D6006F"/>
          </a:solidFill>
          <a:ln>
            <a:noFill/>
          </a:ln>
        </p:spPr>
        <p:txBody>
          <a:bodyPr/>
          <a:lstStyle/>
          <a:p>
            <a:endParaRPr lang="zh-TW"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r = 2 固定，代表什麼？</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ṙ = 0、r̈ = 0，公式變簡單</a:t>
            </a:r>
            <a:endParaRPr lang="zh-TW" sz="2400"/>
          </a:p>
        </p:txBody>
      </p:sp>
      <p:sp>
        <p:nvSpPr>
          <p:cNvPr id="15" name="S15"/>
          <p:cNvSpPr/>
          <p:nvPr/>
        </p:nvSpPr>
        <p:spPr>
          <a:xfrm>
            <a:off x="365760" y="1728216"/>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72821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71907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θ(t) 要微分幾次？</a:t>
            </a:r>
            <a:endParaRPr lang="zh-TW" sz="2400"/>
          </a:p>
        </p:txBody>
      </p:sp>
      <p:sp>
        <p:nvSpPr>
          <p:cNvPr id="18" name="T18"/>
          <p:cNvSpPr txBox="1"/>
          <p:nvPr/>
        </p:nvSpPr>
        <p:spPr>
          <a:xfrm>
            <a:off x="1188720" y="210312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兩次：得 θ̇（角速度）、θ̈（角加速度）</a:t>
            </a:r>
            <a:endParaRPr lang="zh-TW" sz="2400"/>
          </a:p>
        </p:txBody>
      </p:sp>
      <p:sp>
        <p:nvSpPr>
          <p:cNvPr id="19" name="S19"/>
          <p:cNvSpPr/>
          <p:nvPr/>
        </p:nvSpPr>
        <p:spPr>
          <a:xfrm>
            <a:off x="365760" y="2551176"/>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55117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54203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圓周運動的速度朝哪？</a:t>
            </a:r>
            <a:endParaRPr lang="zh-TW" sz="2400"/>
          </a:p>
        </p:txBody>
      </p:sp>
      <p:sp>
        <p:nvSpPr>
          <p:cNvPr id="22" name="T22"/>
          <p:cNvSpPr txBox="1"/>
          <p:nvPr/>
        </p:nvSpPr>
        <p:spPr>
          <a:xfrm>
            <a:off x="1188720" y="292608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只有 eθ 方向（切線方向）</a:t>
            </a:r>
            <a:endParaRPr lang="zh-TW" sz="2400"/>
          </a:p>
        </p:txBody>
      </p:sp>
      <p:sp>
        <p:nvSpPr>
          <p:cNvPr id="23" name="S23"/>
          <p:cNvSpPr/>
          <p:nvPr/>
        </p:nvSpPr>
        <p:spPr>
          <a:xfrm>
            <a:off x="365760" y="3374136"/>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37413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36499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加速度只有切線分量嗎？</a:t>
            </a:r>
            <a:endParaRPr lang="zh-TW" sz="2400"/>
          </a:p>
        </p:txBody>
      </p:sp>
      <p:sp>
        <p:nvSpPr>
          <p:cNvPr id="26" name="T26"/>
          <p:cNvSpPr txBox="1"/>
          <p:nvPr/>
        </p:nvSpPr>
        <p:spPr>
          <a:xfrm>
            <a:off x="1188720" y="374904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不是！還有指向圓心的 −rθ̇²</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步驟 1：微分並代 t = 3</a:t>
            </a:r>
          </a:p>
        </p:txBody>
      </p:sp>
      <mc:AlternateContent xmlns:mc="http://schemas.openxmlformats.org/markup-compatibility/2006" xmlns:a14="http://schemas.microsoft.com/office/drawing/2010/main">
        <mc:Choice Requires="a14">
          <p:sp>
            <p:nvSpPr>
              <p:cNvPr id="11" name="T11"/>
              <p:cNvSpPr txBox="1"/>
              <p:nvPr/>
            </p:nvSpPr>
            <p:spPr>
              <a:xfrm>
                <a:off x="365760" y="86868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𝑡</m:t>
                      </m:r>
                    </m:oMath>
                  </m:oMathPara>
                </a14:m>
                <a:endParaRPr lang="zh-TW" sz="2400"/>
              </a:p>
            </p:txBody>
          </p:sp>
        </mc:Choice>
        <mc:Fallback xmlns="">
          <p:pic>
            <p:nvPicPr>
              <p:cNvPr id="11" name="F11"/>
              <p:cNvPicPr/>
              <p:nvPr/>
            </p:nvPicPr>
            <p:blipFill>
              <a:blip r:embed="rId2"/>
              <a:stretch>
                <a:fillRect/>
              </a:stretch>
            </p:blipFill>
            <p:spPr>
              <a:xfrm>
                <a:off x="365760" y="86868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− 2</m:t>
                      </m:r>
                    </m:oMath>
                  </m:oMathPara>
                </a14:m>
                <a:endParaRPr lang="zh-TW" sz="2400"/>
              </a:p>
            </p:txBody>
          </p:sp>
        </mc:Choice>
        <mc:Fallback xmlns="">
          <p:pic>
            <p:nvPicPr>
              <p:cNvPr id="12" name="F12"/>
              <p:cNvPicPr/>
              <p:nvPr/>
            </p:nvPicPr>
            <p:blipFill>
              <a:blip r:embed="rId3"/>
              <a:stretch>
                <a:fillRect/>
              </a:stretch>
            </p:blipFill>
            <p:spPr>
              <a:xfrm>
                <a:off x="365760" y="141732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40233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oMath>
                  </m:oMathPara>
                </a14:m>
                <a:endParaRPr lang="zh-TW" sz="2400"/>
              </a:p>
            </p:txBody>
          </p:sp>
        </mc:Choice>
        <mc:Fallback xmlns="">
          <p:pic>
            <p:nvPicPr>
              <p:cNvPr id="13" name="F13"/>
              <p:cNvPicPr/>
              <p:nvPr/>
            </p:nvPicPr>
            <p:blipFill>
              <a:blip r:embed="rId4"/>
              <a:stretch>
                <a:fillRect/>
              </a:stretch>
            </p:blipFill>
            <p:spPr>
              <a:xfrm>
                <a:off x="365760" y="1965960"/>
                <a:ext cx="402336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4480560" y="86868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𝜃</m:t>
                      </m:r>
                      <m:r>
                        <a:rPr lang="en-US" altLang="zh-TW" sz="2400" b="0" i="0">
                          <a:solidFill>
                            <a:srgbClr val="D6006F"/>
                          </a:solidFill>
                          <a:latin typeface="Cambria Math" panose="02040503050406030204" pitchFamily="18" charset="0"/>
                          <a:ea typeface="Cambria Math"/>
                        </a:rPr>
                        <m:t> = 9 − 6 = 3 </m:t>
                      </m:r>
                      <m:r>
                        <m:rPr>
                          <m:sty m:val="p"/>
                        </m:rPr>
                        <a:rPr lang="en-US" altLang="zh-TW" sz="2400" b="0" i="0">
                          <a:solidFill>
                            <a:srgbClr val="D6006F"/>
                          </a:solidFill>
                          <a:latin typeface="Cambria Math" panose="02040503050406030204" pitchFamily="18" charset="0"/>
                          <a:ea typeface="Cambria Math"/>
                        </a:rPr>
                        <m:t>rad</m:t>
                      </m:r>
                    </m:oMath>
                  </m:oMathPara>
                </a14:m>
                <a:endParaRPr lang="zh-TW" sz="2400"/>
              </a:p>
            </p:txBody>
          </p:sp>
        </mc:Choice>
        <mc:Fallback xmlns="">
          <p:pic>
            <p:nvPicPr>
              <p:cNvPr id="14" name="F14"/>
              <p:cNvPicPr/>
              <p:nvPr/>
            </p:nvPicPr>
            <p:blipFill>
              <a:blip r:embed="rId5"/>
              <a:stretch>
                <a:fillRect/>
              </a:stretch>
            </p:blipFill>
            <p:spPr>
              <a:xfrm>
                <a:off x="4480560" y="868680"/>
                <a:ext cx="38404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4480560" y="141732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6 − 2 = 4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5" name="F15"/>
              <p:cNvPicPr/>
              <p:nvPr/>
            </p:nvPicPr>
            <p:blipFill>
              <a:blip r:embed="rId6"/>
              <a:stretch>
                <a:fillRect/>
              </a:stretch>
            </p:blipFill>
            <p:spPr>
              <a:xfrm>
                <a:off x="4480560" y="1417320"/>
                <a:ext cx="38404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4480560" y="196596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6" name="F16"/>
              <p:cNvPicPr/>
              <p:nvPr/>
            </p:nvPicPr>
            <p:blipFill>
              <a:blip r:embed="rId7"/>
              <a:stretch>
                <a:fillRect/>
              </a:stretch>
            </p:blipFill>
            <p:spPr>
              <a:xfrm>
                <a:off x="4480560" y="1965960"/>
                <a:ext cx="38404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7" name="T17"/>
              <p:cNvSpPr txBox="1"/>
              <p:nvPr/>
            </p:nvSpPr>
            <p:spPr>
              <a:xfrm>
                <a:off x="365760" y="2743200"/>
                <a:ext cx="7955280" cy="7315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 = 2：</a:t>
                </a:r>
                <a14:m>
                  <m:oMath xmlns:m="http://schemas.openxmlformats.org/officeDocument/2006/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m:t>
                    </m:r>
                  </m:oMath>
                </a14:m>
                <a:endParaRPr lang="zh-TW" sz="2400"/>
              </a:p>
            </p:txBody>
          </p:sp>
        </mc:Choice>
        <mc:Fallback xmlns="">
          <p:pic>
            <p:nvPicPr>
              <p:cNvPr id="17" name="F17"/>
              <p:cNvPicPr/>
              <p:nvPr/>
            </p:nvPicPr>
            <p:blipFill>
              <a:blip r:embed="rId8"/>
              <a:stretch>
                <a:fillRect/>
              </a:stretch>
            </p:blipFill>
            <p:spPr>
              <a:xfrm>
                <a:off x="365760" y="2743200"/>
                <a:ext cx="7955280" cy="73152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運動動畫：θ(t) = t² − 2t</a:t>
            </a:r>
          </a:p>
        </p:txBody>
      </p:sp>
      <p:sp>
        <p:nvSpPr>
          <p:cNvPr id="11" name="P11"/>
          <p:cNvSpPr/>
          <p:nvPr/>
        </p:nvSpPr>
        <p:spPr>
          <a:xfrm>
            <a:off x="4937760" y="1508760"/>
            <a:ext cx="2743200" cy="2743200"/>
          </a:xfrm>
          <a:custGeom>
            <a:avLst/>
            <a:gdLst/>
            <a:ahLst/>
            <a:cxnLst/>
            <a:rect l="0" t="0" r="r" b="b"/>
            <a:pathLst>
              <a:path w="2743200" h="2743200">
                <a:moveTo>
                  <a:pt x="2743200" y="1371600"/>
                </a:moveTo>
                <a:lnTo>
                  <a:pt x="2726313" y="1157034"/>
                </a:lnTo>
                <a:lnTo>
                  <a:pt x="2676069" y="947752"/>
                </a:lnTo>
                <a:lnTo>
                  <a:pt x="2593705" y="748907"/>
                </a:lnTo>
                <a:lnTo>
                  <a:pt x="2481248" y="565394"/>
                </a:lnTo>
                <a:lnTo>
                  <a:pt x="2341468" y="401732"/>
                </a:lnTo>
                <a:lnTo>
                  <a:pt x="2177806" y="261952"/>
                </a:lnTo>
                <a:lnTo>
                  <a:pt x="1994293" y="149495"/>
                </a:lnTo>
                <a:lnTo>
                  <a:pt x="1795448" y="67131"/>
                </a:lnTo>
                <a:lnTo>
                  <a:pt x="1586166" y="16887"/>
                </a:lnTo>
                <a:lnTo>
                  <a:pt x="1371600" y="0"/>
                </a:lnTo>
                <a:lnTo>
                  <a:pt x="1157034" y="16887"/>
                </a:lnTo>
                <a:lnTo>
                  <a:pt x="947752" y="67131"/>
                </a:lnTo>
                <a:lnTo>
                  <a:pt x="748907" y="149495"/>
                </a:lnTo>
                <a:lnTo>
                  <a:pt x="565394" y="261952"/>
                </a:lnTo>
                <a:lnTo>
                  <a:pt x="401732" y="401732"/>
                </a:lnTo>
                <a:lnTo>
                  <a:pt x="261952" y="565394"/>
                </a:lnTo>
                <a:lnTo>
                  <a:pt x="149495" y="748907"/>
                </a:lnTo>
                <a:lnTo>
                  <a:pt x="67131" y="947752"/>
                </a:lnTo>
                <a:lnTo>
                  <a:pt x="16887" y="1157034"/>
                </a:lnTo>
                <a:lnTo>
                  <a:pt x="0" y="1371600"/>
                </a:lnTo>
                <a:lnTo>
                  <a:pt x="16887" y="1586166"/>
                </a:lnTo>
                <a:lnTo>
                  <a:pt x="67131" y="1795448"/>
                </a:lnTo>
                <a:lnTo>
                  <a:pt x="149495" y="1994293"/>
                </a:lnTo>
                <a:lnTo>
                  <a:pt x="261952" y="2177806"/>
                </a:lnTo>
                <a:lnTo>
                  <a:pt x="401732" y="2341468"/>
                </a:lnTo>
                <a:lnTo>
                  <a:pt x="565394" y="2481248"/>
                </a:lnTo>
                <a:lnTo>
                  <a:pt x="748907" y="2593705"/>
                </a:lnTo>
                <a:lnTo>
                  <a:pt x="947752" y="2676069"/>
                </a:lnTo>
                <a:lnTo>
                  <a:pt x="1157034" y="2726313"/>
                </a:lnTo>
                <a:lnTo>
                  <a:pt x="1371600" y="2743200"/>
                </a:lnTo>
                <a:lnTo>
                  <a:pt x="1586166" y="2726313"/>
                </a:lnTo>
                <a:lnTo>
                  <a:pt x="1795448" y="2676069"/>
                </a:lnTo>
                <a:lnTo>
                  <a:pt x="1994293" y="2593705"/>
                </a:lnTo>
                <a:lnTo>
                  <a:pt x="2177806" y="2481248"/>
                </a:lnTo>
                <a:lnTo>
                  <a:pt x="2341468" y="2341468"/>
                </a:lnTo>
                <a:lnTo>
                  <a:pt x="2481248" y="2177806"/>
                </a:lnTo>
                <a:lnTo>
                  <a:pt x="2593705" y="1994293"/>
                </a:lnTo>
                <a:lnTo>
                  <a:pt x="2676069" y="1795448"/>
                </a:lnTo>
                <a:lnTo>
                  <a:pt x="2726313" y="1586166"/>
                </a:lnTo>
                <a:lnTo>
                  <a:pt x="2743200" y="1371600"/>
                </a:lnTo>
              </a:path>
            </a:pathLst>
          </a:custGeom>
          <a:noFill/>
          <a:ln w="19050">
            <a:solidFill>
              <a:srgbClr val="8A8F9C"/>
            </a:solidFill>
          </a:ln>
        </p:spPr>
        <p:txBody>
          <a:bodyPr/>
          <a:lstStyle/>
          <a:p>
            <a:endParaRPr lang="zh-TW" altLang="en-US"/>
          </a:p>
        </p:txBody>
      </p:sp>
      <p:sp>
        <p:nvSpPr>
          <p:cNvPr id="12" name="S12"/>
          <p:cNvSpPr/>
          <p:nvPr/>
        </p:nvSpPr>
        <p:spPr>
          <a:xfrm>
            <a:off x="6263640" y="2834640"/>
            <a:ext cx="91440" cy="91440"/>
          </a:xfrm>
          <a:prstGeom prst="ellipse">
            <a:avLst/>
          </a:prstGeom>
          <a:solidFill>
            <a:srgbClr val="2B3050"/>
          </a:solidFill>
          <a:ln>
            <a:noFill/>
          </a:ln>
        </p:spPr>
        <p:txBody>
          <a:bodyPr/>
          <a:lstStyle/>
          <a:p>
            <a:endParaRPr lang="zh-TW" altLang="en-US"/>
          </a:p>
        </p:txBody>
      </p:sp>
      <p:sp>
        <p:nvSpPr>
          <p:cNvPr id="13" name="T13"/>
          <p:cNvSpPr txBox="1"/>
          <p:nvPr/>
        </p:nvSpPr>
        <p:spPr>
          <a:xfrm>
            <a:off x="6217920" y="288036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4" name="L14"/>
          <p:cNvCxnSpPr/>
          <p:nvPr/>
        </p:nvCxnSpPr>
        <p:spPr>
          <a:xfrm>
            <a:off x="6309360" y="2880360"/>
            <a:ext cx="1737360" cy="0"/>
          </a:xfrm>
          <a:prstGeom prst="line">
            <a:avLst/>
          </a:prstGeom>
          <a:ln w="12700">
            <a:solidFill>
              <a:srgbClr val="8A8F9C"/>
            </a:solidFill>
            <a:prstDash val="dash"/>
          </a:ln>
        </p:spPr>
      </p:cxnSp>
      <p:sp>
        <p:nvSpPr>
          <p:cNvPr id="15" name="S15"/>
          <p:cNvSpPr/>
          <p:nvPr/>
        </p:nvSpPr>
        <p:spPr>
          <a:xfrm>
            <a:off x="7589520" y="2788920"/>
            <a:ext cx="182880" cy="182880"/>
          </a:xfrm>
          <a:prstGeom prst="ellipse">
            <a:avLst/>
          </a:prstGeom>
          <a:solidFill>
            <a:srgbClr val="D6006F"/>
          </a:solidFill>
          <a:ln>
            <a:noFill/>
          </a:ln>
        </p:spPr>
        <p:txBody>
          <a:bodyPr/>
          <a:lstStyle/>
          <a:p>
            <a:endParaRPr lang="zh-TW" altLang="en-US"/>
          </a:p>
        </p:txBody>
      </p:sp>
      <p:sp>
        <p:nvSpPr>
          <p:cNvPr id="16" name="T16"/>
          <p:cNvSpPr txBox="1"/>
          <p:nvPr/>
        </p:nvSpPr>
        <p:spPr>
          <a:xfrm>
            <a:off x="365760" y="8686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0 → 1 s：θ̇ &lt; 0，順時針</a:t>
            </a:r>
            <a:endParaRPr lang="zh-TW" sz="2400"/>
          </a:p>
        </p:txBody>
      </p:sp>
      <p:sp>
        <p:nvSpPr>
          <p:cNvPr id="17" name="T17"/>
          <p:cNvSpPr txBox="1"/>
          <p:nvPr/>
        </p:nvSpPr>
        <p:spPr>
          <a:xfrm>
            <a:off x="365760" y="13258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1 s：θ̇ = 0，瞬間停住</a:t>
            </a:r>
            <a:endParaRPr lang="zh-TW" sz="2400"/>
          </a:p>
        </p:txBody>
      </p:sp>
      <p:sp>
        <p:nvSpPr>
          <p:cNvPr id="18" name="T18"/>
          <p:cNvSpPr txBox="1"/>
          <p:nvPr/>
        </p:nvSpPr>
        <p:spPr>
          <a:xfrm>
            <a:off x="365760" y="17830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t = 1 → 3 s：θ̇ &gt; 0，逆時針</a:t>
            </a:r>
            <a:endParaRPr lang="zh-TW" sz="2400"/>
          </a:p>
        </p:txBody>
      </p:sp>
      <p:sp>
        <p:nvSpPr>
          <p:cNvPr id="19" name="T19"/>
          <p:cNvSpPr txBox="1"/>
          <p:nvPr/>
        </p:nvSpPr>
        <p:spPr>
          <a:xfrm>
            <a:off x="365760" y="2240280"/>
            <a:ext cx="42062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t = 3 s：θ = 3 rad（171.9°）</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0 0 L 0.00000 0.00000 L -0.00071 0.02596 L -0.00270 0.05036 L -0.00574 0.07305 L -0.00962 0.09394 L -0.01413 0.11298 L -0.01909 0.13018 L -0.02433 0.14558 L -0.02969 0.15925 L -0.03503 0.17128 L -0.04025 0.18177 L -0.04523 0.19083 L -0.04988 0.19857 L -0.05414 0.20510 L -0.05794 0.21053 L -0.06123 0.21495 L -0.06397 0.21845 L -0.06614 0.22109 L -0.06770 0.22294 L -0.06864 0.22403 L -0.06895 0.22439 L -0.06864 0.22403 L -0.06770 0.22294 L -0.06614 0.22109 L -0.06397 0.21845 L -0.06123 0.21495 L -0.05794 0.21053 L -0.05414 0.20510 L -0.04988 0.19857 L -0.04523 0.19083 L -0.04025 0.18177 L -0.03503 0.17128 L -0.02969 0.15925 L -0.02433 0.14558 L -0.01909 0.13018 L -0.01413 0.11298 L -0.00962 0.09394 L -0.00574 0.07305 L -0.00270 0.05036 L -0.00071 0.02596 L 0.00000 0.00000 L -0.00079 -0.02729 L -0.00330 -0.05559 L -0.00773 -0.08452 L -0.01429 -0.11358 L -0.02311 -0.14221 L -0.03431 -0.16974 L -0.04794 -0.19543 L -0.06397 -0.21845 L -0.08229 -0.23796 L -0.10270 -0.25306 L -0.12487 -0.26290 L -0.14838 -0.26665 L -0.17267 -0.26360 L -0.19707 -0.25320 L -0.22082 -0.23507 L -0.24305 -0.20915 L -0.26286 -0.17565 L -0.27930 -0.13518 L -0.29146 -0.08870 L -0.29850 -0.03763 E" pathEditMode="relative" ptsTypes="">
                                      <p:cBhvr>
                                        <p:cTn id="6" dur="4000" fill="hold"/>
                                        <p:tgtEl>
                                          <p:spTgt spid="1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步驟 2：速度</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1" name="F11"/>
              <p:cNvPicPr/>
              <p:nvPr/>
            </p:nvPicPr>
            <p:blipFill>
              <a:blip r:embed="rId2"/>
              <a:stretch>
                <a:fillRect/>
              </a:stretch>
            </p:blipFill>
            <p:spPr>
              <a:xfrm>
                <a:off x="365760" y="86868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2B3050"/>
                          </a:solidFill>
                          <a:latin typeface="Cambria Math" panose="02040503050406030204" pitchFamily="18" charset="0"/>
                          <a:ea typeface="Cambria Math"/>
                        </a:rPr>
                        <m:t> = 0·</m:t>
                      </m:r>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m:t>
                          </m:r>
                        </m:e>
                      </m:d>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oMath>
                  </m:oMathPara>
                </a14:m>
                <a:endParaRPr lang="zh-TW" sz="2400"/>
              </a:p>
            </p:txBody>
          </p:sp>
        </mc:Choice>
        <mc:Fallback xmlns="">
          <p:pic>
            <p:nvPicPr>
              <p:cNvPr id="12" name="F12"/>
              <p:cNvPicPr/>
              <p:nvPr/>
            </p:nvPicPr>
            <p:blipFill>
              <a:blip r:embed="rId3"/>
              <a:stretch>
                <a:fillRect/>
              </a:stretch>
            </p:blipFill>
            <p:spPr>
              <a:xfrm>
                <a:off x="365760" y="141732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D6006F"/>
                          </a:solidFill>
                          <a:latin typeface="Cambria Math" panose="02040503050406030204" pitchFamily="18" charset="0"/>
                          <a:ea typeface="Cambria Math"/>
                        </a:rPr>
                        <m:t> = 8</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r>
                        <a:rPr lang="en-US" altLang="zh-TW" sz="2400" b="0" i="0">
                          <a:solidFill>
                            <a:srgbClr val="D6006F"/>
                          </a:solidFill>
                          <a:latin typeface="Cambria Math" panose="02040503050406030204" pitchFamily="18" charset="0"/>
                          <a:ea typeface="Cambria Math"/>
                        </a:rPr>
                        <m:t>)</m:t>
                      </m:r>
                    </m:oMath>
                  </m:oMathPara>
                </a14:m>
                <a:endParaRPr lang="zh-TW" sz="2400"/>
              </a:p>
            </p:txBody>
          </p:sp>
        </mc:Choice>
        <mc:Fallback xmlns="">
          <p:pic>
            <p:nvPicPr>
              <p:cNvPr id="13" name="F13"/>
              <p:cNvPicPr/>
              <p:nvPr/>
            </p:nvPicPr>
            <p:blipFill>
              <a:blip r:embed="rId4"/>
              <a:stretch>
                <a:fillRect/>
              </a:stretch>
            </p:blipFill>
            <p:spPr>
              <a:xfrm>
                <a:off x="365760" y="1965960"/>
                <a:ext cx="79552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0</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8</m:t>
                              </m:r>
                            </m:e>
                            <m:sup>
                              <m:r>
                                <a:rPr lang="en-US" altLang="zh-TW" sz="2400" b="0" i="0">
                                  <a:solidFill>
                                    <a:srgbClr val="2B3050"/>
                                  </a:solidFill>
                                  <a:latin typeface="Cambria Math" panose="02040503050406030204" pitchFamily="18" charset="0"/>
                                  <a:ea typeface="Cambria Math"/>
                                </a:rPr>
                                <m:t>2</m:t>
                              </m:r>
                            </m:sup>
                          </m:sSup>
                        </m:e>
                      </m:rad>
                      <m:r>
                        <a:rPr lang="en-US" altLang="zh-TW" sz="2400" b="0" i="0">
                          <a:solidFill>
                            <a:srgbClr val="2B3050"/>
                          </a:solidFill>
                          <a:latin typeface="Cambria Math" panose="02040503050406030204" pitchFamily="18" charset="0"/>
                          <a:ea typeface="Cambria Math"/>
                        </a:rPr>
                        <m:t> = 8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m:oMathPara>
                </a14:m>
                <a:endParaRPr lang="zh-TW" sz="2400"/>
              </a:p>
            </p:txBody>
          </p:sp>
        </mc:Choice>
        <mc:Fallback xmlns="">
          <p:pic>
            <p:nvPicPr>
              <p:cNvPr id="14" name="F14"/>
              <p:cNvPicPr/>
              <p:nvPr/>
            </p:nvPicPr>
            <p:blipFill>
              <a:blip r:embed="rId5"/>
              <a:stretch>
                <a:fillRect/>
              </a:stretch>
            </p:blipFill>
            <p:spPr>
              <a:xfrm>
                <a:off x="365760" y="2514600"/>
                <a:ext cx="7955280" cy="594360"/>
              </a:xfrm>
              <a:prstGeom prst="rect">
                <a:avLst/>
              </a:prstGeom>
              <a:noFill/>
              <a:ln>
                <a:noFill/>
              </a:ln>
            </p:spPr>
          </p:pic>
        </mc:Fallback>
      </mc:AlternateContent>
      <p:sp>
        <p:nvSpPr>
          <p:cNvPr id="15" name="T15"/>
          <p:cNvSpPr txBox="1"/>
          <p:nvPr/>
        </p:nvSpPr>
        <p:spPr>
          <a:xfrm>
            <a:off x="365760" y="3337560"/>
            <a:ext cx="7955280" cy="109728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 不變 → 沒有徑向速度</a:t>
            </a:r>
            <a:endParaRPr lang="zh-TW" sz="2400"/>
          </a:p>
          <a:p>
            <a:pPr algn="l">
              <a:lnSpc>
                <a:spcPct val="100000"/>
              </a:lnSpc>
              <a:buNone/>
            </a:pPr>
            <a:r>
              <a:rPr lang="zh-TW" altLang="en-US" sz="2400" b="0" dirty="0">
                <a:solidFill>
                  <a:srgbClr val="2B3050"/>
                </a:solidFill>
                <a:latin typeface="Calibri"/>
                <a:ea typeface="微軟正黑體"/>
                <a:cs typeface="Calibri"/>
              </a:rPr>
              <a:t>速度全部沿切線（eθ 方向）</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步驟 3：加速度</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e>
                      </m:d>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m:t>
                              </m:r>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−32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s</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1" name="F11"/>
              <p:cNvPicPr/>
              <p:nvPr/>
            </p:nvPicPr>
            <p:blipFill>
              <a:blip r:embed="rId2"/>
              <a:stretch>
                <a:fillRect/>
              </a:stretch>
            </p:blipFill>
            <p:spPr>
              <a:xfrm>
                <a:off x="365760" y="868680"/>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35608"/>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e>
                      </m:d>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e>
                      </m:d>
                      <m:r>
                        <a:rPr lang="en-US" altLang="zh-TW" sz="2400" b="0" i="0">
                          <a:solidFill>
                            <a:srgbClr val="2B3050"/>
                          </a:solidFill>
                          <a:latin typeface="Cambria Math" panose="02040503050406030204" pitchFamily="18" charset="0"/>
                          <a:ea typeface="Cambria Math"/>
                        </a:rPr>
                        <m:t> + 0 = 4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s</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435608"/>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002536"/>
                <a:ext cx="7955280" cy="56692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r>
                        <a:rPr lang="en-US" altLang="zh-TW" sz="2400" b="0" i="0">
                          <a:solidFill>
                            <a:srgbClr val="D6006F"/>
                          </a:solidFill>
                          <a:latin typeface="Cambria Math" panose="02040503050406030204" pitchFamily="18" charset="0"/>
                          <a:ea typeface="Cambria Math"/>
                        </a:rPr>
                        <m:t> = −32</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𝑟</m:t>
                          </m:r>
                        </m:sub>
                      </m:sSub>
                      <m:r>
                        <a:rPr lang="en-US" altLang="zh-TW" sz="2400" b="0" i="0">
                          <a:solidFill>
                            <a:srgbClr val="D6006F"/>
                          </a:solidFill>
                          <a:latin typeface="Cambria Math" panose="02040503050406030204" pitchFamily="18" charset="0"/>
                          <a:ea typeface="Cambria Math"/>
                        </a:rPr>
                        <m:t> + 4</m:t>
                      </m:r>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m:t>
                      </m:r>
                    </m:oMath>
                  </m:oMathPara>
                </a14:m>
                <a:endParaRPr lang="zh-TW" sz="2400"/>
              </a:p>
            </p:txBody>
          </p:sp>
        </mc:Choice>
        <mc:Fallback xmlns="">
          <p:pic>
            <p:nvPicPr>
              <p:cNvPr id="13" name="F13"/>
              <p:cNvPicPr/>
              <p:nvPr/>
            </p:nvPicPr>
            <p:blipFill>
              <a:blip r:embed="rId4"/>
              <a:stretch>
                <a:fillRect/>
              </a:stretch>
            </p:blipFill>
            <p:spPr>
              <a:xfrm>
                <a:off x="365760" y="2002536"/>
                <a:ext cx="7955280" cy="566928"/>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69464"/>
                <a:ext cx="795528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𝑎</m:t>
                      </m:r>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sSup>
                            <m:sSupPr>
                              <m:ctrlPr>
                                <a:rPr lang="en-US" altLang="zh-TW" sz="2400" b="0" i="1">
                                  <a:solidFill>
                                    <a:srgbClr val="D6006F"/>
                                  </a:solidFill>
                                  <a:latin typeface="Cambria Math" panose="02040503050406030204" pitchFamily="18" charset="0"/>
                                  <a:ea typeface="Cambria Math"/>
                                </a:rPr>
                              </m:ctrlPr>
                            </m:sSupPr>
                            <m:e>
                              <m:d>
                                <m:dPr>
                                  <m:ctrlPr>
                                    <a:rPr lang="en-US" altLang="zh-TW" sz="2400" b="0" i="0">
                                      <a:solidFill>
                                        <a:srgbClr val="D6006F"/>
                                      </a:solidFill>
                                      <a:latin typeface="Cambria Math" panose="02040503050406030204" pitchFamily="18" charset="0"/>
                                      <a:ea typeface="Cambria Math"/>
                                    </a:rPr>
                                  </m:ctrlPr>
                                </m:dPr>
                                <m:e>
                                  <m:r>
                                    <a:rPr lang="en-US" altLang="zh-TW" sz="2400" b="0" i="0">
                                      <a:solidFill>
                                        <a:srgbClr val="D6006F"/>
                                      </a:solidFill>
                                      <a:latin typeface="Cambria Math" panose="02040503050406030204" pitchFamily="18" charset="0"/>
                                      <a:ea typeface="Cambria Math"/>
                                    </a:rPr>
                                    <m:t>−32</m:t>
                                  </m:r>
                                </m:e>
                              </m:d>
                            </m:e>
                            <m:sup>
                              <m:r>
                                <a:rPr lang="en-US" altLang="zh-TW" sz="2400" b="0" i="0">
                                  <a:solidFill>
                                    <a:srgbClr val="D6006F"/>
                                  </a:solidFill>
                                  <a:latin typeface="Cambria Math" panose="02040503050406030204" pitchFamily="18" charset="0"/>
                                  <a:ea typeface="Cambria Math"/>
                                </a:rPr>
                                <m:t>2</m:t>
                              </m:r>
                            </m:sup>
                          </m:sSup>
                          <m:r>
                            <a:rPr lang="en-US" altLang="zh-TW" sz="2400" b="0" i="0">
                              <a:solidFill>
                                <a:srgbClr val="D6006F"/>
                              </a:solidFill>
                              <a:latin typeface="Cambria Math" panose="02040503050406030204" pitchFamily="18" charset="0"/>
                              <a:ea typeface="Cambria Math"/>
                            </a:rPr>
                            <m:t> + </m:t>
                          </m:r>
                          <m:sSup>
                            <m:sSupPr>
                              <m:ctrlPr>
                                <a:rPr lang="en-US" altLang="zh-TW" sz="2400" b="0" i="0">
                                  <a:solidFill>
                                    <a:srgbClr val="D6006F"/>
                                  </a:solidFill>
                                  <a:latin typeface="Cambria Math" panose="02040503050406030204" pitchFamily="18" charset="0"/>
                                  <a:ea typeface="Cambria Math"/>
                                </a:rPr>
                              </m:ctrlPr>
                            </m:sSupPr>
                            <m:e>
                              <m:r>
                                <a:rPr lang="en-US" altLang="zh-TW" sz="2400" b="0" i="0">
                                  <a:solidFill>
                                    <a:srgbClr val="D6006F"/>
                                  </a:solidFill>
                                  <a:latin typeface="Cambria Math" panose="02040503050406030204" pitchFamily="18" charset="0"/>
                                  <a:ea typeface="Cambria Math"/>
                                </a:rPr>
                                <m:t>4</m:t>
                              </m:r>
                            </m:e>
                            <m:sup>
                              <m:r>
                                <a:rPr lang="en-US" altLang="zh-TW" sz="2400" b="0" i="0">
                                  <a:solidFill>
                                    <a:srgbClr val="D6006F"/>
                                  </a:solidFill>
                                  <a:latin typeface="Cambria Math" panose="02040503050406030204" pitchFamily="18" charset="0"/>
                                  <a:ea typeface="Cambria Math"/>
                                </a:rPr>
                                <m:t>2</m:t>
                              </m:r>
                            </m:sup>
                          </m:sSup>
                        </m:e>
                      </m:rad>
                      <m:r>
                        <a:rPr lang="en-US" altLang="zh-TW" sz="2400" b="0" i="0">
                          <a:solidFill>
                            <a:srgbClr val="D6006F"/>
                          </a:solidFill>
                          <a:latin typeface="Cambria Math" panose="02040503050406030204" pitchFamily="18" charset="0"/>
                          <a:ea typeface="Cambria Math"/>
                        </a:rPr>
                        <m:t> = </m:t>
                      </m:r>
                      <m:rad>
                        <m:radPr>
                          <m:degHide m:val="on"/>
                          <m:ctrlPr>
                            <a:rPr lang="en-US" altLang="zh-TW" sz="2400" b="0" i="1">
                              <a:solidFill>
                                <a:srgbClr val="D6006F"/>
                              </a:solidFill>
                              <a:latin typeface="Cambria Math" panose="02040503050406030204" pitchFamily="18" charset="0"/>
                              <a:ea typeface="Cambria Math"/>
                            </a:rPr>
                          </m:ctrlPr>
                        </m:radPr>
                        <m:deg/>
                        <m:e>
                          <m:r>
                            <a:rPr lang="en-US" altLang="zh-TW" sz="2400" b="0" i="0">
                              <a:solidFill>
                                <a:srgbClr val="D6006F"/>
                              </a:solidFill>
                              <a:latin typeface="Cambria Math" panose="02040503050406030204" pitchFamily="18" charset="0"/>
                              <a:ea typeface="Cambria Math"/>
                            </a:rPr>
                            <m:t>1040</m:t>
                          </m:r>
                        </m:e>
                      </m:rad>
                      <m:r>
                        <a:rPr lang="en-US" altLang="zh-TW" sz="2400" b="0" i="0">
                          <a:solidFill>
                            <a:srgbClr val="D6006F"/>
                          </a:solidFill>
                          <a:latin typeface="Cambria Math" panose="02040503050406030204" pitchFamily="18" charset="0"/>
                          <a:ea typeface="Cambria Math"/>
                        </a:rPr>
                        <m:t> = 32.25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5"/>
              <a:stretch>
                <a:fillRect/>
              </a:stretch>
            </p:blipFill>
            <p:spPr>
              <a:xfrm>
                <a:off x="365760" y="2569464"/>
                <a:ext cx="7955280" cy="5943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3429000"/>
                <a:ext cx="7955280" cy="105156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驗算：向心加速度 </a:t>
                </a:r>
                <a14:m>
                  <m:oMath xmlns:m="http://schemas.openxmlformats.org/officeDocument/2006/math">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𝑣</m:t>
                            </m:r>
                          </m:e>
                          <m:sup>
                            <m:r>
                              <a:rPr lang="en-US" altLang="zh-TW" sz="2400" b="0" i="0">
                                <a:solidFill>
                                  <a:srgbClr val="2B3050"/>
                                </a:solidFill>
                                <a:latin typeface="Cambria Math" panose="02040503050406030204" pitchFamily="18" charset="0"/>
                                <a:ea typeface="Cambria Math"/>
                              </a:rPr>
                              <m:t>2</m:t>
                            </m:r>
                          </m:sup>
                        </m:sSup>
                      </m:num>
                      <m:den>
                        <m:r>
                          <a:rPr lang="en-US" altLang="zh-TW" sz="2400" b="0" i="1">
                            <a:solidFill>
                              <a:srgbClr val="2B3050"/>
                            </a:solidFill>
                            <a:latin typeface="Cambria Math" panose="02040503050406030204" pitchFamily="18" charset="0"/>
                            <a:ea typeface="Cambria Math"/>
                          </a:rPr>
                          <m:t>𝑟</m:t>
                        </m:r>
                      </m:den>
                    </m:f>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64</m:t>
                        </m:r>
                      </m:num>
                      <m:den>
                        <m:r>
                          <a:rPr lang="en-US" altLang="zh-TW" sz="2400" b="0" i="0">
                            <a:solidFill>
                              <a:srgbClr val="2B3050"/>
                            </a:solidFill>
                            <a:latin typeface="Cambria Math" panose="02040503050406030204" pitchFamily="18" charset="0"/>
                            <a:ea typeface="Cambria Math"/>
                          </a:rPr>
                          <m:t>2</m:t>
                        </m:r>
                      </m:den>
                    </m:f>
                    <m:r>
                      <a:rPr lang="en-US" altLang="zh-TW" sz="2400" b="0" i="0">
                        <a:solidFill>
                          <a:srgbClr val="2B3050"/>
                        </a:solidFill>
                        <a:latin typeface="Cambria Math" panose="02040503050406030204" pitchFamily="18" charset="0"/>
                        <a:ea typeface="Cambria Math"/>
                      </a:rPr>
                      <m:t> = 32</m:t>
                    </m:r>
                  </m:oMath>
                </a14:m>
                <a:r>
                  <a:rPr lang="zh-TW" altLang="en-US" sz="2400" b="0" dirty="0">
                    <a:solidFill>
                      <a:srgbClr val="2B3050"/>
                    </a:solidFill>
                    <a:latin typeface="Calibri"/>
                    <a:ea typeface="微軟正黑體"/>
                    <a:cs typeface="Calibri"/>
                  </a:rPr>
                  <a:t> ✓</a:t>
                </a:r>
                <a:endParaRPr lang="zh-TW" sz="2400"/>
              </a:p>
            </p:txBody>
          </p:sp>
        </mc:Choice>
        <mc:Fallback xmlns="">
          <p:pic>
            <p:nvPicPr>
              <p:cNvPr id="15" name="F15"/>
              <p:cNvPicPr/>
              <p:nvPr/>
            </p:nvPicPr>
            <p:blipFill>
              <a:blip r:embed="rId6"/>
              <a:stretch>
                <a:fillRect/>
              </a:stretch>
            </p:blipFill>
            <p:spPr>
              <a:xfrm>
                <a:off x="365760" y="3429000"/>
                <a:ext cx="7955280" cy="1051560"/>
              </a:xfrm>
              <a:prstGeom prst="roundRect">
                <a:avLst/>
              </a:prstGeom>
              <a:solidFill>
                <a:srgbClr val="E8F4F6"/>
              </a:solidFill>
              <a:ln w="19050">
                <a:solidFill>
                  <a:srgbClr val="1F8899"/>
                </a:solid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加速度分量圖</a:t>
            </a:r>
          </a:p>
        </p:txBody>
      </p:sp>
      <p:sp>
        <p:nvSpPr>
          <p:cNvPr id="11" name="P11"/>
          <p:cNvSpPr/>
          <p:nvPr/>
        </p:nvSpPr>
        <p:spPr>
          <a:xfrm>
            <a:off x="4754880" y="1325880"/>
            <a:ext cx="3291840" cy="3291840"/>
          </a:xfrm>
          <a:custGeom>
            <a:avLst/>
            <a:gdLst/>
            <a:ahLst/>
            <a:cxnLst/>
            <a:rect l="0" t="0" r="r" b="b"/>
            <a:pathLst>
              <a:path w="3291840" h="3291840">
                <a:moveTo>
                  <a:pt x="3291840" y="1645920"/>
                </a:moveTo>
                <a:lnTo>
                  <a:pt x="3271576" y="1388441"/>
                </a:lnTo>
                <a:lnTo>
                  <a:pt x="3211283" y="1137303"/>
                </a:lnTo>
                <a:lnTo>
                  <a:pt x="3112445" y="898688"/>
                </a:lnTo>
                <a:lnTo>
                  <a:pt x="2977497" y="678472"/>
                </a:lnTo>
                <a:lnTo>
                  <a:pt x="2809761" y="482079"/>
                </a:lnTo>
                <a:lnTo>
                  <a:pt x="2613368" y="314343"/>
                </a:lnTo>
                <a:lnTo>
                  <a:pt x="2393152" y="179395"/>
                </a:lnTo>
                <a:lnTo>
                  <a:pt x="2154537" y="80557"/>
                </a:lnTo>
                <a:lnTo>
                  <a:pt x="1903399" y="20264"/>
                </a:lnTo>
                <a:lnTo>
                  <a:pt x="1645920" y="0"/>
                </a:lnTo>
                <a:lnTo>
                  <a:pt x="1388441" y="20264"/>
                </a:lnTo>
                <a:lnTo>
                  <a:pt x="1137303" y="80557"/>
                </a:lnTo>
                <a:lnTo>
                  <a:pt x="898688" y="179395"/>
                </a:lnTo>
                <a:lnTo>
                  <a:pt x="678472" y="314343"/>
                </a:lnTo>
                <a:lnTo>
                  <a:pt x="482079" y="482079"/>
                </a:lnTo>
                <a:lnTo>
                  <a:pt x="314343" y="678472"/>
                </a:lnTo>
                <a:lnTo>
                  <a:pt x="179395" y="898688"/>
                </a:lnTo>
                <a:lnTo>
                  <a:pt x="80557" y="1137303"/>
                </a:lnTo>
                <a:lnTo>
                  <a:pt x="20264" y="1388441"/>
                </a:lnTo>
                <a:lnTo>
                  <a:pt x="0" y="1645920"/>
                </a:lnTo>
                <a:lnTo>
                  <a:pt x="20264" y="1903399"/>
                </a:lnTo>
                <a:lnTo>
                  <a:pt x="80557" y="2154537"/>
                </a:lnTo>
                <a:lnTo>
                  <a:pt x="179395" y="2393152"/>
                </a:lnTo>
                <a:lnTo>
                  <a:pt x="314343" y="2613368"/>
                </a:lnTo>
                <a:lnTo>
                  <a:pt x="482079" y="2809761"/>
                </a:lnTo>
                <a:lnTo>
                  <a:pt x="678472" y="2977497"/>
                </a:lnTo>
                <a:lnTo>
                  <a:pt x="898688" y="3112445"/>
                </a:lnTo>
                <a:lnTo>
                  <a:pt x="1137303" y="3211283"/>
                </a:lnTo>
                <a:lnTo>
                  <a:pt x="1388441" y="3271576"/>
                </a:lnTo>
                <a:lnTo>
                  <a:pt x="1645920" y="3291840"/>
                </a:lnTo>
                <a:lnTo>
                  <a:pt x="1903399" y="3271576"/>
                </a:lnTo>
                <a:lnTo>
                  <a:pt x="2154537" y="3211283"/>
                </a:lnTo>
                <a:lnTo>
                  <a:pt x="2393152" y="3112445"/>
                </a:lnTo>
                <a:lnTo>
                  <a:pt x="2613368" y="2977497"/>
                </a:lnTo>
                <a:lnTo>
                  <a:pt x="2809761" y="2809761"/>
                </a:lnTo>
                <a:lnTo>
                  <a:pt x="2977497" y="2613368"/>
                </a:lnTo>
                <a:lnTo>
                  <a:pt x="3112445" y="2393152"/>
                </a:lnTo>
                <a:lnTo>
                  <a:pt x="3211283" y="2154537"/>
                </a:lnTo>
                <a:lnTo>
                  <a:pt x="3271576" y="1903399"/>
                </a:lnTo>
                <a:lnTo>
                  <a:pt x="3291840" y="1645920"/>
                </a:lnTo>
              </a:path>
            </a:pathLst>
          </a:custGeom>
          <a:noFill/>
          <a:ln w="19050">
            <a:solidFill>
              <a:srgbClr val="8A8F9C"/>
            </a:solidFill>
          </a:ln>
        </p:spPr>
        <p:txBody>
          <a:bodyPr/>
          <a:lstStyle/>
          <a:p>
            <a:endParaRPr lang="zh-TW" altLang="en-US"/>
          </a:p>
        </p:txBody>
      </p:sp>
      <p:sp>
        <p:nvSpPr>
          <p:cNvPr id="12" name="S12"/>
          <p:cNvSpPr/>
          <p:nvPr/>
        </p:nvSpPr>
        <p:spPr>
          <a:xfrm>
            <a:off x="6355080" y="2926080"/>
            <a:ext cx="91440" cy="91440"/>
          </a:xfrm>
          <a:prstGeom prst="ellipse">
            <a:avLst/>
          </a:prstGeom>
          <a:solidFill>
            <a:srgbClr val="2B3050"/>
          </a:solidFill>
          <a:ln>
            <a:noFill/>
          </a:ln>
        </p:spPr>
        <p:txBody>
          <a:bodyPr/>
          <a:lstStyle/>
          <a:p>
            <a:endParaRPr lang="zh-TW" altLang="en-US"/>
          </a:p>
        </p:txBody>
      </p:sp>
      <p:sp>
        <p:nvSpPr>
          <p:cNvPr id="13" name="T13"/>
          <p:cNvSpPr txBox="1"/>
          <p:nvPr/>
        </p:nvSpPr>
        <p:spPr>
          <a:xfrm>
            <a:off x="6309360" y="297180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4" name="L14"/>
          <p:cNvCxnSpPr/>
          <p:nvPr/>
        </p:nvCxnSpPr>
        <p:spPr>
          <a:xfrm>
            <a:off x="6400800" y="2971800"/>
            <a:ext cx="2011680" cy="0"/>
          </a:xfrm>
          <a:prstGeom prst="line">
            <a:avLst/>
          </a:prstGeom>
          <a:ln w="12700">
            <a:solidFill>
              <a:srgbClr val="8A8F9C"/>
            </a:solidFill>
            <a:prstDash val="dash"/>
          </a:ln>
        </p:spPr>
      </p:cxnSp>
      <p:cxnSp>
        <p:nvCxnSpPr>
          <p:cNvPr id="15" name="L15"/>
          <p:cNvCxnSpPr/>
          <p:nvPr/>
        </p:nvCxnSpPr>
        <p:spPr>
          <a:xfrm>
            <a:off x="4771352" y="2739528"/>
            <a:ext cx="1629448" cy="232272"/>
          </a:xfrm>
          <a:prstGeom prst="line">
            <a:avLst/>
          </a:prstGeom>
          <a:ln w="25400">
            <a:solidFill>
              <a:srgbClr val="2B3050"/>
            </a:solidFill>
          </a:ln>
        </p:spPr>
      </p:cxnSp>
      <p:sp>
        <p:nvSpPr>
          <p:cNvPr id="16" name="S16"/>
          <p:cNvSpPr/>
          <p:nvPr/>
        </p:nvSpPr>
        <p:spPr>
          <a:xfrm>
            <a:off x="4689056" y="2657232"/>
            <a:ext cx="164592" cy="164592"/>
          </a:xfrm>
          <a:prstGeom prst="ellipse">
            <a:avLst/>
          </a:prstGeom>
          <a:solidFill>
            <a:srgbClr val="D6006F"/>
          </a:solidFill>
          <a:ln>
            <a:noFill/>
          </a:ln>
        </p:spPr>
        <p:txBody>
          <a:bodyPr/>
          <a:lstStyle/>
          <a:p>
            <a:endParaRPr lang="zh-TW" altLang="en-US"/>
          </a:p>
        </p:txBody>
      </p:sp>
      <p:cxnSp>
        <p:nvCxnSpPr>
          <p:cNvPr id="17" name="L17"/>
          <p:cNvCxnSpPr/>
          <p:nvPr/>
        </p:nvCxnSpPr>
        <p:spPr>
          <a:xfrm>
            <a:off x="4771352" y="2739528"/>
            <a:ext cx="1042847" cy="148654"/>
          </a:xfrm>
          <a:prstGeom prst="line">
            <a:avLst/>
          </a:prstGeom>
          <a:ln w="38100">
            <a:solidFill>
              <a:srgbClr val="1F8899"/>
            </a:solidFill>
            <a:tailEnd type="triangle" w="med" len="med"/>
          </a:ln>
        </p:spPr>
      </p:cxnSp>
      <p:cxnSp>
        <p:nvCxnSpPr>
          <p:cNvPr id="18" name="L18"/>
          <p:cNvCxnSpPr/>
          <p:nvPr/>
        </p:nvCxnSpPr>
        <p:spPr>
          <a:xfrm flipH="1">
            <a:off x="4709412" y="2739528"/>
            <a:ext cx="61939" cy="434520"/>
          </a:xfrm>
          <a:prstGeom prst="line">
            <a:avLst/>
          </a:prstGeom>
          <a:ln w="38100">
            <a:solidFill>
              <a:srgbClr val="D6006F"/>
            </a:solidFill>
            <a:tailEnd type="triangle" w="med" len="med"/>
          </a:ln>
        </p:spPr>
      </p:cxnSp>
      <p:cxnSp>
        <p:nvCxnSpPr>
          <p:cNvPr id="19" name="L19"/>
          <p:cNvCxnSpPr/>
          <p:nvPr/>
        </p:nvCxnSpPr>
        <p:spPr>
          <a:xfrm flipH="1">
            <a:off x="4657796" y="2739528"/>
            <a:ext cx="113555" cy="796619"/>
          </a:xfrm>
          <a:prstGeom prst="line">
            <a:avLst/>
          </a:prstGeom>
          <a:ln w="38100">
            <a:solidFill>
              <a:srgbClr val="C8901F"/>
            </a:solidFill>
            <a:tailEnd type="triangle" w="med" len="med"/>
          </a:ln>
        </p:spPr>
      </p:cxnSp>
      <p:sp>
        <p:nvSpPr>
          <p:cNvPr id="20" name="T20"/>
          <p:cNvSpPr txBox="1"/>
          <p:nvPr/>
        </p:nvSpPr>
        <p:spPr>
          <a:xfrm>
            <a:off x="4892040" y="2103120"/>
            <a:ext cx="2560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aᵣ = 32（向心）</a:t>
            </a:r>
            <a:endParaRPr lang="zh-TW" sz="2400"/>
          </a:p>
        </p:txBody>
      </p:sp>
      <p:sp>
        <p:nvSpPr>
          <p:cNvPr id="21" name="T21"/>
          <p:cNvSpPr txBox="1"/>
          <p:nvPr/>
        </p:nvSpPr>
        <p:spPr>
          <a:xfrm>
            <a:off x="3628352" y="3059568"/>
            <a:ext cx="11887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aθ = 4</a:t>
            </a:r>
            <a:endParaRPr lang="zh-TW" sz="2400"/>
          </a:p>
        </p:txBody>
      </p:sp>
      <p:sp>
        <p:nvSpPr>
          <p:cNvPr id="22" name="T22"/>
          <p:cNvSpPr txBox="1"/>
          <p:nvPr/>
        </p:nvSpPr>
        <p:spPr>
          <a:xfrm>
            <a:off x="4359872" y="3608208"/>
            <a:ext cx="10972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v = 8</a:t>
            </a:r>
            <a:endParaRPr lang="zh-TW" sz="2400"/>
          </a:p>
        </p:txBody>
      </p:sp>
      <p:sp>
        <p:nvSpPr>
          <p:cNvPr id="23" name="T23"/>
          <p:cNvSpPr txBox="1"/>
          <p:nvPr/>
        </p:nvSpPr>
        <p:spPr>
          <a:xfrm>
            <a:off x="365760" y="868680"/>
            <a:ext cx="3657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v：沿切線</a:t>
            </a:r>
            <a:endParaRPr lang="zh-TW" sz="2400"/>
          </a:p>
        </p:txBody>
      </p:sp>
      <p:sp>
        <p:nvSpPr>
          <p:cNvPr id="24" name="T24"/>
          <p:cNvSpPr txBox="1"/>
          <p:nvPr/>
        </p:nvSpPr>
        <p:spPr>
          <a:xfrm>
            <a:off x="365760" y="1325880"/>
            <a:ext cx="3657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aᵣ：指向圓心 O</a:t>
            </a:r>
            <a:endParaRPr lang="zh-TW" sz="2400"/>
          </a:p>
        </p:txBody>
      </p:sp>
      <p:sp>
        <p:nvSpPr>
          <p:cNvPr id="25" name="T25"/>
          <p:cNvSpPr txBox="1"/>
          <p:nvPr/>
        </p:nvSpPr>
        <p:spPr>
          <a:xfrm>
            <a:off x="365760" y="1783080"/>
            <a:ext cx="365760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aθ：沿切線，速率變快</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2-19　本題用到的公式</a:t>
            </a:r>
          </a:p>
        </p:txBody>
      </p:sp>
      <p:sp>
        <p:nvSpPr>
          <p:cNvPr id="11" name="T11"/>
          <p:cNvSpPr txBox="1"/>
          <p:nvPr/>
        </p:nvSpPr>
        <p:spPr>
          <a:xfrm>
            <a:off x="365760" y="89611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微分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𝑡</m:t>
                          </m:r>
                        </m:e>
                      </m:d>
                      <m:r>
                        <a:rPr lang="en-US" altLang="zh-TW" sz="2400" b="0" i="0">
                          <a:solidFill>
                            <a:srgbClr val="2B3050"/>
                          </a:solidFill>
                          <a:latin typeface="Cambria Math" panose="02040503050406030204" pitchFamily="18" charset="0"/>
                          <a:ea typeface="Cambria Math"/>
                        </a:rPr>
                        <m:t> = 2</m:t>
                      </m:r>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− 2</m:t>
                      </m:r>
                    </m:oMath>
                  </m:oMathPara>
                </a14:m>
                <a:endParaRPr lang="zh-TW" sz="2400"/>
              </a:p>
            </p:txBody>
          </p:sp>
        </mc:Choice>
        <mc:Fallback xmlns="">
          <p:pic>
            <p:nvPicPr>
              <p:cNvPr id="12" name="F12"/>
              <p:cNvPicPr/>
              <p:nvPr/>
            </p:nvPicPr>
            <p:blipFill>
              <a:blip r:embed="rId2"/>
              <a:stretch>
                <a:fillRect/>
              </a:stretch>
            </p:blipFill>
            <p:spPr>
              <a:xfrm>
                <a:off x="2560320" y="896112"/>
                <a:ext cx="5760720" cy="795528"/>
              </a:xfrm>
              <a:prstGeom prst="roundRect">
                <a:avLst/>
              </a:prstGeom>
              <a:solidFill>
                <a:srgbClr val="E8F4F6"/>
              </a:solidFill>
              <a:ln>
                <a:noFill/>
              </a:ln>
            </p:spPr>
          </p:pic>
        </mc:Fallback>
      </mc:AlternateContent>
      <p:sp>
        <p:nvSpPr>
          <p:cNvPr id="13" name="T13"/>
          <p:cNvSpPr txBox="1"/>
          <p:nvPr/>
        </p:nvSpPr>
        <p:spPr>
          <a:xfrm>
            <a:off x="365760" y="1764792"/>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圓周速度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764792"/>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（沿 </m:t>
                      </m:r>
                      <m:r>
                        <a:rPr lang="en-US" altLang="zh-TW" sz="2400" b="0" i="1">
                          <a:solidFill>
                            <a:srgbClr val="2B3050"/>
                          </a:solidFill>
                          <a:latin typeface="Cambria Math" panose="02040503050406030204" pitchFamily="18" charset="0"/>
                          <a:ea typeface="Cambria Math"/>
                        </a:rPr>
                        <m:t>𝑒</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m:t>
                      </m:r>
                    </m:oMath>
                  </m:oMathPara>
                </a14:m>
                <a:endParaRPr lang="zh-TW" sz="2400"/>
              </a:p>
            </p:txBody>
          </p:sp>
        </mc:Choice>
        <mc:Fallback xmlns="">
          <p:pic>
            <p:nvPicPr>
              <p:cNvPr id="14" name="F14"/>
              <p:cNvPicPr/>
              <p:nvPr/>
            </p:nvPicPr>
            <p:blipFill>
              <a:blip r:embed="rId3"/>
              <a:stretch>
                <a:fillRect/>
              </a:stretch>
            </p:blipFill>
            <p:spPr>
              <a:xfrm>
                <a:off x="2560320" y="1764792"/>
                <a:ext cx="5760720" cy="658368"/>
              </a:xfrm>
              <a:prstGeom prst="roundRect">
                <a:avLst/>
              </a:prstGeom>
              <a:solidFill>
                <a:srgbClr val="E8F4F6"/>
              </a:solidFill>
              <a:ln>
                <a:noFill/>
              </a:ln>
            </p:spPr>
          </p:pic>
        </mc:Fallback>
      </mc:AlternateContent>
      <p:sp>
        <p:nvSpPr>
          <p:cNvPr id="15" name="T15"/>
          <p:cNvSpPr txBox="1"/>
          <p:nvPr/>
        </p:nvSpPr>
        <p:spPr>
          <a:xfrm>
            <a:off x="365760" y="2496312"/>
            <a:ext cx="2103120" cy="7955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向心項</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496312"/>
                <a:ext cx="5760720" cy="7955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𝑣</m:t>
                              </m:r>
                            </m:e>
                            <m:sup>
                              <m:r>
                                <a:rPr lang="en-US" altLang="zh-TW" sz="2400" b="0" i="0">
                                  <a:solidFill>
                                    <a:srgbClr val="2B3050"/>
                                  </a:solidFill>
                                  <a:latin typeface="Cambria Math" panose="02040503050406030204" pitchFamily="18" charset="0"/>
                                  <a:ea typeface="Cambria Math"/>
                                </a:rPr>
                                <m:t>2</m:t>
                              </m:r>
                            </m:sup>
                          </m:sSup>
                        </m:num>
                        <m:den>
                          <m:r>
                            <a:rPr lang="en-US" altLang="zh-TW" sz="2400" b="0" i="1">
                              <a:solidFill>
                                <a:srgbClr val="2B3050"/>
                              </a:solidFill>
                              <a:latin typeface="Cambria Math" panose="02040503050406030204" pitchFamily="18" charset="0"/>
                              <a:ea typeface="Cambria Math"/>
                            </a:rPr>
                            <m:t>𝑟</m:t>
                          </m:r>
                        </m:den>
                      </m:f>
                    </m:oMath>
                  </m:oMathPara>
                </a14:m>
                <a:endParaRPr lang="zh-TW" sz="2400"/>
              </a:p>
            </p:txBody>
          </p:sp>
        </mc:Choice>
        <mc:Fallback xmlns="">
          <p:pic>
            <p:nvPicPr>
              <p:cNvPr id="16" name="F16"/>
              <p:cNvPicPr/>
              <p:nvPr/>
            </p:nvPicPr>
            <p:blipFill>
              <a:blip r:embed="rId4"/>
              <a:stretch>
                <a:fillRect/>
              </a:stretch>
            </p:blipFill>
            <p:spPr>
              <a:xfrm>
                <a:off x="2560320" y="2496312"/>
                <a:ext cx="5760720" cy="795528"/>
              </a:xfrm>
              <a:prstGeom prst="roundRect">
                <a:avLst/>
              </a:prstGeom>
              <a:solidFill>
                <a:srgbClr val="E8F4F6"/>
              </a:solidFill>
              <a:ln>
                <a:noFill/>
              </a:ln>
            </p:spPr>
          </p:pic>
        </mc:Fallback>
      </mc:AlternateContent>
      <p:sp>
        <p:nvSpPr>
          <p:cNvPr id="17" name="T17"/>
          <p:cNvSpPr txBox="1"/>
          <p:nvPr/>
        </p:nvSpPr>
        <p:spPr>
          <a:xfrm>
            <a:off x="365760" y="3364992"/>
            <a:ext cx="2103120" cy="6583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切線項</a:t>
            </a:r>
            <a:endParaRPr lang="zh-TW" sz="2400"/>
          </a:p>
        </p:txBody>
      </p:sp>
      <mc:AlternateContent xmlns:mc="http://schemas.openxmlformats.org/markup-compatibility/2006" xmlns:a14="http://schemas.microsoft.com/office/drawing/2010/main">
        <mc:Choice Requires="a14">
          <p:sp>
            <p:nvSpPr>
              <p:cNvPr id="18" name="T18"/>
              <p:cNvSpPr txBox="1"/>
              <p:nvPr/>
            </p:nvSpPr>
            <p:spPr>
              <a:xfrm>
                <a:off x="2560320" y="3364992"/>
                <a:ext cx="5760720" cy="6583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固定時）</m:t>
                      </m:r>
                    </m:oMath>
                  </m:oMathPara>
                </a14:m>
                <a:endParaRPr lang="zh-TW" sz="2400"/>
              </a:p>
            </p:txBody>
          </p:sp>
        </mc:Choice>
        <mc:Fallback xmlns="">
          <p:pic>
            <p:nvPicPr>
              <p:cNvPr id="18" name="F18"/>
              <p:cNvPicPr/>
              <p:nvPr/>
            </p:nvPicPr>
            <p:blipFill>
              <a:blip r:embed="rId5"/>
              <a:stretch>
                <a:fillRect/>
              </a:stretch>
            </p:blipFill>
            <p:spPr>
              <a:xfrm>
                <a:off x="2560320" y="3364992"/>
                <a:ext cx="5760720" cy="658368"/>
              </a:xfrm>
              <a:prstGeom prst="roundRect">
                <a:avLst/>
              </a:prstGeom>
              <a:solidFill>
                <a:srgbClr val="E8F4F6"/>
              </a:solidFill>
              <a:ln>
                <a:noFill/>
              </a:ln>
            </p:spPr>
          </p:pic>
        </mc:Fallback>
      </mc:AlternateContent>
      <p:sp>
        <p:nvSpPr>
          <p:cNvPr id="19" name="T19"/>
          <p:cNvSpPr txBox="1"/>
          <p:nvPr/>
        </p:nvSpPr>
        <p:spPr>
          <a:xfrm>
            <a:off x="365760" y="4096512"/>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4096512"/>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向心 rω²，切線 rα（課本 u 即 e）</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讀題</a:t>
            </a:r>
          </a:p>
        </p:txBody>
      </p:sp>
      <p:sp>
        <p:nvSpPr>
          <p:cNvPr id="11" name="T11"/>
          <p:cNvSpPr txBox="1"/>
          <p:nvPr/>
        </p:nvSpPr>
        <p:spPr>
          <a:xfrm>
            <a:off x="365760" y="8686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小孩以等速率 3 m/s 從螺旋滑梯滑下</a:t>
            </a:r>
            <a:endParaRPr lang="zh-TW" sz="2400"/>
          </a:p>
        </p:txBody>
      </p:sp>
      <p:sp>
        <p:nvSpPr>
          <p:cNvPr id="12" name="T12"/>
          <p:cNvSpPr txBox="1"/>
          <p:nvPr/>
        </p:nvSpPr>
        <p:spPr>
          <a:xfrm>
            <a:off x="365760" y="132588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滑梯半徑 r = 2 m</a:t>
            </a:r>
            <a:endParaRPr lang="zh-TW" sz="2400"/>
          </a:p>
        </p:txBody>
      </p:sp>
      <mc:AlternateContent xmlns:mc="http://schemas.openxmlformats.org/markup-compatibility/2006" xmlns:a14="http://schemas.microsoft.com/office/drawing/2010/main">
        <mc:Choice Requires="a14">
          <p:sp>
            <p:nvSpPr>
              <p:cNvPr id="13" name="T13"/>
              <p:cNvSpPr txBox="1"/>
              <p:nvPr/>
            </p:nvSpPr>
            <p:spPr>
              <a:xfrm>
                <a:off x="365760" y="1783080"/>
                <a:ext cx="512064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1F8899"/>
                          </a:solidFill>
                          <a:latin typeface="Cambria Math" panose="02040503050406030204" pitchFamily="18" charset="0"/>
                          <a:ea typeface="Cambria Math"/>
                        </a:rPr>
                        <m:t>高度：</m:t>
                      </m:r>
                      <m:r>
                        <a:rPr lang="en-US" altLang="zh-TW" sz="2400" b="0" i="1">
                          <a:solidFill>
                            <a:srgbClr val="1F8899"/>
                          </a:solidFill>
                          <a:latin typeface="Cambria Math" panose="02040503050406030204" pitchFamily="18" charset="0"/>
                          <a:ea typeface="Cambria Math"/>
                        </a:rPr>
                        <m:t>𝑧</m:t>
                      </m:r>
                      <m:r>
                        <a:rPr lang="en-US" altLang="zh-TW" sz="2400" b="0" i="0">
                          <a:solidFill>
                            <a:srgbClr val="1F8899"/>
                          </a:solidFill>
                          <a:latin typeface="Cambria Math" panose="02040503050406030204" pitchFamily="18" charset="0"/>
                          <a:ea typeface="Cambria Math"/>
                        </a:rPr>
                        <m:t> = −</m:t>
                      </m:r>
                      <m:f>
                        <m:fPr>
                          <m:ctrlPr>
                            <a:rPr lang="en-US" altLang="zh-TW" sz="2400" b="0" i="0">
                              <a:solidFill>
                                <a:srgbClr val="1F8899"/>
                              </a:solidFill>
                              <a:latin typeface="Cambria Math" panose="02040503050406030204" pitchFamily="18" charset="0"/>
                              <a:ea typeface="Cambria Math"/>
                            </a:rPr>
                          </m:ctrlPr>
                        </m:fPr>
                        <m:num>
                          <m:r>
                            <a:rPr lang="en-US" altLang="zh-TW" sz="2400" b="0" i="0">
                              <a:solidFill>
                                <a:srgbClr val="1F8899"/>
                              </a:solidFill>
                              <a:latin typeface="Cambria Math" panose="02040503050406030204" pitchFamily="18" charset="0"/>
                              <a:ea typeface="Cambria Math"/>
                            </a:rPr>
                            <m:t>2</m:t>
                          </m:r>
                          <m:r>
                            <a:rPr lang="en-US" altLang="zh-TW" sz="2400" b="0" i="1">
                              <a:solidFill>
                                <a:srgbClr val="1F8899"/>
                              </a:solidFill>
                              <a:latin typeface="Cambria Math" panose="02040503050406030204" pitchFamily="18" charset="0"/>
                              <a:ea typeface="Cambria Math"/>
                            </a:rPr>
                            <m:t>𝜃</m:t>
                          </m:r>
                        </m:num>
                        <m:den>
                          <m:r>
                            <a:rPr lang="en-US" altLang="zh-TW" sz="2400" b="0" i="1">
                              <a:solidFill>
                                <a:srgbClr val="1F8899"/>
                              </a:solidFill>
                              <a:latin typeface="Cambria Math" panose="02040503050406030204" pitchFamily="18" charset="0"/>
                              <a:ea typeface="Cambria Math"/>
                            </a:rPr>
                            <m:t>𝜋</m:t>
                          </m:r>
                        </m:den>
                      </m:f>
                    </m:oMath>
                  </m:oMathPara>
                </a14:m>
                <a:endParaRPr lang="zh-TW" sz="2400"/>
              </a:p>
            </p:txBody>
          </p:sp>
        </mc:Choice>
        <mc:Fallback xmlns="">
          <p:pic>
            <p:nvPicPr>
              <p:cNvPr id="13" name="F13"/>
              <p:cNvPicPr/>
              <p:nvPr/>
            </p:nvPicPr>
            <p:blipFill>
              <a:blip r:embed="rId2"/>
              <a:stretch>
                <a:fillRect/>
              </a:stretch>
            </p:blipFill>
            <p:spPr>
              <a:xfrm>
                <a:off x="365760" y="1783080"/>
                <a:ext cx="5120640" cy="822960"/>
              </a:xfrm>
              <a:prstGeom prst="rect">
                <a:avLst/>
              </a:prstGeom>
              <a:noFill/>
              <a:ln>
                <a:noFill/>
              </a:ln>
            </p:spPr>
          </p:pic>
        </mc:Fallback>
      </mc:AlternateContent>
      <p:sp>
        <p:nvSpPr>
          <p:cNvPr id="14" name="T14"/>
          <p:cNvSpPr txBox="1"/>
          <p:nvPr/>
        </p:nvSpPr>
        <p:spPr>
          <a:xfrm>
            <a:off x="365760" y="2606040"/>
            <a:ext cx="512064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D6006F"/>
                </a:solidFill>
                <a:latin typeface="Calibri"/>
                <a:ea typeface="微軟正黑體"/>
                <a:cs typeface="Calibri"/>
              </a:rPr>
              <a:t>求：角速度 θ̇ 及加速度大小</a:t>
            </a:r>
            <a:endParaRPr lang="zh-TW" sz="2400"/>
          </a:p>
        </p:txBody>
      </p:sp>
      <p:cxnSp>
        <p:nvCxnSpPr>
          <p:cNvPr id="15" name="L15"/>
          <p:cNvCxnSpPr/>
          <p:nvPr/>
        </p:nvCxnSpPr>
        <p:spPr>
          <a:xfrm>
            <a:off x="6949440" y="914400"/>
            <a:ext cx="0" cy="3657600"/>
          </a:xfrm>
          <a:prstGeom prst="line">
            <a:avLst/>
          </a:prstGeom>
          <a:ln w="15875">
            <a:solidFill>
              <a:srgbClr val="8A8F9C"/>
            </a:solidFill>
            <a:prstDash val="dash"/>
            <a:tailEnd type="triangle" w="med" len="med"/>
          </a:ln>
        </p:spPr>
      </p:cxnSp>
      <p:sp>
        <p:nvSpPr>
          <p:cNvPr id="16" name="T16"/>
          <p:cNvSpPr txBox="1"/>
          <p:nvPr/>
        </p:nvSpPr>
        <p:spPr>
          <a:xfrm>
            <a:off x="6995160" y="548640"/>
            <a:ext cx="4572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z</a:t>
            </a:r>
            <a:endParaRPr lang="zh-TW" sz="2400"/>
          </a:p>
        </p:txBody>
      </p:sp>
      <p:sp>
        <p:nvSpPr>
          <p:cNvPr id="17" name="P17"/>
          <p:cNvSpPr/>
          <p:nvPr/>
        </p:nvSpPr>
        <p:spPr>
          <a:xfrm>
            <a:off x="6172200" y="1234440"/>
            <a:ext cx="1554480" cy="2926080"/>
          </a:xfrm>
          <a:custGeom>
            <a:avLst/>
            <a:gdLst/>
            <a:ahLst/>
            <a:cxnLst/>
            <a:rect l="0" t="0" r="r" b="b"/>
            <a:pathLst>
              <a:path w="1554480" h="2926080">
                <a:moveTo>
                  <a:pt x="1554480" y="0"/>
                </a:moveTo>
                <a:lnTo>
                  <a:pt x="1542672" y="80336"/>
                </a:lnTo>
                <a:lnTo>
                  <a:pt x="1507607" y="159466"/>
                </a:lnTo>
                <a:lnTo>
                  <a:pt x="1450350" y="236220"/>
                </a:lnTo>
                <a:lnTo>
                  <a:pt x="1372640" y="309501"/>
                </a:lnTo>
                <a:lnTo>
                  <a:pt x="1276840" y="378318"/>
                </a:lnTo>
                <a:lnTo>
                  <a:pt x="1165860" y="441813"/>
                </a:lnTo>
                <a:lnTo>
                  <a:pt x="1043072" y="499294"/>
                </a:lnTo>
                <a:lnTo>
                  <a:pt x="912206" y="550247"/>
                </a:lnTo>
                <a:lnTo>
                  <a:pt x="777240" y="594360"/>
                </a:lnTo>
                <a:lnTo>
                  <a:pt x="642274" y="631527"/>
                </a:lnTo>
                <a:lnTo>
                  <a:pt x="511408" y="661854"/>
                </a:lnTo>
                <a:lnTo>
                  <a:pt x="388620" y="685653"/>
                </a:lnTo>
                <a:lnTo>
                  <a:pt x="277640" y="703438"/>
                </a:lnTo>
                <a:lnTo>
                  <a:pt x="181840" y="715901"/>
                </a:lnTo>
                <a:lnTo>
                  <a:pt x="104130" y="723900"/>
                </a:lnTo>
                <a:lnTo>
                  <a:pt x="46873" y="728426"/>
                </a:lnTo>
                <a:lnTo>
                  <a:pt x="11808" y="730576"/>
                </a:lnTo>
                <a:lnTo>
                  <a:pt x="0" y="731520"/>
                </a:lnTo>
                <a:lnTo>
                  <a:pt x="11808" y="732464"/>
                </a:lnTo>
                <a:lnTo>
                  <a:pt x="46873" y="734614"/>
                </a:lnTo>
                <a:lnTo>
                  <a:pt x="104130" y="739140"/>
                </a:lnTo>
                <a:lnTo>
                  <a:pt x="181840" y="747139"/>
                </a:lnTo>
                <a:lnTo>
                  <a:pt x="277640" y="759602"/>
                </a:lnTo>
                <a:lnTo>
                  <a:pt x="388620" y="777387"/>
                </a:lnTo>
                <a:lnTo>
                  <a:pt x="511408" y="801186"/>
                </a:lnTo>
                <a:lnTo>
                  <a:pt x="642274" y="831513"/>
                </a:lnTo>
                <a:lnTo>
                  <a:pt x="777240" y="868680"/>
                </a:lnTo>
                <a:lnTo>
                  <a:pt x="912206" y="912793"/>
                </a:lnTo>
                <a:lnTo>
                  <a:pt x="1043072" y="963746"/>
                </a:lnTo>
                <a:lnTo>
                  <a:pt x="1165860" y="1021227"/>
                </a:lnTo>
                <a:lnTo>
                  <a:pt x="1276840" y="1084722"/>
                </a:lnTo>
                <a:lnTo>
                  <a:pt x="1372640" y="1153539"/>
                </a:lnTo>
                <a:lnTo>
                  <a:pt x="1450350" y="1226820"/>
                </a:lnTo>
                <a:lnTo>
                  <a:pt x="1507607" y="1303574"/>
                </a:lnTo>
                <a:lnTo>
                  <a:pt x="1542672" y="1382704"/>
                </a:lnTo>
                <a:lnTo>
                  <a:pt x="1554480" y="1463040"/>
                </a:lnTo>
                <a:lnTo>
                  <a:pt x="1542672" y="1543376"/>
                </a:lnTo>
                <a:lnTo>
                  <a:pt x="1507607" y="1622506"/>
                </a:lnTo>
                <a:lnTo>
                  <a:pt x="1450350" y="1699260"/>
                </a:lnTo>
                <a:lnTo>
                  <a:pt x="1372640" y="1772541"/>
                </a:lnTo>
                <a:lnTo>
                  <a:pt x="1276840" y="1841358"/>
                </a:lnTo>
                <a:lnTo>
                  <a:pt x="1165860" y="1904853"/>
                </a:lnTo>
                <a:lnTo>
                  <a:pt x="1043072" y="1962334"/>
                </a:lnTo>
                <a:lnTo>
                  <a:pt x="912206" y="2013287"/>
                </a:lnTo>
                <a:lnTo>
                  <a:pt x="777240" y="2057400"/>
                </a:lnTo>
                <a:lnTo>
                  <a:pt x="642274" y="2094567"/>
                </a:lnTo>
                <a:lnTo>
                  <a:pt x="511408" y="2124894"/>
                </a:lnTo>
                <a:lnTo>
                  <a:pt x="388620" y="2148693"/>
                </a:lnTo>
                <a:lnTo>
                  <a:pt x="277640" y="2166478"/>
                </a:lnTo>
                <a:lnTo>
                  <a:pt x="181840" y="2178941"/>
                </a:lnTo>
                <a:lnTo>
                  <a:pt x="104130" y="2186940"/>
                </a:lnTo>
                <a:lnTo>
                  <a:pt x="46873" y="2191466"/>
                </a:lnTo>
                <a:lnTo>
                  <a:pt x="11808" y="2193616"/>
                </a:lnTo>
                <a:lnTo>
                  <a:pt x="0" y="2194560"/>
                </a:lnTo>
                <a:lnTo>
                  <a:pt x="11808" y="2195504"/>
                </a:lnTo>
                <a:lnTo>
                  <a:pt x="46873" y="2197654"/>
                </a:lnTo>
                <a:lnTo>
                  <a:pt x="104130" y="2202180"/>
                </a:lnTo>
                <a:lnTo>
                  <a:pt x="181840" y="2210179"/>
                </a:lnTo>
                <a:lnTo>
                  <a:pt x="277640" y="2222642"/>
                </a:lnTo>
                <a:lnTo>
                  <a:pt x="388620" y="2240427"/>
                </a:lnTo>
                <a:lnTo>
                  <a:pt x="511408" y="2264226"/>
                </a:lnTo>
                <a:lnTo>
                  <a:pt x="642274" y="2294553"/>
                </a:lnTo>
                <a:lnTo>
                  <a:pt x="777240" y="2331720"/>
                </a:lnTo>
                <a:lnTo>
                  <a:pt x="912206" y="2375833"/>
                </a:lnTo>
                <a:lnTo>
                  <a:pt x="1043072" y="2426786"/>
                </a:lnTo>
                <a:lnTo>
                  <a:pt x="1165860" y="2484267"/>
                </a:lnTo>
                <a:lnTo>
                  <a:pt x="1276840" y="2547762"/>
                </a:lnTo>
                <a:lnTo>
                  <a:pt x="1372640" y="2616579"/>
                </a:lnTo>
                <a:lnTo>
                  <a:pt x="1450350" y="2689860"/>
                </a:lnTo>
                <a:lnTo>
                  <a:pt x="1507607" y="2766614"/>
                </a:lnTo>
                <a:lnTo>
                  <a:pt x="1542672" y="2845744"/>
                </a:lnTo>
                <a:lnTo>
                  <a:pt x="1554480" y="2926080"/>
                </a:lnTo>
              </a:path>
            </a:pathLst>
          </a:custGeom>
          <a:noFill/>
          <a:ln w="31750">
            <a:solidFill>
              <a:srgbClr val="1F8899"/>
            </a:solidFill>
          </a:ln>
        </p:spPr>
        <p:txBody>
          <a:bodyPr/>
          <a:lstStyle/>
          <a:p>
            <a:endParaRPr lang="zh-TW" altLang="en-US"/>
          </a:p>
        </p:txBody>
      </p:sp>
      <p:cxnSp>
        <p:nvCxnSpPr>
          <p:cNvPr id="18" name="L18"/>
          <p:cNvCxnSpPr/>
          <p:nvPr/>
        </p:nvCxnSpPr>
        <p:spPr>
          <a:xfrm>
            <a:off x="6949440" y="2697480"/>
            <a:ext cx="777240" cy="0"/>
          </a:xfrm>
          <a:prstGeom prst="line">
            <a:avLst/>
          </a:prstGeom>
          <a:ln w="15875">
            <a:solidFill>
              <a:srgbClr val="2B3050"/>
            </a:solidFill>
            <a:headEnd type="triangle" w="med" len="med"/>
            <a:tailEnd type="triangle" w="med" len="med"/>
          </a:ln>
        </p:spPr>
      </p:cxnSp>
      <p:sp>
        <p:nvSpPr>
          <p:cNvPr id="19" name="T19"/>
          <p:cNvSpPr txBox="1"/>
          <p:nvPr/>
        </p:nvSpPr>
        <p:spPr>
          <a:xfrm>
            <a:off x="7086600" y="2313432"/>
            <a:ext cx="8229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r = 2</a:t>
            </a:r>
            <a:endParaRPr lang="zh-TW" sz="2400"/>
          </a:p>
        </p:txBody>
      </p:sp>
      <p:sp>
        <p:nvSpPr>
          <p:cNvPr id="20" name="S20"/>
          <p:cNvSpPr/>
          <p:nvPr/>
        </p:nvSpPr>
        <p:spPr>
          <a:xfrm>
            <a:off x="7626096" y="1133856"/>
            <a:ext cx="201168" cy="201168"/>
          </a:xfrm>
          <a:prstGeom prst="ellipse">
            <a:avLst/>
          </a:prstGeom>
          <a:solidFill>
            <a:srgbClr val="D6006F"/>
          </a:solidFill>
          <a:ln>
            <a:noFill/>
          </a:ln>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0" presetClass="path" presetSubtype="0" fill="hold" grpId="1" nodeType="withEffect">
                                  <p:stCondLst>
                                    <p:cond delay="0"/>
                                  </p:stCondLst>
                                  <p:childTnLst>
                                    <p:animMotion origin="layout" path="M 0 0 L 0.00000 0.00000 L -0.00129 0.01562 L -0.00513 0.03100 L -0.01139 0.04593 L -0.01989 0.06017 L -0.03036 0.07355 L -0.04250 0.08590 L -0.05593 0.09707 L -0.07024 0.10698 L -0.08500 0.11556 L -0.09976 0.12278 L -0.11407 0.12868 L -0.12750 0.13330 L -0.13964 0.13676 L -0.15011 0.13919 L -0.15861 0.14074 L -0.16487 0.14162 L -0.16871 0.14204 L -0.17000 0.14222 L -0.16871 0.14241 L -0.16487 0.14282 L -0.15861 0.14370 L -0.15011 0.14526 L -0.13964 0.14768 L -0.12750 0.15114 L -0.11407 0.15577 L -0.09976 0.16166 L -0.08500 0.16889 L -0.07024 0.17747 L -0.05593 0.18737 L -0.04250 0.19855 L -0.03036 0.21089 L -0.01989 0.22427 L -0.01139 0.23852 L -0.00513 0.25344 L -0.00129 0.26883 L 0.00000 0.28444 L -0.00129 0.30006 L -0.00513 0.31545 L -0.01139 0.33037 L -0.01989 0.34462 L -0.03036 0.35800 L -0.04250 0.37034 L -0.05593 0.38152 L -0.07024 0.39142 L -0.08500 0.40000 L -0.09976 0.40723 L -0.11407 0.41312 L -0.12750 0.41775 L -0.13964 0.42121 L -0.15011 0.42363 L -0.15861 0.42519 L -0.16487 0.42607 L -0.16871 0.42648 L -0.17000 0.42667 L -0.16871 0.42685 L -0.16487 0.42727 L -0.15861 0.42815 L -0.15011 0.42970 L -0.13964 0.43213 L -0.12750 0.43558 L -0.11407 0.44021 L -0.09976 0.44611 L -0.08500 0.45333 L -0.07024 0.46191 L -0.05593 0.47182 L -0.04250 0.48299 L -0.03036 0.49534 L -0.01989 0.50872 L -0.01139 0.52296 L -0.00513 0.53789 L -0.00129 0.55327 L 0.00000 0.56889 E" pathEditMode="relative" ptsTypes="">
                                      <p:cBhvr>
                                        <p:cTn id="9" dur="40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思考重點（先想再算）</a:t>
            </a:r>
          </a:p>
        </p:txBody>
      </p:sp>
      <p:sp>
        <p:nvSpPr>
          <p:cNvPr id="11" name="S11"/>
          <p:cNvSpPr/>
          <p:nvPr/>
        </p:nvSpPr>
        <p:spPr>
          <a:xfrm>
            <a:off x="365760" y="905256"/>
            <a:ext cx="365760" cy="365760"/>
          </a:xfrm>
          <a:prstGeom prst="ellipse">
            <a:avLst/>
          </a:prstGeom>
          <a:solidFill>
            <a:srgbClr val="1F8899"/>
          </a:solidFill>
          <a:ln>
            <a:noFill/>
          </a:ln>
        </p:spPr>
        <p:txBody>
          <a:bodyPr/>
          <a:lstStyle/>
          <a:p>
            <a:endParaRPr lang="zh-TW" altLang="en-US"/>
          </a:p>
        </p:txBody>
      </p:sp>
      <p:sp>
        <p:nvSpPr>
          <p:cNvPr id="12" name="T12"/>
          <p:cNvSpPr txBox="1"/>
          <p:nvPr/>
        </p:nvSpPr>
        <p:spPr>
          <a:xfrm>
            <a:off x="365760" y="905256"/>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1</a:t>
            </a:r>
            <a:endParaRPr lang="zh-TW" sz="2400"/>
          </a:p>
        </p:txBody>
      </p:sp>
      <p:sp>
        <p:nvSpPr>
          <p:cNvPr id="13" name="T13"/>
          <p:cNvSpPr txBox="1"/>
          <p:nvPr/>
        </p:nvSpPr>
        <p:spPr>
          <a:xfrm>
            <a:off x="822960" y="896112"/>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用哪種座標？</a:t>
            </a:r>
            <a:endParaRPr lang="zh-TW" sz="2400"/>
          </a:p>
        </p:txBody>
      </p:sp>
      <p:sp>
        <p:nvSpPr>
          <p:cNvPr id="14" name="T14"/>
          <p:cNvSpPr txBox="1"/>
          <p:nvPr/>
        </p:nvSpPr>
        <p:spPr>
          <a:xfrm>
            <a:off x="1188720" y="1280160"/>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繞軸轉又往下 → 圓柱座標 (r, θ, z)</a:t>
            </a:r>
            <a:endParaRPr lang="zh-TW" sz="2400"/>
          </a:p>
        </p:txBody>
      </p:sp>
      <p:sp>
        <p:nvSpPr>
          <p:cNvPr id="15" name="S15"/>
          <p:cNvSpPr/>
          <p:nvPr/>
        </p:nvSpPr>
        <p:spPr>
          <a:xfrm>
            <a:off x="365760" y="1691640"/>
            <a:ext cx="365760" cy="365760"/>
          </a:xfrm>
          <a:prstGeom prst="ellipse">
            <a:avLst/>
          </a:prstGeom>
          <a:solidFill>
            <a:srgbClr val="1F8899"/>
          </a:solidFill>
          <a:ln>
            <a:noFill/>
          </a:ln>
        </p:spPr>
        <p:txBody>
          <a:bodyPr/>
          <a:lstStyle/>
          <a:p>
            <a:endParaRPr lang="zh-TW" altLang="en-US"/>
          </a:p>
        </p:txBody>
      </p:sp>
      <p:sp>
        <p:nvSpPr>
          <p:cNvPr id="16" name="T16"/>
          <p:cNvSpPr txBox="1"/>
          <p:nvPr/>
        </p:nvSpPr>
        <p:spPr>
          <a:xfrm>
            <a:off x="365760" y="1691640"/>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2</a:t>
            </a:r>
            <a:endParaRPr lang="zh-TW" sz="2400"/>
          </a:p>
        </p:txBody>
      </p:sp>
      <p:sp>
        <p:nvSpPr>
          <p:cNvPr id="17" name="T17"/>
          <p:cNvSpPr txBox="1"/>
          <p:nvPr/>
        </p:nvSpPr>
        <p:spPr>
          <a:xfrm>
            <a:off x="822960" y="1682496"/>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r = 2 固定代表？</a:t>
            </a:r>
            <a:endParaRPr lang="zh-TW" sz="2400"/>
          </a:p>
        </p:txBody>
      </p:sp>
      <p:sp>
        <p:nvSpPr>
          <p:cNvPr id="18" name="T18"/>
          <p:cNvSpPr txBox="1"/>
          <p:nvPr/>
        </p:nvSpPr>
        <p:spPr>
          <a:xfrm>
            <a:off x="1188720" y="2066544"/>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ṙ = 0、r̈ = 0</a:t>
            </a:r>
            <a:endParaRPr lang="zh-TW" sz="2400"/>
          </a:p>
        </p:txBody>
      </p:sp>
      <p:sp>
        <p:nvSpPr>
          <p:cNvPr id="19" name="S19"/>
          <p:cNvSpPr/>
          <p:nvPr/>
        </p:nvSpPr>
        <p:spPr>
          <a:xfrm>
            <a:off x="365760" y="2478024"/>
            <a:ext cx="365760" cy="365760"/>
          </a:xfrm>
          <a:prstGeom prst="ellipse">
            <a:avLst/>
          </a:prstGeom>
          <a:solidFill>
            <a:srgbClr val="1F8899"/>
          </a:solidFill>
          <a:ln>
            <a:noFill/>
          </a:ln>
        </p:spPr>
        <p:txBody>
          <a:bodyPr/>
          <a:lstStyle/>
          <a:p>
            <a:endParaRPr lang="zh-TW" altLang="en-US"/>
          </a:p>
        </p:txBody>
      </p:sp>
      <p:sp>
        <p:nvSpPr>
          <p:cNvPr id="20" name="T20"/>
          <p:cNvSpPr txBox="1"/>
          <p:nvPr/>
        </p:nvSpPr>
        <p:spPr>
          <a:xfrm>
            <a:off x="365760" y="2478024"/>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3</a:t>
            </a:r>
            <a:endParaRPr lang="zh-TW" sz="2400"/>
          </a:p>
        </p:txBody>
      </p:sp>
      <p:sp>
        <p:nvSpPr>
          <p:cNvPr id="21" name="T21"/>
          <p:cNvSpPr txBox="1"/>
          <p:nvPr/>
        </p:nvSpPr>
        <p:spPr>
          <a:xfrm>
            <a:off x="822960" y="2468880"/>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z 和 θ 綁在一起怎麼辦？</a:t>
            </a:r>
            <a:endParaRPr lang="zh-TW" sz="2400"/>
          </a:p>
        </p:txBody>
      </p:sp>
      <p:sp>
        <p:nvSpPr>
          <p:cNvPr id="22" name="T22"/>
          <p:cNvSpPr txBox="1"/>
          <p:nvPr/>
        </p:nvSpPr>
        <p:spPr>
          <a:xfrm>
            <a:off x="1188720" y="2852928"/>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ż = −2θ̇/π，跟著 θ 一起微分</a:t>
            </a:r>
            <a:endParaRPr lang="zh-TW" sz="2400"/>
          </a:p>
        </p:txBody>
      </p:sp>
      <p:sp>
        <p:nvSpPr>
          <p:cNvPr id="23" name="S23"/>
          <p:cNvSpPr/>
          <p:nvPr/>
        </p:nvSpPr>
        <p:spPr>
          <a:xfrm>
            <a:off x="365760" y="3264408"/>
            <a:ext cx="365760" cy="365760"/>
          </a:xfrm>
          <a:prstGeom prst="ellipse">
            <a:avLst/>
          </a:prstGeom>
          <a:solidFill>
            <a:srgbClr val="1F8899"/>
          </a:solidFill>
          <a:ln>
            <a:noFill/>
          </a:ln>
        </p:spPr>
        <p:txBody>
          <a:bodyPr/>
          <a:lstStyle/>
          <a:p>
            <a:endParaRPr lang="zh-TW" altLang="en-US"/>
          </a:p>
        </p:txBody>
      </p:sp>
      <p:sp>
        <p:nvSpPr>
          <p:cNvPr id="24" name="T24"/>
          <p:cNvSpPr txBox="1"/>
          <p:nvPr/>
        </p:nvSpPr>
        <p:spPr>
          <a:xfrm>
            <a:off x="365760" y="3264408"/>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4</a:t>
            </a:r>
            <a:endParaRPr lang="zh-TW" sz="2400"/>
          </a:p>
        </p:txBody>
      </p:sp>
      <p:sp>
        <p:nvSpPr>
          <p:cNvPr id="25" name="T25"/>
          <p:cNvSpPr txBox="1"/>
          <p:nvPr/>
        </p:nvSpPr>
        <p:spPr>
          <a:xfrm>
            <a:off x="822960" y="3255264"/>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「等速率」告訴我們什麼？</a:t>
            </a:r>
            <a:endParaRPr lang="zh-TW" sz="2400"/>
          </a:p>
        </p:txBody>
      </p:sp>
      <p:sp>
        <p:nvSpPr>
          <p:cNvPr id="26" name="T26"/>
          <p:cNvSpPr txBox="1"/>
          <p:nvPr/>
        </p:nvSpPr>
        <p:spPr>
          <a:xfrm>
            <a:off x="1188720" y="3639312"/>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θ̇ 是常數 → θ̈ = 0、z̈ = 0</a:t>
            </a:r>
            <a:endParaRPr lang="zh-TW" sz="2400"/>
          </a:p>
        </p:txBody>
      </p:sp>
      <p:sp>
        <p:nvSpPr>
          <p:cNvPr id="27" name="S27"/>
          <p:cNvSpPr/>
          <p:nvPr/>
        </p:nvSpPr>
        <p:spPr>
          <a:xfrm>
            <a:off x="365760" y="4050792"/>
            <a:ext cx="365760" cy="365760"/>
          </a:xfrm>
          <a:prstGeom prst="ellipse">
            <a:avLst/>
          </a:prstGeom>
          <a:solidFill>
            <a:srgbClr val="1F8899"/>
          </a:solidFill>
          <a:ln>
            <a:noFill/>
          </a:ln>
        </p:spPr>
        <p:txBody>
          <a:bodyPr/>
          <a:lstStyle/>
          <a:p>
            <a:endParaRPr lang="zh-TW" altLang="en-US"/>
          </a:p>
        </p:txBody>
      </p:sp>
      <p:sp>
        <p:nvSpPr>
          <p:cNvPr id="28" name="T28"/>
          <p:cNvSpPr txBox="1"/>
          <p:nvPr/>
        </p:nvSpPr>
        <p:spPr>
          <a:xfrm>
            <a:off x="365760" y="4050792"/>
            <a:ext cx="365760" cy="365760"/>
          </a:xfrm>
          <a:prstGeom prst="rect">
            <a:avLst/>
          </a:prstGeom>
          <a:noFill/>
          <a:ln>
            <a:noFill/>
          </a:ln>
        </p:spPr>
        <p:txBody>
          <a:bodyPr wrap="square" lIns="0" tIns="0" rIns="0" bIns="0" anchor="ctr">
            <a:noAutofit/>
          </a:bodyPr>
          <a:lstStyle/>
          <a:p>
            <a:pPr algn="ctr">
              <a:lnSpc>
                <a:spcPct val="100000"/>
              </a:lnSpc>
              <a:buNone/>
            </a:pPr>
            <a:r>
              <a:rPr lang="zh-TW" altLang="en-US" sz="2400" b="1" dirty="0">
                <a:solidFill>
                  <a:srgbClr val="FFFFFF"/>
                </a:solidFill>
                <a:latin typeface="Calibri"/>
                <a:ea typeface="微軟正黑體"/>
                <a:cs typeface="Calibri"/>
              </a:rPr>
              <a:t>5</a:t>
            </a:r>
            <a:endParaRPr lang="zh-TW" sz="2400"/>
          </a:p>
        </p:txBody>
      </p:sp>
      <p:sp>
        <p:nvSpPr>
          <p:cNvPr id="29" name="T29"/>
          <p:cNvSpPr txBox="1"/>
          <p:nvPr/>
        </p:nvSpPr>
        <p:spPr>
          <a:xfrm>
            <a:off x="822960" y="4041648"/>
            <a:ext cx="749808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等速率就沒有加速度嗎？</a:t>
            </a:r>
            <a:endParaRPr lang="zh-TW" sz="2400"/>
          </a:p>
        </p:txBody>
      </p:sp>
      <p:sp>
        <p:nvSpPr>
          <p:cNvPr id="30" name="T30"/>
          <p:cNvSpPr txBox="1"/>
          <p:nvPr/>
        </p:nvSpPr>
        <p:spPr>
          <a:xfrm>
            <a:off x="1188720" y="4425696"/>
            <a:ext cx="713232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 不是！轉彎就有向心加速度</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步驟 1：列出各項微分</a:t>
            </a:r>
          </a:p>
        </p:txBody>
      </p:sp>
      <mc:AlternateContent xmlns:mc="http://schemas.openxmlformats.org/markup-compatibility/2006" xmlns:a14="http://schemas.microsoft.com/office/drawing/2010/main">
        <mc:Choice Requires="a14">
          <p:sp>
            <p:nvSpPr>
              <p:cNvPr id="11" name="T11"/>
              <p:cNvSpPr txBox="1"/>
              <p:nvPr/>
            </p:nvSpPr>
            <p:spPr>
              <a:xfrm>
                <a:off x="365760" y="868680"/>
                <a:ext cx="39319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𝑟</m:t>
                      </m:r>
                      <m:r>
                        <a:rPr lang="en-US" altLang="zh-TW" sz="2400" b="0" i="0">
                          <a:solidFill>
                            <a:srgbClr val="2B3050"/>
                          </a:solidFill>
                          <a:latin typeface="Cambria Math" panose="02040503050406030204" pitchFamily="18" charset="0"/>
                          <a:ea typeface="Cambria Math"/>
                        </a:rPr>
                        <m:t> = 2</m:t>
                      </m:r>
                    </m:oMath>
                  </m:oMathPara>
                </a14:m>
                <a:endParaRPr lang="zh-TW" sz="2400"/>
              </a:p>
            </p:txBody>
          </p:sp>
        </mc:Choice>
        <mc:Fallback xmlns="">
          <p:pic>
            <p:nvPicPr>
              <p:cNvPr id="11" name="F11"/>
              <p:cNvPicPr/>
              <p:nvPr/>
            </p:nvPicPr>
            <p:blipFill>
              <a:blip r:embed="rId2"/>
              <a:stretch>
                <a:fillRect/>
              </a:stretch>
            </p:blipFill>
            <p:spPr>
              <a:xfrm>
                <a:off x="365760" y="868680"/>
                <a:ext cx="39319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39319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m:t>
                      </m:r>
                    </m:oMath>
                  </m:oMathPara>
                </a14:m>
                <a:endParaRPr lang="zh-TW" sz="2400"/>
              </a:p>
            </p:txBody>
          </p:sp>
        </mc:Choice>
        <mc:Fallback xmlns="">
          <p:pic>
            <p:nvPicPr>
              <p:cNvPr id="12" name="F12"/>
              <p:cNvPicPr/>
              <p:nvPr/>
            </p:nvPicPr>
            <p:blipFill>
              <a:blip r:embed="rId3"/>
              <a:stretch>
                <a:fillRect/>
              </a:stretch>
            </p:blipFill>
            <p:spPr>
              <a:xfrm>
                <a:off x="365760" y="1417320"/>
                <a:ext cx="39319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39319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0</m:t>
                      </m:r>
                    </m:oMath>
                  </m:oMathPara>
                </a14:m>
                <a:endParaRPr lang="zh-TW" sz="2400"/>
              </a:p>
            </p:txBody>
          </p:sp>
        </mc:Choice>
        <mc:Fallback xmlns="">
          <p:pic>
            <p:nvPicPr>
              <p:cNvPr id="13" name="F13"/>
              <p:cNvPicPr/>
              <p:nvPr/>
            </p:nvPicPr>
            <p:blipFill>
              <a:blip r:embed="rId4"/>
              <a:stretch>
                <a:fillRect/>
              </a:stretch>
            </p:blipFill>
            <p:spPr>
              <a:xfrm>
                <a:off x="365760" y="1965960"/>
                <a:ext cx="39319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4206240" y="868680"/>
                <a:ext cx="416052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𝑧</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𝜋</m:t>
                          </m:r>
                        </m:den>
                      </m:f>
                    </m:oMath>
                  </m:oMathPara>
                </a14:m>
                <a:endParaRPr lang="zh-TW" sz="2400"/>
              </a:p>
            </p:txBody>
          </p:sp>
        </mc:Choice>
        <mc:Fallback xmlns="">
          <p:pic>
            <p:nvPicPr>
              <p:cNvPr id="14" name="F14"/>
              <p:cNvPicPr/>
              <p:nvPr/>
            </p:nvPicPr>
            <p:blipFill>
              <a:blip r:embed="rId5"/>
              <a:stretch>
                <a:fillRect/>
              </a:stretch>
            </p:blipFill>
            <p:spPr>
              <a:xfrm>
                <a:off x="4206240" y="868680"/>
                <a:ext cx="416052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4206240" y="1691640"/>
                <a:ext cx="416052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num>
                        <m:den>
                          <m:r>
                            <a:rPr lang="en-US" altLang="zh-TW" sz="2400" b="0" i="1">
                              <a:solidFill>
                                <a:srgbClr val="2B3050"/>
                              </a:solidFill>
                              <a:latin typeface="Cambria Math" panose="02040503050406030204" pitchFamily="18" charset="0"/>
                              <a:ea typeface="Cambria Math"/>
                            </a:rPr>
                            <m:t>𝜋</m:t>
                          </m:r>
                        </m:den>
                      </m:f>
                    </m:oMath>
                  </m:oMathPara>
                </a14:m>
                <a:endParaRPr lang="zh-TW" sz="2400"/>
              </a:p>
            </p:txBody>
          </p:sp>
        </mc:Choice>
        <mc:Fallback xmlns="">
          <p:pic>
            <p:nvPicPr>
              <p:cNvPr id="15" name="F15"/>
              <p:cNvPicPr/>
              <p:nvPr/>
            </p:nvPicPr>
            <p:blipFill>
              <a:blip r:embed="rId6"/>
              <a:stretch>
                <a:fillRect/>
              </a:stretch>
            </p:blipFill>
            <p:spPr>
              <a:xfrm>
                <a:off x="4206240" y="1691640"/>
                <a:ext cx="4160520" cy="82296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6" name="T16"/>
              <p:cNvSpPr txBox="1"/>
              <p:nvPr/>
            </p:nvSpPr>
            <p:spPr>
              <a:xfrm>
                <a:off x="4206240" y="2514600"/>
                <a:ext cx="4160520" cy="8229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num>
                        <m:den>
                          <m:r>
                            <a:rPr lang="en-US" altLang="zh-TW" sz="2400" b="0" i="1">
                              <a:solidFill>
                                <a:srgbClr val="2B3050"/>
                              </a:solidFill>
                              <a:latin typeface="Cambria Math" panose="02040503050406030204" pitchFamily="18" charset="0"/>
                              <a:ea typeface="Cambria Math"/>
                            </a:rPr>
                            <m:t>𝜋</m:t>
                          </m:r>
                        </m:den>
                      </m:f>
                      <m:r>
                        <a:rPr lang="en-US" altLang="zh-TW" sz="2400" b="0" i="0">
                          <a:solidFill>
                            <a:srgbClr val="2B3050"/>
                          </a:solidFill>
                          <a:latin typeface="Cambria Math" panose="02040503050406030204" pitchFamily="18" charset="0"/>
                          <a:ea typeface="Cambria Math"/>
                        </a:rPr>
                        <m:t> = 0</m:t>
                      </m:r>
                    </m:oMath>
                  </m:oMathPara>
                </a14:m>
                <a:endParaRPr lang="zh-TW" sz="2400"/>
              </a:p>
            </p:txBody>
          </p:sp>
        </mc:Choice>
        <mc:Fallback xmlns="">
          <p:pic>
            <p:nvPicPr>
              <p:cNvPr id="16" name="F16"/>
              <p:cNvPicPr/>
              <p:nvPr/>
            </p:nvPicPr>
            <p:blipFill>
              <a:blip r:embed="rId7"/>
              <a:stretch>
                <a:fillRect/>
              </a:stretch>
            </p:blipFill>
            <p:spPr>
              <a:xfrm>
                <a:off x="4206240" y="2514600"/>
                <a:ext cx="4160520" cy="822960"/>
              </a:xfrm>
              <a:prstGeom prst="rect">
                <a:avLst/>
              </a:prstGeom>
              <a:noFill/>
              <a:ln>
                <a:noFill/>
              </a:ln>
            </p:spPr>
          </p:pic>
        </mc:Fallback>
      </mc:AlternateContent>
      <p:sp>
        <p:nvSpPr>
          <p:cNvPr id="17" name="T17"/>
          <p:cNvSpPr txBox="1"/>
          <p:nvPr/>
        </p:nvSpPr>
        <p:spPr>
          <a:xfrm>
            <a:off x="365760" y="3520440"/>
            <a:ext cx="7955280" cy="10058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等速率 → θ̇ 不變 → θ̈ = 0</a:t>
            </a:r>
            <a:endParaRPr lang="zh-TW" sz="2400"/>
          </a:p>
          <a:p>
            <a:pPr algn="l">
              <a:lnSpc>
                <a:spcPct val="100000"/>
              </a:lnSpc>
              <a:buNone/>
            </a:pPr>
            <a:r>
              <a:rPr lang="zh-TW" altLang="en-US" sz="2400" b="0" dirty="0">
                <a:solidFill>
                  <a:srgbClr val="2B3050"/>
                </a:solidFill>
                <a:latin typeface="Calibri"/>
                <a:ea typeface="微軟正黑體"/>
                <a:cs typeface="Calibri"/>
              </a:rPr>
              <a:t>所以 z̈ 也等於 0</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步驟 2：由速率求 θ̇</a:t>
            </a:r>
          </a:p>
        </p:txBody>
      </p:sp>
      <mc:AlternateContent xmlns:mc="http://schemas.openxmlformats.org/markup-compatibility/2006" xmlns:a14="http://schemas.microsoft.com/office/drawing/2010/main">
        <mc:Choice Requires="a14">
          <p:sp>
            <p:nvSpPr>
              <p:cNvPr id="11" name="T11"/>
              <p:cNvSpPr txBox="1"/>
              <p:nvPr/>
            </p:nvSpPr>
            <p:spPr>
              <a:xfrm>
                <a:off x="365760" y="868680"/>
                <a:ext cx="7955280" cy="8686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r>
                        <a:rPr lang="en-US" altLang="zh-TW" sz="2400" b="0" i="0">
                          <a:solidFill>
                            <a:srgbClr val="2B3050"/>
                          </a:solidFill>
                          <a:latin typeface="Cambria Math" panose="02040503050406030204" pitchFamily="18" charset="0"/>
                          <a:ea typeface="Cambria Math"/>
                        </a:rPr>
                        <m:t> = 0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num>
                        <m:den>
                          <m:r>
                            <a:rPr lang="en-US" altLang="zh-TW" sz="2400" b="0" i="1">
                              <a:solidFill>
                                <a:srgbClr val="2B3050"/>
                              </a:solidFill>
                              <a:latin typeface="Cambria Math" panose="02040503050406030204" pitchFamily="18" charset="0"/>
                              <a:ea typeface="Cambria Math"/>
                            </a:rPr>
                            <m:t>𝜋</m:t>
                          </m:r>
                        </m:den>
                      </m:f>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1" name="F11"/>
              <p:cNvPicPr/>
              <p:nvPr/>
            </p:nvPicPr>
            <p:blipFill>
              <a:blip r:embed="rId2"/>
              <a:stretch>
                <a:fillRect/>
              </a:stretch>
            </p:blipFill>
            <p:spPr>
              <a:xfrm>
                <a:off x="365760" y="868680"/>
                <a:ext cx="7955280" cy="8686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737360"/>
                <a:ext cx="795528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𝑣</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num>
                                <m:den>
                                  <m:r>
                                    <a:rPr lang="en-US" altLang="zh-TW" sz="2400" b="0" i="1">
                                      <a:solidFill>
                                        <a:srgbClr val="2B3050"/>
                                      </a:solidFill>
                                      <a:latin typeface="Cambria Math" panose="02040503050406030204" pitchFamily="18" charset="0"/>
                                      <a:ea typeface="Cambria Math"/>
                                    </a:rPr>
                                    <m:t>𝜋</m:t>
                                  </m:r>
                                </m:den>
                              </m:f>
                            </m:e>
                          </m:d>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a:rPr lang="en-US" altLang="zh-TW" sz="2400" b="0" i="0">
                              <a:solidFill>
                                <a:srgbClr val="2B3050"/>
                              </a:solidFill>
                              <a:latin typeface="Cambria Math" panose="02040503050406030204" pitchFamily="18" charset="0"/>
                              <a:ea typeface="Cambria Math"/>
                            </a:rPr>
                            <m:t>3</m:t>
                          </m:r>
                        </m:e>
                        <m:sup>
                          <m:r>
                            <a:rPr lang="en-US" altLang="zh-TW" sz="2400" b="0" i="0">
                              <a:solidFill>
                                <a:srgbClr val="2B3050"/>
                              </a:solidFill>
                              <a:latin typeface="Cambria Math" panose="02040503050406030204" pitchFamily="18" charset="0"/>
                              <a:ea typeface="Cambria Math"/>
                            </a:rPr>
                            <m:t>2</m:t>
                          </m:r>
                        </m:sup>
                      </m:sSup>
                    </m:oMath>
                  </m:oMathPara>
                </a14:m>
                <a:endParaRPr lang="zh-TW" sz="2400"/>
              </a:p>
            </p:txBody>
          </p:sp>
        </mc:Choice>
        <mc:Fallback xmlns="">
          <p:pic>
            <p:nvPicPr>
              <p:cNvPr id="12" name="F12"/>
              <p:cNvPicPr/>
              <p:nvPr/>
            </p:nvPicPr>
            <p:blipFill>
              <a:blip r:embed="rId3"/>
              <a:stretch>
                <a:fillRect/>
              </a:stretch>
            </p:blipFill>
            <p:spPr>
              <a:xfrm>
                <a:off x="365760" y="1737360"/>
                <a:ext cx="795528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2651760"/>
                <a:ext cx="7955280" cy="91440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4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4</m:t>
                              </m:r>
                            </m:num>
                            <m:den>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𝜋</m:t>
                                  </m:r>
                                </m:e>
                                <m:sup>
                                  <m:r>
                                    <a:rPr lang="en-US" altLang="zh-TW" sz="2400" b="0" i="0">
                                      <a:solidFill>
                                        <a:srgbClr val="2B3050"/>
                                      </a:solidFill>
                                      <a:latin typeface="Cambria Math" panose="02040503050406030204" pitchFamily="18" charset="0"/>
                                      <a:ea typeface="Cambria Math"/>
                                    </a:rPr>
                                    <m:t>2</m:t>
                                  </m:r>
                                </m:sup>
                              </m:sSup>
                            </m:den>
                          </m:f>
                        </m:e>
                      </m:d>
                      <m:r>
                        <a:rPr lang="en-US" altLang="zh-TW" sz="2400" b="0" i="0">
                          <a:solidFill>
                            <a:srgbClr val="2B3050"/>
                          </a:solidFill>
                          <a:latin typeface="Cambria Math" panose="02040503050406030204" pitchFamily="18" charset="0"/>
                          <a:ea typeface="Cambria Math"/>
                        </a:rPr>
                        <m:t> = 9　→　</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9</m:t>
                          </m:r>
                        </m:num>
                        <m:den>
                          <m:r>
                            <a:rPr lang="en-US" altLang="zh-TW" sz="2400" b="0" i="0">
                              <a:solidFill>
                                <a:srgbClr val="2B3050"/>
                              </a:solidFill>
                              <a:latin typeface="Cambria Math" panose="02040503050406030204" pitchFamily="18" charset="0"/>
                              <a:ea typeface="Cambria Math"/>
                            </a:rPr>
                            <m:t>4.405</m:t>
                          </m:r>
                        </m:den>
                      </m:f>
                      <m:r>
                        <a:rPr lang="en-US" altLang="zh-TW" sz="2400" b="0" i="0">
                          <a:solidFill>
                            <a:srgbClr val="2B3050"/>
                          </a:solidFill>
                          <a:latin typeface="Cambria Math" panose="02040503050406030204" pitchFamily="18" charset="0"/>
                          <a:ea typeface="Cambria Math"/>
                        </a:rPr>
                        <m:t> = 2.043</m:t>
                      </m:r>
                    </m:oMath>
                  </m:oMathPara>
                </a14:m>
                <a:endParaRPr lang="zh-TW" sz="2400"/>
              </a:p>
            </p:txBody>
          </p:sp>
        </mc:Choice>
        <mc:Fallback xmlns="">
          <p:pic>
            <p:nvPicPr>
              <p:cNvPr id="13" name="F13"/>
              <p:cNvPicPr/>
              <p:nvPr/>
            </p:nvPicPr>
            <p:blipFill>
              <a:blip r:embed="rId4"/>
              <a:stretch>
                <a:fillRect/>
              </a:stretch>
            </p:blipFill>
            <p:spPr>
              <a:xfrm>
                <a:off x="365760" y="2651760"/>
                <a:ext cx="7955280" cy="91440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3566160"/>
                <a:ext cx="79552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1.43 </m:t>
                      </m:r>
                      <m:r>
                        <m:rPr>
                          <m:sty m:val="p"/>
                        </m:rPr>
                        <a:rPr lang="en-US" altLang="zh-TW" sz="2400" b="0" i="0">
                          <a:solidFill>
                            <a:srgbClr val="D6006F"/>
                          </a:solidFill>
                          <a:latin typeface="Cambria Math" panose="02040503050406030204" pitchFamily="18" charset="0"/>
                          <a:ea typeface="Cambria Math"/>
                        </a:rPr>
                        <m:t>rad</m:t>
                      </m:r>
                      <m:r>
                        <a:rPr lang="en-US" altLang="zh-TW" sz="2400" b="0" i="0">
                          <a:solidFill>
                            <a:srgbClr val="D6006F"/>
                          </a:solidFill>
                          <a:latin typeface="Cambria Math" panose="02040503050406030204" pitchFamily="18" charset="0"/>
                          <a:ea typeface="Cambria Math"/>
                        </a:rPr>
                        <m:t>/</m:t>
                      </m:r>
                      <m:r>
                        <m:rPr>
                          <m:sty m:val="p"/>
                        </m:rPr>
                        <a:rPr lang="en-US" altLang="zh-TW" sz="2400" b="0" i="0">
                          <a:solidFill>
                            <a:srgbClr val="D6006F"/>
                          </a:solidFill>
                          <a:latin typeface="Cambria Math" panose="02040503050406030204" pitchFamily="18" charset="0"/>
                          <a:ea typeface="Cambria Math"/>
                        </a:rPr>
                        <m:t>s</m:t>
                      </m:r>
                    </m:oMath>
                  </m:oMathPara>
                </a14:m>
                <a:endParaRPr lang="zh-TW" sz="2400"/>
              </a:p>
            </p:txBody>
          </p:sp>
        </mc:Choice>
        <mc:Fallback xmlns="">
          <p:pic>
            <p:nvPicPr>
              <p:cNvPr id="14" name="F14"/>
              <p:cNvPicPr/>
              <p:nvPr/>
            </p:nvPicPr>
            <p:blipFill>
              <a:blip r:embed="rId5"/>
              <a:stretch>
                <a:fillRect/>
              </a:stretch>
            </p:blipFill>
            <p:spPr>
              <a:xfrm>
                <a:off x="365760" y="3566160"/>
                <a:ext cx="7955280" cy="54864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觀念：等速率，為什麼還有加速度？</a:t>
            </a:r>
          </a:p>
        </p:txBody>
      </p:sp>
      <p:sp>
        <p:nvSpPr>
          <p:cNvPr id="11" name="T11"/>
          <p:cNvSpPr txBox="1"/>
          <p:nvPr/>
        </p:nvSpPr>
        <p:spPr>
          <a:xfrm>
            <a:off x="365760" y="841248"/>
            <a:ext cx="7955280" cy="8412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速率</a:t>
            </a:r>
            <a:r>
              <a:rPr lang="zh-TW" altLang="en-US" sz="2400" b="0" dirty="0">
                <a:solidFill>
                  <a:srgbClr val="2B3050"/>
                </a:solidFill>
                <a:latin typeface="Calibri"/>
                <a:ea typeface="微軟正黑體"/>
                <a:cs typeface="Calibri"/>
              </a:rPr>
              <a:t>：只看大小（純量），例如 3 m/s</a:t>
            </a:r>
            <a:endParaRPr lang="zh-TW" sz="2400"/>
          </a:p>
          <a:p>
            <a:pPr algn="l">
              <a:lnSpc>
                <a:spcPct val="100000"/>
              </a:lnSpc>
              <a:buNone/>
            </a:pPr>
            <a:r>
              <a:rPr lang="zh-TW" altLang="en-US" sz="2400" b="1" dirty="0">
                <a:solidFill>
                  <a:srgbClr val="2B3050"/>
                </a:solidFill>
                <a:latin typeface="Calibri"/>
                <a:ea typeface="微軟正黑體"/>
                <a:cs typeface="Calibri"/>
              </a:rPr>
              <a:t>速度</a:t>
            </a:r>
            <a:r>
              <a:rPr lang="zh-TW" altLang="en-US" sz="2400" b="0" dirty="0">
                <a:solidFill>
                  <a:srgbClr val="2B3050"/>
                </a:solidFill>
                <a:latin typeface="Calibri"/>
                <a:ea typeface="微軟正黑體"/>
                <a:cs typeface="Calibri"/>
              </a:rPr>
              <a:t>：大小＋方向（向量），例如「3 m/s、往東」</a:t>
            </a:r>
            <a:endParaRPr lang="zh-TW" sz="2400"/>
          </a:p>
        </p:txBody>
      </p:sp>
      <p:sp>
        <p:nvSpPr>
          <p:cNvPr id="12" name="S12"/>
          <p:cNvSpPr/>
          <p:nvPr/>
        </p:nvSpPr>
        <p:spPr>
          <a:xfrm>
            <a:off x="1005840" y="2194560"/>
            <a:ext cx="2194560" cy="2194560"/>
          </a:xfrm>
          <a:prstGeom prst="ellipse">
            <a:avLst/>
          </a:prstGeom>
          <a:noFill/>
          <a:ln w="15875">
            <a:solidFill>
              <a:srgbClr val="8A8F9C"/>
            </a:solidFill>
            <a:prstDash val="dash"/>
          </a:ln>
        </p:spPr>
        <p:txBody>
          <a:bodyPr/>
          <a:lstStyle/>
          <a:p>
            <a:endParaRPr lang="zh-TW" altLang="en-US"/>
          </a:p>
        </p:txBody>
      </p:sp>
      <p:sp>
        <p:nvSpPr>
          <p:cNvPr id="13" name="S13"/>
          <p:cNvSpPr/>
          <p:nvPr/>
        </p:nvSpPr>
        <p:spPr>
          <a:xfrm>
            <a:off x="2057400" y="3246120"/>
            <a:ext cx="91440" cy="91440"/>
          </a:xfrm>
          <a:prstGeom prst="ellipse">
            <a:avLst/>
          </a:prstGeom>
          <a:solidFill>
            <a:srgbClr val="2B3050"/>
          </a:solidFill>
          <a:ln>
            <a:noFill/>
          </a:ln>
        </p:spPr>
        <p:txBody>
          <a:bodyPr/>
          <a:lstStyle/>
          <a:p>
            <a:endParaRPr lang="zh-TW" altLang="en-US"/>
          </a:p>
        </p:txBody>
      </p:sp>
      <p:sp>
        <p:nvSpPr>
          <p:cNvPr id="14" name="T14"/>
          <p:cNvSpPr txBox="1"/>
          <p:nvPr/>
        </p:nvSpPr>
        <p:spPr>
          <a:xfrm>
            <a:off x="1965960" y="3310128"/>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S15"/>
          <p:cNvSpPr/>
          <p:nvPr/>
        </p:nvSpPr>
        <p:spPr>
          <a:xfrm>
            <a:off x="3051930" y="3584836"/>
            <a:ext cx="164592" cy="164592"/>
          </a:xfrm>
          <a:prstGeom prst="ellipse">
            <a:avLst/>
          </a:prstGeom>
          <a:solidFill>
            <a:srgbClr val="2B3050"/>
          </a:solidFill>
          <a:ln>
            <a:noFill/>
          </a:ln>
        </p:spPr>
        <p:txBody>
          <a:bodyPr/>
          <a:lstStyle/>
          <a:p>
            <a:endParaRPr lang="zh-TW" altLang="en-US"/>
          </a:p>
        </p:txBody>
      </p:sp>
      <p:cxnSp>
        <p:nvCxnSpPr>
          <p:cNvPr id="16" name="L16"/>
          <p:cNvCxnSpPr/>
          <p:nvPr/>
        </p:nvCxnSpPr>
        <p:spPr>
          <a:xfrm flipV="1">
            <a:off x="3134226" y="2850840"/>
            <a:ext cx="297106" cy="816292"/>
          </a:xfrm>
          <a:prstGeom prst="line">
            <a:avLst/>
          </a:prstGeom>
          <a:ln w="38100">
            <a:solidFill>
              <a:srgbClr val="C8901F"/>
            </a:solidFill>
            <a:tailEnd type="triangle" w="med" len="med"/>
          </a:ln>
        </p:spPr>
      </p:cxnSp>
      <mc:AlternateContent xmlns:mc="http://schemas.openxmlformats.org/markup-compatibility/2006" xmlns:a14="http://schemas.microsoft.com/office/drawing/2010/main">
        <mc:Choice Requires="a14">
          <p:sp>
            <p:nvSpPr>
              <p:cNvPr id="17" name="T17"/>
              <p:cNvSpPr txBox="1"/>
              <p:nvPr/>
            </p:nvSpPr>
            <p:spPr>
              <a:xfrm>
                <a:off x="3477052" y="2759400"/>
                <a:ext cx="54864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e>
                        <m:sub>
                          <m:r>
                            <a:rPr lang="en-US" altLang="zh-TW" sz="2400" b="0" i="0">
                              <a:solidFill>
                                <a:srgbClr val="C8901F"/>
                              </a:solidFill>
                              <a:latin typeface="Cambria Math" panose="02040503050406030204" pitchFamily="18" charset="0"/>
                              <a:ea typeface="Cambria Math"/>
                            </a:rPr>
                            <m:t>1</m:t>
                          </m:r>
                        </m:sub>
                      </m:sSub>
                    </m:oMath>
                  </m:oMathPara>
                </a14:m>
                <a:endParaRPr lang="zh-TW" sz="2400"/>
              </a:p>
            </p:txBody>
          </p:sp>
        </mc:Choice>
        <mc:Fallback xmlns="">
          <p:pic>
            <p:nvPicPr>
              <p:cNvPr id="17" name="F17"/>
              <p:cNvPicPr/>
              <p:nvPr/>
            </p:nvPicPr>
            <p:blipFill>
              <a:blip r:embed="rId2"/>
              <a:stretch>
                <a:fillRect/>
              </a:stretch>
            </p:blipFill>
            <p:spPr>
              <a:xfrm>
                <a:off x="3477052" y="2759400"/>
                <a:ext cx="548640" cy="384048"/>
              </a:xfrm>
              <a:prstGeom prst="rect">
                <a:avLst/>
              </a:prstGeom>
              <a:noFill/>
              <a:ln>
                <a:noFill/>
              </a:ln>
            </p:spPr>
          </p:pic>
        </mc:Fallback>
      </mc:AlternateContent>
      <p:sp>
        <p:nvSpPr>
          <p:cNvPr id="18" name="S18"/>
          <p:cNvSpPr/>
          <p:nvPr/>
        </p:nvSpPr>
        <p:spPr>
          <a:xfrm>
            <a:off x="2861389" y="2504226"/>
            <a:ext cx="164592" cy="164592"/>
          </a:xfrm>
          <a:prstGeom prst="ellipse">
            <a:avLst/>
          </a:prstGeom>
          <a:solidFill>
            <a:srgbClr val="2B3050"/>
          </a:solidFill>
          <a:ln>
            <a:noFill/>
          </a:ln>
        </p:spPr>
        <p:txBody>
          <a:bodyPr/>
          <a:lstStyle/>
          <a:p>
            <a:endParaRPr lang="zh-TW" altLang="en-US"/>
          </a:p>
        </p:txBody>
      </p:sp>
      <p:cxnSp>
        <p:nvCxnSpPr>
          <p:cNvPr id="19" name="L19"/>
          <p:cNvCxnSpPr/>
          <p:nvPr/>
        </p:nvCxnSpPr>
        <p:spPr>
          <a:xfrm>
            <a:off x="2385309" y="1921075"/>
            <a:ext cx="558377" cy="665447"/>
          </a:xfrm>
          <a:prstGeom prst="line">
            <a:avLst/>
          </a:prstGeom>
          <a:ln w="38100">
            <a:solidFill>
              <a:srgbClr val="1F8899"/>
            </a:solidFill>
            <a:headEnd type="triangle" w="med" len="med"/>
          </a:ln>
        </p:spPr>
      </p:cxnSp>
      <mc:AlternateContent xmlns:mc="http://schemas.openxmlformats.org/markup-compatibility/2006" xmlns:a14="http://schemas.microsoft.com/office/drawing/2010/main">
        <mc:Choice Requires="a14">
          <p:sp>
            <p:nvSpPr>
              <p:cNvPr id="20" name="T20"/>
              <p:cNvSpPr txBox="1"/>
              <p:nvPr/>
            </p:nvSpPr>
            <p:spPr>
              <a:xfrm>
                <a:off x="1818381" y="1875355"/>
                <a:ext cx="548640" cy="384048"/>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𝑣</m:t>
                              </m:r>
                            </m:e>
                          </m:acc>
                        </m:e>
                        <m:sub>
                          <m:r>
                            <a:rPr lang="en-US" altLang="zh-TW" sz="2400" b="0" i="0">
                              <a:solidFill>
                                <a:srgbClr val="1F8899"/>
                              </a:solidFill>
                              <a:latin typeface="Cambria Math" panose="02040503050406030204" pitchFamily="18" charset="0"/>
                              <a:ea typeface="Cambria Math"/>
                            </a:rPr>
                            <m:t>2</m:t>
                          </m:r>
                        </m:sub>
                      </m:sSub>
                    </m:oMath>
                  </m:oMathPara>
                </a14:m>
                <a:endParaRPr lang="zh-TW" sz="2400"/>
              </a:p>
            </p:txBody>
          </p:sp>
        </mc:Choice>
        <mc:Fallback xmlns="">
          <p:pic>
            <p:nvPicPr>
              <p:cNvPr id="20" name="F20"/>
              <p:cNvPicPr/>
              <p:nvPr/>
            </p:nvPicPr>
            <p:blipFill>
              <a:blip r:embed="rId3"/>
              <a:stretch>
                <a:fillRect/>
              </a:stretch>
            </p:blipFill>
            <p:spPr>
              <a:xfrm>
                <a:off x="1818381" y="1875355"/>
                <a:ext cx="548640" cy="384048"/>
              </a:xfrm>
              <a:prstGeom prst="rect">
                <a:avLst/>
              </a:prstGeom>
              <a:noFill/>
              <a:ln>
                <a:noFill/>
              </a:ln>
            </p:spPr>
          </p:pic>
        </mc:Fallback>
      </mc:AlternateContent>
      <p:sp>
        <p:nvSpPr>
          <p:cNvPr id="21" name="T21"/>
          <p:cNvSpPr txBox="1"/>
          <p:nvPr/>
        </p:nvSpPr>
        <p:spPr>
          <a:xfrm>
            <a:off x="4206240" y="1783080"/>
            <a:ext cx="4114800" cy="82296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一樣長（都是 3 m/s）</a:t>
            </a:r>
            <a:endParaRPr lang="zh-TW" sz="2400"/>
          </a:p>
          <a:p>
            <a:pPr algn="l">
              <a:lnSpc>
                <a:spcPct val="100000"/>
              </a:lnSpc>
              <a:buNone/>
            </a:pPr>
            <a:r>
              <a:rPr lang="zh-TW" altLang="en-US" sz="2400" b="0" dirty="0">
                <a:solidFill>
                  <a:srgbClr val="2B3050"/>
                </a:solidFill>
                <a:latin typeface="Calibri"/>
                <a:ea typeface="微軟正黑體"/>
                <a:cs typeface="Calibri"/>
              </a:rPr>
              <a:t>方向不同 → 速度不一樣</a:t>
            </a:r>
            <a:endParaRPr lang="zh-TW" sz="2400"/>
          </a:p>
        </p:txBody>
      </p:sp>
      <p:sp>
        <p:nvSpPr>
          <p:cNvPr id="22" name="T22"/>
          <p:cNvSpPr txBox="1"/>
          <p:nvPr/>
        </p:nvSpPr>
        <p:spPr>
          <a:xfrm>
            <a:off x="4206240" y="2633472"/>
            <a:ext cx="41148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尾巴放在一起，看差多少：</a:t>
            </a:r>
            <a:endParaRPr lang="zh-TW" sz="2400"/>
          </a:p>
        </p:txBody>
      </p:sp>
      <p:cxnSp>
        <p:nvCxnSpPr>
          <p:cNvPr id="23" name="L23"/>
          <p:cNvCxnSpPr/>
          <p:nvPr/>
        </p:nvCxnSpPr>
        <p:spPr>
          <a:xfrm flipV="1">
            <a:off x="6309360" y="3145060"/>
            <a:ext cx="386238" cy="1061180"/>
          </a:xfrm>
          <a:prstGeom prst="line">
            <a:avLst/>
          </a:prstGeom>
          <a:ln w="38100">
            <a:solidFill>
              <a:srgbClr val="C8901F"/>
            </a:solidFill>
            <a:tailEnd type="triangle" w="med" len="med"/>
          </a:ln>
        </p:spPr>
      </p:cxnSp>
      <p:cxnSp>
        <p:nvCxnSpPr>
          <p:cNvPr id="24" name="L24"/>
          <p:cNvCxnSpPr/>
          <p:nvPr/>
        </p:nvCxnSpPr>
        <p:spPr>
          <a:xfrm>
            <a:off x="5583470" y="3341158"/>
            <a:ext cx="725890" cy="865082"/>
          </a:xfrm>
          <a:prstGeom prst="line">
            <a:avLst/>
          </a:prstGeom>
          <a:ln w="38100">
            <a:solidFill>
              <a:srgbClr val="1F8899"/>
            </a:solidFill>
            <a:headEnd type="triangle" w="med" len="med"/>
          </a:ln>
        </p:spPr>
      </p:cxnSp>
      <p:cxnSp>
        <p:nvCxnSpPr>
          <p:cNvPr id="25" name="L25"/>
          <p:cNvCxnSpPr/>
          <p:nvPr/>
        </p:nvCxnSpPr>
        <p:spPr>
          <a:xfrm flipH="1">
            <a:off x="5583470" y="3145060"/>
            <a:ext cx="1112128" cy="196098"/>
          </a:xfrm>
          <a:prstGeom prst="line">
            <a:avLst/>
          </a:prstGeom>
          <a:ln w="44450">
            <a:solidFill>
              <a:srgbClr val="D6006F"/>
            </a:solidFill>
            <a:tailEnd type="triangle" w="med" len="med"/>
          </a:ln>
        </p:spPr>
      </p:cxnSp>
      <mc:AlternateContent xmlns:mc="http://schemas.openxmlformats.org/markup-compatibility/2006" xmlns:a14="http://schemas.microsoft.com/office/drawing/2010/main">
        <mc:Choice Requires="a14">
          <p:sp>
            <p:nvSpPr>
              <p:cNvPr id="26" name="T26"/>
              <p:cNvSpPr txBox="1"/>
              <p:nvPr/>
            </p:nvSpPr>
            <p:spPr>
              <a:xfrm>
                <a:off x="6035040" y="3154680"/>
                <a:ext cx="9144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m:rPr>
                          <m:sty m:val="p"/>
                        </m:rPr>
                        <a:rPr lang="en-US" altLang="zh-TW" sz="2400" b="0" i="0">
                          <a:solidFill>
                            <a:srgbClr val="D6006F"/>
                          </a:solidFill>
                          <a:latin typeface="Cambria Math" panose="02040503050406030204" pitchFamily="18" charset="0"/>
                          <a:ea typeface="Cambria Math"/>
                        </a:rPr>
                        <m:t>Δ</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𝑣</m:t>
                          </m:r>
                        </m:e>
                      </m:acc>
                    </m:oMath>
                  </m:oMathPara>
                </a14:m>
                <a:endParaRPr lang="zh-TW" sz="2400"/>
              </a:p>
            </p:txBody>
          </p:sp>
        </mc:Choice>
        <mc:Fallback xmlns="">
          <p:pic>
            <p:nvPicPr>
              <p:cNvPr id="26" name="F26"/>
              <p:cNvPicPr/>
              <p:nvPr/>
            </p:nvPicPr>
            <p:blipFill>
              <a:blip r:embed="rId4"/>
              <a:stretch>
                <a:fillRect/>
              </a:stretch>
            </p:blipFill>
            <p:spPr>
              <a:xfrm>
                <a:off x="6035040" y="3154680"/>
                <a:ext cx="914400" cy="411480"/>
              </a:xfrm>
              <a:prstGeom prst="rect">
                <a:avLst/>
              </a:prstGeom>
              <a:noFill/>
              <a:ln>
                <a:noFill/>
              </a:ln>
            </p:spPr>
          </p:pic>
        </mc:Fallback>
      </mc:AlternateContent>
      <p:cxnSp>
        <p:nvCxnSpPr>
          <p:cNvPr id="27" name="L27"/>
          <p:cNvCxnSpPr/>
          <p:nvPr/>
        </p:nvCxnSpPr>
        <p:spPr>
          <a:xfrm flipH="1">
            <a:off x="2553374" y="3101299"/>
            <a:ext cx="630356" cy="111149"/>
          </a:xfrm>
          <a:prstGeom prst="line">
            <a:avLst/>
          </a:prstGeom>
          <a:ln w="44450">
            <a:solidFill>
              <a:srgbClr val="D6006F"/>
            </a:solidFill>
            <a:tailEnd type="triangle" w="med" len="med"/>
          </a:ln>
        </p:spPr>
      </p:cxnSp>
      <p:sp>
        <p:nvSpPr>
          <p:cNvPr id="28" name="T28"/>
          <p:cNvSpPr txBox="1"/>
          <p:nvPr/>
        </p:nvSpPr>
        <p:spPr>
          <a:xfrm>
            <a:off x="1280160" y="4462272"/>
            <a:ext cx="164592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D6006F"/>
                </a:solidFill>
                <a:latin typeface="Calibri"/>
                <a:ea typeface="微軟正黑體"/>
                <a:cs typeface="Calibri"/>
              </a:rPr>
              <a:t>a 指向圓心</a:t>
            </a:r>
            <a:endParaRPr lang="zh-TW" sz="2400"/>
          </a:p>
        </p:txBody>
      </p:sp>
      <p:sp>
        <p:nvSpPr>
          <p:cNvPr id="29" name="T29"/>
          <p:cNvSpPr txBox="1"/>
          <p:nvPr/>
        </p:nvSpPr>
        <p:spPr>
          <a:xfrm>
            <a:off x="7086600" y="3200400"/>
            <a:ext cx="1280160" cy="914400"/>
          </a:xfrm>
          <a:prstGeom prst="roundRect">
            <a:avLst/>
          </a:prstGeom>
          <a:solidFill>
            <a:srgbClr val="FDECF4"/>
          </a:solidFill>
          <a:ln>
            <a:noFill/>
          </a:ln>
        </p:spPr>
        <p:txBody>
          <a:bodyPr wrap="square" lIns="45720" tIns="22860" rIns="45720" bIns="22860" anchor="ctr">
            <a:noAutofit/>
          </a:bodyPr>
          <a:lstStyle/>
          <a:p>
            <a:pPr algn="ctr">
              <a:lnSpc>
                <a:spcPct val="100000"/>
              </a:lnSpc>
              <a:buNone/>
            </a:pPr>
            <a:r>
              <a:rPr lang="zh-TW" altLang="en-US" sz="2400" b="1" dirty="0">
                <a:solidFill>
                  <a:srgbClr val="D6006F"/>
                </a:solidFill>
                <a:latin typeface="Calibri"/>
                <a:ea typeface="微軟正黑體"/>
                <a:cs typeface="Calibri"/>
              </a:rPr>
              <a:t>Δv ≠ 0</a:t>
            </a:r>
            <a:endParaRPr lang="zh-TW" sz="2400"/>
          </a:p>
          <a:p>
            <a:pPr algn="ctr">
              <a:lnSpc>
                <a:spcPct val="100000"/>
              </a:lnSpc>
              <a:buNone/>
            </a:pPr>
            <a:r>
              <a:rPr lang="zh-TW" altLang="en-US" sz="2400" b="1" dirty="0">
                <a:solidFill>
                  <a:srgbClr val="D6006F"/>
                </a:solidFill>
                <a:latin typeface="Calibri"/>
                <a:ea typeface="微軟正黑體"/>
                <a:cs typeface="Calibri"/>
              </a:rPr>
              <a:t>有 a！</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The image depicts two diagrams comparing constant speed (straight line motion) and changing speed (curved motion), with annotations in Japanese, illustrating that while speed magnitude remains constant, direction changes, resulting in centripetal acceleration.&#10;&#10;AI 產生的內容可能不正確。">
            <a:extLst>
              <a:ext uri="{FF2B5EF4-FFF2-40B4-BE49-F238E27FC236}">
                <a16:creationId xmlns:a16="http://schemas.microsoft.com/office/drawing/2014/main" id="{2AE85D02-ED7D-9A45-6162-01F9ABD4D260}"/>
              </a:ext>
            </a:extLst>
          </p:cNvPr>
          <p:cNvPicPr>
            <a:picLocks noChangeAspect="1"/>
          </p:cNvPicPr>
          <p:nvPr/>
        </p:nvPicPr>
        <p:blipFill>
          <a:blip r:embed="rId2"/>
          <a:stretch>
            <a:fillRect/>
          </a:stretch>
        </p:blipFill>
        <p:spPr>
          <a:xfrm>
            <a:off x="1191897" y="196770"/>
            <a:ext cx="6531517" cy="4922303"/>
          </a:xfrm>
          <a:prstGeom prst="rect">
            <a:avLst/>
          </a:prstGeom>
        </p:spPr>
      </p:pic>
    </p:spTree>
    <p:extLst>
      <p:ext uri="{BB962C8B-B14F-4D97-AF65-F5344CB8AC3E}">
        <p14:creationId xmlns:p14="http://schemas.microsoft.com/office/powerpoint/2010/main" val="4140947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觀念：生活例子與例題 2-20 驗算</a:t>
            </a:r>
          </a:p>
        </p:txBody>
      </p:sp>
      <p:sp>
        <p:nvSpPr>
          <p:cNvPr id="11" name="T11"/>
          <p:cNvSpPr txBox="1"/>
          <p:nvPr/>
        </p:nvSpPr>
        <p:spPr>
          <a:xfrm>
            <a:off x="365760" y="8686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生活例子：</a:t>
            </a:r>
            <a:r>
              <a:rPr lang="zh-TW" altLang="en-US" sz="2400" b="0" dirty="0">
                <a:solidFill>
                  <a:srgbClr val="2B3050"/>
                </a:solidFill>
                <a:latin typeface="Calibri"/>
                <a:ea typeface="微軟正黑體"/>
                <a:cs typeface="Calibri"/>
              </a:rPr>
              <a:t>汽車定速 60 km/h 轉彎</a:t>
            </a:r>
            <a:endParaRPr lang="zh-TW" sz="2400"/>
          </a:p>
        </p:txBody>
      </p:sp>
      <p:sp>
        <p:nvSpPr>
          <p:cNvPr id="12" name="T12"/>
          <p:cNvSpPr txBox="1"/>
          <p:nvPr/>
        </p:nvSpPr>
        <p:spPr>
          <a:xfrm>
            <a:off x="365760" y="13258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速率表不動，但身體被甩向外側 → 有加速度</a:t>
            </a:r>
            <a:endParaRPr lang="zh-TW" sz="2400"/>
          </a:p>
        </p:txBody>
      </p:sp>
      <p:sp>
        <p:nvSpPr>
          <p:cNvPr id="13" name="T13"/>
          <p:cNvSpPr txBox="1"/>
          <p:nvPr/>
        </p:nvSpPr>
        <p:spPr>
          <a:xfrm>
            <a:off x="365760" y="1783080"/>
            <a:ext cx="795528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例題 2-20：</a:t>
            </a:r>
            <a:r>
              <a:rPr lang="zh-TW" altLang="en-US" sz="2400" b="0" dirty="0">
                <a:solidFill>
                  <a:srgbClr val="2B3050"/>
                </a:solidFill>
                <a:latin typeface="Calibri"/>
                <a:ea typeface="微軟正黑體"/>
                <a:cs typeface="Calibri"/>
              </a:rPr>
              <a:t>速率 3 m/s 不變，水平方向一直在轉</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365760" y="2240280"/>
                <a:ext cx="795528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水平分速：</a:t>
                </a:r>
                <a14:m>
                  <m:oMath xmlns:m="http://schemas.openxmlformats.org/officeDocument/2006/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1.43</m:t>
                        </m:r>
                      </m:e>
                    </m:d>
                    <m:r>
                      <a:rPr lang="en-US" altLang="zh-TW" sz="2400" b="0" i="0">
                        <a:solidFill>
                          <a:srgbClr val="2B3050"/>
                        </a:solidFill>
                        <a:latin typeface="Cambria Math" panose="02040503050406030204" pitchFamily="18" charset="0"/>
                        <a:ea typeface="Cambria Math"/>
                      </a:rPr>
                      <m:t> = 2.86 </m:t>
                    </m:r>
                    <m:r>
                      <m:rPr>
                        <m:sty m:val="p"/>
                      </m:rPr>
                      <a:rPr lang="en-US" altLang="zh-TW" sz="2400" b="0" i="0">
                        <a:solidFill>
                          <a:srgbClr val="2B3050"/>
                        </a:solidFill>
                        <a:latin typeface="Cambria Math" panose="02040503050406030204" pitchFamily="18" charset="0"/>
                        <a:ea typeface="Cambria Math"/>
                      </a:rPr>
                      <m:t>m</m:t>
                    </m:r>
                    <m:r>
                      <a:rPr lang="en-US" altLang="zh-TW" sz="2400" b="0" i="0">
                        <a:solidFill>
                          <a:srgbClr val="2B3050"/>
                        </a:solidFill>
                        <a:latin typeface="Cambria Math" panose="02040503050406030204" pitchFamily="18" charset="0"/>
                        <a:ea typeface="Cambria Math"/>
                      </a:rPr>
                      <m:t>/</m:t>
                    </m:r>
                    <m:r>
                      <m:rPr>
                        <m:sty m:val="p"/>
                      </m:rPr>
                      <a:rPr lang="en-US" altLang="zh-TW" sz="2400" b="0" i="0">
                        <a:solidFill>
                          <a:srgbClr val="2B3050"/>
                        </a:solidFill>
                        <a:latin typeface="Cambria Math" panose="02040503050406030204" pitchFamily="18" charset="0"/>
                        <a:ea typeface="Cambria Math"/>
                      </a:rPr>
                      <m:t>s</m:t>
                    </m:r>
                  </m:oMath>
                </a14:m>
                <a:endParaRPr lang="zh-TW" sz="2400"/>
              </a:p>
            </p:txBody>
          </p:sp>
        </mc:Choice>
        <mc:Fallback xmlns="">
          <p:pic>
            <p:nvPicPr>
              <p:cNvPr id="14" name="F14"/>
              <p:cNvPicPr/>
              <p:nvPr/>
            </p:nvPicPr>
            <p:blipFill>
              <a:blip r:embed="rId2"/>
              <a:stretch>
                <a:fillRect/>
              </a:stretch>
            </p:blipFill>
            <p:spPr>
              <a:xfrm>
                <a:off x="365760" y="2240280"/>
                <a:ext cx="795528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5" name="T15"/>
              <p:cNvSpPr txBox="1"/>
              <p:nvPr/>
            </p:nvSpPr>
            <p:spPr>
              <a:xfrm>
                <a:off x="365760" y="2743200"/>
                <a:ext cx="7955280" cy="8686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向心加速度：</a:t>
                </a:r>
                <a14:m>
                  <m:oMath xmlns:m="http://schemas.openxmlformats.org/officeDocument/2006/math">
                    <m:f>
                      <m:fPr>
                        <m:ctrlPr>
                          <a:rPr lang="en-US" altLang="zh-TW" sz="2400" b="0" i="1">
                            <a:solidFill>
                              <a:srgbClr val="D6006F"/>
                            </a:solidFill>
                            <a:latin typeface="Cambria Math" panose="02040503050406030204" pitchFamily="18" charset="0"/>
                            <a:ea typeface="Cambria Math"/>
                          </a:rPr>
                        </m:ctrlPr>
                      </m:fPr>
                      <m:num>
                        <m:sSup>
                          <m:sSupPr>
                            <m:ctrlPr>
                              <a:rPr lang="en-US" altLang="zh-TW" sz="2400" b="0" i="1">
                                <a:solidFill>
                                  <a:srgbClr val="D6006F"/>
                                </a:solidFill>
                                <a:latin typeface="Cambria Math" panose="02040503050406030204" pitchFamily="18" charset="0"/>
                                <a:ea typeface="Cambria Math"/>
                              </a:rPr>
                            </m:ctrlPr>
                          </m:sSupPr>
                          <m:e>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1">
                                    <a:solidFill>
                                      <a:srgbClr val="D6006F"/>
                                    </a:solidFill>
                                    <a:latin typeface="Cambria Math" panose="02040503050406030204" pitchFamily="18" charset="0"/>
                                    <a:ea typeface="Cambria Math"/>
                                  </a:rPr>
                                  <m:t>𝜃</m:t>
                                </m:r>
                              </m:sub>
                            </m:sSub>
                          </m:e>
                          <m:sup>
                            <m:r>
                              <a:rPr lang="en-US" altLang="zh-TW" sz="2400" b="0" i="0">
                                <a:solidFill>
                                  <a:srgbClr val="D6006F"/>
                                </a:solidFill>
                                <a:latin typeface="Cambria Math" panose="02040503050406030204" pitchFamily="18" charset="0"/>
                                <a:ea typeface="Cambria Math"/>
                              </a:rPr>
                              <m:t>2</m:t>
                            </m:r>
                          </m:sup>
                        </m:sSup>
                      </m:num>
                      <m:den>
                        <m:r>
                          <a:rPr lang="en-US" altLang="zh-TW" sz="2400" b="0" i="1">
                            <a:solidFill>
                              <a:srgbClr val="D6006F"/>
                            </a:solidFill>
                            <a:latin typeface="Cambria Math" panose="02040503050406030204" pitchFamily="18" charset="0"/>
                            <a:ea typeface="Cambria Math"/>
                          </a:rPr>
                          <m:t>𝑟</m:t>
                        </m:r>
                      </m:den>
                    </m:f>
                    <m:r>
                      <a:rPr lang="en-US" altLang="zh-TW" sz="2400" b="0" i="0">
                        <a:solidFill>
                          <a:srgbClr val="D6006F"/>
                        </a:solidFill>
                        <a:latin typeface="Cambria Math" panose="02040503050406030204" pitchFamily="18" charset="0"/>
                        <a:ea typeface="Cambria Math"/>
                      </a:rPr>
                      <m:t> = </m:t>
                    </m:r>
                    <m:f>
                      <m:fPr>
                        <m:ctrlPr>
                          <a:rPr lang="en-US" altLang="zh-TW" sz="2400" b="0" i="1">
                            <a:solidFill>
                              <a:srgbClr val="D6006F"/>
                            </a:solidFill>
                            <a:latin typeface="Cambria Math" panose="02040503050406030204" pitchFamily="18" charset="0"/>
                            <a:ea typeface="Cambria Math"/>
                          </a:rPr>
                        </m:ctrlPr>
                      </m:fPr>
                      <m:num>
                        <m:sSup>
                          <m:sSupPr>
                            <m:ctrlPr>
                              <a:rPr lang="en-US" altLang="zh-TW" sz="2400" b="0" i="0">
                                <a:solidFill>
                                  <a:srgbClr val="D6006F"/>
                                </a:solidFill>
                                <a:latin typeface="Cambria Math" panose="02040503050406030204" pitchFamily="18" charset="0"/>
                                <a:ea typeface="Cambria Math"/>
                              </a:rPr>
                            </m:ctrlPr>
                          </m:sSupPr>
                          <m:e>
                            <m:r>
                              <a:rPr lang="en-US" altLang="zh-TW" sz="2400" b="0" i="0">
                                <a:solidFill>
                                  <a:srgbClr val="D6006F"/>
                                </a:solidFill>
                                <a:latin typeface="Cambria Math" panose="02040503050406030204" pitchFamily="18" charset="0"/>
                                <a:ea typeface="Cambria Math"/>
                              </a:rPr>
                              <m:t>2.86</m:t>
                            </m:r>
                          </m:e>
                          <m:sup>
                            <m:r>
                              <a:rPr lang="en-US" altLang="zh-TW" sz="2400" b="0" i="0">
                                <a:solidFill>
                                  <a:srgbClr val="D6006F"/>
                                </a:solidFill>
                                <a:latin typeface="Cambria Math" panose="02040503050406030204" pitchFamily="18" charset="0"/>
                                <a:ea typeface="Cambria Math"/>
                              </a:rPr>
                              <m:t>2</m:t>
                            </m:r>
                          </m:sup>
                        </m:sSup>
                      </m:num>
                      <m:den>
                        <m:r>
                          <a:rPr lang="en-US" altLang="zh-TW" sz="2400" b="0" i="0">
                            <a:solidFill>
                              <a:srgbClr val="D6006F"/>
                            </a:solidFill>
                            <a:latin typeface="Cambria Math" panose="02040503050406030204" pitchFamily="18" charset="0"/>
                            <a:ea typeface="Cambria Math"/>
                          </a:rPr>
                          <m:t>2</m:t>
                        </m:r>
                      </m:den>
                    </m:f>
                    <m:r>
                      <a:rPr lang="en-US" altLang="zh-TW" sz="2400" b="0" i="0">
                        <a:solidFill>
                          <a:srgbClr val="D6006F"/>
                        </a:solidFill>
                        <a:latin typeface="Cambria Math" panose="02040503050406030204" pitchFamily="18" charset="0"/>
                        <a:ea typeface="Cambria Math"/>
                      </a:rPr>
                      <m:t> = 4.09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a14:m>
                <a:r>
                  <a:rPr lang="zh-TW" altLang="en-US" sz="2400" b="0" dirty="0">
                    <a:solidFill>
                      <a:srgbClr val="D6006F"/>
                    </a:solidFill>
                    <a:latin typeface="Calibri"/>
                    <a:ea typeface="微軟正黑體"/>
                    <a:cs typeface="Calibri"/>
                  </a:rPr>
                  <a:t> ✓</a:t>
                </a:r>
                <a:endParaRPr lang="zh-TW" sz="2400"/>
              </a:p>
            </p:txBody>
          </p:sp>
        </mc:Choice>
        <mc:Fallback xmlns="">
          <p:pic>
            <p:nvPicPr>
              <p:cNvPr id="15" name="F15"/>
              <p:cNvPicPr/>
              <p:nvPr/>
            </p:nvPicPr>
            <p:blipFill>
              <a:blip r:embed="rId3"/>
              <a:stretch>
                <a:fillRect/>
              </a:stretch>
            </p:blipFill>
            <p:spPr>
              <a:xfrm>
                <a:off x="365760" y="2743200"/>
                <a:ext cx="7955280" cy="868680"/>
              </a:xfrm>
              <a:prstGeom prst="rect">
                <a:avLst/>
              </a:prstGeom>
              <a:noFill/>
              <a:ln>
                <a:noFill/>
              </a:ln>
            </p:spPr>
          </p:pic>
        </mc:Fallback>
      </mc:AlternateContent>
      <p:sp>
        <p:nvSpPr>
          <p:cNvPr id="16" name="T16"/>
          <p:cNvSpPr txBox="1"/>
          <p:nvPr/>
        </p:nvSpPr>
        <p:spPr>
          <a:xfrm>
            <a:off x="365760" y="3703320"/>
            <a:ext cx="7955280" cy="9601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口訣：</a:t>
            </a:r>
            <a:r>
              <a:rPr lang="zh-TW" altLang="en-US" sz="2400" b="0" dirty="0">
                <a:solidFill>
                  <a:srgbClr val="2B3050"/>
                </a:solidFill>
                <a:latin typeface="Calibri"/>
                <a:ea typeface="微軟正黑體"/>
                <a:cs typeface="Calibri"/>
              </a:rPr>
              <a:t>速率是大小，速度是箭頭；箭頭轉彎就有加速度</a:t>
            </a:r>
            <a:endParaRPr lang="zh-TW" sz="2400"/>
          </a:p>
          <a:p>
            <a:pPr algn="l">
              <a:lnSpc>
                <a:spcPct val="100000"/>
              </a:lnSpc>
              <a:buNone/>
            </a:pPr>
            <a:r>
              <a:rPr lang="zh-TW" altLang="en-US" sz="2400" b="0" dirty="0">
                <a:solidFill>
                  <a:srgbClr val="2B3050"/>
                </a:solidFill>
                <a:latin typeface="Calibri"/>
                <a:ea typeface="微軟正黑體"/>
                <a:cs typeface="Calibri"/>
              </a:rPr>
              <a:t>垂直分速 0.91 m/s 不變 → z 方向沒有加速度</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步驟 3：加速度</a:t>
            </a:r>
          </a:p>
        </p:txBody>
      </p:sp>
      <mc:AlternateContent xmlns:mc="http://schemas.openxmlformats.org/markup-compatibility/2006" xmlns:a14="http://schemas.microsoft.com/office/drawing/2010/main">
        <mc:Choice Requires="a14">
          <p:sp>
            <p:nvSpPr>
              <p:cNvPr id="11" name="T11"/>
              <p:cNvSpPr txBox="1"/>
              <p:nvPr/>
            </p:nvSpPr>
            <p:spPr>
              <a:xfrm>
                <a:off x="365760" y="86868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0 − 2</m:t>
                      </m:r>
                      <m:d>
                        <m:dPr>
                          <m:ctrlPr>
                            <a:rPr lang="en-US" altLang="zh-TW" sz="2400" b="0" i="0">
                              <a:solidFill>
                                <a:srgbClr val="2B3050"/>
                              </a:solidFill>
                              <a:latin typeface="Cambria Math" panose="02040503050406030204" pitchFamily="18" charset="0"/>
                              <a:ea typeface="Cambria Math"/>
                            </a:rPr>
                          </m:ctrlPr>
                        </m:dPr>
                        <m:e>
                          <m:r>
                            <a:rPr lang="en-US" altLang="zh-TW" sz="2400" b="0" i="0">
                              <a:solidFill>
                                <a:srgbClr val="2B3050"/>
                              </a:solidFill>
                              <a:latin typeface="Cambria Math" panose="02040503050406030204" pitchFamily="18" charset="0"/>
                              <a:ea typeface="Cambria Math"/>
                            </a:rPr>
                            <m:t>2.043</m:t>
                          </m:r>
                        </m:e>
                      </m:d>
                      <m:r>
                        <a:rPr lang="en-US" altLang="zh-TW" sz="2400" b="0" i="0">
                          <a:solidFill>
                            <a:srgbClr val="2B3050"/>
                          </a:solidFill>
                          <a:latin typeface="Cambria Math" panose="02040503050406030204" pitchFamily="18" charset="0"/>
                          <a:ea typeface="Cambria Math"/>
                        </a:rPr>
                        <m:t> = −4.09</m:t>
                      </m:r>
                    </m:oMath>
                  </m:oMathPara>
                </a14:m>
                <a:endParaRPr lang="zh-TW" sz="2400"/>
              </a:p>
            </p:txBody>
          </p:sp>
        </mc:Choice>
        <mc:Fallback xmlns="">
          <p:pic>
            <p:nvPicPr>
              <p:cNvPr id="11" name="F11"/>
              <p:cNvPicPr/>
              <p:nvPr/>
            </p:nvPicPr>
            <p:blipFill>
              <a:blip r:embed="rId2"/>
              <a:stretch>
                <a:fillRect/>
              </a:stretch>
            </p:blipFill>
            <p:spPr>
              <a:xfrm>
                <a:off x="365760" y="86868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2" name="T12"/>
              <p:cNvSpPr txBox="1"/>
              <p:nvPr/>
            </p:nvSpPr>
            <p:spPr>
              <a:xfrm>
                <a:off x="365760" y="141732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0 + 0 = 0</m:t>
                      </m:r>
                    </m:oMath>
                  </m:oMathPara>
                </a14:m>
                <a:endParaRPr lang="zh-TW" sz="2400"/>
              </a:p>
            </p:txBody>
          </p:sp>
        </mc:Choice>
        <mc:Fallback xmlns="">
          <p:pic>
            <p:nvPicPr>
              <p:cNvPr id="12" name="F12"/>
              <p:cNvPicPr/>
              <p:nvPr/>
            </p:nvPicPr>
            <p:blipFill>
              <a:blip r:embed="rId3"/>
              <a:stretch>
                <a:fillRect/>
              </a:stretch>
            </p:blipFill>
            <p:spPr>
              <a:xfrm>
                <a:off x="365760" y="141732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3" name="T13"/>
              <p:cNvSpPr txBox="1"/>
              <p:nvPr/>
            </p:nvSpPr>
            <p:spPr>
              <a:xfrm>
                <a:off x="365760" y="196596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𝑧</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r>
                        <a:rPr lang="en-US" altLang="zh-TW" sz="2400" b="0" i="0">
                          <a:solidFill>
                            <a:srgbClr val="2B3050"/>
                          </a:solidFill>
                          <a:latin typeface="Cambria Math" panose="02040503050406030204" pitchFamily="18" charset="0"/>
                          <a:ea typeface="Cambria Math"/>
                        </a:rPr>
                        <m:t> = 0</m:t>
                      </m:r>
                    </m:oMath>
                  </m:oMathPara>
                </a14:m>
                <a:endParaRPr lang="zh-TW" sz="2400"/>
              </a:p>
            </p:txBody>
          </p:sp>
        </mc:Choice>
        <mc:Fallback xmlns="">
          <p:pic>
            <p:nvPicPr>
              <p:cNvPr id="13" name="F13"/>
              <p:cNvPicPr/>
              <p:nvPr/>
            </p:nvPicPr>
            <p:blipFill>
              <a:blip r:embed="rId4"/>
              <a:stretch>
                <a:fillRect/>
              </a:stretch>
            </p:blipFill>
            <p:spPr>
              <a:xfrm>
                <a:off x="365760" y="1965960"/>
                <a:ext cx="48463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14" name="T14"/>
              <p:cNvSpPr txBox="1"/>
              <p:nvPr/>
            </p:nvSpPr>
            <p:spPr>
              <a:xfrm>
                <a:off x="365760" y="2514600"/>
                <a:ext cx="48463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D6006F"/>
                          </a:solidFill>
                          <a:latin typeface="Cambria Math" panose="02040503050406030204" pitchFamily="18" charset="0"/>
                          <a:ea typeface="Cambria Math"/>
                        </a:rPr>
                        <m:t>𝑎</m:t>
                      </m:r>
                      <m:r>
                        <a:rPr lang="en-US" altLang="zh-TW" sz="2400" b="0" i="0">
                          <a:solidFill>
                            <a:srgbClr val="D6006F"/>
                          </a:solidFill>
                          <a:latin typeface="Cambria Math" panose="02040503050406030204" pitchFamily="18" charset="0"/>
                          <a:ea typeface="Cambria Math"/>
                        </a:rPr>
                        <m:t> = 4.09 </m:t>
                      </m:r>
                      <m:r>
                        <m:rPr>
                          <m:sty m:val="p"/>
                        </m:rPr>
                        <a:rPr lang="en-US" altLang="zh-TW" sz="2400" b="0" i="0">
                          <a:solidFill>
                            <a:srgbClr val="D6006F"/>
                          </a:solidFill>
                          <a:latin typeface="Cambria Math" panose="02040503050406030204" pitchFamily="18" charset="0"/>
                          <a:ea typeface="Cambria Math"/>
                        </a:rPr>
                        <m:t>m</m:t>
                      </m:r>
                      <m:r>
                        <a:rPr lang="en-US" altLang="zh-TW" sz="2400" b="0" i="0">
                          <a:solidFill>
                            <a:srgbClr val="D6006F"/>
                          </a:solidFill>
                          <a:latin typeface="Cambria Math" panose="02040503050406030204" pitchFamily="18" charset="0"/>
                          <a:ea typeface="Cambria Math"/>
                        </a:rPr>
                        <m:t>/</m:t>
                      </m:r>
                      <m:sSup>
                        <m:sSupPr>
                          <m:ctrlPr>
                            <a:rPr lang="en-US" altLang="zh-TW" sz="2400" b="0" i="0">
                              <a:solidFill>
                                <a:srgbClr val="D6006F"/>
                              </a:solidFill>
                              <a:latin typeface="Cambria Math" panose="02040503050406030204" pitchFamily="18" charset="0"/>
                              <a:ea typeface="Cambria Math"/>
                            </a:rPr>
                          </m:ctrlPr>
                        </m:sSupPr>
                        <m:e>
                          <m:r>
                            <m:rPr>
                              <m:sty m:val="p"/>
                            </m:rPr>
                            <a:rPr lang="en-US" altLang="zh-TW" sz="2400" b="0" i="0">
                              <a:solidFill>
                                <a:srgbClr val="D6006F"/>
                              </a:solidFill>
                              <a:latin typeface="Cambria Math" panose="02040503050406030204" pitchFamily="18" charset="0"/>
                              <a:ea typeface="Cambria Math"/>
                            </a:rPr>
                            <m:t>s</m:t>
                          </m:r>
                        </m:e>
                        <m:sup>
                          <m:r>
                            <a:rPr lang="en-US" altLang="zh-TW" sz="2400" b="0" i="0">
                              <a:solidFill>
                                <a:srgbClr val="D6006F"/>
                              </a:solidFill>
                              <a:latin typeface="Cambria Math" panose="02040503050406030204" pitchFamily="18" charset="0"/>
                              <a:ea typeface="Cambria Math"/>
                            </a:rPr>
                            <m:t>2</m:t>
                          </m:r>
                        </m:sup>
                      </m:sSup>
                    </m:oMath>
                  </m:oMathPara>
                </a14:m>
                <a:endParaRPr lang="zh-TW" sz="2400"/>
              </a:p>
            </p:txBody>
          </p:sp>
        </mc:Choice>
        <mc:Fallback xmlns="">
          <p:pic>
            <p:nvPicPr>
              <p:cNvPr id="14" name="F14"/>
              <p:cNvPicPr/>
              <p:nvPr/>
            </p:nvPicPr>
            <p:blipFill>
              <a:blip r:embed="rId5"/>
              <a:stretch>
                <a:fillRect/>
              </a:stretch>
            </p:blipFill>
            <p:spPr>
              <a:xfrm>
                <a:off x="365760" y="2514600"/>
                <a:ext cx="4846320" cy="548640"/>
              </a:xfrm>
              <a:prstGeom prst="rect">
                <a:avLst/>
              </a:prstGeom>
              <a:noFill/>
              <a:ln>
                <a:noFill/>
              </a:ln>
            </p:spPr>
          </p:pic>
        </mc:Fallback>
      </mc:AlternateContent>
      <p:sp>
        <p:nvSpPr>
          <p:cNvPr id="15" name="T15"/>
          <p:cNvSpPr txBox="1"/>
          <p:nvPr/>
        </p:nvSpPr>
        <p:spPr>
          <a:xfrm>
            <a:off x="365760" y="3200400"/>
            <a:ext cx="4846320" cy="566928"/>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1" dirty="0">
                <a:solidFill>
                  <a:srgbClr val="2B3050"/>
                </a:solidFill>
                <a:latin typeface="Calibri"/>
                <a:ea typeface="微軟正黑體"/>
                <a:cs typeface="Calibri"/>
              </a:rPr>
              <a:t>答：</a:t>
            </a:r>
            <a:r>
              <a:rPr lang="zh-TW" altLang="en-US" sz="2400" b="0" dirty="0">
                <a:solidFill>
                  <a:srgbClr val="2B3050"/>
                </a:solidFill>
                <a:latin typeface="Calibri"/>
                <a:ea typeface="微軟正黑體"/>
                <a:cs typeface="Calibri"/>
              </a:rPr>
              <a:t>θ̇ = 1.43 rad/s，a ≈ 4.09 m/s²</a:t>
            </a:r>
            <a:endParaRPr lang="zh-TW" sz="2400"/>
          </a:p>
        </p:txBody>
      </p:sp>
      <p:sp>
        <p:nvSpPr>
          <p:cNvPr id="16" name="T16"/>
          <p:cNvSpPr txBox="1"/>
          <p:nvPr/>
        </p:nvSpPr>
        <p:spPr>
          <a:xfrm>
            <a:off x="365760" y="3886200"/>
            <a:ext cx="4846320" cy="777240"/>
          </a:xfrm>
          <a:prstGeom prst="roundRect">
            <a:avLst/>
          </a:prstGeom>
          <a:solidFill>
            <a:srgbClr val="FFF6E0"/>
          </a:solidFill>
          <a:ln w="19050">
            <a:solidFill>
              <a:srgbClr val="C8901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課本 4.08：θ̇² 先進位成 2.04</a:t>
            </a:r>
            <a:endParaRPr lang="zh-TW" sz="2400"/>
          </a:p>
        </p:txBody>
      </p:sp>
      <p:sp>
        <p:nvSpPr>
          <p:cNvPr id="17" name="S17"/>
          <p:cNvSpPr/>
          <p:nvPr/>
        </p:nvSpPr>
        <p:spPr>
          <a:xfrm>
            <a:off x="5760720" y="2331720"/>
            <a:ext cx="2194560" cy="822960"/>
          </a:xfrm>
          <a:prstGeom prst="ellipse">
            <a:avLst/>
          </a:prstGeom>
          <a:noFill/>
          <a:ln w="15875">
            <a:solidFill>
              <a:srgbClr val="8A8F9C"/>
            </a:solidFill>
            <a:prstDash val="dash"/>
          </a:ln>
        </p:spPr>
        <p:txBody>
          <a:bodyPr/>
          <a:lstStyle/>
          <a:p>
            <a:endParaRPr lang="zh-TW" altLang="en-US"/>
          </a:p>
        </p:txBody>
      </p:sp>
      <p:sp>
        <p:nvSpPr>
          <p:cNvPr id="18" name="S18"/>
          <p:cNvSpPr/>
          <p:nvPr/>
        </p:nvSpPr>
        <p:spPr>
          <a:xfrm>
            <a:off x="6812280" y="2697480"/>
            <a:ext cx="91440" cy="91440"/>
          </a:xfrm>
          <a:prstGeom prst="ellipse">
            <a:avLst/>
          </a:prstGeom>
          <a:solidFill>
            <a:srgbClr val="2B3050"/>
          </a:solidFill>
          <a:ln>
            <a:noFill/>
          </a:ln>
        </p:spPr>
        <p:txBody>
          <a:bodyPr/>
          <a:lstStyle/>
          <a:p>
            <a:endParaRPr lang="zh-TW" altLang="en-US"/>
          </a:p>
        </p:txBody>
      </p:sp>
      <p:sp>
        <p:nvSpPr>
          <p:cNvPr id="19" name="T19"/>
          <p:cNvSpPr txBox="1"/>
          <p:nvPr/>
        </p:nvSpPr>
        <p:spPr>
          <a:xfrm>
            <a:off x="6355080" y="3200400"/>
            <a:ext cx="1097280" cy="384048"/>
          </a:xfrm>
          <a:prstGeom prst="rect">
            <a:avLst/>
          </a:prstGeom>
          <a:noFill/>
          <a:ln>
            <a:noFill/>
          </a:ln>
        </p:spPr>
        <p:txBody>
          <a:bodyPr wrap="square" lIns="54864" tIns="27432" rIns="54864" bIns="27432" anchor="t">
            <a:noAutofit/>
          </a:bodyPr>
          <a:lstStyle/>
          <a:p>
            <a:pPr algn="ctr">
              <a:lnSpc>
                <a:spcPct val="100000"/>
              </a:lnSpc>
              <a:buNone/>
            </a:pPr>
            <a:r>
              <a:rPr lang="zh-TW" altLang="en-US" sz="2400" b="0" dirty="0">
                <a:solidFill>
                  <a:srgbClr val="8A8F9C"/>
                </a:solidFill>
                <a:latin typeface="Calibri"/>
                <a:ea typeface="微軟正黑體"/>
                <a:cs typeface="Calibri"/>
              </a:rPr>
              <a:t>俯視圖</a:t>
            </a:r>
            <a:endParaRPr lang="zh-TW" sz="2400"/>
          </a:p>
        </p:txBody>
      </p:sp>
      <p:sp>
        <p:nvSpPr>
          <p:cNvPr id="20" name="S20"/>
          <p:cNvSpPr/>
          <p:nvPr/>
        </p:nvSpPr>
        <p:spPr>
          <a:xfrm>
            <a:off x="7854696" y="2642616"/>
            <a:ext cx="201168" cy="201168"/>
          </a:xfrm>
          <a:prstGeom prst="ellipse">
            <a:avLst/>
          </a:prstGeom>
          <a:solidFill>
            <a:srgbClr val="D6006F"/>
          </a:solidFill>
          <a:ln>
            <a:noFill/>
          </a:ln>
        </p:spPr>
        <p:txBody>
          <a:bodyPr/>
          <a:lstStyle/>
          <a:p>
            <a:endParaRPr lang="zh-TW" altLang="en-US"/>
          </a:p>
        </p:txBody>
      </p:sp>
      <p:cxnSp>
        <p:nvCxnSpPr>
          <p:cNvPr id="21" name="L21"/>
          <p:cNvCxnSpPr/>
          <p:nvPr/>
        </p:nvCxnSpPr>
        <p:spPr>
          <a:xfrm flipH="1">
            <a:off x="7040880" y="2743200"/>
            <a:ext cx="804672" cy="0"/>
          </a:xfrm>
          <a:prstGeom prst="line">
            <a:avLst/>
          </a:prstGeom>
          <a:ln w="38100">
            <a:solidFill>
              <a:srgbClr val="1F8899"/>
            </a:solidFill>
            <a:tailEnd type="triangle" w="med" len="med"/>
          </a:ln>
        </p:spPr>
      </p:cxnSp>
      <p:sp>
        <p:nvSpPr>
          <p:cNvPr id="22" name="T22"/>
          <p:cNvSpPr txBox="1"/>
          <p:nvPr/>
        </p:nvSpPr>
        <p:spPr>
          <a:xfrm>
            <a:off x="7086600" y="228600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4.09</a:t>
            </a:r>
            <a:endParaRPr lang="zh-TW" sz="2400"/>
          </a:p>
        </p:txBody>
      </p:sp>
      <p:cxnSp>
        <p:nvCxnSpPr>
          <p:cNvPr id="23" name="L23"/>
          <p:cNvCxnSpPr/>
          <p:nvPr/>
        </p:nvCxnSpPr>
        <p:spPr>
          <a:xfrm>
            <a:off x="7726680" y="1828800"/>
            <a:ext cx="228600" cy="822960"/>
          </a:xfrm>
          <a:prstGeom prst="line">
            <a:avLst/>
          </a:prstGeom>
          <a:ln w="38100">
            <a:solidFill>
              <a:srgbClr val="C8901F"/>
            </a:solidFill>
            <a:headEnd type="triangle" w="med" len="med"/>
          </a:ln>
        </p:spPr>
      </p:cxnSp>
      <p:sp>
        <p:nvSpPr>
          <p:cNvPr id="24" name="T24"/>
          <p:cNvSpPr txBox="1"/>
          <p:nvPr/>
        </p:nvSpPr>
        <p:spPr>
          <a:xfrm>
            <a:off x="7680960" y="1417320"/>
            <a:ext cx="8229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v = 3</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1" grpId="0" animBg="1"/>
      <p:bldP spid="22" grpId="0" animBg="1"/>
      <p:bldP spid="23" grpId="0" animBg="1"/>
      <p:bldP spid="24"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例題 2-20　本題用到的公式與技巧</a:t>
            </a:r>
          </a:p>
        </p:txBody>
      </p:sp>
      <p:sp>
        <p:nvSpPr>
          <p:cNvPr id="11" name="T11"/>
          <p:cNvSpPr txBox="1"/>
          <p:nvPr/>
        </p:nvSpPr>
        <p:spPr>
          <a:xfrm>
            <a:off x="365760" y="841248"/>
            <a:ext cx="2103120" cy="6126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圓柱速度</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41248"/>
                <a:ext cx="5760720" cy="6126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2" name="F12"/>
              <p:cNvPicPr/>
              <p:nvPr/>
            </p:nvPicPr>
            <p:blipFill>
              <a:blip r:embed="rId2"/>
              <a:stretch>
                <a:fillRect/>
              </a:stretch>
            </p:blipFill>
            <p:spPr>
              <a:xfrm>
                <a:off x="2560320" y="841248"/>
                <a:ext cx="5760720" cy="612648"/>
              </a:xfrm>
              <a:prstGeom prst="roundRect">
                <a:avLst/>
              </a:prstGeom>
              <a:solidFill>
                <a:srgbClr val="E8F4F6"/>
              </a:solidFill>
              <a:ln>
                <a:noFill/>
              </a:ln>
            </p:spPr>
          </p:pic>
        </mc:Fallback>
      </mc:AlternateContent>
      <p:sp>
        <p:nvSpPr>
          <p:cNvPr id="13" name="T13"/>
          <p:cNvSpPr txBox="1"/>
          <p:nvPr/>
        </p:nvSpPr>
        <p:spPr>
          <a:xfrm>
            <a:off x="365760" y="1527048"/>
            <a:ext cx="2103120" cy="70408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圓柱加速度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527048"/>
                <a:ext cx="5760720" cy="70408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d>
                        <m:dPr>
                          <m:ctrlPr>
                            <a:rPr lang="en-US" altLang="zh-TW" sz="2400" b="0" i="1">
                              <a:solidFill>
                                <a:srgbClr val="2B3050"/>
                              </a:solidFill>
                              <a:latin typeface="Cambria Math" panose="02040503050406030204" pitchFamily="18" charset="0"/>
                              <a:ea typeface="Cambria Math"/>
                            </a:rPr>
                          </m:ctrlPr>
                        </m:d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sSup>
                            <m:sSupPr>
                              <m:ctrlPr>
                                <a:rPr lang="en-US" altLang="zh-TW" sz="2400" b="0" i="1">
                                  <a:solidFill>
                                    <a:srgbClr val="2B3050"/>
                                  </a:solidFill>
                                  <a:latin typeface="Cambria Math" panose="02040503050406030204" pitchFamily="18" charset="0"/>
                                  <a:ea typeface="Cambria Math"/>
                                </a:rPr>
                              </m:ctrlPr>
                            </m:sSup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sup>
                              <m:r>
                                <a:rPr lang="en-US" altLang="zh-TW" sz="2400" b="0" i="0">
                                  <a:solidFill>
                                    <a:srgbClr val="2B3050"/>
                                  </a:solidFill>
                                  <a:latin typeface="Cambria Math" panose="02040503050406030204" pitchFamily="18" charset="0"/>
                                  <a:ea typeface="Cambria Math"/>
                                </a:rPr>
                                <m:t>2</m:t>
                              </m:r>
                            </m:sup>
                          </m:sSup>
                        </m:e>
                      </m:d>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 + 2</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e>
                      </m:d>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14" name="F14"/>
              <p:cNvPicPr/>
              <p:nvPr/>
            </p:nvPicPr>
            <p:blipFill>
              <a:blip r:embed="rId3"/>
              <a:stretch>
                <a:fillRect/>
              </a:stretch>
            </p:blipFill>
            <p:spPr>
              <a:xfrm>
                <a:off x="2560320" y="1527048"/>
                <a:ext cx="5760720" cy="704088"/>
              </a:xfrm>
              <a:prstGeom prst="roundRect">
                <a:avLst/>
              </a:prstGeom>
              <a:solidFill>
                <a:srgbClr val="E8F4F6"/>
              </a:solidFill>
              <a:ln>
                <a:noFill/>
              </a:ln>
            </p:spPr>
          </p:pic>
        </mc:Fallback>
      </mc:AlternateContent>
      <p:sp>
        <p:nvSpPr>
          <p:cNvPr id="15" name="T15"/>
          <p:cNvSpPr txBox="1"/>
          <p:nvPr/>
        </p:nvSpPr>
        <p:spPr>
          <a:xfrm>
            <a:off x="365760" y="230428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綁定關係</a:t>
            </a:r>
            <a:endParaRPr lang="zh-TW" sz="2400"/>
          </a:p>
        </p:txBody>
      </p:sp>
      <p:sp>
        <p:nvSpPr>
          <p:cNvPr id="16" name="T16"/>
          <p:cNvSpPr txBox="1"/>
          <p:nvPr/>
        </p:nvSpPr>
        <p:spPr>
          <a:xfrm>
            <a:off x="2560320" y="230428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z = −2θ/π → 微分時 θ 換成 θ̇、θ̈</a:t>
            </a:r>
            <a:endParaRPr lang="zh-TW" sz="2400"/>
          </a:p>
        </p:txBody>
      </p:sp>
      <p:sp>
        <p:nvSpPr>
          <p:cNvPr id="17" name="T17"/>
          <p:cNvSpPr txBox="1"/>
          <p:nvPr/>
        </p:nvSpPr>
        <p:spPr>
          <a:xfrm>
            <a:off x="365760" y="2944368"/>
            <a:ext cx="2103120" cy="56692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物理意義</a:t>
            </a:r>
            <a:endParaRPr lang="zh-TW" sz="2400"/>
          </a:p>
        </p:txBody>
      </p:sp>
      <p:sp>
        <p:nvSpPr>
          <p:cNvPr id="18" name="T18"/>
          <p:cNvSpPr txBox="1"/>
          <p:nvPr/>
        </p:nvSpPr>
        <p:spPr>
          <a:xfrm>
            <a:off x="2560320" y="2944368"/>
            <a:ext cx="5760720" cy="56692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等速螺旋：只剩指向 z 軸的向心加速度</a:t>
            </a:r>
            <a:endParaRPr lang="zh-TW" sz="2400"/>
          </a:p>
        </p:txBody>
      </p:sp>
      <p:sp>
        <p:nvSpPr>
          <p:cNvPr id="19" name="T19"/>
          <p:cNvSpPr txBox="1"/>
          <p:nvPr/>
        </p:nvSpPr>
        <p:spPr>
          <a:xfrm>
            <a:off x="365760" y="3584448"/>
            <a:ext cx="2103120" cy="52120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口訣</a:t>
            </a:r>
            <a:endParaRPr lang="zh-TW" sz="2400"/>
          </a:p>
        </p:txBody>
      </p:sp>
      <p:sp>
        <p:nvSpPr>
          <p:cNvPr id="20" name="T20"/>
          <p:cNvSpPr txBox="1"/>
          <p:nvPr/>
        </p:nvSpPr>
        <p:spPr>
          <a:xfrm>
            <a:off x="2560320" y="3584448"/>
            <a:ext cx="5760720" cy="52120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r>
              <a:rPr lang="zh-TW" altLang="en-US" sz="2400" b="1" dirty="0">
                <a:solidFill>
                  <a:srgbClr val="D6006F"/>
                </a:solidFill>
                <a:latin typeface="Calibri"/>
                <a:ea typeface="微軟正黑體"/>
                <a:cs typeface="Calibri"/>
              </a:rPr>
              <a:t>等速率≠沒加速度；轉彎就有向心</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公式圖解（一）2-5 直角座標</a:t>
            </a:r>
          </a:p>
        </p:txBody>
      </p:sp>
      <p:cxnSp>
        <p:nvCxnSpPr>
          <p:cNvPr id="11" name="L11"/>
          <p:cNvCxnSpPr/>
          <p:nvPr/>
        </p:nvCxnSpPr>
        <p:spPr>
          <a:xfrm>
            <a:off x="594360" y="4343400"/>
            <a:ext cx="3749040" cy="0"/>
          </a:xfrm>
          <a:prstGeom prst="line">
            <a:avLst/>
          </a:prstGeom>
          <a:ln w="15875">
            <a:solidFill>
              <a:srgbClr val="2B3050"/>
            </a:solidFill>
            <a:tailEnd type="triangle" w="med" len="med"/>
          </a:ln>
        </p:spPr>
      </p:cxnSp>
      <p:cxnSp>
        <p:nvCxnSpPr>
          <p:cNvPr id="12" name="L12"/>
          <p:cNvCxnSpPr/>
          <p:nvPr/>
        </p:nvCxnSpPr>
        <p:spPr>
          <a:xfrm flipV="1">
            <a:off x="777240" y="1051560"/>
            <a:ext cx="0" cy="3474720"/>
          </a:xfrm>
          <a:prstGeom prst="line">
            <a:avLst/>
          </a:prstGeom>
          <a:ln w="15875">
            <a:solidFill>
              <a:srgbClr val="2B3050"/>
            </a:solidFill>
            <a:tailEnd type="triangle" w="med" len="med"/>
          </a:ln>
        </p:spPr>
      </p:cxnSp>
      <p:sp>
        <p:nvSpPr>
          <p:cNvPr id="13" name="T13"/>
          <p:cNvSpPr txBox="1"/>
          <p:nvPr/>
        </p:nvSpPr>
        <p:spPr>
          <a:xfrm>
            <a:off x="4251960" y="429768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822960" y="86868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T15"/>
          <p:cNvSpPr txBox="1"/>
          <p:nvPr/>
        </p:nvSpPr>
        <p:spPr>
          <a:xfrm>
            <a:off x="411480" y="425196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6" name="P16"/>
          <p:cNvSpPr/>
          <p:nvPr/>
        </p:nvSpPr>
        <p:spPr>
          <a:xfrm>
            <a:off x="1097280" y="1234440"/>
            <a:ext cx="2834640" cy="2880360"/>
          </a:xfrm>
          <a:custGeom>
            <a:avLst/>
            <a:gdLst/>
            <a:ahLst/>
            <a:cxnLst/>
            <a:rect l="0" t="0" r="r" b="b"/>
            <a:pathLst>
              <a:path w="2834640" h="2880360">
                <a:moveTo>
                  <a:pt x="0" y="2880360"/>
                </a:moveTo>
                <a:lnTo>
                  <a:pt x="32614" y="2706268"/>
                </a:lnTo>
                <a:lnTo>
                  <a:pt x="69494" y="2537562"/>
                </a:lnTo>
                <a:lnTo>
                  <a:pt x="110642" y="2374240"/>
                </a:lnTo>
                <a:lnTo>
                  <a:pt x="156058" y="2216302"/>
                </a:lnTo>
                <a:lnTo>
                  <a:pt x="205740" y="2063750"/>
                </a:lnTo>
                <a:lnTo>
                  <a:pt x="259690" y="1916582"/>
                </a:lnTo>
                <a:lnTo>
                  <a:pt x="317906" y="1774800"/>
                </a:lnTo>
                <a:lnTo>
                  <a:pt x="380390" y="1638402"/>
                </a:lnTo>
                <a:lnTo>
                  <a:pt x="447142" y="1507388"/>
                </a:lnTo>
                <a:lnTo>
                  <a:pt x="518160" y="1381760"/>
                </a:lnTo>
                <a:lnTo>
                  <a:pt x="593446" y="1261516"/>
                </a:lnTo>
                <a:lnTo>
                  <a:pt x="672998" y="1146658"/>
                </a:lnTo>
                <a:lnTo>
                  <a:pt x="756818" y="1037184"/>
                </a:lnTo>
                <a:lnTo>
                  <a:pt x="844906" y="933094"/>
                </a:lnTo>
                <a:lnTo>
                  <a:pt x="937260" y="834390"/>
                </a:lnTo>
                <a:lnTo>
                  <a:pt x="1033882" y="741070"/>
                </a:lnTo>
                <a:lnTo>
                  <a:pt x="1134770" y="653136"/>
                </a:lnTo>
                <a:lnTo>
                  <a:pt x="1239926" y="570586"/>
                </a:lnTo>
                <a:lnTo>
                  <a:pt x="1349350" y="493420"/>
                </a:lnTo>
                <a:lnTo>
                  <a:pt x="1463040" y="421640"/>
                </a:lnTo>
                <a:lnTo>
                  <a:pt x="1580998" y="355244"/>
                </a:lnTo>
                <a:lnTo>
                  <a:pt x="1703222" y="294234"/>
                </a:lnTo>
                <a:lnTo>
                  <a:pt x="1829714" y="238608"/>
                </a:lnTo>
                <a:lnTo>
                  <a:pt x="1960474" y="188366"/>
                </a:lnTo>
                <a:lnTo>
                  <a:pt x="2095500" y="143510"/>
                </a:lnTo>
                <a:lnTo>
                  <a:pt x="2234794" y="104038"/>
                </a:lnTo>
                <a:lnTo>
                  <a:pt x="2378354" y="69952"/>
                </a:lnTo>
                <a:lnTo>
                  <a:pt x="2526182" y="41250"/>
                </a:lnTo>
                <a:lnTo>
                  <a:pt x="2678278" y="17932"/>
                </a:lnTo>
                <a:lnTo>
                  <a:pt x="2834640" y="0"/>
                </a:lnTo>
              </a:path>
            </a:pathLst>
          </a:custGeom>
          <a:noFill/>
          <a:ln w="25400">
            <a:solidFill>
              <a:srgbClr val="8A8F9C"/>
            </a:solidFill>
            <a:prstDash val="dash"/>
          </a:ln>
        </p:spPr>
        <p:txBody>
          <a:bodyPr/>
          <a:lstStyle/>
          <a:p>
            <a:endParaRPr lang="zh-TW" altLang="en-US"/>
          </a:p>
        </p:txBody>
      </p:sp>
      <p:cxnSp>
        <p:nvCxnSpPr>
          <p:cNvPr id="17" name="L17"/>
          <p:cNvCxnSpPr/>
          <p:nvPr/>
        </p:nvCxnSpPr>
        <p:spPr>
          <a:xfrm flipV="1">
            <a:off x="2034540" y="2068830"/>
            <a:ext cx="0" cy="2274570"/>
          </a:xfrm>
          <a:prstGeom prst="line">
            <a:avLst/>
          </a:prstGeom>
          <a:ln w="12700">
            <a:solidFill>
              <a:srgbClr val="1F8899"/>
            </a:solidFill>
            <a:prstDash val="dash"/>
          </a:ln>
        </p:spPr>
      </p:cxnSp>
      <p:cxnSp>
        <p:nvCxnSpPr>
          <p:cNvPr id="18" name="L18"/>
          <p:cNvCxnSpPr/>
          <p:nvPr/>
        </p:nvCxnSpPr>
        <p:spPr>
          <a:xfrm>
            <a:off x="777240" y="2068830"/>
            <a:ext cx="1257300" cy="0"/>
          </a:xfrm>
          <a:prstGeom prst="line">
            <a:avLst/>
          </a:prstGeom>
          <a:ln w="12700">
            <a:solidFill>
              <a:srgbClr val="1F8899"/>
            </a:solidFill>
            <a:prstDash val="dash"/>
          </a:ln>
        </p:spPr>
      </p:cxnSp>
      <p:sp>
        <p:nvSpPr>
          <p:cNvPr id="19" name="T19"/>
          <p:cNvSpPr txBox="1"/>
          <p:nvPr/>
        </p:nvSpPr>
        <p:spPr>
          <a:xfrm>
            <a:off x="1897380" y="434340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x</a:t>
            </a:r>
            <a:endParaRPr lang="zh-TW" sz="2400"/>
          </a:p>
        </p:txBody>
      </p:sp>
      <p:sp>
        <p:nvSpPr>
          <p:cNvPr id="20" name="T20"/>
          <p:cNvSpPr txBox="1"/>
          <p:nvPr/>
        </p:nvSpPr>
        <p:spPr>
          <a:xfrm>
            <a:off x="411480" y="184023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y</a:t>
            </a:r>
            <a:endParaRPr lang="zh-TW" sz="2400"/>
          </a:p>
        </p:txBody>
      </p:sp>
      <p:sp>
        <p:nvSpPr>
          <p:cNvPr id="21" name="S21"/>
          <p:cNvSpPr/>
          <p:nvPr/>
        </p:nvSpPr>
        <p:spPr>
          <a:xfrm>
            <a:off x="1014984" y="4032504"/>
            <a:ext cx="164592" cy="164592"/>
          </a:xfrm>
          <a:prstGeom prst="ellipse">
            <a:avLst/>
          </a:prstGeom>
          <a:solidFill>
            <a:srgbClr val="2B3050"/>
          </a:solidFill>
          <a:ln>
            <a:noFill/>
          </a:ln>
        </p:spPr>
        <p:txBody>
          <a:bodyPr/>
          <a:lstStyle/>
          <a:p>
            <a:endParaRPr lang="zh-TW" altLang="en-US"/>
          </a:p>
        </p:txBody>
      </p:sp>
      <p:cxnSp>
        <p:nvCxnSpPr>
          <p:cNvPr id="22" name="L22"/>
          <p:cNvCxnSpPr/>
          <p:nvPr/>
        </p:nvCxnSpPr>
        <p:spPr>
          <a:xfrm flipV="1">
            <a:off x="777240" y="2068830"/>
            <a:ext cx="1257300" cy="2274570"/>
          </a:xfrm>
          <a:prstGeom prst="line">
            <a:avLst/>
          </a:prstGeom>
          <a:ln w="31750">
            <a:solidFill>
              <a:srgbClr val="1F8899"/>
            </a:solidFill>
            <a:tailEnd type="triangle" w="med" len="med"/>
          </a:ln>
        </p:spPr>
      </p:cxnSp>
      <mc:AlternateContent xmlns:mc="http://schemas.openxmlformats.org/markup-compatibility/2006" xmlns:a14="http://schemas.microsoft.com/office/drawing/2010/main">
        <mc:Choice Requires="a14">
          <p:sp>
            <p:nvSpPr>
              <p:cNvPr id="23" name="T23"/>
              <p:cNvSpPr txBox="1"/>
              <p:nvPr/>
            </p:nvSpPr>
            <p:spPr>
              <a:xfrm>
                <a:off x="994410" y="2931795"/>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oMath>
                  </m:oMathPara>
                </a14:m>
                <a:endParaRPr lang="zh-TW" sz="2400"/>
              </a:p>
            </p:txBody>
          </p:sp>
        </mc:Choice>
        <mc:Fallback xmlns="">
          <p:pic>
            <p:nvPicPr>
              <p:cNvPr id="23" name="F23"/>
              <p:cNvPicPr/>
              <p:nvPr/>
            </p:nvPicPr>
            <p:blipFill>
              <a:blip r:embed="rId2"/>
              <a:stretch>
                <a:fillRect/>
              </a:stretch>
            </p:blipFill>
            <p:spPr>
              <a:xfrm>
                <a:off x="994410" y="2931795"/>
                <a:ext cx="548640" cy="411480"/>
              </a:xfrm>
              <a:prstGeom prst="rect">
                <a:avLst/>
              </a:prstGeom>
              <a:noFill/>
              <a:ln>
                <a:noFill/>
              </a:ln>
            </p:spPr>
          </p:pic>
        </mc:Fallback>
      </mc:AlternateContent>
      <p:cxnSp>
        <p:nvCxnSpPr>
          <p:cNvPr id="24" name="L24"/>
          <p:cNvCxnSpPr/>
          <p:nvPr/>
        </p:nvCxnSpPr>
        <p:spPr>
          <a:xfrm flipV="1">
            <a:off x="2034540" y="1370064"/>
            <a:ext cx="723491" cy="698766"/>
          </a:xfrm>
          <a:prstGeom prst="line">
            <a:avLst/>
          </a:prstGeom>
          <a:ln w="38100">
            <a:solidFill>
              <a:srgbClr val="C8901F"/>
            </a:solidFill>
            <a:tailEnd type="triangle" w="med" len="med"/>
          </a:ln>
        </p:spPr>
      </p:cxnSp>
      <mc:AlternateContent xmlns:mc="http://schemas.openxmlformats.org/markup-compatibility/2006" xmlns:a14="http://schemas.microsoft.com/office/drawing/2010/main">
        <mc:Choice Requires="a14">
          <p:sp>
            <p:nvSpPr>
              <p:cNvPr id="25" name="T25"/>
              <p:cNvSpPr txBox="1"/>
              <p:nvPr/>
            </p:nvSpPr>
            <p:spPr>
              <a:xfrm>
                <a:off x="2666591" y="912864"/>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25" name="F25"/>
              <p:cNvPicPr/>
              <p:nvPr/>
            </p:nvPicPr>
            <p:blipFill>
              <a:blip r:embed="rId3"/>
              <a:stretch>
                <a:fillRect/>
              </a:stretch>
            </p:blipFill>
            <p:spPr>
              <a:xfrm>
                <a:off x="2666591" y="912864"/>
                <a:ext cx="548640" cy="411480"/>
              </a:xfrm>
              <a:prstGeom prst="rect">
                <a:avLst/>
              </a:prstGeom>
              <a:noFill/>
              <a:ln>
                <a:noFill/>
              </a:ln>
            </p:spPr>
          </p:pic>
        </mc:Fallback>
      </mc:AlternateContent>
      <p:cxnSp>
        <p:nvCxnSpPr>
          <p:cNvPr id="26" name="L26"/>
          <p:cNvCxnSpPr/>
          <p:nvPr/>
        </p:nvCxnSpPr>
        <p:spPr>
          <a:xfrm>
            <a:off x="2034540" y="2068830"/>
            <a:ext cx="411480" cy="777240"/>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27" name="T27"/>
              <p:cNvSpPr txBox="1"/>
              <p:nvPr/>
            </p:nvSpPr>
            <p:spPr>
              <a:xfrm>
                <a:off x="2491740" y="2480310"/>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oMath>
                  </m:oMathPara>
                </a14:m>
                <a:endParaRPr lang="zh-TW" sz="2400"/>
              </a:p>
            </p:txBody>
          </p:sp>
        </mc:Choice>
        <mc:Fallback xmlns="">
          <p:pic>
            <p:nvPicPr>
              <p:cNvPr id="27" name="F27"/>
              <p:cNvPicPr/>
              <p:nvPr/>
            </p:nvPicPr>
            <p:blipFill>
              <a:blip r:embed="rId4"/>
              <a:stretch>
                <a:fillRect/>
              </a:stretch>
            </p:blipFill>
            <p:spPr>
              <a:xfrm>
                <a:off x="2491740" y="2480310"/>
                <a:ext cx="54864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8" name="T28"/>
              <p:cNvSpPr txBox="1"/>
              <p:nvPr/>
            </p:nvSpPr>
            <p:spPr>
              <a:xfrm>
                <a:off x="4480560" y="868680"/>
                <a:ext cx="388620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𝑥</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𝑖</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𝑦</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𝑗</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𝑧</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𝑘</m:t>
                          </m:r>
                        </m:e>
                      </m:acc>
                    </m:oMath>
                  </m:oMathPara>
                </a14:m>
                <a:endParaRPr lang="zh-TW" sz="2400"/>
              </a:p>
            </p:txBody>
          </p:sp>
        </mc:Choice>
        <mc:Fallback xmlns="">
          <p:pic>
            <p:nvPicPr>
              <p:cNvPr id="28" name="F28"/>
              <p:cNvPicPr/>
              <p:nvPr/>
            </p:nvPicPr>
            <p:blipFill>
              <a:blip r:embed="rId5"/>
              <a:stretch>
                <a:fillRect/>
              </a:stretch>
            </p:blipFill>
            <p:spPr>
              <a:xfrm>
                <a:off x="4480560" y="868680"/>
                <a:ext cx="388620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9" name="T29"/>
              <p:cNvSpPr txBox="1"/>
              <p:nvPr/>
            </p:nvSpPr>
            <p:spPr>
              <a:xfrm>
                <a:off x="4480560" y="1417320"/>
                <a:ext cx="388620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r>
                        <a:rPr lang="en-US" altLang="zh-TW" sz="2400" b="0" i="0">
                          <a:solidFill>
                            <a:srgbClr val="C8901F"/>
                          </a:solidFill>
                          <a:latin typeface="Cambria Math" panose="02040503050406030204" pitchFamily="18" charset="0"/>
                          <a:ea typeface="Cambria Math"/>
                        </a:rPr>
                        <m:t> = </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𝑥</m:t>
                          </m:r>
                        </m:e>
                      </m:acc>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𝑖</m:t>
                          </m:r>
                        </m:e>
                      </m:acc>
                      <m:r>
                        <a:rPr lang="en-US" altLang="zh-TW" sz="2400" b="0" i="0">
                          <a:solidFill>
                            <a:srgbClr val="C8901F"/>
                          </a:solidFill>
                          <a:latin typeface="Cambria Math" panose="02040503050406030204" pitchFamily="18" charset="0"/>
                          <a:ea typeface="Cambria Math"/>
                        </a:rPr>
                        <m:t> + </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𝑦</m:t>
                          </m:r>
                        </m:e>
                      </m:acc>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𝑗</m:t>
                          </m:r>
                        </m:e>
                      </m:acc>
                      <m:r>
                        <a:rPr lang="en-US" altLang="zh-TW" sz="2400" b="0" i="0">
                          <a:solidFill>
                            <a:srgbClr val="C8901F"/>
                          </a:solidFill>
                          <a:latin typeface="Cambria Math" panose="02040503050406030204" pitchFamily="18" charset="0"/>
                          <a:ea typeface="Cambria Math"/>
                        </a:rPr>
                        <m:t> + </m:t>
                      </m:r>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𝑧</m:t>
                          </m:r>
                        </m:e>
                      </m:acc>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𝑘</m:t>
                          </m:r>
                        </m:e>
                      </m:acc>
                    </m:oMath>
                  </m:oMathPara>
                </a14:m>
                <a:endParaRPr lang="zh-TW" sz="2400"/>
              </a:p>
            </p:txBody>
          </p:sp>
        </mc:Choice>
        <mc:Fallback xmlns="">
          <p:pic>
            <p:nvPicPr>
              <p:cNvPr id="29" name="F29"/>
              <p:cNvPicPr/>
              <p:nvPr/>
            </p:nvPicPr>
            <p:blipFill>
              <a:blip r:embed="rId6"/>
              <a:stretch>
                <a:fillRect/>
              </a:stretch>
            </p:blipFill>
            <p:spPr>
              <a:xfrm>
                <a:off x="4480560" y="1417320"/>
                <a:ext cx="388620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30" name="T30"/>
              <p:cNvSpPr txBox="1"/>
              <p:nvPr/>
            </p:nvSpPr>
            <p:spPr>
              <a:xfrm>
                <a:off x="4480560" y="1965960"/>
                <a:ext cx="388620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𝑎</m:t>
                          </m:r>
                        </m:e>
                      </m:acc>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𝑥</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𝑖</m:t>
                          </m:r>
                        </m:e>
                      </m:acc>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𝑦</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𝑗</m:t>
                          </m:r>
                        </m:e>
                      </m:acc>
                      <m:r>
                        <a:rPr lang="en-US" altLang="zh-TW" sz="2400" b="0" i="0">
                          <a:solidFill>
                            <a:srgbClr val="D6006F"/>
                          </a:solidFill>
                          <a:latin typeface="Cambria Math" panose="02040503050406030204" pitchFamily="18" charset="0"/>
                          <a:ea typeface="Cambria Math"/>
                        </a:rPr>
                        <m:t> + </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𝑧</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𝑘</m:t>
                          </m:r>
                        </m:e>
                      </m:acc>
                    </m:oMath>
                  </m:oMathPara>
                </a14:m>
                <a:endParaRPr lang="zh-TW" sz="2400"/>
              </a:p>
            </p:txBody>
          </p:sp>
        </mc:Choice>
        <mc:Fallback xmlns="">
          <p:pic>
            <p:nvPicPr>
              <p:cNvPr id="30" name="F30"/>
              <p:cNvPicPr/>
              <p:nvPr/>
            </p:nvPicPr>
            <p:blipFill>
              <a:blip r:embed="rId7"/>
              <a:stretch>
                <a:fillRect/>
              </a:stretch>
            </p:blipFill>
            <p:spPr>
              <a:xfrm>
                <a:off x="4480560" y="1965960"/>
                <a:ext cx="388620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31" name="T31"/>
              <p:cNvSpPr txBox="1"/>
              <p:nvPr/>
            </p:nvSpPr>
            <p:spPr>
              <a:xfrm>
                <a:off x="4480560" y="2514600"/>
                <a:ext cx="3886200" cy="59436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𝑣</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𝑥</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𝑦</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m:t>
                          </m:r>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1">
                                      <a:solidFill>
                                        <a:srgbClr val="2B3050"/>
                                      </a:solidFill>
                                      <a:latin typeface="Cambria Math" panose="02040503050406030204" pitchFamily="18" charset="0"/>
                                      <a:ea typeface="Cambria Math"/>
                                    </a:rPr>
                                    <m:t>𝑧</m:t>
                                  </m:r>
                                </m:sub>
                              </m:sSub>
                            </m:e>
                            <m:sup>
                              <m:r>
                                <a:rPr lang="en-US" altLang="zh-TW" sz="2400" b="0" i="0">
                                  <a:solidFill>
                                    <a:srgbClr val="2B3050"/>
                                  </a:solidFill>
                                  <a:latin typeface="Cambria Math" panose="02040503050406030204" pitchFamily="18" charset="0"/>
                                  <a:ea typeface="Cambria Math"/>
                                </a:rPr>
                                <m:t>2</m:t>
                              </m:r>
                            </m:sup>
                          </m:sSup>
                        </m:e>
                      </m:rad>
                    </m:oMath>
                  </m:oMathPara>
                </a14:m>
                <a:endParaRPr lang="zh-TW" sz="2400"/>
              </a:p>
            </p:txBody>
          </p:sp>
        </mc:Choice>
        <mc:Fallback xmlns="">
          <p:pic>
            <p:nvPicPr>
              <p:cNvPr id="31" name="F31"/>
              <p:cNvPicPr/>
              <p:nvPr/>
            </p:nvPicPr>
            <p:blipFill>
              <a:blip r:embed="rId8"/>
              <a:stretch>
                <a:fillRect/>
              </a:stretch>
            </p:blipFill>
            <p:spPr>
              <a:xfrm>
                <a:off x="4480560" y="2514600"/>
                <a:ext cx="3886200" cy="594360"/>
              </a:xfrm>
              <a:prstGeom prst="rect">
                <a:avLst/>
              </a:prstGeom>
              <a:noFill/>
              <a:ln>
                <a:noFill/>
              </a:ln>
            </p:spPr>
          </p:pic>
        </mc:Fallback>
      </mc:AlternateContent>
      <p:sp>
        <p:nvSpPr>
          <p:cNvPr id="32" name="T32"/>
          <p:cNvSpPr txBox="1"/>
          <p:nvPr/>
        </p:nvSpPr>
        <p:spPr>
          <a:xfrm>
            <a:off x="4480560" y="3291840"/>
            <a:ext cx="3886200" cy="128016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v 沿切線（貼著軌跡）</a:t>
            </a:r>
            <a:endParaRPr lang="zh-TW" sz="2400"/>
          </a:p>
          <a:p>
            <a:pPr algn="l">
              <a:lnSpc>
                <a:spcPct val="100000"/>
              </a:lnSpc>
              <a:buNone/>
            </a:pPr>
            <a:r>
              <a:rPr lang="zh-TW" altLang="en-US" sz="2400" b="0" dirty="0">
                <a:solidFill>
                  <a:srgbClr val="2B3050"/>
                </a:solidFill>
                <a:latin typeface="Calibri"/>
                <a:ea typeface="微軟正黑體"/>
                <a:cs typeface="Calibri"/>
              </a:rPr>
              <a:t>a 指向軌跡彎曲的內側</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0" presetClass="path" presetSubtype="0" fill="hold" grpId="0" nodeType="withEffect">
                                  <p:stCondLst>
                                    <p:cond delay="0"/>
                                  </p:stCondLst>
                                  <p:childTnLst>
                                    <p:animMotion origin="layout" path="M 0 0 L 0.00000 0.00000 L 0.00357 -0.03385 L 0.00760 -0.06665 L 0.01210 -0.09840 L 0.01707 -0.12911 L 0.02250 -0.15877 L 0.02840 -0.18738 L 0.03477 -0.21494 L 0.04160 -0.24146 L 0.04890 -0.26693 L 0.05667 -0.29136 L 0.06490 -0.31474 L 0.07360 -0.33707 L 0.08277 -0.35835 L 0.09240 -0.37859 L 0.10250 -0.39778 E" pathEditMode="relative" ptsTypes="">
                                      <p:cBhvr>
                                        <p:cTn id="9" dur="2000" fill="hold"/>
                                        <p:tgtEl>
                                          <p:spTgt spid="21"/>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記憶口訣（一）直角座標</a:t>
            </a:r>
          </a:p>
        </p:txBody>
      </p:sp>
      <p:sp>
        <p:nvSpPr>
          <p:cNvPr id="11" name="T11"/>
          <p:cNvSpPr txBox="1"/>
          <p:nvPr/>
        </p:nvSpPr>
        <p:spPr>
          <a:xfrm>
            <a:off x="365760" y="868680"/>
            <a:ext cx="3108960" cy="77724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拆三軸，各自算</a:t>
            </a:r>
            <a:endParaRPr lang="zh-TW" sz="2400"/>
          </a:p>
        </p:txBody>
      </p:sp>
      <p:sp>
        <p:nvSpPr>
          <p:cNvPr id="12" name="T12"/>
          <p:cNvSpPr txBox="1"/>
          <p:nvPr/>
        </p:nvSpPr>
        <p:spPr>
          <a:xfrm>
            <a:off x="3566160" y="868680"/>
            <a:ext cx="4754880" cy="77724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x、y、z 各當一條直線運動，最後再合起來</a:t>
            </a:r>
            <a:endParaRPr lang="zh-TW" sz="2400"/>
          </a:p>
        </p:txBody>
      </p:sp>
      <p:sp>
        <p:nvSpPr>
          <p:cNvPr id="13" name="T13"/>
          <p:cNvSpPr txBox="1"/>
          <p:nvPr/>
        </p:nvSpPr>
        <p:spPr>
          <a:xfrm>
            <a:off x="365760" y="173736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i j k 不會動</a:t>
            </a:r>
            <a:endParaRPr lang="zh-TW" sz="2400"/>
          </a:p>
        </p:txBody>
      </p:sp>
      <p:sp>
        <p:nvSpPr>
          <p:cNvPr id="14" name="T14"/>
          <p:cNvSpPr txBox="1"/>
          <p:nvPr/>
        </p:nvSpPr>
        <p:spPr>
          <a:xfrm>
            <a:off x="3566160" y="173736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固定座標軸 → 微分時只微係數</a:t>
            </a:r>
            <a:endParaRPr lang="zh-TW" sz="2400"/>
          </a:p>
        </p:txBody>
      </p:sp>
      <p:sp>
        <p:nvSpPr>
          <p:cNvPr id="15" name="T15"/>
          <p:cNvSpPr txBox="1"/>
          <p:nvPr/>
        </p:nvSpPr>
        <p:spPr>
          <a:xfrm>
            <a:off x="365760" y="2514600"/>
            <a:ext cx="3108960" cy="86868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一點微一次</a:t>
            </a:r>
            <a:endParaRPr lang="zh-TW" sz="2400"/>
          </a:p>
        </p:txBody>
      </p:sp>
      <p:sp>
        <p:nvSpPr>
          <p:cNvPr id="16" name="T16"/>
          <p:cNvSpPr txBox="1"/>
          <p:nvPr/>
        </p:nvSpPr>
        <p:spPr>
          <a:xfrm>
            <a:off x="3566160" y="2514600"/>
            <a:ext cx="4754880" cy="86868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ẋ：對 t 微一次＝速度</a:t>
            </a:r>
            <a:endParaRPr lang="zh-TW" sz="2400"/>
          </a:p>
          <a:p>
            <a:pPr algn="l">
              <a:lnSpc>
                <a:spcPct val="100000"/>
              </a:lnSpc>
              <a:buNone/>
            </a:pPr>
            <a:r>
              <a:rPr lang="zh-TW" altLang="en-US" sz="2400" b="0" dirty="0">
                <a:solidFill>
                  <a:srgbClr val="2B3050"/>
                </a:solidFill>
                <a:latin typeface="Calibri"/>
                <a:ea typeface="微軟正黑體"/>
                <a:cs typeface="Calibri"/>
              </a:rPr>
              <a:t>ẍ：對 t 微兩次＝加速度</a:t>
            </a:r>
            <a:endParaRPr lang="zh-TW" sz="2400"/>
          </a:p>
        </p:txBody>
      </p:sp>
      <p:sp>
        <p:nvSpPr>
          <p:cNvPr id="17" name="T17"/>
          <p:cNvSpPr txBox="1"/>
          <p:nvPr/>
        </p:nvSpPr>
        <p:spPr>
          <a:xfrm>
            <a:off x="365760" y="347472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速度貼跑道</a:t>
            </a:r>
            <a:endParaRPr lang="zh-TW" sz="2400"/>
          </a:p>
        </p:txBody>
      </p:sp>
      <p:sp>
        <p:nvSpPr>
          <p:cNvPr id="18" name="T18"/>
          <p:cNvSpPr txBox="1"/>
          <p:nvPr/>
        </p:nvSpPr>
        <p:spPr>
          <a:xfrm>
            <a:off x="3566160" y="347472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速度永遠沿切線；加速度不一定</a:t>
            </a:r>
            <a:endParaRPr lang="zh-TW" sz="2400"/>
          </a:p>
        </p:txBody>
      </p:sp>
      <p:sp>
        <p:nvSpPr>
          <p:cNvPr id="19" name="T19"/>
          <p:cNvSpPr txBox="1"/>
          <p:nvPr/>
        </p:nvSpPr>
        <p:spPr>
          <a:xfrm>
            <a:off x="365760" y="425196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平均看頭尾</a:t>
            </a:r>
            <a:endParaRPr lang="zh-TW" sz="2400"/>
          </a:p>
        </p:txBody>
      </p:sp>
      <p:sp>
        <p:nvSpPr>
          <p:cNvPr id="20" name="T20"/>
          <p:cNvSpPr txBox="1"/>
          <p:nvPr/>
        </p:nvSpPr>
        <p:spPr>
          <a:xfrm>
            <a:off x="3566160" y="425196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平均速度＝位移 ÷ 時間，中間路線不管</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公式圖解（二）2-6 拋射體運動</a:t>
            </a:r>
          </a:p>
        </p:txBody>
      </p:sp>
      <p:cxnSp>
        <p:nvCxnSpPr>
          <p:cNvPr id="11" name="L11"/>
          <p:cNvCxnSpPr/>
          <p:nvPr/>
        </p:nvCxnSpPr>
        <p:spPr>
          <a:xfrm>
            <a:off x="594360" y="4206240"/>
            <a:ext cx="3794760" cy="0"/>
          </a:xfrm>
          <a:prstGeom prst="line">
            <a:avLst/>
          </a:prstGeom>
          <a:ln w="15875">
            <a:solidFill>
              <a:srgbClr val="2B3050"/>
            </a:solidFill>
            <a:tailEnd type="triangle" w="med" len="med"/>
          </a:ln>
        </p:spPr>
      </p:cxnSp>
      <p:cxnSp>
        <p:nvCxnSpPr>
          <p:cNvPr id="12" name="L12"/>
          <p:cNvCxnSpPr/>
          <p:nvPr/>
        </p:nvCxnSpPr>
        <p:spPr>
          <a:xfrm flipV="1">
            <a:off x="777240" y="1691640"/>
            <a:ext cx="0" cy="2697480"/>
          </a:xfrm>
          <a:prstGeom prst="line">
            <a:avLst/>
          </a:prstGeom>
          <a:ln w="15875">
            <a:solidFill>
              <a:srgbClr val="2B3050"/>
            </a:solidFill>
            <a:tailEnd type="triangle" w="med" len="med"/>
          </a:ln>
        </p:spPr>
      </p:cxnSp>
      <p:sp>
        <p:nvSpPr>
          <p:cNvPr id="13" name="T13"/>
          <p:cNvSpPr txBox="1"/>
          <p:nvPr/>
        </p:nvSpPr>
        <p:spPr>
          <a:xfrm>
            <a:off x="4297680" y="416052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x</a:t>
            </a:r>
            <a:endParaRPr lang="zh-TW" sz="2400"/>
          </a:p>
        </p:txBody>
      </p:sp>
      <p:sp>
        <p:nvSpPr>
          <p:cNvPr id="14" name="T14"/>
          <p:cNvSpPr txBox="1"/>
          <p:nvPr/>
        </p:nvSpPr>
        <p:spPr>
          <a:xfrm>
            <a:off x="822960" y="150876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y</a:t>
            </a:r>
            <a:endParaRPr lang="zh-TW" sz="2400"/>
          </a:p>
        </p:txBody>
      </p:sp>
      <p:sp>
        <p:nvSpPr>
          <p:cNvPr id="15" name="T15"/>
          <p:cNvSpPr txBox="1"/>
          <p:nvPr/>
        </p:nvSpPr>
        <p:spPr>
          <a:xfrm>
            <a:off x="411480" y="41148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6" name="P16"/>
          <p:cNvSpPr/>
          <p:nvPr/>
        </p:nvSpPr>
        <p:spPr>
          <a:xfrm>
            <a:off x="777240" y="2468880"/>
            <a:ext cx="3291840" cy="1737360"/>
          </a:xfrm>
          <a:custGeom>
            <a:avLst/>
            <a:gdLst/>
            <a:ahLst/>
            <a:cxnLst/>
            <a:rect l="0" t="0" r="r" b="b"/>
            <a:pathLst>
              <a:path w="3291840" h="1737360">
                <a:moveTo>
                  <a:pt x="0" y="1737360"/>
                </a:moveTo>
                <a:lnTo>
                  <a:pt x="82296" y="1567967"/>
                </a:lnTo>
                <a:lnTo>
                  <a:pt x="164592" y="1407262"/>
                </a:lnTo>
                <a:lnTo>
                  <a:pt x="246888" y="1255243"/>
                </a:lnTo>
                <a:lnTo>
                  <a:pt x="329184" y="1111910"/>
                </a:lnTo>
                <a:lnTo>
                  <a:pt x="411480" y="977265"/>
                </a:lnTo>
                <a:lnTo>
                  <a:pt x="493776" y="851306"/>
                </a:lnTo>
                <a:lnTo>
                  <a:pt x="576072" y="734035"/>
                </a:lnTo>
                <a:lnTo>
                  <a:pt x="658368" y="625450"/>
                </a:lnTo>
                <a:lnTo>
                  <a:pt x="740664" y="525551"/>
                </a:lnTo>
                <a:lnTo>
                  <a:pt x="822960" y="434340"/>
                </a:lnTo>
                <a:lnTo>
                  <a:pt x="905256" y="351815"/>
                </a:lnTo>
                <a:lnTo>
                  <a:pt x="987552" y="277978"/>
                </a:lnTo>
                <a:lnTo>
                  <a:pt x="1069848" y="212827"/>
                </a:lnTo>
                <a:lnTo>
                  <a:pt x="1152144" y="156362"/>
                </a:lnTo>
                <a:lnTo>
                  <a:pt x="1234440" y="108585"/>
                </a:lnTo>
                <a:lnTo>
                  <a:pt x="1316736" y="69494"/>
                </a:lnTo>
                <a:lnTo>
                  <a:pt x="1399032" y="39091"/>
                </a:lnTo>
                <a:lnTo>
                  <a:pt x="1481328" y="17374"/>
                </a:lnTo>
                <a:lnTo>
                  <a:pt x="1563624" y="4343"/>
                </a:lnTo>
                <a:lnTo>
                  <a:pt x="1645920" y="0"/>
                </a:lnTo>
                <a:lnTo>
                  <a:pt x="1728216" y="4343"/>
                </a:lnTo>
                <a:lnTo>
                  <a:pt x="1810512" y="17374"/>
                </a:lnTo>
                <a:lnTo>
                  <a:pt x="1892808" y="39091"/>
                </a:lnTo>
                <a:lnTo>
                  <a:pt x="1975104" y="69494"/>
                </a:lnTo>
                <a:lnTo>
                  <a:pt x="2057400" y="108585"/>
                </a:lnTo>
                <a:lnTo>
                  <a:pt x="2139696" y="156362"/>
                </a:lnTo>
                <a:lnTo>
                  <a:pt x="2221992" y="212827"/>
                </a:lnTo>
                <a:lnTo>
                  <a:pt x="2304288" y="277978"/>
                </a:lnTo>
                <a:lnTo>
                  <a:pt x="2386584" y="351815"/>
                </a:lnTo>
                <a:lnTo>
                  <a:pt x="2468880" y="434340"/>
                </a:lnTo>
                <a:lnTo>
                  <a:pt x="2551176" y="525551"/>
                </a:lnTo>
                <a:lnTo>
                  <a:pt x="2633472" y="625450"/>
                </a:lnTo>
                <a:lnTo>
                  <a:pt x="2715768" y="734035"/>
                </a:lnTo>
                <a:lnTo>
                  <a:pt x="2798064" y="851306"/>
                </a:lnTo>
                <a:lnTo>
                  <a:pt x="2880360" y="977265"/>
                </a:lnTo>
                <a:lnTo>
                  <a:pt x="2962656" y="1111910"/>
                </a:lnTo>
                <a:lnTo>
                  <a:pt x="3044952" y="1255243"/>
                </a:lnTo>
                <a:lnTo>
                  <a:pt x="3127248" y="1407262"/>
                </a:lnTo>
                <a:lnTo>
                  <a:pt x="3209544" y="1567967"/>
                </a:lnTo>
                <a:lnTo>
                  <a:pt x="3291840" y="1737360"/>
                </a:lnTo>
              </a:path>
            </a:pathLst>
          </a:custGeom>
          <a:noFill/>
          <a:ln w="25400">
            <a:solidFill>
              <a:srgbClr val="8A8F9C"/>
            </a:solidFill>
            <a:prstDash val="dash"/>
          </a:ln>
        </p:spPr>
        <p:txBody>
          <a:bodyPr/>
          <a:lstStyle/>
          <a:p>
            <a:endParaRPr lang="zh-TW" altLang="en-US"/>
          </a:p>
        </p:txBody>
      </p:sp>
      <p:sp>
        <p:nvSpPr>
          <p:cNvPr id="17" name="S17"/>
          <p:cNvSpPr/>
          <p:nvPr/>
        </p:nvSpPr>
        <p:spPr>
          <a:xfrm>
            <a:off x="694944" y="4123944"/>
            <a:ext cx="164592" cy="164592"/>
          </a:xfrm>
          <a:prstGeom prst="ellipse">
            <a:avLst/>
          </a:prstGeom>
          <a:solidFill>
            <a:srgbClr val="2B3050"/>
          </a:solidFill>
          <a:ln>
            <a:noFill/>
          </a:ln>
        </p:spPr>
        <p:txBody>
          <a:bodyPr/>
          <a:lstStyle/>
          <a:p>
            <a:endParaRPr lang="zh-TW" altLang="en-US"/>
          </a:p>
        </p:txBody>
      </p:sp>
      <p:cxnSp>
        <p:nvCxnSpPr>
          <p:cNvPr id="18" name="L18"/>
          <p:cNvCxnSpPr/>
          <p:nvPr/>
        </p:nvCxnSpPr>
        <p:spPr>
          <a:xfrm flipV="1">
            <a:off x="777240" y="2966673"/>
            <a:ext cx="587163" cy="1239567"/>
          </a:xfrm>
          <a:prstGeom prst="line">
            <a:avLst/>
          </a:prstGeom>
          <a:ln w="38100">
            <a:solidFill>
              <a:srgbClr val="D6006F"/>
            </a:solidFill>
            <a:tailEnd type="triangle" w="med" len="med"/>
          </a:ln>
        </p:spPr>
      </p:cxnSp>
      <mc:AlternateContent xmlns:mc="http://schemas.openxmlformats.org/markup-compatibility/2006" xmlns:a14="http://schemas.microsoft.com/office/drawing/2010/main">
        <mc:Choice Requires="a14">
          <p:sp>
            <p:nvSpPr>
              <p:cNvPr id="19" name="T19"/>
              <p:cNvSpPr txBox="1"/>
              <p:nvPr/>
            </p:nvSpPr>
            <p:spPr>
              <a:xfrm>
                <a:off x="861483" y="2600913"/>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𝑣</m:t>
                          </m:r>
                        </m:e>
                        <m:sub>
                          <m:r>
                            <a:rPr lang="en-US" altLang="zh-TW" sz="2400" b="0" i="0">
                              <a:solidFill>
                                <a:srgbClr val="D6006F"/>
                              </a:solidFill>
                              <a:latin typeface="Cambria Math" panose="02040503050406030204" pitchFamily="18" charset="0"/>
                              <a:ea typeface="Cambria Math"/>
                            </a:rPr>
                            <m:t>0</m:t>
                          </m:r>
                        </m:sub>
                      </m:sSub>
                    </m:oMath>
                  </m:oMathPara>
                </a14:m>
                <a:endParaRPr lang="zh-TW" sz="2400"/>
              </a:p>
            </p:txBody>
          </p:sp>
        </mc:Choice>
        <mc:Fallback xmlns="">
          <p:pic>
            <p:nvPicPr>
              <p:cNvPr id="19" name="F19"/>
              <p:cNvPicPr/>
              <p:nvPr/>
            </p:nvPicPr>
            <p:blipFill>
              <a:blip r:embed="rId2"/>
              <a:stretch>
                <a:fillRect/>
              </a:stretch>
            </p:blipFill>
            <p:spPr>
              <a:xfrm>
                <a:off x="861483" y="2600913"/>
                <a:ext cx="548640" cy="411480"/>
              </a:xfrm>
              <a:prstGeom prst="rect">
                <a:avLst/>
              </a:prstGeom>
              <a:noFill/>
              <a:ln>
                <a:noFill/>
              </a:ln>
            </p:spPr>
          </p:pic>
        </mc:Fallback>
      </mc:AlternateContent>
      <p:cxnSp>
        <p:nvCxnSpPr>
          <p:cNvPr id="20" name="L20"/>
          <p:cNvCxnSpPr/>
          <p:nvPr/>
        </p:nvCxnSpPr>
        <p:spPr>
          <a:xfrm>
            <a:off x="777240" y="4206240"/>
            <a:ext cx="587163" cy="0"/>
          </a:xfrm>
          <a:prstGeom prst="line">
            <a:avLst/>
          </a:prstGeom>
          <a:ln w="25400">
            <a:solidFill>
              <a:srgbClr val="1F8899"/>
            </a:solidFill>
            <a:tailEnd type="triangle" w="med" len="med"/>
          </a:ln>
        </p:spPr>
      </p:cxnSp>
      <p:cxnSp>
        <p:nvCxnSpPr>
          <p:cNvPr id="21" name="L21"/>
          <p:cNvCxnSpPr/>
          <p:nvPr/>
        </p:nvCxnSpPr>
        <p:spPr>
          <a:xfrm flipV="1">
            <a:off x="1364403" y="2966673"/>
            <a:ext cx="0" cy="1239567"/>
          </a:xfrm>
          <a:prstGeom prst="line">
            <a:avLst/>
          </a:prstGeom>
          <a:ln w="25400">
            <a:solidFill>
              <a:srgbClr val="C8901F"/>
            </a:solidFill>
            <a:tailEnd type="triangle" w="med" len="med"/>
          </a:ln>
        </p:spPr>
      </p:cxnSp>
      <mc:AlternateContent xmlns:mc="http://schemas.openxmlformats.org/markup-compatibility/2006" xmlns:a14="http://schemas.microsoft.com/office/drawing/2010/main">
        <mc:Choice Requires="a14">
          <p:sp>
            <p:nvSpPr>
              <p:cNvPr id="22" name="T22"/>
              <p:cNvSpPr txBox="1"/>
              <p:nvPr/>
            </p:nvSpPr>
            <p:spPr>
              <a:xfrm>
                <a:off x="795528" y="4187952"/>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oMath>
                  </m:oMathPara>
                </a14:m>
                <a:endParaRPr lang="zh-TW" sz="2400"/>
              </a:p>
            </p:txBody>
          </p:sp>
        </mc:Choice>
        <mc:Fallback xmlns="">
          <p:pic>
            <p:nvPicPr>
              <p:cNvPr id="22" name="F22"/>
              <p:cNvPicPr/>
              <p:nvPr/>
            </p:nvPicPr>
            <p:blipFill>
              <a:blip r:embed="rId3"/>
              <a:stretch>
                <a:fillRect/>
              </a:stretch>
            </p:blipFill>
            <p:spPr>
              <a:xfrm>
                <a:off x="795528" y="4187952"/>
                <a:ext cx="73152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3" name="T23"/>
              <p:cNvSpPr txBox="1"/>
              <p:nvPr/>
            </p:nvSpPr>
            <p:spPr>
              <a:xfrm>
                <a:off x="1382691" y="3495017"/>
                <a:ext cx="73152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oMath>
                  </m:oMathPara>
                </a14:m>
                <a:endParaRPr lang="zh-TW" sz="2400"/>
              </a:p>
            </p:txBody>
          </p:sp>
        </mc:Choice>
        <mc:Fallback xmlns="">
          <p:pic>
            <p:nvPicPr>
              <p:cNvPr id="23" name="F23"/>
              <p:cNvPicPr/>
              <p:nvPr/>
            </p:nvPicPr>
            <p:blipFill>
              <a:blip r:embed="rId4"/>
              <a:stretch>
                <a:fillRect/>
              </a:stretch>
            </p:blipFill>
            <p:spPr>
              <a:xfrm>
                <a:off x="1382691" y="3495017"/>
                <a:ext cx="731520" cy="411480"/>
              </a:xfrm>
              <a:prstGeom prst="rect">
                <a:avLst/>
              </a:prstGeom>
              <a:noFill/>
              <a:ln>
                <a:noFill/>
              </a:ln>
            </p:spPr>
          </p:pic>
        </mc:Fallback>
      </mc:AlternateContent>
      <p:cxnSp>
        <p:nvCxnSpPr>
          <p:cNvPr id="24" name="L24"/>
          <p:cNvCxnSpPr/>
          <p:nvPr/>
        </p:nvCxnSpPr>
        <p:spPr>
          <a:xfrm>
            <a:off x="2423160" y="2468880"/>
            <a:ext cx="685800" cy="0"/>
          </a:xfrm>
          <a:prstGeom prst="line">
            <a:avLst/>
          </a:prstGeom>
          <a:ln w="38100">
            <a:solidFill>
              <a:srgbClr val="1F8899"/>
            </a:solidFill>
            <a:tailEnd type="triangle" w="med" len="med"/>
          </a:ln>
        </p:spPr>
      </p:cxnSp>
      <p:sp>
        <p:nvSpPr>
          <p:cNvPr id="25" name="T25"/>
          <p:cNvSpPr txBox="1"/>
          <p:nvPr/>
        </p:nvSpPr>
        <p:spPr>
          <a:xfrm>
            <a:off x="2057400" y="2011680"/>
            <a:ext cx="11887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vy = 0</a:t>
            </a:r>
            <a:endParaRPr lang="zh-TW" sz="2400"/>
          </a:p>
        </p:txBody>
      </p:sp>
      <p:cxnSp>
        <p:nvCxnSpPr>
          <p:cNvPr id="26" name="L26"/>
          <p:cNvCxnSpPr/>
          <p:nvPr/>
        </p:nvCxnSpPr>
        <p:spPr>
          <a:xfrm flipV="1">
            <a:off x="2423160" y="2514600"/>
            <a:ext cx="0" cy="1691640"/>
          </a:xfrm>
          <a:prstGeom prst="line">
            <a:avLst/>
          </a:prstGeom>
          <a:ln w="12700">
            <a:solidFill>
              <a:srgbClr val="8A8F9C"/>
            </a:solidFill>
            <a:headEnd type="triangle" w="med" len="med"/>
            <a:tailEnd type="triangle" w="med" len="med"/>
          </a:ln>
        </p:spPr>
      </p:cxnSp>
      <p:sp>
        <p:nvSpPr>
          <p:cNvPr id="27" name="T27"/>
          <p:cNvSpPr txBox="1"/>
          <p:nvPr/>
        </p:nvSpPr>
        <p:spPr>
          <a:xfrm>
            <a:off x="2468880" y="333756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H</a:t>
            </a:r>
            <a:endParaRPr lang="zh-TW" sz="2400"/>
          </a:p>
        </p:txBody>
      </p:sp>
      <p:cxnSp>
        <p:nvCxnSpPr>
          <p:cNvPr id="28" name="L28"/>
          <p:cNvCxnSpPr/>
          <p:nvPr/>
        </p:nvCxnSpPr>
        <p:spPr>
          <a:xfrm>
            <a:off x="3703320" y="1463040"/>
            <a:ext cx="0" cy="640080"/>
          </a:xfrm>
          <a:prstGeom prst="line">
            <a:avLst/>
          </a:prstGeom>
          <a:ln w="38100">
            <a:solidFill>
              <a:srgbClr val="C0392B"/>
            </a:solidFill>
            <a:tailEnd type="triangle" w="med" len="med"/>
          </a:ln>
        </p:spPr>
      </p:cxnSp>
      <p:sp>
        <p:nvSpPr>
          <p:cNvPr id="29" name="T29"/>
          <p:cNvSpPr txBox="1"/>
          <p:nvPr/>
        </p:nvSpPr>
        <p:spPr>
          <a:xfrm>
            <a:off x="3749040" y="155448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0392B"/>
                </a:solidFill>
                <a:latin typeface="Calibri"/>
                <a:ea typeface="微軟正黑體"/>
                <a:cs typeface="Calibri"/>
              </a:rPr>
              <a:t>g</a:t>
            </a:r>
            <a:endParaRPr lang="zh-TW" sz="2400"/>
          </a:p>
        </p:txBody>
      </p:sp>
      <p:cxnSp>
        <p:nvCxnSpPr>
          <p:cNvPr id="30" name="L30"/>
          <p:cNvCxnSpPr/>
          <p:nvPr/>
        </p:nvCxnSpPr>
        <p:spPr>
          <a:xfrm>
            <a:off x="777240" y="4663440"/>
            <a:ext cx="3291840" cy="0"/>
          </a:xfrm>
          <a:prstGeom prst="line">
            <a:avLst/>
          </a:prstGeom>
          <a:ln w="12700">
            <a:solidFill>
              <a:srgbClr val="8A8F9C"/>
            </a:solidFill>
            <a:headEnd type="triangle" w="med" len="med"/>
            <a:tailEnd type="triangle" w="med" len="med"/>
          </a:ln>
        </p:spPr>
      </p:cxnSp>
      <p:sp>
        <p:nvSpPr>
          <p:cNvPr id="31" name="T31"/>
          <p:cNvSpPr txBox="1"/>
          <p:nvPr/>
        </p:nvSpPr>
        <p:spPr>
          <a:xfrm>
            <a:off x="2240280" y="4617720"/>
            <a:ext cx="45720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8A8F9C"/>
                </a:solidFill>
                <a:latin typeface="Calibri"/>
                <a:ea typeface="微軟正黑體"/>
                <a:cs typeface="Calibri"/>
              </a:rPr>
              <a:t>R</a:t>
            </a:r>
            <a:endParaRPr lang="zh-TW" sz="2400"/>
          </a:p>
        </p:txBody>
      </p:sp>
      <mc:AlternateContent xmlns:mc="http://schemas.openxmlformats.org/markup-compatibility/2006" xmlns:a14="http://schemas.microsoft.com/office/drawing/2010/main">
        <mc:Choice Requires="a14">
          <p:sp>
            <p:nvSpPr>
              <p:cNvPr id="32" name="T32"/>
              <p:cNvSpPr txBox="1"/>
              <p:nvPr/>
            </p:nvSpPr>
            <p:spPr>
              <a:xfrm>
                <a:off x="4572000" y="868680"/>
                <a:ext cx="379476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x：</a:t>
                </a:r>
                <a14:m>
                  <m:oMath xmlns:m="http://schemas.openxmlformats.org/officeDocument/2006/math">
                    <m:r>
                      <a:rPr lang="en-US" altLang="zh-TW" sz="2400" b="0" i="1">
                        <a:solidFill>
                          <a:srgbClr val="1F8899"/>
                        </a:solidFill>
                        <a:latin typeface="Cambria Math" panose="02040503050406030204" pitchFamily="18" charset="0"/>
                        <a:ea typeface="Cambria Math"/>
                      </a:rPr>
                      <m:t>𝑥</m:t>
                    </m:r>
                    <m:r>
                      <a:rPr lang="en-US" altLang="zh-TW" sz="2400" b="0" i="0">
                        <a:solidFill>
                          <a:srgbClr val="1F8899"/>
                        </a:solidFill>
                        <a:latin typeface="Cambria Math" panose="02040503050406030204" pitchFamily="18" charset="0"/>
                        <a:ea typeface="Cambria Math"/>
                      </a:rPr>
                      <m:t> =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0">
                            <a:solidFill>
                              <a:srgbClr val="1F8899"/>
                            </a:solidFill>
                            <a:latin typeface="Cambria Math" panose="02040503050406030204" pitchFamily="18" charset="0"/>
                            <a:ea typeface="Cambria Math"/>
                          </a:rPr>
                          <m:t>0</m:t>
                        </m:r>
                        <m:r>
                          <m:rPr>
                            <m:sty m:val="p"/>
                          </m:rPr>
                          <a:rPr lang="en-US" altLang="zh-TW" sz="2400" b="0" i="0">
                            <a:solidFill>
                              <a:srgbClr val="1F8899"/>
                            </a:solidFill>
                            <a:latin typeface="Cambria Math" panose="02040503050406030204" pitchFamily="18" charset="0"/>
                            <a:ea typeface="Cambria Math"/>
                          </a:rPr>
                          <m:t>x</m:t>
                        </m:r>
                      </m:sub>
                    </m:sSub>
                    <m:r>
                      <a:rPr lang="en-US" altLang="zh-TW" sz="2400" b="0" i="1">
                        <a:solidFill>
                          <a:srgbClr val="1F8899"/>
                        </a:solidFill>
                        <a:latin typeface="Cambria Math" panose="02040503050406030204" pitchFamily="18" charset="0"/>
                        <a:ea typeface="Cambria Math"/>
                      </a:rPr>
                      <m:t>𝑡</m:t>
                    </m:r>
                  </m:oMath>
                </a14:m>
                <a:endParaRPr lang="zh-TW" sz="2400"/>
              </a:p>
            </p:txBody>
          </p:sp>
        </mc:Choice>
        <mc:Fallback xmlns="">
          <p:pic>
            <p:nvPicPr>
              <p:cNvPr id="32" name="F32"/>
              <p:cNvPicPr/>
              <p:nvPr/>
            </p:nvPicPr>
            <p:blipFill>
              <a:blip r:embed="rId5"/>
              <a:stretch>
                <a:fillRect/>
              </a:stretch>
            </p:blipFill>
            <p:spPr>
              <a:xfrm>
                <a:off x="4572000" y="868680"/>
                <a:ext cx="37947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33" name="T33"/>
              <p:cNvSpPr txBox="1"/>
              <p:nvPr/>
            </p:nvSpPr>
            <p:spPr>
              <a:xfrm>
                <a:off x="4572000" y="1371600"/>
                <a:ext cx="379476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y：</a:t>
                </a:r>
                <a14:m>
                  <m:oMath xmlns:m="http://schemas.openxmlformats.org/officeDocument/2006/math">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𝑔𝑡</m:t>
                    </m:r>
                  </m:oMath>
                </a14:m>
                <a:endParaRPr lang="zh-TW" sz="2400"/>
              </a:p>
            </p:txBody>
          </p:sp>
        </mc:Choice>
        <mc:Fallback xmlns="">
          <p:pic>
            <p:nvPicPr>
              <p:cNvPr id="33" name="F33"/>
              <p:cNvPicPr/>
              <p:nvPr/>
            </p:nvPicPr>
            <p:blipFill>
              <a:blip r:embed="rId6"/>
              <a:stretch>
                <a:fillRect/>
              </a:stretch>
            </p:blipFill>
            <p:spPr>
              <a:xfrm>
                <a:off x="4572000" y="1371600"/>
                <a:ext cx="379476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34" name="T34"/>
              <p:cNvSpPr txBox="1"/>
              <p:nvPr/>
            </p:nvSpPr>
            <p:spPr>
              <a:xfrm>
                <a:off x="4572000" y="1874520"/>
                <a:ext cx="3794760" cy="7772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r>
                        <a:rPr lang="en-US" altLang="zh-TW" sz="2400" b="0" i="0">
                          <a:solidFill>
                            <a:srgbClr val="C8901F"/>
                          </a:solidFill>
                          <a:latin typeface="Cambria Math" panose="02040503050406030204" pitchFamily="18" charset="0"/>
                          <a:ea typeface="Cambria Math"/>
                        </a:rPr>
                        <m:t>　 </m:t>
                      </m:r>
                      <m:r>
                        <a:rPr lang="en-US" altLang="zh-TW" sz="2400" b="0" i="1">
                          <a:solidFill>
                            <a:srgbClr val="C8901F"/>
                          </a:solidFill>
                          <a:latin typeface="Cambria Math" panose="02040503050406030204" pitchFamily="18" charset="0"/>
                          <a:ea typeface="Cambria Math"/>
                        </a:rPr>
                        <m:t>𝑦</m:t>
                      </m:r>
                      <m:r>
                        <a:rPr lang="en-US" altLang="zh-TW" sz="2400" b="0" i="0">
                          <a:solidFill>
                            <a:srgbClr val="C8901F"/>
                          </a:solidFill>
                          <a:latin typeface="Cambria Math" panose="02040503050406030204" pitchFamily="18" charset="0"/>
                          <a:ea typeface="Cambria Math"/>
                        </a:rPr>
                        <m:t> = </m:t>
                      </m:r>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r>
                        <a:rPr lang="en-US" altLang="zh-TW" sz="2400" b="0" i="1">
                          <a:solidFill>
                            <a:srgbClr val="C8901F"/>
                          </a:solidFill>
                          <a:latin typeface="Cambria Math" panose="02040503050406030204" pitchFamily="18" charset="0"/>
                          <a:ea typeface="Cambria Math"/>
                        </a:rPr>
                        <m:t>𝑡</m:t>
                      </m:r>
                      <m:r>
                        <a:rPr lang="en-US" altLang="zh-TW" sz="2400" b="0" i="0">
                          <a:solidFill>
                            <a:srgbClr val="C8901F"/>
                          </a:solidFill>
                          <a:latin typeface="Cambria Math" panose="02040503050406030204" pitchFamily="18" charset="0"/>
                          <a:ea typeface="Cambria Math"/>
                        </a:rPr>
                        <m:t> − </m:t>
                      </m:r>
                      <m:f>
                        <m:fPr>
                          <m:ctrlPr>
                            <a:rPr lang="en-US" altLang="zh-TW" sz="2400" b="0" i="0">
                              <a:solidFill>
                                <a:srgbClr val="C8901F"/>
                              </a:solidFill>
                              <a:latin typeface="Cambria Math" panose="02040503050406030204" pitchFamily="18" charset="0"/>
                              <a:ea typeface="Cambria Math"/>
                            </a:rPr>
                          </m:ctrlPr>
                        </m:fPr>
                        <m:num>
                          <m:r>
                            <a:rPr lang="en-US" altLang="zh-TW" sz="2400" b="0" i="0">
                              <a:solidFill>
                                <a:srgbClr val="C8901F"/>
                              </a:solidFill>
                              <a:latin typeface="Cambria Math" panose="02040503050406030204" pitchFamily="18" charset="0"/>
                              <a:ea typeface="Cambria Math"/>
                            </a:rPr>
                            <m:t>1</m:t>
                          </m:r>
                        </m:num>
                        <m:den>
                          <m:r>
                            <a:rPr lang="en-US" altLang="zh-TW" sz="2400" b="0" i="0">
                              <a:solidFill>
                                <a:srgbClr val="C8901F"/>
                              </a:solidFill>
                              <a:latin typeface="Cambria Math" panose="02040503050406030204" pitchFamily="18" charset="0"/>
                              <a:ea typeface="Cambria Math"/>
                            </a:rPr>
                            <m:t>2</m:t>
                          </m:r>
                        </m:den>
                      </m:f>
                      <m:r>
                        <a:rPr lang="en-US" altLang="zh-TW" sz="2400" b="0" i="1">
                          <a:solidFill>
                            <a:srgbClr val="C8901F"/>
                          </a:solidFill>
                          <a:latin typeface="Cambria Math" panose="02040503050406030204" pitchFamily="18" charset="0"/>
                          <a:ea typeface="Cambria Math"/>
                        </a:rPr>
                        <m:t>𝑔</m:t>
                      </m:r>
                      <m:sSup>
                        <m:sSupPr>
                          <m:ctrlPr>
                            <a:rPr lang="en-US" altLang="zh-TW" sz="2400" b="0" i="1">
                              <a:solidFill>
                                <a:srgbClr val="C8901F"/>
                              </a:solidFill>
                              <a:latin typeface="Cambria Math" panose="02040503050406030204" pitchFamily="18" charset="0"/>
                              <a:ea typeface="Cambria Math"/>
                            </a:rPr>
                          </m:ctrlPr>
                        </m:sSupPr>
                        <m:e>
                          <m:r>
                            <a:rPr lang="en-US" altLang="zh-TW" sz="2400" b="0" i="1">
                              <a:solidFill>
                                <a:srgbClr val="C8901F"/>
                              </a:solidFill>
                              <a:latin typeface="Cambria Math" panose="02040503050406030204" pitchFamily="18" charset="0"/>
                              <a:ea typeface="Cambria Math"/>
                            </a:rPr>
                            <m:t>𝑡</m:t>
                          </m:r>
                        </m:e>
                        <m:sup>
                          <m:r>
                            <a:rPr lang="en-US" altLang="zh-TW" sz="2400" b="0" i="0">
                              <a:solidFill>
                                <a:srgbClr val="C8901F"/>
                              </a:solidFill>
                              <a:latin typeface="Cambria Math" panose="02040503050406030204" pitchFamily="18" charset="0"/>
                              <a:ea typeface="Cambria Math"/>
                            </a:rPr>
                            <m:t>2</m:t>
                          </m:r>
                        </m:sup>
                      </m:sSup>
                    </m:oMath>
                  </m:oMathPara>
                </a14:m>
                <a:endParaRPr lang="zh-TW" sz="2400"/>
              </a:p>
            </p:txBody>
          </p:sp>
        </mc:Choice>
        <mc:Fallback xmlns="">
          <p:pic>
            <p:nvPicPr>
              <p:cNvPr id="34" name="F34"/>
              <p:cNvPicPr/>
              <p:nvPr/>
            </p:nvPicPr>
            <p:blipFill>
              <a:blip r:embed="rId7"/>
              <a:stretch>
                <a:fillRect/>
              </a:stretch>
            </p:blipFill>
            <p:spPr>
              <a:xfrm>
                <a:off x="4572000" y="1874520"/>
                <a:ext cx="3794760" cy="7772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35" name="T35"/>
              <p:cNvSpPr txBox="1"/>
              <p:nvPr/>
            </p:nvSpPr>
            <p:spPr>
              <a:xfrm>
                <a:off x="4572000" y="2651760"/>
                <a:ext cx="379476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p>
                        <m:sSupPr>
                          <m:ctrlPr>
                            <a:rPr lang="en-US" altLang="zh-TW" sz="2400" b="0" i="1">
                              <a:solidFill>
                                <a:srgbClr val="C8901F"/>
                              </a:solidFill>
                              <a:latin typeface="Cambria Math" panose="02040503050406030204" pitchFamily="18" charset="0"/>
                              <a:ea typeface="Cambria Math"/>
                            </a:rPr>
                          </m:ctrlPr>
                        </m:sSupPr>
                        <m:e>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1">
                                  <a:solidFill>
                                    <a:srgbClr val="C8901F"/>
                                  </a:solidFill>
                                  <a:latin typeface="Cambria Math" panose="02040503050406030204" pitchFamily="18" charset="0"/>
                                  <a:ea typeface="Cambria Math"/>
                                </a:rPr>
                                <m:t>𝑦</m:t>
                              </m:r>
                            </m:sub>
                          </m:sSub>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m:t>
                      </m:r>
                      <m:sSup>
                        <m:sSupPr>
                          <m:ctrlPr>
                            <a:rPr lang="en-US" altLang="zh-TW" sz="2400" b="0" i="1">
                              <a:solidFill>
                                <a:srgbClr val="C8901F"/>
                              </a:solidFill>
                              <a:latin typeface="Cambria Math" panose="02040503050406030204" pitchFamily="18" charset="0"/>
                              <a:ea typeface="Cambria Math"/>
                            </a:rPr>
                          </m:ctrlPr>
                        </m:sSupPr>
                        <m:e>
                          <m:sSub>
                            <m:sSubPr>
                              <m:ctrlPr>
                                <a:rPr lang="en-US" altLang="zh-TW" sz="2400" b="0" i="1">
                                  <a:solidFill>
                                    <a:srgbClr val="C8901F"/>
                                  </a:solidFill>
                                  <a:latin typeface="Cambria Math" panose="02040503050406030204" pitchFamily="18" charset="0"/>
                                  <a:ea typeface="Cambria Math"/>
                                </a:rPr>
                              </m:ctrlPr>
                            </m:sSubPr>
                            <m:e>
                              <m:r>
                                <a:rPr lang="en-US" altLang="zh-TW" sz="2400" b="0" i="1">
                                  <a:solidFill>
                                    <a:srgbClr val="C8901F"/>
                                  </a:solidFill>
                                  <a:latin typeface="Cambria Math" panose="02040503050406030204" pitchFamily="18" charset="0"/>
                                  <a:ea typeface="Cambria Math"/>
                                </a:rPr>
                                <m:t>𝑣</m:t>
                              </m:r>
                            </m:e>
                            <m:sub>
                              <m:r>
                                <a:rPr lang="en-US" altLang="zh-TW" sz="2400" b="0" i="0">
                                  <a:solidFill>
                                    <a:srgbClr val="C8901F"/>
                                  </a:solidFill>
                                  <a:latin typeface="Cambria Math" panose="02040503050406030204" pitchFamily="18" charset="0"/>
                                  <a:ea typeface="Cambria Math"/>
                                </a:rPr>
                                <m:t>0</m:t>
                              </m:r>
                              <m:r>
                                <m:rPr>
                                  <m:sty m:val="p"/>
                                </m:rPr>
                                <a:rPr lang="en-US" altLang="zh-TW" sz="2400" b="0" i="0">
                                  <a:solidFill>
                                    <a:srgbClr val="C8901F"/>
                                  </a:solidFill>
                                  <a:latin typeface="Cambria Math" panose="02040503050406030204" pitchFamily="18" charset="0"/>
                                  <a:ea typeface="Cambria Math"/>
                                </a:rPr>
                                <m:t>y</m:t>
                              </m:r>
                            </m:sub>
                          </m:sSub>
                        </m:e>
                        <m:sup>
                          <m:r>
                            <a:rPr lang="en-US" altLang="zh-TW" sz="2400" b="0" i="0">
                              <a:solidFill>
                                <a:srgbClr val="C8901F"/>
                              </a:solidFill>
                              <a:latin typeface="Cambria Math" panose="02040503050406030204" pitchFamily="18" charset="0"/>
                              <a:ea typeface="Cambria Math"/>
                            </a:rPr>
                            <m:t>2</m:t>
                          </m:r>
                        </m:sup>
                      </m:sSup>
                      <m:r>
                        <a:rPr lang="en-US" altLang="zh-TW" sz="2400" b="0" i="0">
                          <a:solidFill>
                            <a:srgbClr val="C8901F"/>
                          </a:solidFill>
                          <a:latin typeface="Cambria Math" panose="02040503050406030204" pitchFamily="18" charset="0"/>
                          <a:ea typeface="Cambria Math"/>
                        </a:rPr>
                        <m:t> − 2</m:t>
                      </m:r>
                      <m:r>
                        <a:rPr lang="en-US" altLang="zh-TW" sz="2400" b="0" i="1">
                          <a:solidFill>
                            <a:srgbClr val="C8901F"/>
                          </a:solidFill>
                          <a:latin typeface="Cambria Math" panose="02040503050406030204" pitchFamily="18" charset="0"/>
                          <a:ea typeface="Cambria Math"/>
                        </a:rPr>
                        <m:t>𝑔𝑦</m:t>
                      </m:r>
                    </m:oMath>
                  </m:oMathPara>
                </a14:m>
                <a:endParaRPr lang="zh-TW" sz="2400"/>
              </a:p>
            </p:txBody>
          </p:sp>
        </mc:Choice>
        <mc:Fallback xmlns="">
          <p:pic>
            <p:nvPicPr>
              <p:cNvPr id="35" name="F35"/>
              <p:cNvPicPr/>
              <p:nvPr/>
            </p:nvPicPr>
            <p:blipFill>
              <a:blip r:embed="rId8"/>
              <a:stretch>
                <a:fillRect/>
              </a:stretch>
            </p:blipFill>
            <p:spPr>
              <a:xfrm>
                <a:off x="4572000" y="2651760"/>
                <a:ext cx="3794760" cy="548640"/>
              </a:xfrm>
              <a:prstGeom prst="rect">
                <a:avLst/>
              </a:prstGeom>
              <a:noFill/>
              <a:ln>
                <a:noFill/>
              </a:ln>
            </p:spPr>
          </p:pic>
        </mc:Fallback>
      </mc:AlternateContent>
      <p:sp>
        <p:nvSpPr>
          <p:cNvPr id="36" name="T36"/>
          <p:cNvSpPr txBox="1"/>
          <p:nvPr/>
        </p:nvSpPr>
        <p:spPr>
          <a:xfrm>
            <a:off x="4572000" y="3337560"/>
            <a:ext cx="3794760" cy="123444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原點在拋出點</a:t>
            </a:r>
            <a:endParaRPr lang="zh-TW" sz="2400"/>
          </a:p>
          <a:p>
            <a:pPr algn="l">
              <a:lnSpc>
                <a:spcPct val="100000"/>
              </a:lnSpc>
              <a:buNone/>
            </a:pPr>
            <a:r>
              <a:rPr lang="zh-TW" altLang="en-US" sz="2400" b="0" dirty="0">
                <a:solidFill>
                  <a:srgbClr val="2B3050"/>
                </a:solidFill>
                <a:latin typeface="Calibri"/>
                <a:ea typeface="微軟正黑體"/>
                <a:cs typeface="Calibri"/>
              </a:rPr>
              <a:t>x 向右、y 向上為正</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0" presetClass="path" presetSubtype="0" fill="hold" grpId="0" nodeType="withEffect">
                                  <p:stCondLst>
                                    <p:cond delay="0"/>
                                  </p:stCondLst>
                                  <p:childTnLst>
                                    <p:animMotion origin="layout" path="M 0 0 L 0.00000 0.00000 L 0.00900 -0.03293 L 0.01800 -0.06418 L 0.02700 -0.09373 L 0.03600 -0.12160 L 0.04500 -0.14778 L 0.05400 -0.17227 L 0.06300 -0.19507 L 0.07200 -0.21618 L 0.08100 -0.23560 L 0.09000 -0.25333 L 0.09900 -0.26938 L 0.10800 -0.28373 L 0.11700 -0.29640 L 0.12600 -0.30738 L 0.13500 -0.31667 L 0.14400 -0.32427 L 0.15300 -0.33018 L 0.16200 -0.33440 L 0.17100 -0.33693 L 0.18000 -0.33778 L 0.18900 -0.33693 L 0.19800 -0.33440 L 0.20700 -0.33018 L 0.21600 -0.32427 L 0.22500 -0.31667 L 0.23400 -0.30738 L 0.24300 -0.29640 L 0.25200 -0.28373 L 0.26100 -0.26938 L 0.27000 -0.25333 L 0.27900 -0.23560 L 0.28800 -0.21618 L 0.29700 -0.19507 L 0.30600 -0.17227 L 0.31500 -0.14778 L 0.32400 -0.12160 L 0.33300 -0.09373 L 0.34200 -0.06418 L 0.35100 -0.03293 L 0.36000 0.00000 E" pathEditMode="relative" ptsTypes="">
                                      <p:cBhvr>
                                        <p:cTn id="9" dur="2500" fill="hold"/>
                                        <p:tgtEl>
                                          <p:spTgt spid="17"/>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500"/>
                                        <p:tgtEl>
                                          <p:spTgt spid="3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記憶口訣（二）拋射體</a:t>
            </a:r>
          </a:p>
        </p:txBody>
      </p:sp>
      <p:sp>
        <p:nvSpPr>
          <p:cNvPr id="11" name="T11"/>
          <p:cNvSpPr txBox="1"/>
          <p:nvPr/>
        </p:nvSpPr>
        <p:spPr>
          <a:xfrm>
            <a:off x="365760" y="86868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水平等速，垂直落體</a:t>
            </a:r>
            <a:endParaRPr lang="zh-TW" sz="2400"/>
          </a:p>
        </p:txBody>
      </p:sp>
      <p:sp>
        <p:nvSpPr>
          <p:cNvPr id="12" name="T12"/>
          <p:cNvSpPr txBox="1"/>
          <p:nvPr/>
        </p:nvSpPr>
        <p:spPr>
          <a:xfrm>
            <a:off x="3566160" y="86868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x 方向 a = 0；y 方向 a = −g</a:t>
            </a:r>
            <a:endParaRPr lang="zh-TW" sz="2400"/>
          </a:p>
        </p:txBody>
      </p:sp>
      <p:sp>
        <p:nvSpPr>
          <p:cNvPr id="13" name="T13"/>
          <p:cNvSpPr txBox="1"/>
          <p:nvPr/>
        </p:nvSpPr>
        <p:spPr>
          <a:xfrm>
            <a:off x="365760" y="164592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時間是橋樑</a:t>
            </a:r>
            <a:endParaRPr lang="zh-TW" sz="2400"/>
          </a:p>
        </p:txBody>
      </p:sp>
      <p:sp>
        <p:nvSpPr>
          <p:cNvPr id="14" name="T14"/>
          <p:cNvSpPr txBox="1"/>
          <p:nvPr/>
        </p:nvSpPr>
        <p:spPr>
          <a:xfrm>
            <a:off x="3566160" y="164592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x、y 兩條式子靠同一個 t 連起來</a:t>
            </a:r>
            <a:endParaRPr lang="zh-TW" sz="2400"/>
          </a:p>
        </p:txBody>
      </p:sp>
      <p:sp>
        <p:nvSpPr>
          <p:cNvPr id="15" name="T15"/>
          <p:cNvSpPr txBox="1"/>
          <p:nvPr/>
        </p:nvSpPr>
        <p:spPr>
          <a:xfrm>
            <a:off x="365760" y="242316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最高點，vy 歸零</a:t>
            </a:r>
            <a:endParaRPr lang="zh-TW" sz="2400"/>
          </a:p>
        </p:txBody>
      </p:sp>
      <p:sp>
        <p:nvSpPr>
          <p:cNvPr id="16" name="T16"/>
          <p:cNvSpPr txBox="1"/>
          <p:nvPr/>
        </p:nvSpPr>
        <p:spPr>
          <a:xfrm>
            <a:off x="3566160" y="242316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最高點只剩水平速度 v0x</a:t>
            </a:r>
            <a:endParaRPr lang="zh-TW" sz="2400"/>
          </a:p>
        </p:txBody>
      </p:sp>
      <p:sp>
        <p:nvSpPr>
          <p:cNvPr id="17" name="T17"/>
          <p:cNvSpPr txBox="1"/>
          <p:nvPr/>
        </p:nvSpPr>
        <p:spPr>
          <a:xfrm>
            <a:off x="365760" y="320040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同高度，上下對稱</a:t>
            </a:r>
            <a:endParaRPr lang="zh-TW" sz="2400"/>
          </a:p>
        </p:txBody>
      </p:sp>
      <p:sp>
        <p:nvSpPr>
          <p:cNvPr id="18" name="T18"/>
          <p:cNvSpPr txBox="1"/>
          <p:nvPr/>
        </p:nvSpPr>
        <p:spPr>
          <a:xfrm>
            <a:off x="3566160" y="320040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上升時間＝下降時間；同高度速率相同</a:t>
            </a:r>
            <a:endParaRPr lang="zh-TW" sz="2400"/>
          </a:p>
        </p:txBody>
      </p:sp>
      <p:sp>
        <p:nvSpPr>
          <p:cNvPr id="19" name="T19"/>
          <p:cNvSpPr txBox="1"/>
          <p:nvPr/>
        </p:nvSpPr>
        <p:spPr>
          <a:xfrm>
            <a:off x="365760" y="397764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低於起點要加負號</a:t>
            </a:r>
            <a:endParaRPr lang="zh-TW" sz="2400"/>
          </a:p>
        </p:txBody>
      </p:sp>
      <p:sp>
        <p:nvSpPr>
          <p:cNvPr id="20" name="T20"/>
          <p:cNvSpPr txBox="1"/>
          <p:nvPr/>
        </p:nvSpPr>
        <p:spPr>
          <a:xfrm>
            <a:off x="3566160" y="397764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落點在下方 → y 代負值（如 −60 m）</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補充速算（二）起點與落點同高時</a:t>
            </a:r>
          </a:p>
        </p:txBody>
      </p:sp>
      <p:sp>
        <p:nvSpPr>
          <p:cNvPr id="11" name="T11"/>
          <p:cNvSpPr txBox="1"/>
          <p:nvPr/>
        </p:nvSpPr>
        <p:spPr>
          <a:xfrm>
            <a:off x="365760" y="896112"/>
            <a:ext cx="2103120" cy="84124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飛行時間</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84124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𝑇</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2</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𝑔</m:t>
                          </m:r>
                        </m:den>
                      </m:f>
                    </m:oMath>
                  </m:oMathPara>
                </a14:m>
                <a:endParaRPr lang="zh-TW" sz="2400"/>
              </a:p>
            </p:txBody>
          </p:sp>
        </mc:Choice>
        <mc:Fallback xmlns="">
          <p:pic>
            <p:nvPicPr>
              <p:cNvPr id="12" name="F12"/>
              <p:cNvPicPr/>
              <p:nvPr/>
            </p:nvPicPr>
            <p:blipFill>
              <a:blip r:embed="rId2"/>
              <a:stretch>
                <a:fillRect/>
              </a:stretch>
            </p:blipFill>
            <p:spPr>
              <a:xfrm>
                <a:off x="2560320" y="896112"/>
                <a:ext cx="5760720" cy="841248"/>
              </a:xfrm>
              <a:prstGeom prst="roundRect">
                <a:avLst/>
              </a:prstGeom>
              <a:solidFill>
                <a:srgbClr val="E8F4F6"/>
              </a:solidFill>
              <a:ln>
                <a:noFill/>
              </a:ln>
            </p:spPr>
          </p:pic>
        </mc:Fallback>
      </mc:AlternateContent>
      <p:sp>
        <p:nvSpPr>
          <p:cNvPr id="13" name="T13"/>
          <p:cNvSpPr txBox="1"/>
          <p:nvPr/>
        </p:nvSpPr>
        <p:spPr>
          <a:xfrm>
            <a:off x="365760" y="1810512"/>
            <a:ext cx="2103120" cy="8869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最大高度</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1810512"/>
                <a:ext cx="5760720" cy="8869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𝐻</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sin</m:t>
                              </m:r>
                            </m:e>
                            <m:sup>
                              <m:r>
                                <a:rPr lang="en-US" altLang="zh-TW" sz="2400" b="0" i="0">
                                  <a:solidFill>
                                    <a:srgbClr val="2B3050"/>
                                  </a:solidFill>
                                  <a:latin typeface="Cambria Math" panose="02040503050406030204" pitchFamily="18" charset="0"/>
                                  <a:ea typeface="Cambria Math"/>
                                </a:rPr>
                                <m:t>2</m:t>
                              </m:r>
                            </m:sup>
                          </m:sSup>
                          <m:r>
                            <a:rPr lang="en-US" altLang="zh-TW" sz="2400" b="0" i="1">
                              <a:solidFill>
                                <a:srgbClr val="2B3050"/>
                              </a:solidFill>
                              <a:latin typeface="Cambria Math" panose="02040503050406030204" pitchFamily="18" charset="0"/>
                              <a:ea typeface="Cambria Math"/>
                            </a:rPr>
                            <m:t>𝜃</m:t>
                          </m:r>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𝑔</m:t>
                          </m:r>
                        </m:den>
                      </m:f>
                    </m:oMath>
                  </m:oMathPara>
                </a14:m>
                <a:endParaRPr lang="zh-TW" sz="2400"/>
              </a:p>
            </p:txBody>
          </p:sp>
        </mc:Choice>
        <mc:Fallback xmlns="">
          <p:pic>
            <p:nvPicPr>
              <p:cNvPr id="14" name="F14"/>
              <p:cNvPicPr/>
              <p:nvPr/>
            </p:nvPicPr>
            <p:blipFill>
              <a:blip r:embed="rId3"/>
              <a:stretch>
                <a:fillRect/>
              </a:stretch>
            </p:blipFill>
            <p:spPr>
              <a:xfrm>
                <a:off x="2560320" y="1810512"/>
                <a:ext cx="5760720" cy="886968"/>
              </a:xfrm>
              <a:prstGeom prst="roundRect">
                <a:avLst/>
              </a:prstGeom>
              <a:solidFill>
                <a:srgbClr val="E8F4F6"/>
              </a:solidFill>
              <a:ln>
                <a:noFill/>
              </a:ln>
            </p:spPr>
          </p:pic>
        </mc:Fallback>
      </mc:AlternateContent>
      <p:sp>
        <p:nvSpPr>
          <p:cNvPr id="15" name="T15"/>
          <p:cNvSpPr txBox="1"/>
          <p:nvPr/>
        </p:nvSpPr>
        <p:spPr>
          <a:xfrm>
            <a:off x="365760" y="2770632"/>
            <a:ext cx="2103120" cy="886968"/>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水平射程</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2770632"/>
                <a:ext cx="5760720" cy="886968"/>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𝑅</m:t>
                      </m:r>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sSup>
                            <m:sSupPr>
                              <m:ctrlPr>
                                <a:rPr lang="en-US" altLang="zh-TW" sz="2400" b="0" i="1">
                                  <a:solidFill>
                                    <a:srgbClr val="2B3050"/>
                                  </a:solidFill>
                                  <a:latin typeface="Cambria Math" panose="02040503050406030204" pitchFamily="18" charset="0"/>
                                  <a:ea typeface="Cambria Math"/>
                                </a:rPr>
                              </m:ctrlPr>
                            </m:sSupPr>
                            <m:e>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𝑣</m:t>
                                  </m:r>
                                </m:e>
                                <m:sub>
                                  <m:r>
                                    <a:rPr lang="en-US" altLang="zh-TW" sz="2400" b="0" i="0">
                                      <a:solidFill>
                                        <a:srgbClr val="2B3050"/>
                                      </a:solidFill>
                                      <a:latin typeface="Cambria Math" panose="02040503050406030204" pitchFamily="18" charset="0"/>
                                      <a:ea typeface="Cambria Math"/>
                                    </a:rPr>
                                    <m:t>0</m:t>
                                  </m:r>
                                </m:sub>
                              </m:sSub>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m:t>
                          </m:r>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𝜃</m:t>
                          </m:r>
                        </m:num>
                        <m:den>
                          <m:r>
                            <a:rPr lang="en-US" altLang="zh-TW" sz="2400" b="0" i="1">
                              <a:solidFill>
                                <a:srgbClr val="2B3050"/>
                              </a:solidFill>
                              <a:latin typeface="Cambria Math" panose="02040503050406030204" pitchFamily="18" charset="0"/>
                              <a:ea typeface="Cambria Math"/>
                            </a:rPr>
                            <m:t>𝑔</m:t>
                          </m:r>
                        </m:den>
                      </m:f>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45° 最遠</m:t>
                      </m:r>
                    </m:oMath>
                  </m:oMathPara>
                </a14:m>
                <a:endParaRPr lang="zh-TW" sz="2400"/>
              </a:p>
            </p:txBody>
          </p:sp>
        </mc:Choice>
        <mc:Fallback xmlns="">
          <p:pic>
            <p:nvPicPr>
              <p:cNvPr id="16" name="F16"/>
              <p:cNvPicPr/>
              <p:nvPr/>
            </p:nvPicPr>
            <p:blipFill>
              <a:blip r:embed="rId4"/>
              <a:stretch>
                <a:fillRect/>
              </a:stretch>
            </p:blipFill>
            <p:spPr>
              <a:xfrm>
                <a:off x="2560320" y="2770632"/>
                <a:ext cx="5760720" cy="886968"/>
              </a:xfrm>
              <a:prstGeom prst="roundRect">
                <a:avLst/>
              </a:prstGeom>
              <a:solidFill>
                <a:srgbClr val="E8F4F6"/>
              </a:solidFill>
              <a:ln>
                <a:noFill/>
              </a:ln>
            </p:spPr>
          </p:pic>
        </mc:Fallback>
      </mc:AlternateContent>
      <p:sp>
        <p:nvSpPr>
          <p:cNvPr id="17" name="T17"/>
          <p:cNvSpPr txBox="1"/>
          <p:nvPr/>
        </p:nvSpPr>
        <p:spPr>
          <a:xfrm>
            <a:off x="365760" y="3749040"/>
            <a:ext cx="7955280" cy="777240"/>
          </a:xfrm>
          <a:prstGeom prst="roundRect">
            <a:avLst/>
          </a:prstGeom>
          <a:solidFill>
            <a:srgbClr val="FDECF4"/>
          </a:solidFill>
          <a:ln w="19050">
            <a:solidFill>
              <a:srgbClr val="D6006F"/>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只適用同高度！例題 2-15、隨堂練習 2 都不能直接套</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公式圖解（三）2-7 極座標</a:t>
            </a:r>
          </a:p>
        </p:txBody>
      </p:sp>
      <p:cxnSp>
        <p:nvCxnSpPr>
          <p:cNvPr id="11" name="L11"/>
          <p:cNvCxnSpPr/>
          <p:nvPr/>
        </p:nvCxnSpPr>
        <p:spPr>
          <a:xfrm>
            <a:off x="822960" y="4206240"/>
            <a:ext cx="3566160" cy="0"/>
          </a:xfrm>
          <a:prstGeom prst="line">
            <a:avLst/>
          </a:prstGeom>
          <a:ln w="15875">
            <a:solidFill>
              <a:srgbClr val="2B3050"/>
            </a:solidFill>
            <a:tailEnd type="triangle" w="med" len="med"/>
          </a:ln>
        </p:spPr>
      </p:cxnSp>
      <p:sp>
        <p:nvSpPr>
          <p:cNvPr id="12" name="T12"/>
          <p:cNvSpPr txBox="1"/>
          <p:nvPr/>
        </p:nvSpPr>
        <p:spPr>
          <a:xfrm>
            <a:off x="4023360" y="4160520"/>
            <a:ext cx="91440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極軸</a:t>
            </a:r>
            <a:endParaRPr lang="zh-TW" sz="2400"/>
          </a:p>
        </p:txBody>
      </p:sp>
      <p:sp>
        <p:nvSpPr>
          <p:cNvPr id="13" name="S13"/>
          <p:cNvSpPr/>
          <p:nvPr/>
        </p:nvSpPr>
        <p:spPr>
          <a:xfrm>
            <a:off x="777240" y="4160520"/>
            <a:ext cx="91440" cy="91440"/>
          </a:xfrm>
          <a:prstGeom prst="ellipse">
            <a:avLst/>
          </a:prstGeom>
          <a:solidFill>
            <a:srgbClr val="2B3050"/>
          </a:solidFill>
          <a:ln>
            <a:noFill/>
          </a:ln>
        </p:spPr>
        <p:txBody>
          <a:bodyPr/>
          <a:lstStyle/>
          <a:p>
            <a:endParaRPr lang="zh-TW" altLang="en-US"/>
          </a:p>
        </p:txBody>
      </p:sp>
      <p:sp>
        <p:nvSpPr>
          <p:cNvPr id="14" name="T14"/>
          <p:cNvSpPr txBox="1"/>
          <p:nvPr/>
        </p:nvSpPr>
        <p:spPr>
          <a:xfrm>
            <a:off x="457200" y="411480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sp>
        <p:nvSpPr>
          <p:cNvPr id="15" name="P15"/>
          <p:cNvSpPr/>
          <p:nvPr/>
        </p:nvSpPr>
        <p:spPr>
          <a:xfrm>
            <a:off x="1729915" y="1714401"/>
            <a:ext cx="710770" cy="2491839"/>
          </a:xfrm>
          <a:custGeom>
            <a:avLst/>
            <a:gdLst/>
            <a:ahLst/>
            <a:cxnLst/>
            <a:rect l="0" t="0" r="r" b="b"/>
            <a:pathLst>
              <a:path w="710770" h="2491839">
                <a:moveTo>
                  <a:pt x="373205" y="2491839"/>
                </a:moveTo>
                <a:lnTo>
                  <a:pt x="411590" y="2445795"/>
                </a:lnTo>
                <a:lnTo>
                  <a:pt x="448272" y="2397073"/>
                </a:lnTo>
                <a:lnTo>
                  <a:pt x="483113" y="2345737"/>
                </a:lnTo>
                <a:lnTo>
                  <a:pt x="515975" y="2291859"/>
                </a:lnTo>
                <a:lnTo>
                  <a:pt x="546722" y="2235517"/>
                </a:lnTo>
                <a:lnTo>
                  <a:pt x="575223" y="2176793"/>
                </a:lnTo>
                <a:lnTo>
                  <a:pt x="601350" y="2115777"/>
                </a:lnTo>
                <a:lnTo>
                  <a:pt x="624977" y="2052565"/>
                </a:lnTo>
                <a:lnTo>
                  <a:pt x="645984" y="1987259"/>
                </a:lnTo>
                <a:lnTo>
                  <a:pt x="664254" y="1919966"/>
                </a:lnTo>
                <a:lnTo>
                  <a:pt x="679673" y="1850800"/>
                </a:lnTo>
                <a:lnTo>
                  <a:pt x="692136" y="1779878"/>
                </a:lnTo>
                <a:lnTo>
                  <a:pt x="701537" y="1707325"/>
                </a:lnTo>
                <a:lnTo>
                  <a:pt x="707779" y="1633270"/>
                </a:lnTo>
                <a:lnTo>
                  <a:pt x="710770" y="1557845"/>
                </a:lnTo>
                <a:lnTo>
                  <a:pt x="710423" y="1481189"/>
                </a:lnTo>
                <a:lnTo>
                  <a:pt x="706655" y="1403445"/>
                </a:lnTo>
                <a:lnTo>
                  <a:pt x="699392" y="1324760"/>
                </a:lnTo>
                <a:lnTo>
                  <a:pt x="688564" y="1245283"/>
                </a:lnTo>
                <a:lnTo>
                  <a:pt x="674108" y="1165170"/>
                </a:lnTo>
                <a:lnTo>
                  <a:pt x="655967" y="1084577"/>
                </a:lnTo>
                <a:lnTo>
                  <a:pt x="634092" y="1003667"/>
                </a:lnTo>
                <a:lnTo>
                  <a:pt x="608440" y="922602"/>
                </a:lnTo>
                <a:lnTo>
                  <a:pt x="578973" y="841548"/>
                </a:lnTo>
                <a:lnTo>
                  <a:pt x="545664" y="760675"/>
                </a:lnTo>
                <a:lnTo>
                  <a:pt x="508489" y="680153"/>
                </a:lnTo>
                <a:lnTo>
                  <a:pt x="467434" y="600154"/>
                </a:lnTo>
                <a:lnTo>
                  <a:pt x="422492" y="520852"/>
                </a:lnTo>
                <a:lnTo>
                  <a:pt x="373663" y="442422"/>
                </a:lnTo>
                <a:lnTo>
                  <a:pt x="320953" y="365039"/>
                </a:lnTo>
                <a:lnTo>
                  <a:pt x="264379" y="288880"/>
                </a:lnTo>
                <a:lnTo>
                  <a:pt x="203962" y="214121"/>
                </a:lnTo>
                <a:lnTo>
                  <a:pt x="139734" y="140937"/>
                </a:lnTo>
                <a:lnTo>
                  <a:pt x="71731" y="69505"/>
                </a:lnTo>
                <a:lnTo>
                  <a:pt x="0" y="0"/>
                </a:lnTo>
              </a:path>
            </a:pathLst>
          </a:custGeom>
          <a:noFill/>
          <a:ln w="25400">
            <a:solidFill>
              <a:srgbClr val="8A8F9C"/>
            </a:solidFill>
            <a:prstDash val="dash"/>
          </a:ln>
        </p:spPr>
        <p:txBody>
          <a:bodyPr/>
          <a:lstStyle/>
          <a:p>
            <a:endParaRPr lang="zh-TW" altLang="en-US"/>
          </a:p>
        </p:txBody>
      </p:sp>
      <p:sp>
        <p:nvSpPr>
          <p:cNvPr id="16" name="S16"/>
          <p:cNvSpPr/>
          <p:nvPr/>
        </p:nvSpPr>
        <p:spPr>
          <a:xfrm>
            <a:off x="2020824" y="4123944"/>
            <a:ext cx="164592" cy="164592"/>
          </a:xfrm>
          <a:prstGeom prst="ellipse">
            <a:avLst/>
          </a:prstGeom>
          <a:solidFill>
            <a:srgbClr val="2B3050"/>
          </a:solidFill>
          <a:ln>
            <a:noFill/>
          </a:ln>
        </p:spPr>
        <p:txBody>
          <a:bodyPr/>
          <a:lstStyle/>
          <a:p>
            <a:endParaRPr lang="zh-TW" altLang="en-US"/>
          </a:p>
        </p:txBody>
      </p:sp>
      <p:cxnSp>
        <p:nvCxnSpPr>
          <p:cNvPr id="17" name="L17"/>
          <p:cNvCxnSpPr/>
          <p:nvPr/>
        </p:nvCxnSpPr>
        <p:spPr>
          <a:xfrm flipV="1">
            <a:off x="822960" y="3039160"/>
            <a:ext cx="1606347" cy="1167080"/>
          </a:xfrm>
          <a:prstGeom prst="line">
            <a:avLst/>
          </a:prstGeom>
          <a:ln w="28575">
            <a:solidFill>
              <a:srgbClr val="2B3050"/>
            </a:solidFill>
          </a:ln>
        </p:spPr>
      </p:cxnSp>
      <p:sp>
        <p:nvSpPr>
          <p:cNvPr id="18" name="T18"/>
          <p:cNvSpPr txBox="1"/>
          <p:nvPr/>
        </p:nvSpPr>
        <p:spPr>
          <a:xfrm>
            <a:off x="1306094" y="3302660"/>
            <a:ext cx="365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r</a:t>
            </a:r>
            <a:endParaRPr lang="zh-TW" sz="2400"/>
          </a:p>
        </p:txBody>
      </p:sp>
      <p:sp>
        <p:nvSpPr>
          <p:cNvPr id="19" name="P19"/>
          <p:cNvSpPr/>
          <p:nvPr/>
        </p:nvSpPr>
        <p:spPr>
          <a:xfrm>
            <a:off x="1266819" y="3883757"/>
            <a:ext cx="104781" cy="322483"/>
          </a:xfrm>
          <a:custGeom>
            <a:avLst/>
            <a:gdLst/>
            <a:ahLst/>
            <a:cxnLst/>
            <a:rect l="0" t="0" r="r" b="b"/>
            <a:pathLst>
              <a:path w="104781" h="322483">
                <a:moveTo>
                  <a:pt x="104781" y="322483"/>
                </a:moveTo>
                <a:lnTo>
                  <a:pt x="104029" y="293769"/>
                </a:lnTo>
                <a:lnTo>
                  <a:pt x="101775" y="265134"/>
                </a:lnTo>
                <a:lnTo>
                  <a:pt x="98026" y="236656"/>
                </a:lnTo>
                <a:lnTo>
                  <a:pt x="92792" y="208414"/>
                </a:lnTo>
                <a:lnTo>
                  <a:pt x="86086" y="180484"/>
                </a:lnTo>
                <a:lnTo>
                  <a:pt x="77929" y="152943"/>
                </a:lnTo>
                <a:lnTo>
                  <a:pt x="68340" y="125868"/>
                </a:lnTo>
                <a:lnTo>
                  <a:pt x="57348" y="99331"/>
                </a:lnTo>
                <a:lnTo>
                  <a:pt x="44983" y="73405"/>
                </a:lnTo>
                <a:lnTo>
                  <a:pt x="31277" y="48163"/>
                </a:lnTo>
                <a:lnTo>
                  <a:pt x="16269" y="23672"/>
                </a:lnTo>
                <a:lnTo>
                  <a:pt x="0" y="0"/>
                </a:lnTo>
              </a:path>
            </a:pathLst>
          </a:custGeom>
          <a:noFill/>
          <a:ln w="15875">
            <a:solidFill>
              <a:srgbClr val="2B3050"/>
            </a:solidFill>
          </a:ln>
        </p:spPr>
        <p:txBody>
          <a:bodyPr/>
          <a:lstStyle/>
          <a:p>
            <a:endParaRPr lang="zh-TW" altLang="en-US"/>
          </a:p>
        </p:txBody>
      </p:sp>
      <p:sp>
        <p:nvSpPr>
          <p:cNvPr id="20" name="T20"/>
          <p:cNvSpPr txBox="1"/>
          <p:nvPr/>
        </p:nvSpPr>
        <p:spPr>
          <a:xfrm>
            <a:off x="1417320" y="3794760"/>
            <a:ext cx="365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θ</a:t>
            </a:r>
            <a:endParaRPr lang="zh-TW" sz="2400"/>
          </a:p>
        </p:txBody>
      </p:sp>
      <p:cxnSp>
        <p:nvCxnSpPr>
          <p:cNvPr id="21" name="L21"/>
          <p:cNvCxnSpPr/>
          <p:nvPr/>
        </p:nvCxnSpPr>
        <p:spPr>
          <a:xfrm flipV="1">
            <a:off x="2429307" y="2609184"/>
            <a:ext cx="591812" cy="429977"/>
          </a:xfrm>
          <a:prstGeom prst="line">
            <a:avLst/>
          </a:prstGeom>
          <a:ln w="38100">
            <a:solidFill>
              <a:srgbClr val="1F8899"/>
            </a:solidFill>
            <a:tailEnd type="triangle" w="med" len="med"/>
          </a:ln>
        </p:spPr>
      </p:cxnSp>
      <mc:AlternateContent xmlns:mc="http://schemas.openxmlformats.org/markup-compatibility/2006" xmlns:a14="http://schemas.microsoft.com/office/drawing/2010/main">
        <mc:Choice Requires="a14">
          <p:sp>
            <p:nvSpPr>
              <p:cNvPr id="22" name="T22"/>
              <p:cNvSpPr txBox="1"/>
              <p:nvPr/>
            </p:nvSpPr>
            <p:spPr>
              <a:xfrm>
                <a:off x="3021119" y="2426304"/>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oMath>
                  </m:oMathPara>
                </a14:m>
                <a:endParaRPr lang="zh-TW" sz="2400"/>
              </a:p>
            </p:txBody>
          </p:sp>
        </mc:Choice>
        <mc:Fallback xmlns="">
          <p:pic>
            <p:nvPicPr>
              <p:cNvPr id="22" name="F22"/>
              <p:cNvPicPr/>
              <p:nvPr/>
            </p:nvPicPr>
            <p:blipFill>
              <a:blip r:embed="rId2"/>
              <a:stretch>
                <a:fillRect/>
              </a:stretch>
            </p:blipFill>
            <p:spPr>
              <a:xfrm>
                <a:off x="3021119" y="2426304"/>
                <a:ext cx="548640" cy="411480"/>
              </a:xfrm>
              <a:prstGeom prst="rect">
                <a:avLst/>
              </a:prstGeom>
              <a:noFill/>
              <a:ln>
                <a:noFill/>
              </a:ln>
            </p:spPr>
          </p:pic>
        </mc:Fallback>
      </mc:AlternateContent>
      <p:cxnSp>
        <p:nvCxnSpPr>
          <p:cNvPr id="23" name="L23"/>
          <p:cNvCxnSpPr/>
          <p:nvPr/>
        </p:nvCxnSpPr>
        <p:spPr>
          <a:xfrm>
            <a:off x="1999330" y="2447348"/>
            <a:ext cx="429977" cy="591812"/>
          </a:xfrm>
          <a:prstGeom prst="line">
            <a:avLst/>
          </a:prstGeom>
          <a:ln w="38100">
            <a:solidFill>
              <a:srgbClr val="D6006F"/>
            </a:solidFill>
            <a:headEnd type="triangle" w="med" len="med"/>
          </a:ln>
        </p:spPr>
      </p:cxnSp>
      <mc:AlternateContent xmlns:mc="http://schemas.openxmlformats.org/markup-compatibility/2006" xmlns:a14="http://schemas.microsoft.com/office/drawing/2010/main">
        <mc:Choice Requires="a14">
          <p:sp>
            <p:nvSpPr>
              <p:cNvPr id="24" name="T24"/>
              <p:cNvSpPr txBox="1"/>
              <p:nvPr/>
            </p:nvSpPr>
            <p:spPr>
              <a:xfrm>
                <a:off x="1496410" y="2127308"/>
                <a:ext cx="54864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𝑒</m:t>
                              </m:r>
                            </m:e>
                          </m:acc>
                        </m:e>
                        <m:sub>
                          <m:r>
                            <a:rPr lang="en-US" altLang="zh-TW" sz="2400" b="0" i="1">
                              <a:solidFill>
                                <a:srgbClr val="D6006F"/>
                              </a:solidFill>
                              <a:latin typeface="Cambria Math" panose="02040503050406030204" pitchFamily="18" charset="0"/>
                              <a:ea typeface="Cambria Math"/>
                            </a:rPr>
                            <m:t>𝜃</m:t>
                          </m:r>
                        </m:sub>
                      </m:sSub>
                    </m:oMath>
                  </m:oMathPara>
                </a14:m>
                <a:endParaRPr lang="zh-TW" sz="2400"/>
              </a:p>
            </p:txBody>
          </p:sp>
        </mc:Choice>
        <mc:Fallback xmlns="">
          <p:pic>
            <p:nvPicPr>
              <p:cNvPr id="24" name="F24"/>
              <p:cNvPicPr/>
              <p:nvPr/>
            </p:nvPicPr>
            <p:blipFill>
              <a:blip r:embed="rId3"/>
              <a:stretch>
                <a:fillRect/>
              </a:stretch>
            </p:blipFill>
            <p:spPr>
              <a:xfrm>
                <a:off x="1496410" y="2127308"/>
                <a:ext cx="548640" cy="411480"/>
              </a:xfrm>
              <a:prstGeom prst="rect">
                <a:avLst/>
              </a:prstGeom>
              <a:noFill/>
              <a:ln>
                <a:noFill/>
              </a:ln>
            </p:spPr>
          </p:pic>
        </mc:Fallback>
      </mc:AlternateContent>
      <p:cxnSp>
        <p:nvCxnSpPr>
          <p:cNvPr id="25" name="L25"/>
          <p:cNvCxnSpPr/>
          <p:nvPr/>
        </p:nvCxnSpPr>
        <p:spPr>
          <a:xfrm>
            <a:off x="2255769" y="1820233"/>
            <a:ext cx="173538" cy="1218927"/>
          </a:xfrm>
          <a:prstGeom prst="line">
            <a:avLst/>
          </a:prstGeom>
          <a:ln w="38100">
            <a:solidFill>
              <a:srgbClr val="C8901F"/>
            </a:solidFill>
            <a:headEnd type="triangle" w="med" len="med"/>
          </a:ln>
        </p:spPr>
      </p:cxnSp>
      <mc:AlternateContent xmlns:mc="http://schemas.openxmlformats.org/markup-compatibility/2006" xmlns:a14="http://schemas.microsoft.com/office/drawing/2010/main">
        <mc:Choice Requires="a14">
          <p:sp>
            <p:nvSpPr>
              <p:cNvPr id="26" name="T26"/>
              <p:cNvSpPr txBox="1"/>
              <p:nvPr/>
            </p:nvSpPr>
            <p:spPr>
              <a:xfrm>
                <a:off x="2164329" y="1408753"/>
                <a:ext cx="457200" cy="41148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oMath>
                  </m:oMathPara>
                </a14:m>
                <a:endParaRPr lang="zh-TW" sz="2400"/>
              </a:p>
            </p:txBody>
          </p:sp>
        </mc:Choice>
        <mc:Fallback xmlns="">
          <p:pic>
            <p:nvPicPr>
              <p:cNvPr id="26" name="F26"/>
              <p:cNvPicPr/>
              <p:nvPr/>
            </p:nvPicPr>
            <p:blipFill>
              <a:blip r:embed="rId4"/>
              <a:stretch>
                <a:fillRect/>
              </a:stretch>
            </p:blipFill>
            <p:spPr>
              <a:xfrm>
                <a:off x="2164329" y="1408753"/>
                <a:ext cx="457200" cy="41148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7" name="T27"/>
              <p:cNvSpPr txBox="1"/>
              <p:nvPr/>
            </p:nvSpPr>
            <p:spPr>
              <a:xfrm>
                <a:off x="4526280" y="86868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r>
                        <a:rPr lang="en-US" altLang="zh-TW" sz="2400" b="0" i="0">
                          <a:solidFill>
                            <a:srgbClr val="1F8899"/>
                          </a:solidFill>
                          <a:latin typeface="Cambria Math" panose="02040503050406030204" pitchFamily="18" charset="0"/>
                          <a:ea typeface="Cambria Math"/>
                        </a:rPr>
                        <m:t>　</m:t>
                      </m:r>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𝑣</m:t>
                          </m:r>
                        </m:e>
                        <m:sub>
                          <m:r>
                            <a:rPr lang="en-US" altLang="zh-TW" sz="2400" b="0" i="1">
                              <a:solidFill>
                                <a:srgbClr val="1F8899"/>
                              </a:solidFill>
                              <a:latin typeface="Cambria Math" panose="02040503050406030204" pitchFamily="18" charset="0"/>
                              <a:ea typeface="Cambria Math"/>
                            </a:rPr>
                            <m:t>𝜃</m:t>
                          </m:r>
                        </m:sub>
                      </m:sSub>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oMath>
                  </m:oMathPara>
                </a14:m>
                <a:endParaRPr lang="zh-TW" sz="2400"/>
              </a:p>
            </p:txBody>
          </p:sp>
        </mc:Choice>
        <mc:Fallback xmlns="">
          <p:pic>
            <p:nvPicPr>
              <p:cNvPr id="27" name="F27"/>
              <p:cNvPicPr/>
              <p:nvPr/>
            </p:nvPicPr>
            <p:blipFill>
              <a:blip r:embed="rId5"/>
              <a:stretch>
                <a:fillRect/>
              </a:stretch>
            </p:blipFill>
            <p:spPr>
              <a:xfrm>
                <a:off x="4526280" y="868680"/>
                <a:ext cx="38404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8" name="T28"/>
              <p:cNvSpPr txBox="1"/>
              <p:nvPr/>
            </p:nvSpPr>
            <p:spPr>
              <a:xfrm>
                <a:off x="4526280" y="141732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1F8899"/>
                              </a:solidFill>
                              <a:latin typeface="Cambria Math" panose="02040503050406030204" pitchFamily="18" charset="0"/>
                              <a:ea typeface="Cambria Math"/>
                            </a:rPr>
                          </m:ctrlPr>
                        </m:sSubPr>
                        <m:e>
                          <m:r>
                            <a:rPr lang="en-US" altLang="zh-TW" sz="2400" b="0" i="1">
                              <a:solidFill>
                                <a:srgbClr val="1F8899"/>
                              </a:solidFill>
                              <a:latin typeface="Cambria Math" panose="02040503050406030204" pitchFamily="18" charset="0"/>
                              <a:ea typeface="Cambria Math"/>
                            </a:rPr>
                            <m:t>𝑎</m:t>
                          </m:r>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𝑟</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sSup>
                        <m:sSupPr>
                          <m:ctrlPr>
                            <a:rPr lang="en-US" altLang="zh-TW" sz="2400" b="0" i="1">
                              <a:solidFill>
                                <a:srgbClr val="1F8899"/>
                              </a:solidFill>
                              <a:latin typeface="Cambria Math" panose="02040503050406030204" pitchFamily="18" charset="0"/>
                              <a:ea typeface="Cambria Math"/>
                            </a:rPr>
                          </m:ctrlPr>
                        </m:sSup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𝜃</m:t>
                              </m:r>
                            </m:e>
                          </m:acc>
                        </m:e>
                        <m:sup>
                          <m:r>
                            <a:rPr lang="en-US" altLang="zh-TW" sz="2400" b="0" i="0">
                              <a:solidFill>
                                <a:srgbClr val="1F8899"/>
                              </a:solidFill>
                              <a:latin typeface="Cambria Math" panose="02040503050406030204" pitchFamily="18" charset="0"/>
                              <a:ea typeface="Cambria Math"/>
                            </a:rPr>
                            <m:t>2</m:t>
                          </m:r>
                        </m:sup>
                      </m:sSup>
                    </m:oMath>
                  </m:oMathPara>
                </a14:m>
                <a:endParaRPr lang="zh-TW" sz="2400"/>
              </a:p>
            </p:txBody>
          </p:sp>
        </mc:Choice>
        <mc:Fallback xmlns="">
          <p:pic>
            <p:nvPicPr>
              <p:cNvPr id="28" name="F28"/>
              <p:cNvPicPr/>
              <p:nvPr/>
            </p:nvPicPr>
            <p:blipFill>
              <a:blip r:embed="rId6"/>
              <a:stretch>
                <a:fillRect/>
              </a:stretch>
            </p:blipFill>
            <p:spPr>
              <a:xfrm>
                <a:off x="4526280" y="1417320"/>
                <a:ext cx="384048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9" name="T29"/>
              <p:cNvSpPr txBox="1"/>
              <p:nvPr/>
            </p:nvSpPr>
            <p:spPr>
              <a:xfrm>
                <a:off x="4526280" y="1965960"/>
                <a:ext cx="384048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D6006F"/>
                              </a:solidFill>
                              <a:latin typeface="Cambria Math" panose="02040503050406030204" pitchFamily="18" charset="0"/>
                              <a:ea typeface="Cambria Math"/>
                            </a:rPr>
                          </m:ctrlPr>
                        </m:sSubPr>
                        <m:e>
                          <m:r>
                            <a:rPr lang="en-US" altLang="zh-TW" sz="2400" b="0" i="1">
                              <a:solidFill>
                                <a:srgbClr val="D6006F"/>
                              </a:solidFill>
                              <a:latin typeface="Cambria Math" panose="02040503050406030204" pitchFamily="18" charset="0"/>
                              <a:ea typeface="Cambria Math"/>
                            </a:rPr>
                            <m:t>𝑎</m:t>
                          </m:r>
                        </m:e>
                        <m:sub>
                          <m:r>
                            <a:rPr lang="en-US" altLang="zh-TW" sz="2400" b="0" i="1">
                              <a:solidFill>
                                <a:srgbClr val="D6006F"/>
                              </a:solidFill>
                              <a:latin typeface="Cambria Math" panose="02040503050406030204" pitchFamily="18" charset="0"/>
                              <a:ea typeface="Cambria Math"/>
                            </a:rPr>
                            <m:t>𝜃</m:t>
                          </m:r>
                        </m:sub>
                      </m:sSub>
                      <m:r>
                        <a:rPr lang="en-US" altLang="zh-TW" sz="2400" b="0" i="0">
                          <a:solidFill>
                            <a:srgbClr val="D6006F"/>
                          </a:solidFill>
                          <a:latin typeface="Cambria Math" panose="02040503050406030204" pitchFamily="18" charset="0"/>
                          <a:ea typeface="Cambria Math"/>
                        </a:rPr>
                        <m:t> = </m:t>
                      </m:r>
                      <m:r>
                        <a:rPr lang="en-US" altLang="zh-TW" sz="2400" b="0" i="1">
                          <a:solidFill>
                            <a:srgbClr val="D6006F"/>
                          </a:solidFill>
                          <a:latin typeface="Cambria Math" panose="02040503050406030204" pitchFamily="18" charset="0"/>
                          <a:ea typeface="Cambria Math"/>
                        </a:rPr>
                        <m:t>𝑟</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r>
                        <a:rPr lang="en-US" altLang="zh-TW" sz="2400" b="0" i="0">
                          <a:solidFill>
                            <a:srgbClr val="D6006F"/>
                          </a:solidFill>
                          <a:latin typeface="Cambria Math" panose="02040503050406030204" pitchFamily="18" charset="0"/>
                          <a:ea typeface="Cambria Math"/>
                        </a:rPr>
                        <m:t> + 2</m:t>
                      </m:r>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𝑟</m:t>
                          </m:r>
                        </m:e>
                      </m:acc>
                      <m:acc>
                        <m:accPr>
                          <m:chr m:val="̇"/>
                          <m:ctrlPr>
                            <a:rPr lang="en-US" altLang="zh-TW" sz="2400" b="0" i="1">
                              <a:solidFill>
                                <a:srgbClr val="D6006F"/>
                              </a:solidFill>
                              <a:latin typeface="Cambria Math" panose="02040503050406030204" pitchFamily="18" charset="0"/>
                              <a:ea typeface="Cambria Math"/>
                            </a:rPr>
                          </m:ctrlPr>
                        </m:accPr>
                        <m:e>
                          <m:r>
                            <a:rPr lang="en-US" altLang="zh-TW" sz="2400" b="0" i="1">
                              <a:solidFill>
                                <a:srgbClr val="D6006F"/>
                              </a:solidFill>
                              <a:latin typeface="Cambria Math" panose="02040503050406030204" pitchFamily="18" charset="0"/>
                              <a:ea typeface="Cambria Math"/>
                            </a:rPr>
                            <m:t>𝜃</m:t>
                          </m:r>
                        </m:e>
                      </m:acc>
                    </m:oMath>
                  </m:oMathPara>
                </a14:m>
                <a:endParaRPr lang="zh-TW" sz="2400"/>
              </a:p>
            </p:txBody>
          </p:sp>
        </mc:Choice>
        <mc:Fallback xmlns="">
          <p:pic>
            <p:nvPicPr>
              <p:cNvPr id="29" name="F29"/>
              <p:cNvPicPr/>
              <p:nvPr/>
            </p:nvPicPr>
            <p:blipFill>
              <a:blip r:embed="rId7"/>
              <a:stretch>
                <a:fillRect/>
              </a:stretch>
            </p:blipFill>
            <p:spPr>
              <a:xfrm>
                <a:off x="4526280" y="1965960"/>
                <a:ext cx="3840480" cy="548640"/>
              </a:xfrm>
              <a:prstGeom prst="rect">
                <a:avLst/>
              </a:prstGeom>
              <a:noFill/>
              <a:ln>
                <a:noFill/>
              </a:ln>
            </p:spPr>
          </p:pic>
        </mc:Fallback>
      </mc:AlternateContent>
      <p:sp>
        <p:nvSpPr>
          <p:cNvPr id="30" name="T30"/>
          <p:cNvSpPr txBox="1"/>
          <p:nvPr/>
        </p:nvSpPr>
        <p:spPr>
          <a:xfrm>
            <a:off x="4526280" y="2606040"/>
            <a:ext cx="3840480" cy="1417320"/>
          </a:xfrm>
          <a:prstGeom prst="roundRect">
            <a:avLst/>
          </a:prstGeom>
          <a:solidFill>
            <a:srgbClr val="E8F4F6"/>
          </a:solidFill>
          <a:ln w="19050">
            <a:solidFill>
              <a:srgbClr val="1F8899"/>
            </a:solid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eᵣ：沿 r 向外</a:t>
            </a:r>
            <a:endParaRPr lang="zh-TW" sz="2400"/>
          </a:p>
          <a:p>
            <a:pPr algn="l">
              <a:lnSpc>
                <a:spcPct val="100000"/>
              </a:lnSpc>
              <a:buNone/>
            </a:pPr>
            <a:r>
              <a:rPr lang="zh-TW" altLang="en-US" sz="2400" b="0" dirty="0">
                <a:solidFill>
                  <a:srgbClr val="2B3050"/>
                </a:solidFill>
                <a:latin typeface="Calibri"/>
                <a:ea typeface="微軟正黑體"/>
                <a:cs typeface="Calibri"/>
              </a:rPr>
              <a:t>eθ：垂直 r，往 θ 增加</a:t>
            </a:r>
            <a:endParaRPr lang="zh-TW" sz="2400"/>
          </a:p>
          <a:p>
            <a:pPr algn="l">
              <a:lnSpc>
                <a:spcPct val="100000"/>
              </a:lnSpc>
              <a:buNone/>
            </a:pPr>
            <a:r>
              <a:rPr lang="zh-TW" altLang="en-US" sz="2400" b="0" dirty="0">
                <a:solidFill>
                  <a:srgbClr val="2B3050"/>
                </a:solidFill>
                <a:latin typeface="Calibri"/>
                <a:ea typeface="微軟正黑體"/>
                <a:cs typeface="Calibri"/>
              </a:rPr>
              <a:t>兩者跟著 P 一起轉</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0" presetClass="path" presetSubtype="0" fill="hold" grpId="0" nodeType="withEffect">
                                  <p:stCondLst>
                                    <p:cond delay="0"/>
                                  </p:stCondLst>
                                  <p:childTnLst>
                                    <p:animMotion origin="layout" path="M 0 0 L 0.00000 0.00000 L 0.00420 -0.00895 L 0.00821 -0.01842 L 0.01202 -0.02841 L 0.01561 -0.03888 L 0.01898 -0.04983 L 0.02209 -0.06125 L 0.02495 -0.07311 L 0.02753 -0.08540 L 0.02983 -0.09810 L 0.03183 -0.11118 L 0.03352 -0.12463 L 0.03488 -0.13842 L 0.03591 -0.15253 L 0.03659 -0.16692 L 0.03692 -0.18159 L 0.03688 -0.19649 L 0.03647 -0.21161 L 0.03567 -0.22690 E" pathEditMode="relative" ptsTypes="">
                                      <p:cBhvr>
                                        <p:cTn id="9" dur="2000" fill="hold"/>
                                        <p:tgtEl>
                                          <p:spTgt spid="16"/>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記憶口訣（三）極座標</a:t>
            </a:r>
          </a:p>
        </p:txBody>
      </p:sp>
      <p:sp>
        <p:nvSpPr>
          <p:cNvPr id="11" name="T11"/>
          <p:cNvSpPr txBox="1"/>
          <p:nvPr/>
        </p:nvSpPr>
        <p:spPr>
          <a:xfrm>
            <a:off x="365760" y="868680"/>
            <a:ext cx="3108960" cy="86868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速度：r 點、r θ 點</a:t>
            </a:r>
            <a:endParaRPr lang="zh-TW" sz="2400"/>
          </a:p>
        </p:txBody>
      </p:sp>
      <p:sp>
        <p:nvSpPr>
          <p:cNvPr id="12" name="T12"/>
          <p:cNvSpPr txBox="1"/>
          <p:nvPr/>
        </p:nvSpPr>
        <p:spPr>
          <a:xfrm>
            <a:off x="3566160" y="868680"/>
            <a:ext cx="4754880" cy="86868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vᵣ = ṙ（長度在變）</a:t>
            </a:r>
            <a:endParaRPr lang="zh-TW" sz="2400"/>
          </a:p>
          <a:p>
            <a:pPr algn="l">
              <a:lnSpc>
                <a:spcPct val="100000"/>
              </a:lnSpc>
              <a:buNone/>
            </a:pPr>
            <a:r>
              <a:rPr lang="zh-TW" altLang="en-US" sz="2400" b="0" dirty="0">
                <a:solidFill>
                  <a:srgbClr val="2B3050"/>
                </a:solidFill>
                <a:latin typeface="Calibri"/>
                <a:ea typeface="微軟正黑體"/>
                <a:cs typeface="Calibri"/>
              </a:rPr>
              <a:t>vθ = rθ̇（角度在變）</a:t>
            </a:r>
            <a:endParaRPr lang="zh-TW" sz="2400"/>
          </a:p>
        </p:txBody>
      </p:sp>
      <p:sp>
        <p:nvSpPr>
          <p:cNvPr id="13" name="T13"/>
          <p:cNvSpPr txBox="1"/>
          <p:nvPr/>
        </p:nvSpPr>
        <p:spPr>
          <a:xfrm>
            <a:off x="365760" y="1828800"/>
            <a:ext cx="3108960" cy="86868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aᵣ：兩點減平方</a:t>
            </a:r>
            <a:endParaRPr lang="zh-TW" sz="2400"/>
          </a:p>
        </p:txBody>
      </p:sp>
      <p:sp>
        <p:nvSpPr>
          <p:cNvPr id="14" name="T14"/>
          <p:cNvSpPr txBox="1"/>
          <p:nvPr/>
        </p:nvSpPr>
        <p:spPr>
          <a:xfrm>
            <a:off x="3566160" y="1828800"/>
            <a:ext cx="4754880" cy="86868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 兩點 減 r θ點平方</a:t>
            </a:r>
            <a:endParaRPr lang="zh-TW" sz="2400"/>
          </a:p>
          <a:p>
            <a:pPr algn="l">
              <a:lnSpc>
                <a:spcPct val="100000"/>
              </a:lnSpc>
              <a:buNone/>
            </a:pPr>
            <a:r>
              <a:rPr lang="zh-TW" altLang="en-US" sz="2400" b="0" dirty="0">
                <a:solidFill>
                  <a:srgbClr val="2B3050"/>
                </a:solidFill>
                <a:latin typeface="Calibri"/>
                <a:ea typeface="微軟正黑體"/>
                <a:cs typeface="Calibri"/>
              </a:rPr>
              <a:t>aᵣ = r̈ − rθ̇²（減的是向心）</a:t>
            </a:r>
            <a:endParaRPr lang="zh-TW" sz="2400"/>
          </a:p>
        </p:txBody>
      </p:sp>
      <p:sp>
        <p:nvSpPr>
          <p:cNvPr id="15" name="T15"/>
          <p:cNvSpPr txBox="1"/>
          <p:nvPr/>
        </p:nvSpPr>
        <p:spPr>
          <a:xfrm>
            <a:off x="365760" y="2788920"/>
            <a:ext cx="3108960" cy="86868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aθ：θ兩點加兩倍</a:t>
            </a:r>
            <a:endParaRPr lang="zh-TW" sz="2400"/>
          </a:p>
        </p:txBody>
      </p:sp>
      <p:sp>
        <p:nvSpPr>
          <p:cNvPr id="16" name="T16"/>
          <p:cNvSpPr txBox="1"/>
          <p:nvPr/>
        </p:nvSpPr>
        <p:spPr>
          <a:xfrm>
            <a:off x="3566160" y="2788920"/>
            <a:ext cx="4754880" cy="86868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 θ兩點 加 2 r點θ點</a:t>
            </a:r>
            <a:endParaRPr lang="zh-TW" sz="2400"/>
          </a:p>
          <a:p>
            <a:pPr algn="l">
              <a:lnSpc>
                <a:spcPct val="100000"/>
              </a:lnSpc>
              <a:buNone/>
            </a:pPr>
            <a:r>
              <a:rPr lang="zh-TW" altLang="en-US" sz="2400" b="0" dirty="0">
                <a:solidFill>
                  <a:srgbClr val="2B3050"/>
                </a:solidFill>
                <a:latin typeface="Calibri"/>
                <a:ea typeface="微軟正黑體"/>
                <a:cs typeface="Calibri"/>
              </a:rPr>
              <a:t>aθ = rθ̈ + 2ṙθ̇（2 倍是科氏）</a:t>
            </a:r>
            <a:endParaRPr lang="zh-TW" sz="2400"/>
          </a:p>
        </p:txBody>
      </p:sp>
      <p:sp>
        <p:nvSpPr>
          <p:cNvPr id="17" name="T17"/>
          <p:cNvSpPr txBox="1"/>
          <p:nvPr/>
        </p:nvSpPr>
        <p:spPr>
          <a:xfrm>
            <a:off x="365760" y="374904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先微分，再代值</a:t>
            </a:r>
            <a:endParaRPr lang="zh-TW" sz="2400"/>
          </a:p>
        </p:txBody>
      </p:sp>
      <p:sp>
        <p:nvSpPr>
          <p:cNvPr id="18" name="T18"/>
          <p:cNvSpPr txBox="1"/>
          <p:nvPr/>
        </p:nvSpPr>
        <p:spPr>
          <a:xfrm>
            <a:off x="3566160" y="374904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r、θ 都要微兩次，最後才代 t</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公式圖解（四）圓周運動與圓柱座標</a:t>
            </a:r>
          </a:p>
        </p:txBody>
      </p:sp>
      <p:sp>
        <p:nvSpPr>
          <p:cNvPr id="11" name="P11"/>
          <p:cNvSpPr/>
          <p:nvPr/>
        </p:nvSpPr>
        <p:spPr>
          <a:xfrm>
            <a:off x="868680" y="1463040"/>
            <a:ext cx="2651760" cy="2651760"/>
          </a:xfrm>
          <a:custGeom>
            <a:avLst/>
            <a:gdLst/>
            <a:ahLst/>
            <a:cxnLst/>
            <a:rect l="0" t="0" r="r" b="b"/>
            <a:pathLst>
              <a:path w="2651760" h="2651760">
                <a:moveTo>
                  <a:pt x="2651760" y="1325880"/>
                </a:moveTo>
                <a:lnTo>
                  <a:pt x="2635436" y="1118467"/>
                </a:lnTo>
                <a:lnTo>
                  <a:pt x="2586867" y="916161"/>
                </a:lnTo>
                <a:lnTo>
                  <a:pt x="2507248" y="723943"/>
                </a:lnTo>
                <a:lnTo>
                  <a:pt x="2398539" y="546547"/>
                </a:lnTo>
                <a:lnTo>
                  <a:pt x="2263419" y="388341"/>
                </a:lnTo>
                <a:lnTo>
                  <a:pt x="2105213" y="253221"/>
                </a:lnTo>
                <a:lnTo>
                  <a:pt x="1927817" y="144512"/>
                </a:lnTo>
                <a:lnTo>
                  <a:pt x="1735599" y="64893"/>
                </a:lnTo>
                <a:lnTo>
                  <a:pt x="1533293" y="16324"/>
                </a:lnTo>
                <a:lnTo>
                  <a:pt x="1325880" y="0"/>
                </a:lnTo>
                <a:lnTo>
                  <a:pt x="1118467" y="16324"/>
                </a:lnTo>
                <a:lnTo>
                  <a:pt x="916161" y="64893"/>
                </a:lnTo>
                <a:lnTo>
                  <a:pt x="723943" y="144512"/>
                </a:lnTo>
                <a:lnTo>
                  <a:pt x="546547" y="253221"/>
                </a:lnTo>
                <a:lnTo>
                  <a:pt x="388341" y="388341"/>
                </a:lnTo>
                <a:lnTo>
                  <a:pt x="253221" y="546547"/>
                </a:lnTo>
                <a:lnTo>
                  <a:pt x="144512" y="723943"/>
                </a:lnTo>
                <a:lnTo>
                  <a:pt x="64893" y="916161"/>
                </a:lnTo>
                <a:lnTo>
                  <a:pt x="16324" y="1118467"/>
                </a:lnTo>
                <a:lnTo>
                  <a:pt x="0" y="1325880"/>
                </a:lnTo>
                <a:lnTo>
                  <a:pt x="16324" y="1533293"/>
                </a:lnTo>
                <a:lnTo>
                  <a:pt x="64893" y="1735599"/>
                </a:lnTo>
                <a:lnTo>
                  <a:pt x="144512" y="1927817"/>
                </a:lnTo>
                <a:lnTo>
                  <a:pt x="253221" y="2105213"/>
                </a:lnTo>
                <a:lnTo>
                  <a:pt x="388341" y="2263419"/>
                </a:lnTo>
                <a:lnTo>
                  <a:pt x="546547" y="2398539"/>
                </a:lnTo>
                <a:lnTo>
                  <a:pt x="723943" y="2507248"/>
                </a:lnTo>
                <a:lnTo>
                  <a:pt x="916161" y="2586867"/>
                </a:lnTo>
                <a:lnTo>
                  <a:pt x="1118467" y="2635436"/>
                </a:lnTo>
                <a:lnTo>
                  <a:pt x="1325880" y="2651760"/>
                </a:lnTo>
                <a:lnTo>
                  <a:pt x="1533293" y="2635436"/>
                </a:lnTo>
                <a:lnTo>
                  <a:pt x="1735599" y="2586867"/>
                </a:lnTo>
                <a:lnTo>
                  <a:pt x="1927817" y="2507248"/>
                </a:lnTo>
                <a:lnTo>
                  <a:pt x="2105213" y="2398539"/>
                </a:lnTo>
                <a:lnTo>
                  <a:pt x="2263419" y="2263419"/>
                </a:lnTo>
                <a:lnTo>
                  <a:pt x="2398539" y="2105213"/>
                </a:lnTo>
                <a:lnTo>
                  <a:pt x="2507248" y="1927817"/>
                </a:lnTo>
                <a:lnTo>
                  <a:pt x="2586867" y="1735599"/>
                </a:lnTo>
                <a:lnTo>
                  <a:pt x="2635436" y="1533293"/>
                </a:lnTo>
                <a:lnTo>
                  <a:pt x="2651760" y="1325880"/>
                </a:lnTo>
              </a:path>
            </a:pathLst>
          </a:custGeom>
          <a:noFill/>
          <a:ln w="19050">
            <a:solidFill>
              <a:srgbClr val="8A8F9C"/>
            </a:solidFill>
            <a:prstDash val="dash"/>
          </a:ln>
        </p:spPr>
        <p:txBody>
          <a:bodyPr/>
          <a:lstStyle/>
          <a:p>
            <a:endParaRPr lang="zh-TW" altLang="en-US"/>
          </a:p>
        </p:txBody>
      </p:sp>
      <p:sp>
        <p:nvSpPr>
          <p:cNvPr id="12" name="S12"/>
          <p:cNvSpPr/>
          <p:nvPr/>
        </p:nvSpPr>
        <p:spPr>
          <a:xfrm>
            <a:off x="2148840" y="2743200"/>
            <a:ext cx="91440" cy="91440"/>
          </a:xfrm>
          <a:prstGeom prst="ellipse">
            <a:avLst/>
          </a:prstGeom>
          <a:solidFill>
            <a:srgbClr val="2B3050"/>
          </a:solidFill>
          <a:ln>
            <a:noFill/>
          </a:ln>
        </p:spPr>
        <p:txBody>
          <a:bodyPr/>
          <a:lstStyle/>
          <a:p>
            <a:endParaRPr lang="zh-TW" altLang="en-US"/>
          </a:p>
        </p:txBody>
      </p:sp>
      <p:sp>
        <p:nvSpPr>
          <p:cNvPr id="13" name="T13"/>
          <p:cNvSpPr txBox="1"/>
          <p:nvPr/>
        </p:nvSpPr>
        <p:spPr>
          <a:xfrm>
            <a:off x="2057400" y="2788920"/>
            <a:ext cx="365760" cy="384048"/>
          </a:xfrm>
          <a:prstGeom prst="rect">
            <a:avLst/>
          </a:prstGeom>
          <a:noFill/>
          <a:ln>
            <a:noFill/>
          </a:ln>
        </p:spPr>
        <p:txBody>
          <a:bodyPr wrap="square" lIns="54864" tIns="27432" rIns="54864" bIns="27432" anchor="t">
            <a:noAutofit/>
          </a:bodyPr>
          <a:lstStyle/>
          <a:p>
            <a:pPr algn="l">
              <a:lnSpc>
                <a:spcPct val="100000"/>
              </a:lnSpc>
              <a:buNone/>
            </a:pPr>
            <a:r>
              <a:rPr lang="zh-TW" altLang="en-US" sz="2400" b="1" dirty="0">
                <a:solidFill>
                  <a:srgbClr val="2B3050"/>
                </a:solidFill>
                <a:latin typeface="Calibri"/>
                <a:ea typeface="微軟正黑體"/>
                <a:cs typeface="Calibri"/>
              </a:rPr>
              <a:t>O</a:t>
            </a:r>
            <a:endParaRPr lang="zh-TW" sz="2400"/>
          </a:p>
        </p:txBody>
      </p:sp>
      <p:cxnSp>
        <p:nvCxnSpPr>
          <p:cNvPr id="14" name="L14"/>
          <p:cNvCxnSpPr/>
          <p:nvPr/>
        </p:nvCxnSpPr>
        <p:spPr>
          <a:xfrm>
            <a:off x="2194560" y="2788920"/>
            <a:ext cx="1691640" cy="0"/>
          </a:xfrm>
          <a:prstGeom prst="line">
            <a:avLst/>
          </a:prstGeom>
          <a:ln w="12700">
            <a:solidFill>
              <a:srgbClr val="8A8F9C"/>
            </a:solidFill>
          </a:ln>
        </p:spPr>
      </p:cxnSp>
      <p:cxnSp>
        <p:nvCxnSpPr>
          <p:cNvPr id="15" name="L15"/>
          <p:cNvCxnSpPr/>
          <p:nvPr/>
        </p:nvCxnSpPr>
        <p:spPr>
          <a:xfrm flipV="1">
            <a:off x="2194560" y="1773237"/>
            <a:ext cx="852259" cy="1015683"/>
          </a:xfrm>
          <a:prstGeom prst="line">
            <a:avLst/>
          </a:prstGeom>
          <a:ln w="25400">
            <a:solidFill>
              <a:srgbClr val="2B3050"/>
            </a:solidFill>
          </a:ln>
        </p:spPr>
      </p:cxnSp>
      <p:sp>
        <p:nvSpPr>
          <p:cNvPr id="16" name="T16"/>
          <p:cNvSpPr txBox="1"/>
          <p:nvPr/>
        </p:nvSpPr>
        <p:spPr>
          <a:xfrm>
            <a:off x="2331720" y="2011680"/>
            <a:ext cx="36576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r</a:t>
            </a:r>
            <a:endParaRPr lang="zh-TW" sz="2400"/>
          </a:p>
        </p:txBody>
      </p:sp>
      <p:sp>
        <p:nvSpPr>
          <p:cNvPr id="17" name="S17"/>
          <p:cNvSpPr/>
          <p:nvPr/>
        </p:nvSpPr>
        <p:spPr>
          <a:xfrm>
            <a:off x="3438144" y="2706624"/>
            <a:ext cx="164592" cy="164592"/>
          </a:xfrm>
          <a:prstGeom prst="ellipse">
            <a:avLst/>
          </a:prstGeom>
          <a:solidFill>
            <a:srgbClr val="2B3050"/>
          </a:solidFill>
          <a:ln>
            <a:noFill/>
          </a:ln>
        </p:spPr>
        <p:txBody>
          <a:bodyPr/>
          <a:lstStyle/>
          <a:p>
            <a:endParaRPr lang="zh-TW" altLang="en-US"/>
          </a:p>
        </p:txBody>
      </p:sp>
      <p:cxnSp>
        <p:nvCxnSpPr>
          <p:cNvPr id="18" name="L18"/>
          <p:cNvCxnSpPr/>
          <p:nvPr/>
        </p:nvCxnSpPr>
        <p:spPr>
          <a:xfrm>
            <a:off x="2346348" y="1185472"/>
            <a:ext cx="700471" cy="587765"/>
          </a:xfrm>
          <a:prstGeom prst="line">
            <a:avLst/>
          </a:prstGeom>
          <a:ln w="38100">
            <a:solidFill>
              <a:srgbClr val="C8901F"/>
            </a:solidFill>
            <a:headEnd type="triangle" w="med" len="med"/>
          </a:ln>
        </p:spPr>
      </p:cxnSp>
      <p:sp>
        <p:nvSpPr>
          <p:cNvPr id="19" name="T19"/>
          <p:cNvSpPr txBox="1"/>
          <p:nvPr/>
        </p:nvSpPr>
        <p:spPr>
          <a:xfrm>
            <a:off x="1660548" y="956872"/>
            <a:ext cx="109728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C8901F"/>
                </a:solidFill>
                <a:latin typeface="Calibri"/>
                <a:ea typeface="微軟正黑體"/>
                <a:cs typeface="Calibri"/>
              </a:rPr>
              <a:t>v = rω</a:t>
            </a:r>
            <a:endParaRPr lang="zh-TW" sz="2400"/>
          </a:p>
        </p:txBody>
      </p:sp>
      <p:cxnSp>
        <p:nvCxnSpPr>
          <p:cNvPr id="20" name="L20"/>
          <p:cNvCxnSpPr/>
          <p:nvPr/>
        </p:nvCxnSpPr>
        <p:spPr>
          <a:xfrm flipH="1">
            <a:off x="2547219" y="1773237"/>
            <a:ext cx="499600" cy="595400"/>
          </a:xfrm>
          <a:prstGeom prst="line">
            <a:avLst/>
          </a:prstGeom>
          <a:ln w="38100">
            <a:solidFill>
              <a:srgbClr val="1F8899"/>
            </a:solidFill>
            <a:tailEnd type="triangle" w="med" len="med"/>
          </a:ln>
        </p:spPr>
      </p:cxnSp>
      <p:sp>
        <p:nvSpPr>
          <p:cNvPr id="21" name="T21"/>
          <p:cNvSpPr txBox="1"/>
          <p:nvPr/>
        </p:nvSpPr>
        <p:spPr>
          <a:xfrm>
            <a:off x="2423160" y="2377440"/>
            <a:ext cx="7315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1F8899"/>
                </a:solidFill>
                <a:latin typeface="Calibri"/>
                <a:ea typeface="微軟正黑體"/>
                <a:cs typeface="Calibri"/>
              </a:rPr>
              <a:t>rω²</a:t>
            </a:r>
            <a:endParaRPr lang="zh-TW" sz="2400"/>
          </a:p>
        </p:txBody>
      </p:sp>
      <p:cxnSp>
        <p:nvCxnSpPr>
          <p:cNvPr id="22" name="L22"/>
          <p:cNvCxnSpPr/>
          <p:nvPr/>
        </p:nvCxnSpPr>
        <p:spPr>
          <a:xfrm>
            <a:off x="2696584" y="1479354"/>
            <a:ext cx="350236" cy="293882"/>
          </a:xfrm>
          <a:prstGeom prst="line">
            <a:avLst/>
          </a:prstGeom>
          <a:ln w="50800">
            <a:solidFill>
              <a:srgbClr val="D6006F"/>
            </a:solidFill>
            <a:headEnd type="triangle" w="med" len="med"/>
          </a:ln>
        </p:spPr>
      </p:cxnSp>
      <p:sp>
        <p:nvSpPr>
          <p:cNvPr id="23" name="T23"/>
          <p:cNvSpPr txBox="1"/>
          <p:nvPr/>
        </p:nvSpPr>
        <p:spPr>
          <a:xfrm>
            <a:off x="3183979" y="1590357"/>
            <a:ext cx="731520" cy="41148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D6006F"/>
                </a:solidFill>
                <a:latin typeface="Calibri"/>
                <a:ea typeface="微軟正黑體"/>
                <a:cs typeface="Calibri"/>
              </a:rPr>
              <a:t>rα</a:t>
            </a:r>
            <a:endParaRPr lang="zh-TW" sz="2400"/>
          </a:p>
        </p:txBody>
      </p:sp>
      <mc:AlternateContent xmlns:mc="http://schemas.openxmlformats.org/markup-compatibility/2006" xmlns:a14="http://schemas.microsoft.com/office/drawing/2010/main">
        <mc:Choice Requires="a14">
          <p:sp>
            <p:nvSpPr>
              <p:cNvPr id="24" name="T24"/>
              <p:cNvSpPr txBox="1"/>
              <p:nvPr/>
            </p:nvSpPr>
            <p:spPr>
              <a:xfrm>
                <a:off x="4206240" y="868680"/>
                <a:ext cx="4160520" cy="50292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圓周：</a:t>
                </a:r>
                <a14:m>
                  <m:oMath xmlns:m="http://schemas.openxmlformats.org/officeDocument/2006/math">
                    <m:r>
                      <a:rPr lang="en-US" altLang="zh-TW" sz="2400" b="0" i="1">
                        <a:solidFill>
                          <a:srgbClr val="2B3050"/>
                        </a:solidFill>
                        <a:latin typeface="Cambria Math" panose="02040503050406030204" pitchFamily="18" charset="0"/>
                        <a:ea typeface="Cambria Math"/>
                      </a:rPr>
                      <m:t>𝜔</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𝛼</m:t>
                    </m:r>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oMath>
                </a14:m>
                <a:endParaRPr lang="zh-TW" sz="2400"/>
              </a:p>
            </p:txBody>
          </p:sp>
        </mc:Choice>
        <mc:Fallback xmlns="">
          <p:pic>
            <p:nvPicPr>
              <p:cNvPr id="24" name="F24"/>
              <p:cNvPicPr/>
              <p:nvPr/>
            </p:nvPicPr>
            <p:blipFill>
              <a:blip r:embed="rId2"/>
              <a:stretch>
                <a:fillRect/>
              </a:stretch>
            </p:blipFill>
            <p:spPr>
              <a:xfrm>
                <a:off x="4206240" y="868680"/>
                <a:ext cx="416052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5" name="T25"/>
              <p:cNvSpPr txBox="1"/>
              <p:nvPr/>
            </p:nvSpPr>
            <p:spPr>
              <a:xfrm>
                <a:off x="4206240" y="1371600"/>
                <a:ext cx="4160520" cy="50292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𝑣</m:t>
                          </m:r>
                        </m:e>
                      </m:acc>
                      <m:r>
                        <a:rPr lang="en-US" altLang="zh-TW" sz="2400" b="0" i="0">
                          <a:solidFill>
                            <a:srgbClr val="C8901F"/>
                          </a:solidFill>
                          <a:latin typeface="Cambria Math" panose="02040503050406030204" pitchFamily="18" charset="0"/>
                          <a:ea typeface="Cambria Math"/>
                        </a:rPr>
                        <m:t> = </m:t>
                      </m:r>
                      <m:r>
                        <a:rPr lang="en-US" altLang="zh-TW" sz="2400" b="0" i="1">
                          <a:solidFill>
                            <a:srgbClr val="C8901F"/>
                          </a:solidFill>
                          <a:latin typeface="Cambria Math" panose="02040503050406030204" pitchFamily="18" charset="0"/>
                          <a:ea typeface="Cambria Math"/>
                        </a:rPr>
                        <m:t>𝑟</m:t>
                      </m:r>
                      <m:r>
                        <a:rPr lang="en-US" altLang="zh-TW" sz="2400" b="0" i="1">
                          <a:solidFill>
                            <a:srgbClr val="C8901F"/>
                          </a:solidFill>
                          <a:latin typeface="Cambria Math" panose="02040503050406030204" pitchFamily="18" charset="0"/>
                          <a:ea typeface="Cambria Math"/>
                        </a:rPr>
                        <m:t>𝜔</m:t>
                      </m:r>
                      <m:sSub>
                        <m:sSubPr>
                          <m:ctrlPr>
                            <a:rPr lang="en-US" altLang="zh-TW" sz="2400" b="0" i="1">
                              <a:solidFill>
                                <a:srgbClr val="C8901F"/>
                              </a:solidFill>
                              <a:latin typeface="Cambria Math" panose="02040503050406030204" pitchFamily="18" charset="0"/>
                              <a:ea typeface="Cambria Math"/>
                            </a:rPr>
                          </m:ctrlPr>
                        </m:sSubPr>
                        <m:e>
                          <m:acc>
                            <m:accPr>
                              <m:chr m:val="⃗"/>
                              <m:ctrlPr>
                                <a:rPr lang="en-US" altLang="zh-TW" sz="2400" b="0" i="1">
                                  <a:solidFill>
                                    <a:srgbClr val="C8901F"/>
                                  </a:solidFill>
                                  <a:latin typeface="Cambria Math" panose="02040503050406030204" pitchFamily="18" charset="0"/>
                                  <a:ea typeface="Cambria Math"/>
                                </a:rPr>
                              </m:ctrlPr>
                            </m:accPr>
                            <m:e>
                              <m:r>
                                <a:rPr lang="en-US" altLang="zh-TW" sz="2400" b="0" i="1">
                                  <a:solidFill>
                                    <a:srgbClr val="C8901F"/>
                                  </a:solidFill>
                                  <a:latin typeface="Cambria Math" panose="02040503050406030204" pitchFamily="18" charset="0"/>
                                  <a:ea typeface="Cambria Math"/>
                                </a:rPr>
                                <m:t>𝑒</m:t>
                              </m:r>
                            </m:e>
                          </m:acc>
                        </m:e>
                        <m:sub>
                          <m:r>
                            <a:rPr lang="en-US" altLang="zh-TW" sz="2400" b="0" i="1">
                              <a:solidFill>
                                <a:srgbClr val="C8901F"/>
                              </a:solidFill>
                              <a:latin typeface="Cambria Math" panose="02040503050406030204" pitchFamily="18" charset="0"/>
                              <a:ea typeface="Cambria Math"/>
                            </a:rPr>
                            <m:t>𝜃</m:t>
                          </m:r>
                        </m:sub>
                      </m:sSub>
                    </m:oMath>
                  </m:oMathPara>
                </a14:m>
                <a:endParaRPr lang="zh-TW" sz="2400"/>
              </a:p>
            </p:txBody>
          </p:sp>
        </mc:Choice>
        <mc:Fallback xmlns="">
          <p:pic>
            <p:nvPicPr>
              <p:cNvPr id="25" name="F25"/>
              <p:cNvPicPr/>
              <p:nvPr/>
            </p:nvPicPr>
            <p:blipFill>
              <a:blip r:embed="rId3"/>
              <a:stretch>
                <a:fillRect/>
              </a:stretch>
            </p:blipFill>
            <p:spPr>
              <a:xfrm>
                <a:off x="4206240" y="1371600"/>
                <a:ext cx="4160520" cy="50292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6" name="T26"/>
              <p:cNvSpPr txBox="1"/>
              <p:nvPr/>
            </p:nvSpPr>
            <p:spPr>
              <a:xfrm>
                <a:off x="4206240" y="1874520"/>
                <a:ext cx="41605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𝑎</m:t>
                          </m:r>
                        </m:e>
                      </m:acc>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sSup>
                        <m:sSupPr>
                          <m:ctrlPr>
                            <a:rPr lang="en-US" altLang="zh-TW" sz="2400" b="0" i="1">
                              <a:solidFill>
                                <a:srgbClr val="1F8899"/>
                              </a:solidFill>
                              <a:latin typeface="Cambria Math" panose="02040503050406030204" pitchFamily="18" charset="0"/>
                              <a:ea typeface="Cambria Math"/>
                            </a:rPr>
                          </m:ctrlPr>
                        </m:sSupPr>
                        <m:e>
                          <m:r>
                            <a:rPr lang="en-US" altLang="zh-TW" sz="2400" b="0" i="1">
                              <a:solidFill>
                                <a:srgbClr val="1F8899"/>
                              </a:solidFill>
                              <a:latin typeface="Cambria Math" panose="02040503050406030204" pitchFamily="18" charset="0"/>
                              <a:ea typeface="Cambria Math"/>
                            </a:rPr>
                            <m:t>𝜔</m:t>
                          </m:r>
                        </m:e>
                        <m:sup>
                          <m:r>
                            <a:rPr lang="en-US" altLang="zh-TW" sz="2400" b="0" i="0">
                              <a:solidFill>
                                <a:srgbClr val="1F8899"/>
                              </a:solidFill>
                              <a:latin typeface="Cambria Math" panose="02040503050406030204" pitchFamily="18" charset="0"/>
                              <a:ea typeface="Cambria Math"/>
                            </a:rPr>
                            <m:t>2</m:t>
                          </m:r>
                        </m:sup>
                      </m:sSup>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𝑟</m:t>
                          </m:r>
                        </m:sub>
                      </m:sSub>
                      <m:r>
                        <a:rPr lang="en-US" altLang="zh-TW" sz="2400" b="0" i="0">
                          <a:solidFill>
                            <a:srgbClr val="1F8899"/>
                          </a:solidFill>
                          <a:latin typeface="Cambria Math" panose="02040503050406030204" pitchFamily="18" charset="0"/>
                          <a:ea typeface="Cambria Math"/>
                        </a:rPr>
                        <m:t> + </m:t>
                      </m:r>
                      <m:r>
                        <a:rPr lang="en-US" altLang="zh-TW" sz="2400" b="0" i="1">
                          <a:solidFill>
                            <a:srgbClr val="1F8899"/>
                          </a:solidFill>
                          <a:latin typeface="Cambria Math" panose="02040503050406030204" pitchFamily="18" charset="0"/>
                          <a:ea typeface="Cambria Math"/>
                        </a:rPr>
                        <m:t>𝑟</m:t>
                      </m:r>
                      <m:r>
                        <a:rPr lang="en-US" altLang="zh-TW" sz="2400" b="0" i="1">
                          <a:solidFill>
                            <a:srgbClr val="1F8899"/>
                          </a:solidFill>
                          <a:latin typeface="Cambria Math" panose="02040503050406030204" pitchFamily="18" charset="0"/>
                          <a:ea typeface="Cambria Math"/>
                        </a:rPr>
                        <m:t>𝛼</m:t>
                      </m:r>
                      <m:sSub>
                        <m:sSubPr>
                          <m:ctrlPr>
                            <a:rPr lang="en-US" altLang="zh-TW" sz="2400" b="0" i="1">
                              <a:solidFill>
                                <a:srgbClr val="1F8899"/>
                              </a:solidFill>
                              <a:latin typeface="Cambria Math" panose="02040503050406030204" pitchFamily="18" charset="0"/>
                              <a:ea typeface="Cambria Math"/>
                            </a:rPr>
                          </m:ctrlPr>
                        </m:sSubPr>
                        <m:e>
                          <m:acc>
                            <m:accPr>
                              <m:chr m:val="⃗"/>
                              <m:ctrlPr>
                                <a:rPr lang="en-US" altLang="zh-TW" sz="2400" b="0" i="1">
                                  <a:solidFill>
                                    <a:srgbClr val="1F8899"/>
                                  </a:solidFill>
                                  <a:latin typeface="Cambria Math" panose="02040503050406030204" pitchFamily="18" charset="0"/>
                                  <a:ea typeface="Cambria Math"/>
                                </a:rPr>
                              </m:ctrlPr>
                            </m:accPr>
                            <m:e>
                              <m:r>
                                <a:rPr lang="en-US" altLang="zh-TW" sz="2400" b="0" i="1">
                                  <a:solidFill>
                                    <a:srgbClr val="1F8899"/>
                                  </a:solidFill>
                                  <a:latin typeface="Cambria Math" panose="02040503050406030204" pitchFamily="18" charset="0"/>
                                  <a:ea typeface="Cambria Math"/>
                                </a:rPr>
                                <m:t>𝑒</m:t>
                              </m:r>
                            </m:e>
                          </m:acc>
                        </m:e>
                        <m:sub>
                          <m:r>
                            <a:rPr lang="en-US" altLang="zh-TW" sz="2400" b="0" i="1">
                              <a:solidFill>
                                <a:srgbClr val="1F8899"/>
                              </a:solidFill>
                              <a:latin typeface="Cambria Math" panose="02040503050406030204" pitchFamily="18" charset="0"/>
                              <a:ea typeface="Cambria Math"/>
                            </a:rPr>
                            <m:t>𝜃</m:t>
                          </m:r>
                        </m:sub>
                      </m:sSub>
                    </m:oMath>
                  </m:oMathPara>
                </a14:m>
                <a:endParaRPr lang="zh-TW" sz="2400"/>
              </a:p>
            </p:txBody>
          </p:sp>
        </mc:Choice>
        <mc:Fallback xmlns="">
          <p:pic>
            <p:nvPicPr>
              <p:cNvPr id="26" name="F26"/>
              <p:cNvPicPr/>
              <p:nvPr/>
            </p:nvPicPr>
            <p:blipFill>
              <a:blip r:embed="rId4"/>
              <a:stretch>
                <a:fillRect/>
              </a:stretch>
            </p:blipFill>
            <p:spPr>
              <a:xfrm>
                <a:off x="4206240" y="1874520"/>
                <a:ext cx="4160520" cy="548640"/>
              </a:xfrm>
              <a:prstGeom prst="rect">
                <a:avLst/>
              </a:prstGeom>
              <a:noFill/>
              <a:ln>
                <a:noFill/>
              </a:ln>
            </p:spPr>
          </p:pic>
        </mc:Fallback>
      </mc:AlternateContent>
      <p:sp>
        <p:nvSpPr>
          <p:cNvPr id="27" name="T27"/>
          <p:cNvSpPr txBox="1"/>
          <p:nvPr/>
        </p:nvSpPr>
        <p:spPr>
          <a:xfrm>
            <a:off x="4206240" y="2423160"/>
            <a:ext cx="4160520" cy="457200"/>
          </a:xfrm>
          <a:prstGeom prst="rect">
            <a:avLst/>
          </a:prstGeom>
          <a:noFill/>
          <a:ln>
            <a:noFill/>
          </a:ln>
        </p:spPr>
        <p:txBody>
          <a:bodyPr wrap="square" lIns="54864" tIns="27432" rIns="54864" bIns="27432" anchor="t">
            <a:noAutofit/>
          </a:bodyPr>
          <a:lstStyle/>
          <a:p>
            <a:pPr algn="l">
              <a:lnSpc>
                <a:spcPct val="100000"/>
              </a:lnSpc>
              <a:buNone/>
            </a:pPr>
            <a:r>
              <a:rPr lang="zh-TW" altLang="en-US" sz="2400" b="0" dirty="0">
                <a:solidFill>
                  <a:srgbClr val="2B3050"/>
                </a:solidFill>
                <a:latin typeface="Calibri"/>
                <a:ea typeface="微軟正黑體"/>
                <a:cs typeface="Calibri"/>
              </a:rPr>
              <a:t>圓柱 = 極座標 + z：</a:t>
            </a:r>
            <a:endParaRPr lang="zh-TW" sz="2400"/>
          </a:p>
        </p:txBody>
      </p:sp>
      <mc:AlternateContent xmlns:mc="http://schemas.openxmlformats.org/markup-compatibility/2006" xmlns:a14="http://schemas.microsoft.com/office/drawing/2010/main">
        <mc:Choice Requires="a14">
          <p:sp>
            <p:nvSpPr>
              <p:cNvPr id="28" name="T28"/>
              <p:cNvSpPr txBox="1"/>
              <p:nvPr/>
            </p:nvSpPr>
            <p:spPr>
              <a:xfrm>
                <a:off x="4206240" y="2880360"/>
                <a:ext cx="41605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𝑣</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𝑟</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𝑟</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𝜃</m:t>
                          </m:r>
                        </m:e>
                      </m:acc>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28" name="F28"/>
              <p:cNvPicPr/>
              <p:nvPr/>
            </p:nvPicPr>
            <p:blipFill>
              <a:blip r:embed="rId5"/>
              <a:stretch>
                <a:fillRect/>
              </a:stretch>
            </p:blipFill>
            <p:spPr>
              <a:xfrm>
                <a:off x="4206240" y="2880360"/>
                <a:ext cx="4160520" cy="548640"/>
              </a:xfrm>
              <a:prstGeom prst="rect">
                <a:avLst/>
              </a:prstGeom>
              <a:noFill/>
              <a:ln>
                <a:noFill/>
              </a:ln>
            </p:spPr>
          </p:pic>
        </mc:Fallback>
      </mc:AlternateContent>
      <mc:AlternateContent xmlns:mc="http://schemas.openxmlformats.org/markup-compatibility/2006" xmlns:a14="http://schemas.microsoft.com/office/drawing/2010/main">
        <mc:Choice Requires="a14">
          <p:sp>
            <p:nvSpPr>
              <p:cNvPr id="29" name="T29"/>
              <p:cNvSpPr txBox="1"/>
              <p:nvPr/>
            </p:nvSpPr>
            <p:spPr>
              <a:xfrm>
                <a:off x="4206240" y="3429000"/>
                <a:ext cx="4160520" cy="548640"/>
              </a:xfrm>
              <a:prstGeom prst="rect">
                <a:avLst/>
              </a:prstGeom>
              <a:noFill/>
              <a:ln>
                <a:noFill/>
              </a:ln>
            </p:spPr>
            <p:txBody>
              <a:bodyPr wrap="square" lIns="54864" tIns="27432" rIns="54864" bIns="27432" anchor="t">
                <a:noAutofit/>
              </a:bodyPr>
              <a:lstStyle/>
              <a:p>
                <a:pPr algn="l">
                  <a:lnSpc>
                    <a:spcPct val="100000"/>
                  </a:lnSpc>
                  <a:buNone/>
                </a:pPr>
                <a14:m>
                  <m:oMathPara xmlns:m="http://schemas.openxmlformats.org/officeDocument/2006/math">
                    <m:oMath>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𝑎</m:t>
                              </m:r>
                            </m:e>
                          </m:acc>
                        </m:e>
                        <m:sub>
                          <m:r>
                            <a:rPr lang="en-US" altLang="zh-TW" sz="2400" b="0" i="1">
                              <a:solidFill>
                                <a:srgbClr val="2B3050"/>
                              </a:solidFill>
                              <a:latin typeface="Cambria Math" panose="02040503050406030204" pitchFamily="18" charset="0"/>
                              <a:ea typeface="Cambria Math"/>
                            </a:rPr>
                            <m:t>𝑃</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𝑟</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𝑟</m:t>
                          </m:r>
                        </m:sub>
                      </m:sSub>
                      <m:r>
                        <a:rPr lang="en-US" altLang="zh-TW" sz="2400" b="0" i="0">
                          <a:solidFill>
                            <a:srgbClr val="2B3050"/>
                          </a:solidFill>
                          <a:latin typeface="Cambria Math" panose="02040503050406030204" pitchFamily="18" charset="0"/>
                          <a:ea typeface="Cambria Math"/>
                        </a:rPr>
                        <m:t> + </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𝜃</m:t>
                          </m:r>
                        </m:sub>
                      </m:sSub>
                      <m:sSub>
                        <m:sSubPr>
                          <m:ctrlPr>
                            <a:rPr lang="en-US" altLang="zh-TW" sz="2400" b="0" i="1">
                              <a:solidFill>
                                <a:srgbClr val="2B3050"/>
                              </a:solidFill>
                              <a:latin typeface="Cambria Math" panose="02040503050406030204" pitchFamily="18" charset="0"/>
                              <a:ea typeface="Cambria Math"/>
                            </a:rPr>
                          </m:ctrlPr>
                        </m:sSubPr>
                        <m:e>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𝑒</m:t>
                              </m:r>
                            </m:e>
                          </m:acc>
                        </m:e>
                        <m:sub>
                          <m:r>
                            <a:rPr lang="en-US" altLang="zh-TW" sz="2400" b="0" i="1">
                              <a:solidFill>
                                <a:srgbClr val="2B3050"/>
                              </a:solidFill>
                              <a:latin typeface="Cambria Math" panose="02040503050406030204" pitchFamily="18" charset="0"/>
                              <a:ea typeface="Cambria Math"/>
                            </a:rPr>
                            <m:t>𝜃</m:t>
                          </m:r>
                        </m:sub>
                      </m:sSub>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𝑧</m:t>
                          </m:r>
                        </m:e>
                      </m:acc>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𝑘</m:t>
                          </m:r>
                        </m:e>
                      </m:acc>
                    </m:oMath>
                  </m:oMathPara>
                </a14:m>
                <a:endParaRPr lang="zh-TW" sz="2400"/>
              </a:p>
            </p:txBody>
          </p:sp>
        </mc:Choice>
        <mc:Fallback xmlns="">
          <p:pic>
            <p:nvPicPr>
              <p:cNvPr id="29" name="F29"/>
              <p:cNvPicPr/>
              <p:nvPr/>
            </p:nvPicPr>
            <p:blipFill>
              <a:blip r:embed="rId6"/>
              <a:stretch>
                <a:fillRect/>
              </a:stretch>
            </p:blipFill>
            <p:spPr>
              <a:xfrm>
                <a:off x="4206240" y="3429000"/>
                <a:ext cx="4160520" cy="548640"/>
              </a:xfrm>
              <a:prstGeom prst="rect">
                <a:avLst/>
              </a:prstGeom>
              <a:no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0 0 L 0.00000 0.00000 L -0.00055 -0.02247 L -0.00220 -0.04476 L -0.00494 -0.06672 L -0.00874 -0.08817 L -0.01359 -0.10894 L -0.01943 -0.12889 L -0.02622 -0.14786 L -0.03392 -0.16570 L -0.04247 -0.18228 L -0.05180 -0.19747 E" pathEditMode="relative" ptsTypes="">
                                      <p:cBhvr>
                                        <p:cTn id="6" dur="1500" fill="hold"/>
                                        <p:tgtEl>
                                          <p:spTgt spid="17"/>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記憶口訣（四）圓周與圓柱</a:t>
            </a:r>
          </a:p>
        </p:txBody>
      </p:sp>
      <p:sp>
        <p:nvSpPr>
          <p:cNvPr id="11" name="T11"/>
          <p:cNvSpPr txBox="1"/>
          <p:nvPr/>
        </p:nvSpPr>
        <p:spPr>
          <a:xfrm>
            <a:off x="365760" y="86868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圓周：r 不變</a:t>
            </a:r>
            <a:endParaRPr lang="zh-TW" sz="2400"/>
          </a:p>
        </p:txBody>
      </p:sp>
      <p:sp>
        <p:nvSpPr>
          <p:cNvPr id="12" name="T12"/>
          <p:cNvSpPr txBox="1"/>
          <p:nvPr/>
        </p:nvSpPr>
        <p:spPr>
          <a:xfrm>
            <a:off x="3566160" y="86868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ṙ = r̈ = 0，公式只剩兩項</a:t>
            </a:r>
            <a:endParaRPr lang="zh-TW" sz="2400"/>
          </a:p>
        </p:txBody>
      </p:sp>
      <p:sp>
        <p:nvSpPr>
          <p:cNvPr id="13" name="T13"/>
          <p:cNvSpPr txBox="1"/>
          <p:nvPr/>
        </p:nvSpPr>
        <p:spPr>
          <a:xfrm>
            <a:off x="365760" y="1645920"/>
            <a:ext cx="3108960" cy="86868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向心 rω²，切線 rα</a:t>
            </a:r>
            <a:endParaRPr lang="zh-TW" sz="2400"/>
          </a:p>
        </p:txBody>
      </p:sp>
      <p:sp>
        <p:nvSpPr>
          <p:cNvPr id="14" name="T14"/>
          <p:cNvSpPr txBox="1"/>
          <p:nvPr/>
        </p:nvSpPr>
        <p:spPr>
          <a:xfrm>
            <a:off x="3566160" y="1645920"/>
            <a:ext cx="4754880" cy="86868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向心：一定指向圓心</a:t>
            </a:r>
            <a:endParaRPr lang="zh-TW" sz="2400"/>
          </a:p>
          <a:p>
            <a:pPr algn="l">
              <a:lnSpc>
                <a:spcPct val="100000"/>
              </a:lnSpc>
              <a:buNone/>
            </a:pPr>
            <a:r>
              <a:rPr lang="zh-TW" altLang="en-US" sz="2400" b="0" dirty="0">
                <a:solidFill>
                  <a:srgbClr val="2B3050"/>
                </a:solidFill>
                <a:latin typeface="Calibri"/>
                <a:ea typeface="微軟正黑體"/>
                <a:cs typeface="Calibri"/>
              </a:rPr>
              <a:t>切線：速率變快或變慢</a:t>
            </a:r>
            <a:endParaRPr lang="zh-TW" sz="2400"/>
          </a:p>
        </p:txBody>
      </p:sp>
      <p:sp>
        <p:nvSpPr>
          <p:cNvPr id="15" name="T15"/>
          <p:cNvSpPr txBox="1"/>
          <p:nvPr/>
        </p:nvSpPr>
        <p:spPr>
          <a:xfrm>
            <a:off x="365760" y="2606040"/>
            <a:ext cx="3108960" cy="68580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向心還能寫 v²/r</a:t>
            </a:r>
            <a:endParaRPr lang="zh-TW" sz="2400"/>
          </a:p>
        </p:txBody>
      </p:sp>
      <p:sp>
        <p:nvSpPr>
          <p:cNvPr id="16" name="T16"/>
          <p:cNvSpPr txBox="1"/>
          <p:nvPr/>
        </p:nvSpPr>
        <p:spPr>
          <a:xfrm>
            <a:off x="3566160" y="2606040"/>
            <a:ext cx="4754880" cy="68580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rω² = v²/r（2-8 會再用到）</a:t>
            </a:r>
            <a:endParaRPr lang="zh-TW" sz="2400"/>
          </a:p>
        </p:txBody>
      </p:sp>
      <p:sp>
        <p:nvSpPr>
          <p:cNvPr id="17" name="T17"/>
          <p:cNvSpPr txBox="1"/>
          <p:nvPr/>
        </p:nvSpPr>
        <p:spPr>
          <a:xfrm>
            <a:off x="365760" y="3383280"/>
            <a:ext cx="3108960" cy="777240"/>
          </a:xfrm>
          <a:prstGeom prst="roundRect">
            <a:avLst/>
          </a:prstGeom>
          <a:solidFill>
            <a:srgbClr val="D6006F"/>
          </a:solidFill>
          <a:ln>
            <a:noFill/>
          </a:ln>
        </p:spPr>
        <p:txBody>
          <a:bodyPr wrap="square" lIns="73152" tIns="36576" rIns="73152" bIns="36576" anchor="ctr">
            <a:noAutofit/>
          </a:bodyPr>
          <a:lstStyle/>
          <a:p>
            <a:pPr algn="ctr">
              <a:lnSpc>
                <a:spcPct val="100000"/>
              </a:lnSpc>
              <a:buNone/>
            </a:pPr>
            <a:r>
              <a:rPr lang="zh-TW" altLang="en-US" sz="2400" b="1" dirty="0">
                <a:solidFill>
                  <a:srgbClr val="FFFFFF"/>
                </a:solidFill>
                <a:latin typeface="Calibri"/>
                <a:ea typeface="微軟正黑體"/>
                <a:cs typeface="Calibri"/>
              </a:rPr>
              <a:t>圓柱：極座標加電梯</a:t>
            </a:r>
            <a:endParaRPr lang="zh-TW" sz="2400"/>
          </a:p>
        </p:txBody>
      </p:sp>
      <p:sp>
        <p:nvSpPr>
          <p:cNvPr id="18" name="T18"/>
          <p:cNvSpPr txBox="1"/>
          <p:nvPr/>
        </p:nvSpPr>
        <p:spPr>
          <a:xfrm>
            <a:off x="3566160" y="3383280"/>
            <a:ext cx="4754880" cy="777240"/>
          </a:xfrm>
          <a:prstGeom prst="roundRect">
            <a:avLst/>
          </a:prstGeom>
          <a:solidFill>
            <a:srgbClr val="FDECF4"/>
          </a:solidFill>
          <a:ln>
            <a:noFill/>
          </a:ln>
        </p:spPr>
        <p:txBody>
          <a:bodyPr wrap="square" lIns="109728" tIns="54864" rIns="109728" bIns="54864" anchor="ctr">
            <a:noAutofit/>
          </a:bodyPr>
          <a:lstStyle/>
          <a:p>
            <a:pPr algn="l">
              <a:lnSpc>
                <a:spcPct val="100000"/>
              </a:lnSpc>
              <a:buNone/>
            </a:pPr>
            <a:r>
              <a:rPr lang="zh-TW" altLang="en-US" sz="2400" b="0" dirty="0">
                <a:solidFill>
                  <a:srgbClr val="2B3050"/>
                </a:solidFill>
                <a:latin typeface="Calibri"/>
                <a:ea typeface="微軟正黑體"/>
                <a:cs typeface="Calibri"/>
              </a:rPr>
              <a:t>平面用極座標，z 方向當直線運動</a:t>
            </a:r>
            <a:endParaRPr lang="zh-TW"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公式整理（五）微分工具與口訣</a:t>
            </a:r>
          </a:p>
        </p:txBody>
      </p:sp>
      <p:sp>
        <p:nvSpPr>
          <p:cNvPr id="11" name="T11"/>
          <p:cNvSpPr txBox="1"/>
          <p:nvPr/>
        </p:nvSpPr>
        <p:spPr>
          <a:xfrm>
            <a:off x="365760" y="896112"/>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冪次微分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sup>
                          </m:sSup>
                        </m:e>
                      </m:d>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𝑛</m:t>
                      </m:r>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1">
                              <a:solidFill>
                                <a:srgbClr val="2B3050"/>
                              </a:solidFill>
                              <a:latin typeface="Cambria Math" panose="02040503050406030204" pitchFamily="18" charset="0"/>
                              <a:ea typeface="Cambria Math"/>
                            </a:rPr>
                            <m:t>𝑛</m:t>
                          </m:r>
                          <m:r>
                            <a:rPr lang="en-US" altLang="zh-TW" sz="2400" b="0" i="0">
                              <a:solidFill>
                                <a:srgbClr val="2B3050"/>
                              </a:solidFill>
                              <a:latin typeface="Cambria Math" panose="02040503050406030204" pitchFamily="18" charset="0"/>
                              <a:ea typeface="Cambria Math"/>
                            </a:rPr>
                            <m:t>−1</m:t>
                          </m:r>
                        </m:sup>
                      </m:sSup>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口訣：次方拿下來，次方減一</a:t>
                </a:r>
                <a:endParaRPr lang="zh-TW" sz="2400"/>
              </a:p>
            </p:txBody>
          </p:sp>
        </mc:Choice>
        <mc:Fallback xmlns="">
          <p:pic>
            <p:nvPicPr>
              <p:cNvPr id="12" name="F12"/>
              <p:cNvPicPr/>
              <p:nvPr/>
            </p:nvPicPr>
            <p:blipFill>
              <a:blip r:embed="rId2"/>
              <a:stretch>
                <a:fillRect/>
              </a:stretch>
            </p:blipFill>
            <p:spPr>
              <a:xfrm>
                <a:off x="2560320" y="896112"/>
                <a:ext cx="5760720" cy="1225296"/>
              </a:xfrm>
              <a:prstGeom prst="roundRect">
                <a:avLst/>
              </a:prstGeom>
              <a:solidFill>
                <a:srgbClr val="E8F4F6"/>
              </a:solidFill>
              <a:ln>
                <a:noFill/>
              </a:ln>
            </p:spPr>
          </p:pic>
        </mc:Fallback>
      </mc:AlternateContent>
      <p:sp>
        <p:nvSpPr>
          <p:cNvPr id="13" name="T13"/>
          <p:cNvSpPr txBox="1"/>
          <p:nvPr/>
        </p:nvSpPr>
        <p:spPr>
          <a:xfrm>
            <a:off x="365760" y="2194560"/>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乘積法則</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2194560"/>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m:t>
                          </m:r>
                        </m:num>
                        <m:den>
                          <m:r>
                            <a:rPr lang="en-US" altLang="zh-TW" sz="2400" b="0" i="1">
                              <a:solidFill>
                                <a:srgbClr val="2B3050"/>
                              </a:solidFill>
                              <a:latin typeface="Cambria Math" panose="02040503050406030204" pitchFamily="18" charset="0"/>
                              <a:ea typeface="Cambria Math"/>
                            </a:rPr>
                            <m:t>𝑑𝑡</m:t>
                          </m:r>
                        </m:den>
                      </m:f>
                      <m:d>
                        <m:dPr>
                          <m:ctrlPr>
                            <a:rPr lang="en-US" altLang="zh-TW" sz="2400" b="0" i="1">
                              <a:solidFill>
                                <a:srgbClr val="2B3050"/>
                              </a:solidFill>
                              <a:latin typeface="Cambria Math" panose="02040503050406030204" pitchFamily="18" charset="0"/>
                              <a:ea typeface="Cambria Math"/>
                            </a:rPr>
                          </m:ctrlPr>
                        </m:dPr>
                        <m:e>
                          <m:r>
                            <a:rPr lang="en-US" altLang="zh-TW" sz="2400" b="0" i="1">
                              <a:solidFill>
                                <a:srgbClr val="2B3050"/>
                              </a:solidFill>
                              <a:latin typeface="Cambria Math" panose="02040503050406030204" pitchFamily="18" charset="0"/>
                              <a:ea typeface="Cambria Math"/>
                            </a:rPr>
                            <m:t>𝑓𝑔</m:t>
                          </m:r>
                        </m:e>
                      </m:d>
                      <m:r>
                        <a:rPr lang="en-US" altLang="zh-TW" sz="2400" b="0" i="0">
                          <a:solidFill>
                            <a:srgbClr val="2B3050"/>
                          </a:solidFill>
                          <a:latin typeface="Cambria Math" panose="02040503050406030204" pitchFamily="18" charset="0"/>
                          <a:ea typeface="Cambria Math"/>
                        </a:rPr>
                        <m:t> = </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𝑓</m:t>
                          </m:r>
                        </m:e>
                      </m:acc>
                      <m:r>
                        <a:rPr lang="en-US" altLang="zh-TW" sz="2400" b="0" i="1">
                          <a:solidFill>
                            <a:srgbClr val="2B3050"/>
                          </a:solidFill>
                          <a:latin typeface="Cambria Math" panose="02040503050406030204" pitchFamily="18" charset="0"/>
                          <a:ea typeface="Cambria Math"/>
                        </a:rPr>
                        <m:t>𝑔</m:t>
                      </m:r>
                      <m:r>
                        <a:rPr lang="en-US" altLang="zh-TW" sz="2400" b="0" i="0">
                          <a:solidFill>
                            <a:srgbClr val="2B3050"/>
                          </a:solidFill>
                          <a:latin typeface="Cambria Math" panose="02040503050406030204" pitchFamily="18" charset="0"/>
                          <a:ea typeface="Cambria Math"/>
                        </a:rPr>
                        <m:t> + </m:t>
                      </m:r>
                      <m:r>
                        <a:rPr lang="en-US" altLang="zh-TW" sz="2400" b="0" i="1">
                          <a:solidFill>
                            <a:srgbClr val="2B3050"/>
                          </a:solidFill>
                          <a:latin typeface="Cambria Math" panose="02040503050406030204" pitchFamily="18" charset="0"/>
                          <a:ea typeface="Cambria Math"/>
                        </a:rPr>
                        <m:t>𝑓</m:t>
                      </m:r>
                      <m:acc>
                        <m:accPr>
                          <m:chr m:val="̇"/>
                          <m:ctrlPr>
                            <a:rPr lang="en-US" altLang="zh-TW" sz="2400" b="0" i="1">
                              <a:solidFill>
                                <a:srgbClr val="2B3050"/>
                              </a:solidFill>
                              <a:latin typeface="Cambria Math" panose="02040503050406030204" pitchFamily="18" charset="0"/>
                              <a:ea typeface="Cambria Math"/>
                            </a:rPr>
                          </m:ctrlPr>
                        </m:accPr>
                        <m:e>
                          <m:r>
                            <a:rPr lang="en-US" altLang="zh-TW" sz="2400" b="0" i="1">
                              <a:solidFill>
                                <a:srgbClr val="2B3050"/>
                              </a:solidFill>
                              <a:latin typeface="Cambria Math" panose="02040503050406030204" pitchFamily="18" charset="0"/>
                              <a:ea typeface="Cambria Math"/>
                            </a:rPr>
                            <m:t>𝑔</m:t>
                          </m:r>
                        </m:e>
                      </m:acc>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口訣：前微後不微 ＋ 前不微後微</a:t>
                </a:r>
                <a:endParaRPr lang="zh-TW" sz="2400"/>
              </a:p>
            </p:txBody>
          </p:sp>
        </mc:Choice>
        <mc:Fallback xmlns="">
          <p:pic>
            <p:nvPicPr>
              <p:cNvPr id="14" name="F14"/>
              <p:cNvPicPr/>
              <p:nvPr/>
            </p:nvPicPr>
            <p:blipFill>
              <a:blip r:embed="rId3"/>
              <a:stretch>
                <a:fillRect/>
              </a:stretch>
            </p:blipFill>
            <p:spPr>
              <a:xfrm>
                <a:off x="2560320" y="2194560"/>
                <a:ext cx="5760720" cy="1225296"/>
              </a:xfrm>
              <a:prstGeom prst="roundRect">
                <a:avLst/>
              </a:prstGeom>
              <a:solidFill>
                <a:srgbClr val="E8F4F6"/>
              </a:solidFill>
              <a:ln>
                <a:noFill/>
              </a:ln>
            </p:spPr>
          </p:pic>
        </mc:Fallback>
      </mc:AlternateContent>
      <p:sp>
        <p:nvSpPr>
          <p:cNvPr id="15" name="T15"/>
          <p:cNvSpPr txBox="1"/>
          <p:nvPr/>
        </p:nvSpPr>
        <p:spPr>
          <a:xfrm>
            <a:off x="365760" y="3493008"/>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連鎖律</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3493008"/>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𝑑𝑣</m:t>
                          </m:r>
                        </m:num>
                        <m:den>
                          <m:r>
                            <a:rPr lang="en-US" altLang="zh-TW" sz="2400" b="0" i="1">
                              <a:solidFill>
                                <a:srgbClr val="2B3050"/>
                              </a:solidFill>
                              <a:latin typeface="Cambria Math" panose="02040503050406030204" pitchFamily="18" charset="0"/>
                              <a:ea typeface="Cambria Math"/>
                            </a:rPr>
                            <m:t>𝑑𝑡</m:t>
                          </m:r>
                        </m:den>
                      </m:f>
                      <m:r>
                        <a:rPr lang="en-US" altLang="zh-TW" sz="2400" b="0" i="0">
                          <a:solidFill>
                            <a:srgbClr val="2B3050"/>
                          </a:solidFill>
                          <a:latin typeface="Cambria Math" panose="02040503050406030204" pitchFamily="18" charset="0"/>
                          <a:ea typeface="Cambria Math"/>
                        </a:rPr>
                        <m:t> = </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𝑑𝑣</m:t>
                          </m:r>
                        </m:num>
                        <m:den>
                          <m:r>
                            <a:rPr lang="en-US" altLang="zh-TW" sz="2400" b="0" i="1">
                              <a:solidFill>
                                <a:srgbClr val="2B3050"/>
                              </a:solidFill>
                              <a:latin typeface="Cambria Math" panose="02040503050406030204" pitchFamily="18" charset="0"/>
                              <a:ea typeface="Cambria Math"/>
                            </a:rPr>
                            <m:t>𝑑𝑦</m:t>
                          </m:r>
                        </m:den>
                      </m:f>
                      <m:r>
                        <a:rPr lang="en-US" altLang="zh-TW" sz="2400" b="0" i="0">
                          <a:solidFill>
                            <a:srgbClr val="2B3050"/>
                          </a:solidFill>
                          <a:latin typeface="Cambria Math" panose="02040503050406030204" pitchFamily="18" charset="0"/>
                          <a:ea typeface="Cambria Math"/>
                        </a:rPr>
                        <m:t>·</m:t>
                      </m:r>
                      <m:f>
                        <m:fPr>
                          <m:ctrlPr>
                            <a:rPr lang="en-US" altLang="zh-TW" sz="2400" b="0" i="1">
                              <a:solidFill>
                                <a:srgbClr val="2B3050"/>
                              </a:solidFill>
                              <a:latin typeface="Cambria Math" panose="02040503050406030204" pitchFamily="18" charset="0"/>
                              <a:ea typeface="Cambria Math"/>
                            </a:rPr>
                          </m:ctrlPr>
                        </m:fPr>
                        <m:num>
                          <m:r>
                            <a:rPr lang="en-US" altLang="zh-TW" sz="2400" b="0" i="1">
                              <a:solidFill>
                                <a:srgbClr val="2B3050"/>
                              </a:solidFill>
                              <a:latin typeface="Cambria Math" panose="02040503050406030204" pitchFamily="18" charset="0"/>
                              <a:ea typeface="Cambria Math"/>
                            </a:rPr>
                            <m:t>𝑑𝑦</m:t>
                          </m:r>
                        </m:num>
                        <m:den>
                          <m:r>
                            <a:rPr lang="en-US" altLang="zh-TW" sz="2400" b="0" i="1">
                              <a:solidFill>
                                <a:srgbClr val="2B3050"/>
                              </a:solidFill>
                              <a:latin typeface="Cambria Math" panose="02040503050406030204" pitchFamily="18" charset="0"/>
                              <a:ea typeface="Cambria Math"/>
                            </a:rPr>
                            <m:t>𝑑𝑡</m:t>
                          </m:r>
                        </m:den>
                      </m:f>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口訣：dy 上下約掉，像分數相乘</a:t>
                </a:r>
                <a:endParaRPr lang="zh-TW" sz="2400"/>
              </a:p>
            </p:txBody>
          </p:sp>
        </mc:Choice>
        <mc:Fallback xmlns="">
          <p:pic>
            <p:nvPicPr>
              <p:cNvPr id="16" name="F16"/>
              <p:cNvPicPr/>
              <p:nvPr/>
            </p:nvPicPr>
            <p:blipFill>
              <a:blip r:embed="rId4"/>
              <a:stretch>
                <a:fillRect/>
              </a:stretch>
            </p:blipFill>
            <p:spPr>
              <a:xfrm>
                <a:off x="2560320" y="3493008"/>
                <a:ext cx="5760720" cy="1225296"/>
              </a:xfrm>
              <a:prstGeom prst="roundRect">
                <a:avLst/>
              </a:prstGeom>
              <a:solidFill>
                <a:srgbClr val="E8F4F6"/>
              </a:solid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公式整理（六）積分與解方程式</a:t>
            </a:r>
          </a:p>
        </p:txBody>
      </p:sp>
      <p:sp>
        <p:nvSpPr>
          <p:cNvPr id="11" name="T11"/>
          <p:cNvSpPr txBox="1"/>
          <p:nvPr/>
        </p:nvSpPr>
        <p:spPr>
          <a:xfrm>
            <a:off x="365760" y="896112"/>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基本積分</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nary>
                        <m:naryPr>
                          <m:limLoc m:val="subSup"/>
                          <m:ctrlPr>
                            <a:rPr lang="en-US" altLang="zh-TW" sz="2400" b="0" i="1">
                              <a:solidFill>
                                <a:srgbClr val="2B3050"/>
                              </a:solidFill>
                              <a:latin typeface="Cambria Math" panose="02040503050406030204" pitchFamily="18" charset="0"/>
                              <a:ea typeface="Cambria Math"/>
                            </a:rPr>
                          </m:ctrlPr>
                        </m:naryPr>
                        <m:sub/>
                        <m:sup/>
                        <m:e>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m:t>
                          </m:r>
                          <m:r>
                            <a:rPr lang="en-US" altLang="zh-TW" sz="2400" b="0" i="1">
                              <a:solidFill>
                                <a:srgbClr val="2B3050"/>
                              </a:solidFill>
                              <a:latin typeface="Cambria Math" panose="02040503050406030204" pitchFamily="18" charset="0"/>
                              <a:ea typeface="Cambria Math"/>
                            </a:rPr>
                            <m:t>𝑑𝑡</m:t>
                          </m:r>
                        </m:e>
                      </m:nary>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𝑡</m:t>
                          </m:r>
                        </m:e>
                        <m:sup>
                          <m:r>
                            <a:rPr lang="en-US" altLang="zh-TW" sz="2400" b="0" i="0">
                              <a:solidFill>
                                <a:srgbClr val="2B3050"/>
                              </a:solidFill>
                              <a:latin typeface="Cambria Math" panose="02040503050406030204" pitchFamily="18" charset="0"/>
                              <a:ea typeface="Cambria Math"/>
                            </a:rPr>
                            <m:t>2</m:t>
                          </m:r>
                        </m:sup>
                      </m:sSup>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口訣：次方加一，再除以新次方</a:t>
                </a:r>
                <a:endParaRPr lang="zh-TW" sz="2400"/>
              </a:p>
            </p:txBody>
          </p:sp>
        </mc:Choice>
        <mc:Fallback xmlns="">
          <p:pic>
            <p:nvPicPr>
              <p:cNvPr id="12" name="F12"/>
              <p:cNvPicPr/>
              <p:nvPr/>
            </p:nvPicPr>
            <p:blipFill>
              <a:blip r:embed="rId2"/>
              <a:stretch>
                <a:fillRect/>
              </a:stretch>
            </p:blipFill>
            <p:spPr>
              <a:xfrm>
                <a:off x="2560320" y="896112"/>
                <a:ext cx="5760720" cy="1225296"/>
              </a:xfrm>
              <a:prstGeom prst="roundRect">
                <a:avLst/>
              </a:prstGeom>
              <a:solidFill>
                <a:srgbClr val="E8F4F6"/>
              </a:solidFill>
              <a:ln>
                <a:noFill/>
              </a:ln>
            </p:spPr>
          </p:pic>
        </mc:Fallback>
      </mc:AlternateContent>
      <p:sp>
        <p:nvSpPr>
          <p:cNvPr id="13" name="T13"/>
          <p:cNvSpPr txBox="1"/>
          <p:nvPr/>
        </p:nvSpPr>
        <p:spPr>
          <a:xfrm>
            <a:off x="365760" y="2194560"/>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公式解</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2194560"/>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𝑡</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r>
                            <a:rPr lang="en-US" altLang="zh-TW" sz="2400" b="0" i="1">
                              <a:solidFill>
                                <a:srgbClr val="2B3050"/>
                              </a:solidFill>
                              <a:latin typeface="Cambria Math" panose="02040503050406030204" pitchFamily="18" charset="0"/>
                              <a:ea typeface="Cambria Math"/>
                            </a:rPr>
                            <m:t>𝑏</m:t>
                          </m:r>
                          <m:r>
                            <a:rPr lang="en-US" altLang="zh-TW" sz="2400" b="0" i="0">
                              <a:solidFill>
                                <a:srgbClr val="2B3050"/>
                              </a:solidFill>
                              <a:latin typeface="Cambria Math" panose="02040503050406030204" pitchFamily="18" charset="0"/>
                              <a:ea typeface="Cambria Math"/>
                            </a:rPr>
                            <m:t> ± </m:t>
                          </m:r>
                          <m:rad>
                            <m:radPr>
                              <m:degHide m:val="on"/>
                              <m:ctrlPr>
                                <a:rPr lang="en-US" altLang="zh-TW" sz="2400" b="0" i="1">
                                  <a:solidFill>
                                    <a:srgbClr val="2B3050"/>
                                  </a:solidFill>
                                  <a:latin typeface="Cambria Math" panose="02040503050406030204" pitchFamily="18" charset="0"/>
                                  <a:ea typeface="Cambria Math"/>
                                </a:rPr>
                              </m:ctrlPr>
                            </m:radPr>
                            <m:deg/>
                            <m:e>
                              <m:sSup>
                                <m:sSupPr>
                                  <m:ctrlPr>
                                    <a:rPr lang="en-US" altLang="zh-TW" sz="2400" b="0" i="1">
                                      <a:solidFill>
                                        <a:srgbClr val="2B3050"/>
                                      </a:solidFill>
                                      <a:latin typeface="Cambria Math" panose="02040503050406030204" pitchFamily="18" charset="0"/>
                                      <a:ea typeface="Cambria Math"/>
                                    </a:rPr>
                                  </m:ctrlPr>
                                </m:sSupPr>
                                <m:e>
                                  <m:r>
                                    <a:rPr lang="en-US" altLang="zh-TW" sz="2400" b="0" i="1">
                                      <a:solidFill>
                                        <a:srgbClr val="2B3050"/>
                                      </a:solidFill>
                                      <a:latin typeface="Cambria Math" panose="02040503050406030204" pitchFamily="18" charset="0"/>
                                      <a:ea typeface="Cambria Math"/>
                                    </a:rPr>
                                    <m:t>𝑏</m:t>
                                  </m:r>
                                </m:e>
                                <m:sup>
                                  <m:r>
                                    <a:rPr lang="en-US" altLang="zh-TW" sz="2400" b="0" i="0">
                                      <a:solidFill>
                                        <a:srgbClr val="2B3050"/>
                                      </a:solidFill>
                                      <a:latin typeface="Cambria Math" panose="02040503050406030204" pitchFamily="18" charset="0"/>
                                      <a:ea typeface="Cambria Math"/>
                                    </a:rPr>
                                    <m:t>2</m:t>
                                  </m:r>
                                </m:sup>
                              </m:sSup>
                              <m:r>
                                <a:rPr lang="en-US" altLang="zh-TW" sz="2400" b="0" i="0">
                                  <a:solidFill>
                                    <a:srgbClr val="2B3050"/>
                                  </a:solidFill>
                                  <a:latin typeface="Cambria Math" panose="02040503050406030204" pitchFamily="18" charset="0"/>
                                  <a:ea typeface="Cambria Math"/>
                                </a:rPr>
                                <m:t> − 4</m:t>
                              </m:r>
                              <m:r>
                                <a:rPr lang="en-US" altLang="zh-TW" sz="2400" b="0" i="1">
                                  <a:solidFill>
                                    <a:srgbClr val="2B3050"/>
                                  </a:solidFill>
                                  <a:latin typeface="Cambria Math" panose="02040503050406030204" pitchFamily="18" charset="0"/>
                                  <a:ea typeface="Cambria Math"/>
                                </a:rPr>
                                <m:t>𝑎𝑐</m:t>
                              </m:r>
                            </m:e>
                          </m:rad>
                        </m:num>
                        <m:den>
                          <m:r>
                            <a:rPr lang="en-US" altLang="zh-TW" sz="2400" b="0" i="0">
                              <a:solidFill>
                                <a:srgbClr val="2B3050"/>
                              </a:solidFill>
                              <a:latin typeface="Cambria Math" panose="02040503050406030204" pitchFamily="18" charset="0"/>
                              <a:ea typeface="Cambria Math"/>
                            </a:rPr>
                            <m:t>2</m:t>
                          </m:r>
                          <m:r>
                            <a:rPr lang="en-US" altLang="zh-TW" sz="2400" b="0" i="1">
                              <a:solidFill>
                                <a:srgbClr val="2B3050"/>
                              </a:solidFill>
                              <a:latin typeface="Cambria Math" panose="02040503050406030204" pitchFamily="18" charset="0"/>
                              <a:ea typeface="Cambria Math"/>
                            </a:rPr>
                            <m:t>𝑎</m:t>
                          </m:r>
                        </m:den>
                      </m:f>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口訣：時間取正根，負根不合</a:t>
                </a:r>
                <a:endParaRPr lang="zh-TW" sz="2400"/>
              </a:p>
            </p:txBody>
          </p:sp>
        </mc:Choice>
        <mc:Fallback xmlns="">
          <p:pic>
            <p:nvPicPr>
              <p:cNvPr id="14" name="F14"/>
              <p:cNvPicPr/>
              <p:nvPr/>
            </p:nvPicPr>
            <p:blipFill>
              <a:blip r:embed="rId3"/>
              <a:stretch>
                <a:fillRect/>
              </a:stretch>
            </p:blipFill>
            <p:spPr>
              <a:xfrm>
                <a:off x="2560320" y="2194560"/>
                <a:ext cx="5760720" cy="1225296"/>
              </a:xfrm>
              <a:prstGeom prst="roundRect">
                <a:avLst/>
              </a:prstGeom>
              <a:solidFill>
                <a:srgbClr val="E8F4F6"/>
              </a:solidFill>
              <a:ln>
                <a:noFill/>
              </a:ln>
            </p:spPr>
          </p:pic>
        </mc:Fallback>
      </mc:AlternateContent>
      <p:sp>
        <p:nvSpPr>
          <p:cNvPr id="15" name="T15"/>
          <p:cNvSpPr txBox="1"/>
          <p:nvPr/>
        </p:nvSpPr>
        <p:spPr>
          <a:xfrm>
            <a:off x="365760" y="3493008"/>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方向角</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3493008"/>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𝜃</m:t>
                      </m:r>
                      <m:r>
                        <a:rPr lang="en-US" altLang="zh-TW" sz="2400" b="0" i="0">
                          <a:solidFill>
                            <a:srgbClr val="2B3050"/>
                          </a:solidFill>
                          <a:latin typeface="Cambria Math" panose="02040503050406030204" pitchFamily="18" charset="0"/>
                          <a:ea typeface="Cambria Math"/>
                        </a:rPr>
                        <m:t> = </m:t>
                      </m:r>
                      <m:sSup>
                        <m:sSupPr>
                          <m:ctrlPr>
                            <a:rPr lang="en-US" altLang="zh-TW" sz="2400" b="0" i="0">
                              <a:solidFill>
                                <a:srgbClr val="2B3050"/>
                              </a:solidFill>
                              <a:latin typeface="Cambria Math" panose="02040503050406030204" pitchFamily="18" charset="0"/>
                              <a:ea typeface="Cambria Math"/>
                            </a:rPr>
                          </m:ctrlPr>
                        </m:sSupPr>
                        <m:e>
                          <m:r>
                            <m:rPr>
                              <m:sty m:val="p"/>
                            </m:rPr>
                            <a:rPr lang="en-US" altLang="zh-TW" sz="2400" b="0" i="0">
                              <a:solidFill>
                                <a:srgbClr val="2B3050"/>
                              </a:solidFill>
                              <a:latin typeface="Cambria Math" panose="02040503050406030204" pitchFamily="18" charset="0"/>
                              <a:ea typeface="Cambria Math"/>
                            </a:rPr>
                            <m:t>tan</m:t>
                          </m:r>
                        </m:e>
                        <m:sup>
                          <m:r>
                            <a:rPr lang="en-US" altLang="zh-TW" sz="2400" b="0" i="0">
                              <a:solidFill>
                                <a:srgbClr val="2B3050"/>
                              </a:solidFill>
                              <a:latin typeface="Cambria Math" panose="02040503050406030204" pitchFamily="18" charset="0"/>
                              <a:ea typeface="Cambria Math"/>
                            </a:rPr>
                            <m:t>−1</m:t>
                          </m:r>
                        </m:sup>
                      </m:sSup>
                      <m:d>
                        <m:dPr>
                          <m:ctrlPr>
                            <a:rPr lang="en-US" altLang="zh-TW" sz="2400" b="0" i="1">
                              <a:solidFill>
                                <a:srgbClr val="2B3050"/>
                              </a:solidFill>
                              <a:latin typeface="Cambria Math" panose="02040503050406030204" pitchFamily="18" charset="0"/>
                              <a:ea typeface="Cambria Math"/>
                            </a:rPr>
                          </m:ctrlPr>
                        </m:dPr>
                        <m:e>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𝑦</m:t>
                                  </m:r>
                                </m:sub>
                              </m:sSub>
                              <m:r>
                                <a:rPr lang="en-US" altLang="zh-TW" sz="2400" b="0" i="0">
                                  <a:solidFill>
                                    <a:srgbClr val="2B3050"/>
                                  </a:solidFill>
                                  <a:latin typeface="Cambria Math" panose="02040503050406030204" pitchFamily="18" charset="0"/>
                                  <a:ea typeface="Cambria Math"/>
                                </a:rPr>
                                <m:t>|</m:t>
                              </m:r>
                            </m:num>
                            <m:den>
                              <m:r>
                                <a:rPr lang="en-US" altLang="zh-TW" sz="2400" b="0" i="0">
                                  <a:solidFill>
                                    <a:srgbClr val="2B3050"/>
                                  </a:solidFill>
                                  <a:latin typeface="Cambria Math" panose="02040503050406030204" pitchFamily="18" charset="0"/>
                                  <a:ea typeface="Cambria Math"/>
                                </a:rPr>
                                <m:t>|</m:t>
                              </m:r>
                              <m:sSub>
                                <m:sSubPr>
                                  <m:ctrlPr>
                                    <a:rPr lang="en-US" altLang="zh-TW" sz="2400" b="0" i="1">
                                      <a:solidFill>
                                        <a:srgbClr val="2B3050"/>
                                      </a:solidFill>
                                      <a:latin typeface="Cambria Math" panose="02040503050406030204" pitchFamily="18" charset="0"/>
                                      <a:ea typeface="Cambria Math"/>
                                    </a:rPr>
                                  </m:ctrlPr>
                                </m:sSubPr>
                                <m:e>
                                  <m:r>
                                    <a:rPr lang="en-US" altLang="zh-TW" sz="2400" b="0" i="1">
                                      <a:solidFill>
                                        <a:srgbClr val="2B3050"/>
                                      </a:solidFill>
                                      <a:latin typeface="Cambria Math" panose="02040503050406030204" pitchFamily="18" charset="0"/>
                                      <a:ea typeface="Cambria Math"/>
                                    </a:rPr>
                                    <m:t>𝑎</m:t>
                                  </m:r>
                                </m:e>
                                <m:sub>
                                  <m:r>
                                    <a:rPr lang="en-US" altLang="zh-TW" sz="2400" b="0" i="1">
                                      <a:solidFill>
                                        <a:srgbClr val="2B3050"/>
                                      </a:solidFill>
                                      <a:latin typeface="Cambria Math" panose="02040503050406030204" pitchFamily="18" charset="0"/>
                                      <a:ea typeface="Cambria Math"/>
                                    </a:rPr>
                                    <m:t>𝑥</m:t>
                                  </m:r>
                                </m:sub>
                              </m:sSub>
                              <m:r>
                                <a:rPr lang="en-US" altLang="zh-TW" sz="2400" b="0" i="0">
                                  <a:solidFill>
                                    <a:srgbClr val="2B3050"/>
                                  </a:solidFill>
                                  <a:latin typeface="Cambria Math" panose="02040503050406030204" pitchFamily="18" charset="0"/>
                                  <a:ea typeface="Cambria Math"/>
                                </a:rPr>
                                <m:t>|</m:t>
                              </m:r>
                            </m:den>
                          </m:f>
                        </m:e>
                      </m:d>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口訣：對邊 ÷ 鄰邊，象限看正負</a:t>
                </a:r>
                <a:endParaRPr lang="zh-TW" sz="2400"/>
              </a:p>
            </p:txBody>
          </p:sp>
        </mc:Choice>
        <mc:Fallback xmlns="">
          <p:pic>
            <p:nvPicPr>
              <p:cNvPr id="16" name="F16"/>
              <p:cNvPicPr/>
              <p:nvPr/>
            </p:nvPicPr>
            <p:blipFill>
              <a:blip r:embed="rId4"/>
              <a:stretch>
                <a:fillRect/>
              </a:stretch>
            </p:blipFill>
            <p:spPr>
              <a:xfrm>
                <a:off x="2560320" y="3493008"/>
                <a:ext cx="5760720" cy="1225296"/>
              </a:xfrm>
              <a:prstGeom prst="roundRect">
                <a:avLst/>
              </a:prstGeom>
              <a:solidFill>
                <a:srgbClr val="E8F4F6"/>
              </a:solid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850" y="300000"/>
            <a:ext cx="8200000" cy="520000"/>
          </a:xfrm>
        </p:spPr>
        <p:txBody>
          <a:bodyPr>
            <a:normAutofit fontScale="90000"/>
          </a:bodyPr>
          <a:lstStyle/>
          <a:p>
            <a:r>
              <a:rPr lang="zh-TW" altLang="en-US" sz="3200" dirty="0">
                <a:latin typeface="Calibri"/>
                <a:ea typeface="微軟正黑體"/>
              </a:rPr>
              <a:t>公式整理（七）三角與單位</a:t>
            </a:r>
          </a:p>
        </p:txBody>
      </p:sp>
      <p:sp>
        <p:nvSpPr>
          <p:cNvPr id="11" name="T11"/>
          <p:cNvSpPr txBox="1"/>
          <p:nvPr/>
        </p:nvSpPr>
        <p:spPr>
          <a:xfrm>
            <a:off x="365760" y="896112"/>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特別角</a:t>
            </a:r>
            <a:endParaRPr lang="zh-TW" sz="2400"/>
          </a:p>
        </p:txBody>
      </p:sp>
      <mc:AlternateContent xmlns:mc="http://schemas.openxmlformats.org/markup-compatibility/2006" xmlns:a14="http://schemas.microsoft.com/office/drawing/2010/main">
        <mc:Choice Requires="a14">
          <p:sp>
            <p:nvSpPr>
              <p:cNvPr id="12" name="T12"/>
              <p:cNvSpPr txBox="1"/>
              <p:nvPr/>
            </p:nvSpPr>
            <p:spPr>
              <a:xfrm>
                <a:off x="2560320" y="896112"/>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30° =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60°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m:t>
                          </m:r>
                        </m:num>
                        <m:den>
                          <m:r>
                            <a:rPr lang="en-US" altLang="zh-TW" sz="2400" b="0" i="0">
                              <a:solidFill>
                                <a:srgbClr val="2B3050"/>
                              </a:solidFill>
                              <a:latin typeface="Cambria Math" panose="02040503050406030204" pitchFamily="18" charset="0"/>
                              <a:ea typeface="Cambria Math"/>
                            </a:rPr>
                            <m:t>2</m:t>
                          </m:r>
                        </m:den>
                      </m:f>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口訣：1、√2、√3 都除以 2</a:t>
                </a:r>
                <a:endParaRPr lang="zh-TW" sz="2400"/>
              </a:p>
            </p:txBody>
          </p:sp>
        </mc:Choice>
        <mc:Fallback xmlns="">
          <p:pic>
            <p:nvPicPr>
              <p:cNvPr id="12" name="F12"/>
              <p:cNvPicPr/>
              <p:nvPr/>
            </p:nvPicPr>
            <p:blipFill>
              <a:blip r:embed="rId2"/>
              <a:stretch>
                <a:fillRect/>
              </a:stretch>
            </p:blipFill>
            <p:spPr>
              <a:xfrm>
                <a:off x="2560320" y="896112"/>
                <a:ext cx="5760720" cy="1225296"/>
              </a:xfrm>
              <a:prstGeom prst="roundRect">
                <a:avLst/>
              </a:prstGeom>
              <a:solidFill>
                <a:srgbClr val="E8F4F6"/>
              </a:solidFill>
              <a:ln>
                <a:noFill/>
              </a:ln>
            </p:spPr>
          </p:pic>
        </mc:Fallback>
      </mc:AlternateContent>
      <p:sp>
        <p:nvSpPr>
          <p:cNvPr id="13" name="T13"/>
          <p:cNvSpPr txBox="1"/>
          <p:nvPr/>
        </p:nvSpPr>
        <p:spPr>
          <a:xfrm>
            <a:off x="365760" y="2194560"/>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45°</a:t>
            </a:r>
            <a:endParaRPr lang="zh-TW" sz="2400"/>
          </a:p>
        </p:txBody>
      </p:sp>
      <mc:AlternateContent xmlns:mc="http://schemas.openxmlformats.org/markup-compatibility/2006" xmlns:a14="http://schemas.microsoft.com/office/drawing/2010/main">
        <mc:Choice Requires="a14">
          <p:sp>
            <p:nvSpPr>
              <p:cNvPr id="14" name="T14"/>
              <p:cNvSpPr txBox="1"/>
              <p:nvPr/>
            </p:nvSpPr>
            <p:spPr>
              <a:xfrm>
                <a:off x="2560320" y="2194560"/>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m:rPr>
                          <m:sty m:val="p"/>
                        </m:rPr>
                        <a:rPr lang="en-US" altLang="zh-TW" sz="2400" b="0" i="0">
                          <a:solidFill>
                            <a:srgbClr val="2B3050"/>
                          </a:solidFill>
                          <a:latin typeface="Cambria Math" panose="02040503050406030204" pitchFamily="18" charset="0"/>
                          <a:ea typeface="Cambria Math"/>
                        </a:rPr>
                        <m:t>sin</m:t>
                      </m:r>
                      <m:r>
                        <a:rPr lang="en-US" altLang="zh-TW" sz="2400" b="0" i="0">
                          <a:solidFill>
                            <a:srgbClr val="2B3050"/>
                          </a:solidFill>
                          <a:latin typeface="Cambria Math" panose="02040503050406030204" pitchFamily="18" charset="0"/>
                          <a:ea typeface="Cambria Math"/>
                        </a:rPr>
                        <m:t>45° = </m:t>
                      </m:r>
                      <m:r>
                        <m:rPr>
                          <m:sty m:val="p"/>
                        </m:rPr>
                        <a:rPr lang="en-US" altLang="zh-TW" sz="2400" b="0" i="0">
                          <a:solidFill>
                            <a:srgbClr val="2B3050"/>
                          </a:solidFill>
                          <a:latin typeface="Cambria Math" panose="02040503050406030204" pitchFamily="18" charset="0"/>
                          <a:ea typeface="Cambria Math"/>
                        </a:rPr>
                        <m:t>cos</m:t>
                      </m:r>
                      <m:r>
                        <a:rPr lang="en-US" altLang="zh-TW" sz="2400" b="0" i="0">
                          <a:solidFill>
                            <a:srgbClr val="2B3050"/>
                          </a:solidFill>
                          <a:latin typeface="Cambria Math" panose="02040503050406030204" pitchFamily="18" charset="0"/>
                          <a:ea typeface="Cambria Math"/>
                        </a:rPr>
                        <m:t>45° = </m:t>
                      </m:r>
                      <m:f>
                        <m:fPr>
                          <m:ctrlPr>
                            <a:rPr lang="en-US" altLang="zh-TW" sz="2400" b="0" i="1">
                              <a:solidFill>
                                <a:srgbClr val="2B3050"/>
                              </a:solidFill>
                              <a:latin typeface="Cambria Math" panose="02040503050406030204" pitchFamily="18" charset="0"/>
                              <a:ea typeface="Cambria Math"/>
                            </a:rPr>
                          </m:ctrlPr>
                        </m:fPr>
                        <m:num>
                          <m:rad>
                            <m:radPr>
                              <m:degHide m:val="on"/>
                              <m:ctrlPr>
                                <a:rPr lang="en-US" altLang="zh-TW" sz="2400" b="0" i="1">
                                  <a:solidFill>
                                    <a:srgbClr val="2B3050"/>
                                  </a:solidFill>
                                  <a:latin typeface="Cambria Math" panose="02040503050406030204" pitchFamily="18" charset="0"/>
                                  <a:ea typeface="Cambria Math"/>
                                </a:rPr>
                              </m:ctrlPr>
                            </m:radPr>
                            <m:deg/>
                            <m:e>
                              <m:r>
                                <a:rPr lang="en-US" altLang="zh-TW" sz="2400" b="0" i="0">
                                  <a:solidFill>
                                    <a:srgbClr val="2B3050"/>
                                  </a:solidFill>
                                  <a:latin typeface="Cambria Math" panose="02040503050406030204" pitchFamily="18" charset="0"/>
                                  <a:ea typeface="Cambria Math"/>
                                </a:rPr>
                                <m:t>2</m:t>
                              </m:r>
                            </m:e>
                          </m:rad>
                        </m:num>
                        <m:den>
                          <m:r>
                            <a:rPr lang="en-US" altLang="zh-TW" sz="2400" b="0" i="0">
                              <a:solidFill>
                                <a:srgbClr val="2B3050"/>
                              </a:solidFill>
                              <a:latin typeface="Cambria Math" panose="02040503050406030204" pitchFamily="18" charset="0"/>
                              <a:ea typeface="Cambria Math"/>
                            </a:rPr>
                            <m:t>2</m:t>
                          </m:r>
                        </m:den>
                      </m:f>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口訣：45° 兩邊一樣長</a:t>
                </a:r>
                <a:endParaRPr lang="zh-TW" sz="2400"/>
              </a:p>
            </p:txBody>
          </p:sp>
        </mc:Choice>
        <mc:Fallback xmlns="">
          <p:pic>
            <p:nvPicPr>
              <p:cNvPr id="14" name="F14"/>
              <p:cNvPicPr/>
              <p:nvPr/>
            </p:nvPicPr>
            <p:blipFill>
              <a:blip r:embed="rId3"/>
              <a:stretch>
                <a:fillRect/>
              </a:stretch>
            </p:blipFill>
            <p:spPr>
              <a:xfrm>
                <a:off x="2560320" y="2194560"/>
                <a:ext cx="5760720" cy="1225296"/>
              </a:xfrm>
              <a:prstGeom prst="roundRect">
                <a:avLst/>
              </a:prstGeom>
              <a:solidFill>
                <a:srgbClr val="E8F4F6"/>
              </a:solidFill>
              <a:ln>
                <a:noFill/>
              </a:ln>
            </p:spPr>
          </p:pic>
        </mc:Fallback>
      </mc:AlternateContent>
      <p:sp>
        <p:nvSpPr>
          <p:cNvPr id="15" name="T15"/>
          <p:cNvSpPr txBox="1"/>
          <p:nvPr/>
        </p:nvSpPr>
        <p:spPr>
          <a:xfrm>
            <a:off x="365760" y="3493008"/>
            <a:ext cx="2103120" cy="1225296"/>
          </a:xfrm>
          <a:prstGeom prst="roundRect">
            <a:avLst/>
          </a:prstGeom>
          <a:solidFill>
            <a:srgbClr val="1F8899"/>
          </a:solidFill>
          <a:ln>
            <a:noFill/>
          </a:ln>
        </p:spPr>
        <p:txBody>
          <a:bodyPr wrap="square" lIns="54864" tIns="27432" rIns="54864" bIns="27432" anchor="ctr">
            <a:noAutofit/>
          </a:bodyPr>
          <a:lstStyle/>
          <a:p>
            <a:pPr algn="ctr">
              <a:lnSpc>
                <a:spcPct val="100000"/>
              </a:lnSpc>
              <a:buNone/>
            </a:pPr>
            <a:r>
              <a:rPr lang="zh-TW" altLang="en-US" sz="2400" b="1" dirty="0">
                <a:solidFill>
                  <a:srgbClr val="FFFFFF"/>
                </a:solidFill>
                <a:latin typeface="Calibri"/>
                <a:ea typeface="微軟正黑體"/>
                <a:cs typeface="Calibri"/>
              </a:rPr>
              <a:t>弳度換度</a:t>
            </a:r>
            <a:endParaRPr lang="zh-TW" sz="2400"/>
          </a:p>
        </p:txBody>
      </p:sp>
      <mc:AlternateContent xmlns:mc="http://schemas.openxmlformats.org/markup-compatibility/2006" xmlns:a14="http://schemas.microsoft.com/office/drawing/2010/main">
        <mc:Choice Requires="a14">
          <p:sp>
            <p:nvSpPr>
              <p:cNvPr id="16" name="T16"/>
              <p:cNvSpPr txBox="1"/>
              <p:nvPr/>
            </p:nvSpPr>
            <p:spPr>
              <a:xfrm>
                <a:off x="2560320" y="3493008"/>
                <a:ext cx="5760720" cy="1225296"/>
              </a:xfrm>
              <a:prstGeom prst="roundRect">
                <a:avLst/>
              </a:prstGeom>
              <a:solidFill>
                <a:srgbClr val="E8F4F6"/>
              </a:solidFill>
              <a:ln>
                <a:noFill/>
              </a:ln>
            </p:spPr>
            <p:txBody>
              <a:bodyPr wrap="square" lIns="109728" tIns="54864" rIns="109728" bIns="54864" anchor="ctr">
                <a:noAutofit/>
              </a:bodyPr>
              <a:lstStyle/>
              <a:p>
                <a:pPr algn="l">
                  <a:lnSpc>
                    <a:spcPct val="100000"/>
                  </a:lnSpc>
                  <a:buNone/>
                </a:pPr>
                <a14:m>
                  <m:oMathPara xmlns:m="http://schemas.openxmlformats.org/officeDocument/2006/math">
                    <m:oMath>
                      <m:r>
                        <a:rPr lang="en-US" altLang="zh-TW" sz="2400" b="0" i="1">
                          <a:solidFill>
                            <a:srgbClr val="2B3050"/>
                          </a:solidFill>
                          <a:latin typeface="Cambria Math" panose="02040503050406030204" pitchFamily="18" charset="0"/>
                          <a:ea typeface="Cambria Math"/>
                        </a:rPr>
                        <m:t>度 = </m:t>
                      </m:r>
                      <m:r>
                        <a:rPr lang="en-US" altLang="zh-TW" sz="2400" b="0" i="1">
                          <a:solidFill>
                            <a:srgbClr val="2B3050"/>
                          </a:solidFill>
                          <a:latin typeface="Cambria Math" panose="02040503050406030204" pitchFamily="18" charset="0"/>
                          <a:ea typeface="Cambria Math"/>
                        </a:rPr>
                        <m:t>𝑟𝑎𝑑</m:t>
                      </m:r>
                      <m:r>
                        <a:rPr lang="en-US" altLang="zh-TW" sz="2400" b="0" i="0">
                          <a:solidFill>
                            <a:srgbClr val="2B3050"/>
                          </a:solidFill>
                          <a:latin typeface="Cambria Math" panose="02040503050406030204" pitchFamily="18" charset="0"/>
                          <a:ea typeface="Cambria Math"/>
                        </a:rPr>
                        <m:t> × </m:t>
                      </m:r>
                      <m:f>
                        <m:fPr>
                          <m:ctrlPr>
                            <a:rPr lang="en-US" altLang="zh-TW" sz="2400" b="0" i="0">
                              <a:solidFill>
                                <a:srgbClr val="2B3050"/>
                              </a:solidFill>
                              <a:latin typeface="Cambria Math" panose="02040503050406030204" pitchFamily="18" charset="0"/>
                              <a:ea typeface="Cambria Math"/>
                            </a:rPr>
                          </m:ctrlPr>
                        </m:fPr>
                        <m:num>
                          <m:r>
                            <a:rPr lang="en-US" altLang="zh-TW" sz="2400" b="0" i="0">
                              <a:solidFill>
                                <a:srgbClr val="2B3050"/>
                              </a:solidFill>
                              <a:latin typeface="Cambria Math" panose="02040503050406030204" pitchFamily="18" charset="0"/>
                              <a:ea typeface="Cambria Math"/>
                            </a:rPr>
                            <m:t>180°</m:t>
                          </m:r>
                        </m:num>
                        <m:den>
                          <m:r>
                            <a:rPr lang="en-US" altLang="zh-TW" sz="2400" b="0" i="1">
                              <a:solidFill>
                                <a:srgbClr val="2B3050"/>
                              </a:solidFill>
                              <a:latin typeface="Cambria Math" panose="02040503050406030204" pitchFamily="18" charset="0"/>
                              <a:ea typeface="Cambria Math"/>
                            </a:rPr>
                            <m:t>𝜋</m:t>
                          </m:r>
                        </m:den>
                      </m:f>
                    </m:oMath>
                  </m:oMathPara>
                </a14:m>
                <a:endParaRPr lang="zh-TW" sz="2400"/>
              </a:p>
              <a:p>
                <a:pPr algn="l">
                  <a:lnSpc>
                    <a:spcPct val="100000"/>
                  </a:lnSpc>
                  <a:buNone/>
                </a:pPr>
                <a:r>
                  <a:rPr lang="zh-TW" altLang="en-US" sz="2400" b="0" dirty="0">
                    <a:solidFill>
                      <a:srgbClr val="D6006F"/>
                    </a:solidFill>
                    <a:latin typeface="Calibri"/>
                    <a:ea typeface="微軟正黑體"/>
                    <a:cs typeface="Calibri"/>
                  </a:rPr>
                  <a:t>口訣：1 rad ≈ 57.3°</a:t>
                </a:r>
                <a:endParaRPr lang="zh-TW" sz="2400"/>
              </a:p>
            </p:txBody>
          </p:sp>
        </mc:Choice>
        <mc:Fallback xmlns="">
          <p:pic>
            <p:nvPicPr>
              <p:cNvPr id="16" name="F16"/>
              <p:cNvPicPr/>
              <p:nvPr/>
            </p:nvPicPr>
            <p:blipFill>
              <a:blip r:embed="rId4"/>
              <a:stretch>
                <a:fillRect/>
              </a:stretch>
            </p:blipFill>
            <p:spPr>
              <a:xfrm>
                <a:off x="2560320" y="3493008"/>
                <a:ext cx="5760720" cy="1225296"/>
              </a:xfrm>
              <a:prstGeom prst="roundRect">
                <a:avLst/>
              </a:prstGeom>
              <a:solidFill>
                <a:srgbClr val="E8F4F6"/>
              </a:solidFill>
              <a:ln>
                <a:noFill/>
              </a:ln>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PA" val="v5.2.11"/>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ags/tag30.xml><?xml version="1.0" encoding="utf-8"?>
<p:tagLst xmlns:a="http://schemas.openxmlformats.org/drawingml/2006/main" xmlns:r="http://schemas.openxmlformats.org/officeDocument/2006/relationships" xmlns:p="http://schemas.openxmlformats.org/presentationml/2006/main">
  <p:tag name="PA" val="v5.2.11"/>
</p:tagLst>
</file>

<file path=ppt/tags/tag31.xml><?xml version="1.0" encoding="utf-8"?>
<p:tagLst xmlns:a="http://schemas.openxmlformats.org/drawingml/2006/main" xmlns:r="http://schemas.openxmlformats.org/officeDocument/2006/relationships" xmlns:p="http://schemas.openxmlformats.org/presentationml/2006/main">
  <p:tag name="PA" val="v5.2.11"/>
</p:tagLst>
</file>

<file path=ppt/tags/tag32.xml><?xml version="1.0" encoding="utf-8"?>
<p:tagLst xmlns:a="http://schemas.openxmlformats.org/drawingml/2006/main" xmlns:r="http://schemas.openxmlformats.org/officeDocument/2006/relationships" xmlns:p="http://schemas.openxmlformats.org/presentationml/2006/main">
  <p:tag name="PA" val="v5.2.11"/>
</p:tagLst>
</file>

<file path=ppt/tags/tag33.xml><?xml version="1.0" encoding="utf-8"?>
<p:tagLst xmlns:a="http://schemas.openxmlformats.org/drawingml/2006/main" xmlns:r="http://schemas.openxmlformats.org/officeDocument/2006/relationships" xmlns:p="http://schemas.openxmlformats.org/presentationml/2006/main">
  <p:tag name="PA" val="v5.2.11"/>
</p:tagLst>
</file>

<file path=ppt/tags/tag34.xml><?xml version="1.0" encoding="utf-8"?>
<p:tagLst xmlns:a="http://schemas.openxmlformats.org/drawingml/2006/main" xmlns:r="http://schemas.openxmlformats.org/officeDocument/2006/relationships" xmlns:p="http://schemas.openxmlformats.org/presentationml/2006/main">
  <p:tag name="PA" val="v5.2.11"/>
</p:tagLst>
</file>

<file path=ppt/tags/tag35.xml><?xml version="1.0" encoding="utf-8"?>
<p:tagLst xmlns:a="http://schemas.openxmlformats.org/drawingml/2006/main" xmlns:r="http://schemas.openxmlformats.org/officeDocument/2006/relationships" xmlns:p="http://schemas.openxmlformats.org/presentationml/2006/main">
  <p:tag name="PA" val="v5.2.11"/>
</p:tagLst>
</file>

<file path=ppt/tags/tag36.xml><?xml version="1.0" encoding="utf-8"?>
<p:tagLst xmlns:a="http://schemas.openxmlformats.org/drawingml/2006/main" xmlns:r="http://schemas.openxmlformats.org/officeDocument/2006/relationships" xmlns:p="http://schemas.openxmlformats.org/presentationml/2006/main">
  <p:tag name="PA" val="v5.2.11"/>
</p:tagLst>
</file>

<file path=ppt/tags/tag37.xml><?xml version="1.0" encoding="utf-8"?>
<p:tagLst xmlns:a="http://schemas.openxmlformats.org/drawingml/2006/main" xmlns:r="http://schemas.openxmlformats.org/officeDocument/2006/relationships" xmlns:p="http://schemas.openxmlformats.org/presentationml/2006/main">
  <p:tag name="PA" val="v5.2.11"/>
</p:tagLst>
</file>

<file path=ppt/tags/tag38.xml><?xml version="1.0" encoding="utf-8"?>
<p:tagLst xmlns:a="http://schemas.openxmlformats.org/drawingml/2006/main" xmlns:r="http://schemas.openxmlformats.org/officeDocument/2006/relationships" xmlns:p="http://schemas.openxmlformats.org/presentationml/2006/main">
  <p:tag name="PA" val="v5.2.11"/>
</p:tagLst>
</file>

<file path=ppt/tags/tag39.xml><?xml version="1.0" encoding="utf-8"?>
<p:tagLst xmlns:a="http://schemas.openxmlformats.org/drawingml/2006/main" xmlns:r="http://schemas.openxmlformats.org/officeDocument/2006/relationships" xmlns:p="http://schemas.openxmlformats.org/presentationml/2006/main">
  <p:tag name="PA" val="v5.2.11"/>
</p:tagLst>
</file>

<file path=ppt/tags/tag40.xml><?xml version="1.0" encoding="utf-8"?>
<p:tagLst xmlns:a="http://schemas.openxmlformats.org/drawingml/2006/main" xmlns:r="http://schemas.openxmlformats.org/officeDocument/2006/relationships" xmlns:p="http://schemas.openxmlformats.org/presentationml/2006/main">
  <p:tag name="PA" val="v5.2.11"/>
</p:tagLst>
</file>

<file path=ppt/tags/tag41.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11111111111">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44444444">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5555555555555">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6666666666666">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777777777777777777">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88888888888888888888">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CH02</Template>
  <TotalTime>1768</TotalTime>
  <Words>10406</Words>
  <Application>Microsoft Office PowerPoint</Application>
  <PresentationFormat>如螢幕大小 (16:9)</PresentationFormat>
  <Paragraphs>1479</Paragraphs>
  <Slides>149</Slides>
  <Notes>0</Notes>
  <HiddenSlides>0</HiddenSlides>
  <MMClips>0</MMClips>
  <ScaleCrop>false</ScaleCrop>
  <HeadingPairs>
    <vt:vector size="6" baseType="variant">
      <vt:variant>
        <vt:lpstr>使用字型</vt:lpstr>
      </vt:variant>
      <vt:variant>
        <vt:i4>6</vt:i4>
      </vt:variant>
      <vt:variant>
        <vt:lpstr>佈景主題</vt:lpstr>
      </vt:variant>
      <vt:variant>
        <vt:i4>6</vt:i4>
      </vt:variant>
      <vt:variant>
        <vt:lpstr>投影片標題</vt:lpstr>
      </vt:variant>
      <vt:variant>
        <vt:i4>149</vt:i4>
      </vt:variant>
    </vt:vector>
  </HeadingPairs>
  <TitlesOfParts>
    <vt:vector size="161" baseType="lpstr">
      <vt:lpstr>微軟正黑體</vt:lpstr>
      <vt:lpstr>Arial</vt:lpstr>
      <vt:lpstr>Calibri</vt:lpstr>
      <vt:lpstr>Cambria Math</vt:lpstr>
      <vt:lpstr>Times New Roman</vt:lpstr>
      <vt:lpstr>Wingdings</vt:lpstr>
      <vt:lpstr>11111111111</vt:lpstr>
      <vt:lpstr>444444444</vt:lpstr>
      <vt:lpstr>55555555555555</vt:lpstr>
      <vt:lpstr>66666666666666</vt:lpstr>
      <vt:lpstr>777777777777777777</vt:lpstr>
      <vt:lpstr>888888888888888888888</vt:lpstr>
      <vt:lpstr>PowerPoint 簡報</vt:lpstr>
      <vt:lpstr>第 2 章　質點運動學：全章地圖</vt:lpstr>
      <vt:lpstr>同一段運動，座標怎麼選？</vt:lpstr>
      <vt:lpstr>三種運動，差在速度的方向</vt:lpstr>
      <vt:lpstr>2-5　曲線運動的直角座標</vt:lpstr>
      <vt:lpstr>2-5　速度與加速度（式 2-10）</vt:lpstr>
      <vt:lpstr>2-5　大小與方向</vt:lpstr>
      <vt:lpstr>2-5 重點：曲線運動＝三個直線運動</vt:lpstr>
      <vt:lpstr>2-5 用到的微積分：為什麼可以分開微分？</vt:lpstr>
      <vt:lpstr>如何分解曲線運動</vt:lpstr>
      <vt:lpstr>PowerPoint 簡報</vt:lpstr>
      <vt:lpstr>例題 2-13　讀題</vt:lpstr>
      <vt:lpstr>例題 2-13　思考重點（先想再算）</vt:lpstr>
      <vt:lpstr>例題 2-13　(a) 位置向量</vt:lpstr>
      <vt:lpstr>例題 2-13　(b) 位移（t = 2 → 4 s）</vt:lpstr>
      <vt:lpstr>例題 2-13　(c) 平均速度（t = 2 → 4 s）</vt:lpstr>
      <vt:lpstr>例題 2-13　(d) 平均速度（t = 0 → 4 s）</vt:lpstr>
      <vt:lpstr>例題 2-13　本題用到的公式</vt:lpstr>
      <vt:lpstr>例題 2-14　讀題</vt:lpstr>
      <vt:lpstr>例題 2-14　思考重點（先想再算）</vt:lpstr>
      <vt:lpstr>例題 2-14　步驟 1：寫出三個速度向量</vt:lpstr>
      <vt:lpstr>例題 2-14　(a) A → B 的平均加速度</vt:lpstr>
      <vt:lpstr>例題 2-14　(b) 先求速度變化 Δv</vt:lpstr>
      <vt:lpstr>例題 2-14　(b) 再除以時間</vt:lpstr>
      <vt:lpstr>例題 2-14　(b) 大小與方向</vt:lpstr>
      <vt:lpstr>例題 2-14　錯誤算法的 240、100 從哪來？</vt:lpstr>
      <vt:lpstr>例題 2-14　觀念整理：方向改變也有加速度</vt:lpstr>
      <vt:lpstr>例題 2-14　本題用到的公式</vt:lpstr>
      <vt:lpstr>2-6　拋射體運動</vt:lpstr>
      <vt:lpstr>2-6 為什麼水平方向是等速？</vt:lpstr>
      <vt:lpstr>2-6 頻閃照片：兩顆球同時落地</vt:lpstr>
      <vt:lpstr>2-6 伽利略的斜面與桌緣實驗</vt:lpstr>
      <vt:lpstr>2-6 提醒：這是理想模型</vt:lpstr>
      <vt:lpstr>2-6 課本說「拋物線」，怎麼來的？</vt:lpstr>
      <vt:lpstr>實例：外野手長傳（動畫）</vt:lpstr>
      <vt:lpstr>2-6 拋射體公式怎麼來？（1）兩個方向的加速度</vt:lpstr>
      <vt:lpstr>2-6 公式推導（2）水平方向：積分＝面積</vt:lpstr>
      <vt:lpstr>2-6 公式推導（3）垂直速度：積分一次</vt:lpstr>
      <vt:lpstr>2-6 公式推導（4）垂直位置：再積分一次</vt:lpstr>
      <vt:lpstr>2-6 公式推導（5）沒有時間怎麼辦？換變數</vt:lpstr>
      <vt:lpstr>2-6 公式推導（6）積分得到 vy² 關係式</vt:lpstr>
      <vt:lpstr>2-6 拋射體公式總表（向上為正）</vt:lpstr>
      <vt:lpstr>PowerPoint 簡報</vt:lpstr>
      <vt:lpstr>PowerPoint 簡報</vt:lpstr>
      <vt:lpstr>例題 2-15　讀題</vt:lpstr>
      <vt:lpstr>例題 2-15　思考重點（先想再算）</vt:lpstr>
      <vt:lpstr>例題 2-15　步驟 1：設座標、分解初速度</vt:lpstr>
      <vt:lpstr>例題 2-15　步驟 2：x 方向（等速）→ 方程式①</vt:lpstr>
      <vt:lpstr>例題 2-15　步驟 3：y 方向（等加速度）→ 方程式②</vt:lpstr>
      <vt:lpstr>例題 2-15　步驟 4：把①代入②，求 t</vt:lpstr>
      <vt:lpstr>例題 2-15　步驟 5：代回①，求 v0</vt:lpstr>
      <vt:lpstr>例題 2-15　飛行軌跡動畫與驗算</vt:lpstr>
      <vt:lpstr>例題 2-15　本題用到的公式與技巧</vt:lpstr>
      <vt:lpstr>實例影片：鈴木一朗「雷射肩」阻殺（2001）</vt:lpstr>
      <vt:lpstr>討論：為什麼一朗不用 45° 高吊？</vt:lpstr>
      <vt:lpstr>討論：同樣出手速度，哪個角度最遠？</vt:lpstr>
      <vt:lpstr>討論：認真算一次（v0 = 9.82，高 1 m）</vt:lpstr>
      <vt:lpstr>討論：結論與口訣</vt:lpstr>
      <vt:lpstr>進階：有空氣阻力，還是 45° 嗎？</vt:lpstr>
      <vt:lpstr>例題 2-16 (下周)　讀題</vt:lpstr>
      <vt:lpstr>例題 2-16　思考重點（先想再算）</vt:lpstr>
      <vt:lpstr>例題 2-16　步驟 1：分解初速、列三條式子</vt:lpstr>
      <vt:lpstr>例題 2-16　步驟 2：(a) 落地時間與水平距離</vt:lpstr>
      <vt:lpstr>例題 2-16　步驟 3：(b) 最大高度</vt:lpstr>
      <vt:lpstr>例題 2-16　本題用到的公式與技巧</vt:lpstr>
      <vt:lpstr>HW練習 1（課本習題12）思考重點</vt:lpstr>
      <vt:lpstr>HW練習 1　 （課本習題12）詳解</vt:lpstr>
      <vt:lpstr>HW練習 2（課本習題16）思考重點</vt:lpstr>
      <vt:lpstr>HW練習 2　(a) 飛行時間</vt:lpstr>
      <vt:lpstr>HW練習 2　(b) 射程　(c) 最大高度</vt:lpstr>
      <vt:lpstr>HW練習 2　(d) 落地速率</vt:lpstr>
      <vt:lpstr>HW練習 2　本題用到的公式</vt:lpstr>
      <vt:lpstr>以下下周，請先預習</vt:lpstr>
      <vt:lpstr>2-7　曲線運動的極座標與圓柱座標 </vt:lpstr>
      <vt:lpstr>PowerPoint 簡報</vt:lpstr>
      <vt:lpstr>2-7 ● 位置 → 式 (2-11)</vt:lpstr>
      <vt:lpstr>圖 2-15(a)(b) 動畫：位置向量與單位向量</vt:lpstr>
      <vt:lpstr>2-7 ● 單位向量的變化 → 式 (2-12)(2-13)</vt:lpstr>
      <vt:lpstr>圖 2-15(c) 動畫：Δeᵣ 與 Δeθ</vt:lpstr>
      <vt:lpstr>2-7 ● 速度：把 (2-11) 對 t 微分 → 式 (2-14)</vt:lpstr>
      <vt:lpstr>2-7 ● 速度分量 → 式 (2-15)</vt:lpstr>
      <vt:lpstr>2-7 ● 加速度：把 (2-14) 再對 t 微分</vt:lpstr>
      <vt:lpstr>2-7 ● 代入單位向量的微分 → 式 (2-16)</vt:lpstr>
      <vt:lpstr>2-7 ● 加速度分量 → 式 (2-17)</vt:lpstr>
      <vt:lpstr>2-7 ● 速度與加速度的大小</vt:lpstr>
      <vt:lpstr>2-7 ● 圓周運動 → 式 (2-18)</vt:lpstr>
      <vt:lpstr>2-7 (2) 圓柱座標：極座標 + z 軸</vt:lpstr>
      <vt:lpstr>2-7 ● 圓柱座標的速度與加速度 → 式 (2-19)</vt:lpstr>
      <vt:lpstr>2-7 重點：極座標的兩個單位向量</vt:lpstr>
      <vt:lpstr>2-7 微積分（1）把單位向量寫成 i、j</vt:lpstr>
      <vt:lpstr>2-7 微積分（2）對 θ 微分</vt:lpstr>
      <vt:lpstr>2-7 微積分（3）為什麼要用連鎖律？</vt:lpstr>
      <vt:lpstr>2-7 微積分（4）eᵣ 對時間微分</vt:lpstr>
      <vt:lpstr>2-7 微積分（5）eθ 對時間微分</vt:lpstr>
      <vt:lpstr>2-7 微積分（6）用分量再驗算一次</vt:lpstr>
      <vt:lpstr>2-7 公式推導（7）速度：乘積法則</vt:lpstr>
      <vt:lpstr>2-7 公式推導（8）加速度：再微分一次</vt:lpstr>
      <vt:lpstr>2-7 加速度四項的物理意義</vt:lpstr>
      <vt:lpstr>2-7 極座標公式總表</vt:lpstr>
      <vt:lpstr>PowerPoint 簡報</vt:lpstr>
      <vt:lpstr>PowerPoint 簡報</vt:lpstr>
      <vt:lpstr>例題 2-17　讀題</vt:lpstr>
      <vt:lpstr>例題 2-17　思考重點（先想再算）</vt:lpstr>
      <vt:lpstr>例題 2-17　步驟 1：r 微分兩次，代 t = 3</vt:lpstr>
      <vt:lpstr>例題 2-17　步驟 2：θ 微分兩次，代 t = 3</vt:lpstr>
      <vt:lpstr>例題 2-17　步驟 3：速度</vt:lpstr>
      <vt:lpstr>例題 2-17　步驟 4：徑向加速度 aᵣ</vt:lpstr>
      <vt:lpstr>例題 2-17　步驟 5：橫向加速度 aθ 與大小</vt:lpstr>
      <vt:lpstr>例題 2-17　加速度分量圖與答案</vt:lpstr>
      <vt:lpstr>例題 2-17　本題用到的公式</vt:lpstr>
      <vt:lpstr>例題 2-18　讀題</vt:lpstr>
      <vt:lpstr>例題 2-18　思考重點（先想再算）</vt:lpstr>
      <vt:lpstr>例題 2-18　步驟 1：r 對 t 微分（連鎖律）</vt:lpstr>
      <vt:lpstr>例題 2-18　步驟 2：代 θ = 90°</vt:lpstr>
      <vt:lpstr>例題 2-18　步驟 3：由 v 求 θ̇</vt:lpstr>
      <vt:lpstr>例題 2-18　步驟 4：寫出兩個加速度分量</vt:lpstr>
      <vt:lpstr>例題 2-18　步驟 5：由 a 列方程式</vt:lpstr>
      <vt:lpstr>例題 2-18　步驟 6：公式解求 θ̈</vt:lpstr>
      <vt:lpstr>例題 2-18　本題用到的公式與技巧</vt:lpstr>
      <vt:lpstr>PowerPoint 簡報</vt:lpstr>
      <vt:lpstr>例題 2-19　讀題</vt:lpstr>
      <vt:lpstr>例題 2-19　思考重點（先想再算）</vt:lpstr>
      <vt:lpstr>例題 2-19　步驟 1：微分並代 t = 3</vt:lpstr>
      <vt:lpstr>例題 2-19　運動動畫：θ(t) = t² − 2t</vt:lpstr>
      <vt:lpstr>例題 2-19　步驟 2：速度</vt:lpstr>
      <vt:lpstr>例題 2-19　步驟 3：加速度</vt:lpstr>
      <vt:lpstr>例題 2-19　加速度分量圖</vt:lpstr>
      <vt:lpstr>例題 2-19　本題用到的公式</vt:lpstr>
      <vt:lpstr>例題 2-20　讀題</vt:lpstr>
      <vt:lpstr>例題 2-20　思考重點（先想再算）</vt:lpstr>
      <vt:lpstr>例題 2-20　步驟 1：列出各項微分</vt:lpstr>
      <vt:lpstr>例題 2-20　步驟 2：由速率求 θ̇</vt:lpstr>
      <vt:lpstr>觀念：等速率，為什麼還有加速度？</vt:lpstr>
      <vt:lpstr>PowerPoint 簡報</vt:lpstr>
      <vt:lpstr>觀念：生活例子與例題 2-20 驗算</vt:lpstr>
      <vt:lpstr>例題 2-20　步驟 3：加速度</vt:lpstr>
      <vt:lpstr>例題 2-20　本題用到的公式與技巧</vt:lpstr>
      <vt:lpstr>公式圖解（一）2-5 直角座標</vt:lpstr>
      <vt:lpstr>記憶口訣（一）直角座標</vt:lpstr>
      <vt:lpstr>公式圖解（二）2-6 拋射體運動</vt:lpstr>
      <vt:lpstr>記憶口訣（二）拋射體</vt:lpstr>
      <vt:lpstr>補充速算（二）起點與落點同高時</vt:lpstr>
      <vt:lpstr>公式圖解（三）2-7 極座標</vt:lpstr>
      <vt:lpstr>記憶口訣（三）極座標</vt:lpstr>
      <vt:lpstr>公式圖解（四）圓周運動與圓柱座標</vt:lpstr>
      <vt:lpstr>記憶口訣（四）圓周與圓柱</vt:lpstr>
      <vt:lpstr>公式整理（五）微分工具與口訣</vt:lpstr>
      <vt:lpstr>公式整理（六）積分與解方程式</vt:lpstr>
      <vt:lpstr>公式整理（七）三角與單位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R19</dc:creator>
  <cp:lastModifiedBy>BiLL Chen</cp:lastModifiedBy>
  <cp:revision>198</cp:revision>
  <dcterms:created xsi:type="dcterms:W3CDTF">2022-08-26T06:18:16Z</dcterms:created>
  <dcterms:modified xsi:type="dcterms:W3CDTF">2026-10-12T22:19:01Z</dcterms:modified>
</cp:coreProperties>
</file>