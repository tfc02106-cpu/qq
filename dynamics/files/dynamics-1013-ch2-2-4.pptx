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690" r:id="rId2"/>
    <p:sldMasterId id="2147483684" r:id="rId3"/>
    <p:sldMasterId id="2147483678" r:id="rId4"/>
    <p:sldMasterId id="2147483666" r:id="rId5"/>
  </p:sldMasterIdLst>
  <p:notesMasterIdLst>
    <p:notesMasterId r:id="rId61"/>
  </p:notesMasterIdLst>
  <p:handoutMasterIdLst>
    <p:handoutMasterId r:id="rId62"/>
  </p:handoutMasterIdLst>
  <p:sldIdLst>
    <p:sldId id="684" r:id="rId6"/>
    <p:sldId id="697" r:id="rId7"/>
    <p:sldId id="685" r:id="rId8"/>
    <p:sldId id="686" r:id="rId9"/>
    <p:sldId id="687" r:id="rId10"/>
    <p:sldId id="688" r:id="rId11"/>
    <p:sldId id="698" r:id="rId12"/>
    <p:sldId id="715" r:id="rId13"/>
    <p:sldId id="716" r:id="rId14"/>
    <p:sldId id="717" r:id="rId15"/>
    <p:sldId id="718" r:id="rId16"/>
    <p:sldId id="719" r:id="rId17"/>
    <p:sldId id="689" r:id="rId18"/>
    <p:sldId id="720" r:id="rId19"/>
    <p:sldId id="721" r:id="rId20"/>
    <p:sldId id="722" r:id="rId21"/>
    <p:sldId id="723" r:id="rId22"/>
    <p:sldId id="724" r:id="rId23"/>
    <p:sldId id="725" r:id="rId24"/>
    <p:sldId id="726" r:id="rId25"/>
    <p:sldId id="706" r:id="rId26"/>
    <p:sldId id="690" r:id="rId27"/>
    <p:sldId id="691" r:id="rId28"/>
    <p:sldId id="699" r:id="rId29"/>
    <p:sldId id="707" r:id="rId30"/>
    <p:sldId id="692" r:id="rId31"/>
    <p:sldId id="700" r:id="rId32"/>
    <p:sldId id="693" r:id="rId33"/>
    <p:sldId id="694" r:id="rId34"/>
    <p:sldId id="695" r:id="rId35"/>
    <p:sldId id="701" r:id="rId36"/>
    <p:sldId id="702" r:id="rId37"/>
    <p:sldId id="703" r:id="rId38"/>
    <p:sldId id="704" r:id="rId39"/>
    <p:sldId id="705" r:id="rId40"/>
    <p:sldId id="709" r:id="rId41"/>
    <p:sldId id="710" r:id="rId42"/>
    <p:sldId id="711" r:id="rId43"/>
    <p:sldId id="712" r:id="rId44"/>
    <p:sldId id="713" r:id="rId45"/>
    <p:sldId id="714" r:id="rId46"/>
    <p:sldId id="696" r:id="rId47"/>
    <p:sldId id="256" r:id="rId48"/>
    <p:sldId id="257" r:id="rId49"/>
    <p:sldId id="258" r:id="rId50"/>
    <p:sldId id="259" r:id="rId51"/>
    <p:sldId id="260" r:id="rId52"/>
    <p:sldId id="261" r:id="rId53"/>
    <p:sldId id="262" r:id="rId54"/>
    <p:sldId id="263" r:id="rId55"/>
    <p:sldId id="264" r:id="rId56"/>
    <p:sldId id="265" r:id="rId57"/>
    <p:sldId id="266" r:id="rId58"/>
    <p:sldId id="267" r:id="rId59"/>
    <p:sldId id="268" r:id="rId6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p15:clr>
            <a:srgbClr val="A4A3A4"/>
          </p15:clr>
        </p15:guide>
        <p15:guide id="4" orient="horz" pos="1900">
          <p15:clr>
            <a:srgbClr val="A4A3A4"/>
          </p15:clr>
        </p15:guide>
        <p15:guide id="5" pos="5175">
          <p15:clr>
            <a:srgbClr val="A4A3A4"/>
          </p15:clr>
        </p15:guide>
        <p15:guide id="6" pos="28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C7A7"/>
    <a:srgbClr val="F6BC95"/>
    <a:srgbClr val="F4B285"/>
    <a:srgbClr val="F2A16A"/>
    <a:srgbClr val="666666"/>
    <a:srgbClr val="F09253"/>
    <a:srgbClr val="EE853E"/>
    <a:srgbClr val="EB701E"/>
    <a:srgbClr val="D16012"/>
    <a:srgbClr val="BC56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1061F8-F02F-43AA-83E3-58B6259CCDCC}" v="9" dt="2026-10-12T22:01:28.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7962" autoAdjust="0"/>
    <p:restoredTop sz="94660"/>
  </p:normalViewPr>
  <p:slideViewPr>
    <p:cSldViewPr snapToGrid="0" showGuides="1">
      <p:cViewPr>
        <p:scale>
          <a:sx n="100" d="100"/>
          <a:sy n="100" d="100"/>
        </p:scale>
        <p:origin x="569" y="333"/>
      </p:cViewPr>
      <p:guideLst>
        <p:guide orient="horz" pos="2160"/>
        <p:guide pos="2880"/>
        <p:guide orient="horz" pos="1620"/>
        <p:guide orient="horz" pos="1900"/>
        <p:guide pos="5175"/>
        <p:guide pos="2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2856"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L Chen" userId="57bada66e2e983d5" providerId="LiveId" clId="{CDE089A9-A992-425E-90C6-FC8CBED75005}"/>
    <pc:docChg chg="undo custSel addSld delSld modSld sldOrd delMainMaster">
      <pc:chgData name="BiLL Chen" userId="57bada66e2e983d5" providerId="LiveId" clId="{CDE089A9-A992-425E-90C6-FC8CBED75005}" dt="2026-10-12T22:03:45.106" v="814" actId="1076"/>
      <pc:docMkLst>
        <pc:docMk/>
      </pc:docMkLst>
      <pc:sldChg chg="modSp mod">
        <pc:chgData name="BiLL Chen" userId="57bada66e2e983d5" providerId="LiveId" clId="{CDE089A9-A992-425E-90C6-FC8CBED75005}" dt="2026-09-28T22:44:58.635" v="42" actId="14100"/>
        <pc:sldMkLst>
          <pc:docMk/>
          <pc:sldMk cId="0" sldId="256"/>
        </pc:sldMkLst>
        <pc:spChg chg="mod">
          <ac:chgData name="BiLL Chen" userId="57bada66e2e983d5" providerId="LiveId" clId="{CDE089A9-A992-425E-90C6-FC8CBED75005}" dt="2026-09-28T22:43:59.962" v="41" actId="20577"/>
          <ac:spMkLst>
            <pc:docMk/>
            <pc:sldMk cId="0" sldId="256"/>
            <ac:spMk id="2" creationId="{00000000-0000-0000-0000-000000000000}"/>
          </ac:spMkLst>
        </pc:spChg>
        <pc:spChg chg="mod">
          <ac:chgData name="BiLL Chen" userId="57bada66e2e983d5" providerId="LiveId" clId="{CDE089A9-A992-425E-90C6-FC8CBED75005}" dt="2026-09-28T22:44:58.635" v="42" actId="14100"/>
          <ac:spMkLst>
            <pc:docMk/>
            <pc:sldMk cId="0" sldId="256"/>
            <ac:spMk id="28" creationId="{00000000-0000-0000-0000-000000000000}"/>
          </ac:spMkLst>
        </pc:spChg>
        <pc:spChg chg="mod">
          <ac:chgData name="BiLL Chen" userId="57bada66e2e983d5" providerId="LiveId" clId="{CDE089A9-A992-425E-90C6-FC8CBED75005}" dt="2026-09-28T22:43:54.986" v="33" actId="1076"/>
          <ac:spMkLst>
            <pc:docMk/>
            <pc:sldMk cId="0" sldId="256"/>
            <ac:spMk id="36" creationId="{00000000-0000-0000-0000-000000000000}"/>
          </ac:spMkLst>
        </pc:spChg>
        <pc:spChg chg="mod">
          <ac:chgData name="BiLL Chen" userId="57bada66e2e983d5" providerId="LiveId" clId="{CDE089A9-A992-425E-90C6-FC8CBED75005}" dt="2026-09-28T22:43:54.986" v="33" actId="1076"/>
          <ac:spMkLst>
            <pc:docMk/>
            <pc:sldMk cId="0" sldId="256"/>
            <ac:spMk id="37" creationId="{00000000-0000-0000-0000-000000000000}"/>
          </ac:spMkLst>
        </pc:spChg>
      </pc:sldChg>
      <pc:sldChg chg="addSp modSp mod">
        <pc:chgData name="BiLL Chen" userId="57bada66e2e983d5" providerId="LiveId" clId="{CDE089A9-A992-425E-90C6-FC8CBED75005}" dt="2026-10-05T17:26:19.837" v="770" actId="1076"/>
        <pc:sldMkLst>
          <pc:docMk/>
          <pc:sldMk cId="1714254335" sldId="684"/>
        </pc:sldMkLst>
        <pc:spChg chg="add mod">
          <ac:chgData name="BiLL Chen" userId="57bada66e2e983d5" providerId="LiveId" clId="{CDE089A9-A992-425E-90C6-FC8CBED75005}" dt="2026-10-05T17:26:10.721" v="765" actId="1076"/>
          <ac:spMkLst>
            <pc:docMk/>
            <pc:sldMk cId="1714254335" sldId="684"/>
            <ac:spMk id="7" creationId="{337E98E4-BEEE-4BB1-4461-55B91D422AD5}"/>
          </ac:spMkLst>
        </pc:spChg>
        <pc:picChg chg="add mod">
          <ac:chgData name="BiLL Chen" userId="57bada66e2e983d5" providerId="LiveId" clId="{CDE089A9-A992-425E-90C6-FC8CBED75005}" dt="2026-10-05T17:26:19.837" v="770" actId="1076"/>
          <ac:picMkLst>
            <pc:docMk/>
            <pc:sldMk cId="1714254335" sldId="684"/>
            <ac:picMk id="5" creationId="{451DE977-74D4-C5FB-EB63-546EBDB2AF78}"/>
          </ac:picMkLst>
        </pc:picChg>
      </pc:sldChg>
      <pc:sldChg chg="addSp modSp mod">
        <pc:chgData name="BiLL Chen" userId="57bada66e2e983d5" providerId="LiveId" clId="{CDE089A9-A992-425E-90C6-FC8CBED75005}" dt="2026-09-28T17:14:40.087" v="6" actId="962"/>
        <pc:sldMkLst>
          <pc:docMk/>
          <pc:sldMk cId="1861728370" sldId="689"/>
        </pc:sldMkLst>
        <pc:picChg chg="add mod">
          <ac:chgData name="BiLL Chen" userId="57bada66e2e983d5" providerId="LiveId" clId="{CDE089A9-A992-425E-90C6-FC8CBED75005}" dt="2026-09-28T17:14:40.087" v="6" actId="962"/>
          <ac:picMkLst>
            <pc:docMk/>
            <pc:sldMk cId="1861728370" sldId="689"/>
            <ac:picMk id="5" creationId="{F4B20E72-AF2D-BC30-E320-FBCC4FE16C10}"/>
          </ac:picMkLst>
        </pc:picChg>
      </pc:sldChg>
      <pc:sldChg chg="modSp mod">
        <pc:chgData name="BiLL Chen" userId="57bada66e2e983d5" providerId="LiveId" clId="{CDE089A9-A992-425E-90C6-FC8CBED75005}" dt="2026-09-28T22:37:26.993" v="18" actId="13926"/>
        <pc:sldMkLst>
          <pc:docMk/>
          <pc:sldMk cId="1057393857" sldId="690"/>
        </pc:sldMkLst>
        <pc:spChg chg="mod">
          <ac:chgData name="BiLL Chen" userId="57bada66e2e983d5" providerId="LiveId" clId="{CDE089A9-A992-425E-90C6-FC8CBED75005}" dt="2026-09-28T22:37:26.993" v="18" actId="13926"/>
          <ac:spMkLst>
            <pc:docMk/>
            <pc:sldMk cId="1057393857" sldId="690"/>
            <ac:spMk id="3" creationId="{00000000-0000-0000-0000-000000000000}"/>
          </ac:spMkLst>
        </pc:spChg>
      </pc:sldChg>
      <pc:sldChg chg="addSp delSp modSp mod">
        <pc:chgData name="BiLL Chen" userId="57bada66e2e983d5" providerId="LiveId" clId="{CDE089A9-A992-425E-90C6-FC8CBED75005}" dt="2026-09-28T23:05:26.015" v="162" actId="255"/>
        <pc:sldMkLst>
          <pc:docMk/>
          <pc:sldMk cId="1314451842" sldId="691"/>
        </pc:sldMkLst>
        <pc:spChg chg="mod">
          <ac:chgData name="BiLL Chen" userId="57bada66e2e983d5" providerId="LiveId" clId="{CDE089A9-A992-425E-90C6-FC8CBED75005}" dt="2026-09-28T22:36:47.774" v="17" actId="13926"/>
          <ac:spMkLst>
            <pc:docMk/>
            <pc:sldMk cId="1314451842" sldId="691"/>
            <ac:spMk id="3" creationId="{00000000-0000-0000-0000-000000000000}"/>
          </ac:spMkLst>
        </pc:spChg>
        <pc:spChg chg="add mod">
          <ac:chgData name="BiLL Chen" userId="57bada66e2e983d5" providerId="LiveId" clId="{CDE089A9-A992-425E-90C6-FC8CBED75005}" dt="2026-09-28T23:05:26.015" v="162" actId="255"/>
          <ac:spMkLst>
            <pc:docMk/>
            <pc:sldMk cId="1314451842" sldId="691"/>
            <ac:spMk id="5" creationId="{00000000-0000-0000-0000-000000000000}"/>
          </ac:spMkLst>
        </pc:spChg>
        <pc:graphicFrameChg chg="mod">
          <ac:chgData name="BiLL Chen" userId="57bada66e2e983d5" providerId="LiveId" clId="{CDE089A9-A992-425E-90C6-FC8CBED75005}" dt="2026-09-28T22:37:48.712" v="19" actId="1076"/>
          <ac:graphicFrameMkLst>
            <pc:docMk/>
            <pc:sldMk cId="1314451842" sldId="691"/>
            <ac:graphicFrameMk id="4" creationId="{00000000-0000-0000-0000-000000000000}"/>
          </ac:graphicFrameMkLst>
        </pc:graphicFrameChg>
      </pc:sldChg>
      <pc:sldChg chg="addSp modSp mod">
        <pc:chgData name="BiLL Chen" userId="57bada66e2e983d5" providerId="LiveId" clId="{CDE089A9-A992-425E-90C6-FC8CBED75005}" dt="2026-09-28T22:40:54.598" v="24" actId="27614"/>
        <pc:sldMkLst>
          <pc:docMk/>
          <pc:sldMk cId="4174582311" sldId="693"/>
        </pc:sldMkLst>
        <pc:picChg chg="add mod">
          <ac:chgData name="BiLL Chen" userId="57bada66e2e983d5" providerId="LiveId" clId="{CDE089A9-A992-425E-90C6-FC8CBED75005}" dt="2026-09-28T22:40:54.598" v="24" actId="27614"/>
          <ac:picMkLst>
            <pc:docMk/>
            <pc:sldMk cId="4174582311" sldId="693"/>
            <ac:picMk id="6" creationId="{03CEF1F6-36EF-9DAE-4DD8-E0F109067A62}"/>
          </ac:picMkLst>
        </pc:picChg>
      </pc:sldChg>
      <pc:sldChg chg="addSp delSp modSp mod ord">
        <pc:chgData name="BiLL Chen" userId="57bada66e2e983d5" providerId="LiveId" clId="{CDE089A9-A992-425E-90C6-FC8CBED75005}" dt="2026-09-28T22:50:33.007" v="61" actId="1076"/>
        <pc:sldMkLst>
          <pc:docMk/>
          <pc:sldMk cId="1913634096" sldId="694"/>
        </pc:sldMkLst>
        <pc:spChg chg="mod">
          <ac:chgData name="BiLL Chen" userId="57bada66e2e983d5" providerId="LiveId" clId="{CDE089A9-A992-425E-90C6-FC8CBED75005}" dt="2026-09-28T22:48:15.987" v="52" actId="1076"/>
          <ac:spMkLst>
            <pc:docMk/>
            <pc:sldMk cId="1913634096" sldId="694"/>
            <ac:spMk id="3" creationId="{00000000-0000-0000-0000-000000000000}"/>
          </ac:spMkLst>
        </pc:spChg>
        <pc:picChg chg="add mod">
          <ac:chgData name="BiLL Chen" userId="57bada66e2e983d5" providerId="LiveId" clId="{CDE089A9-A992-425E-90C6-FC8CBED75005}" dt="2026-09-28T22:45:23.556" v="43" actId="1076"/>
          <ac:picMkLst>
            <pc:docMk/>
            <pc:sldMk cId="1913634096" sldId="694"/>
            <ac:picMk id="4" creationId="{934E9A52-9146-B705-CB9A-C86C3ECDE95E}"/>
          </ac:picMkLst>
        </pc:picChg>
        <pc:picChg chg="add mod modCrop">
          <ac:chgData name="BiLL Chen" userId="57bada66e2e983d5" providerId="LiveId" clId="{CDE089A9-A992-425E-90C6-FC8CBED75005}" dt="2026-09-28T22:50:33.007" v="61" actId="1076"/>
          <ac:picMkLst>
            <pc:docMk/>
            <pc:sldMk cId="1913634096" sldId="694"/>
            <ac:picMk id="16" creationId="{B7264312-219E-8660-F94A-43EE22EB9FA2}"/>
          </ac:picMkLst>
        </pc:picChg>
      </pc:sldChg>
      <pc:sldChg chg="modSp">
        <pc:chgData name="BiLL Chen" userId="57bada66e2e983d5" providerId="LiveId" clId="{CDE089A9-A992-425E-90C6-FC8CBED75005}" dt="2026-10-05T17:28:24.984" v="772" actId="13926"/>
        <pc:sldMkLst>
          <pc:docMk/>
          <pc:sldMk cId="0" sldId="697"/>
        </pc:sldMkLst>
        <pc:spChg chg="mod">
          <ac:chgData name="BiLL Chen" userId="57bada66e2e983d5" providerId="LiveId" clId="{CDE089A9-A992-425E-90C6-FC8CBED75005}" dt="2026-10-05T17:28:24.984" v="772" actId="13926"/>
          <ac:spMkLst>
            <pc:docMk/>
            <pc:sldMk cId="0" sldId="697"/>
            <ac:spMk id="250" creationId="{00000000-0000-0000-0000-000000000000}"/>
          </ac:spMkLst>
        </pc:spChg>
      </pc:sldChg>
      <pc:sldChg chg="modSp mod">
        <pc:chgData name="BiLL Chen" userId="57bada66e2e983d5" providerId="LiveId" clId="{CDE089A9-A992-425E-90C6-FC8CBED75005}" dt="2026-10-05T17:28:42.980" v="774" actId="27636"/>
        <pc:sldMkLst>
          <pc:docMk/>
          <pc:sldMk cId="0" sldId="698"/>
        </pc:sldMkLst>
        <pc:spChg chg="mod">
          <ac:chgData name="BiLL Chen" userId="57bada66e2e983d5" providerId="LiveId" clId="{CDE089A9-A992-425E-90C6-FC8CBED75005}" dt="2026-10-05T17:28:42.980" v="774" actId="27636"/>
          <ac:spMkLst>
            <pc:docMk/>
            <pc:sldMk cId="0" sldId="698"/>
            <ac:spMk id="250" creationId="{00000000-0000-0000-0000-000000000000}"/>
          </ac:spMkLst>
        </pc:spChg>
      </pc:sldChg>
      <pc:sldChg chg="addSp modSp mod">
        <pc:chgData name="BiLL Chen" userId="57bada66e2e983d5" providerId="LiveId" clId="{CDE089A9-A992-425E-90C6-FC8CBED75005}" dt="2026-10-12T22:03:45.106" v="814" actId="1076"/>
        <pc:sldMkLst>
          <pc:docMk/>
          <pc:sldMk cId="0" sldId="702"/>
        </pc:sldMkLst>
        <pc:spChg chg="mod">
          <ac:chgData name="BiLL Chen" userId="57bada66e2e983d5" providerId="LiveId" clId="{CDE089A9-A992-425E-90C6-FC8CBED75005}" dt="2026-09-28T22:42:56.417" v="30" actId="20577"/>
          <ac:spMkLst>
            <pc:docMk/>
            <pc:sldMk cId="0" sldId="702"/>
            <ac:spMk id="2" creationId="{00000000-0000-0000-0000-000000000000}"/>
          </ac:spMkLst>
        </pc:spChg>
        <pc:spChg chg="mod">
          <ac:chgData name="BiLL Chen" userId="57bada66e2e983d5" providerId="LiveId" clId="{CDE089A9-A992-425E-90C6-FC8CBED75005}" dt="2026-10-05T17:31:31.494" v="785" actId="1076"/>
          <ac:spMkLst>
            <pc:docMk/>
            <pc:sldMk cId="0" sldId="702"/>
            <ac:spMk id="5" creationId="{00000000-0000-0000-0000-000000000000}"/>
          </ac:spMkLst>
        </pc:spChg>
        <pc:spChg chg="mod">
          <ac:chgData name="BiLL Chen" userId="57bada66e2e983d5" providerId="LiveId" clId="{CDE089A9-A992-425E-90C6-FC8CBED75005}" dt="2026-09-28T22:43:05.390" v="31" actId="1076"/>
          <ac:spMkLst>
            <pc:docMk/>
            <pc:sldMk cId="0" sldId="702"/>
            <ac:spMk id="6" creationId="{00000000-0000-0000-0000-000000000000}"/>
          </ac:spMkLst>
        </pc:spChg>
        <pc:spChg chg="mod">
          <ac:chgData name="BiLL Chen" userId="57bada66e2e983d5" providerId="LiveId" clId="{CDE089A9-A992-425E-90C6-FC8CBED75005}" dt="2026-09-28T22:43:05.390" v="31" actId="1076"/>
          <ac:spMkLst>
            <pc:docMk/>
            <pc:sldMk cId="0" sldId="702"/>
            <ac:spMk id="8" creationId="{00000000-0000-0000-0000-000000000000}"/>
          </ac:spMkLst>
        </pc:spChg>
        <pc:spChg chg="mod">
          <ac:chgData name="BiLL Chen" userId="57bada66e2e983d5" providerId="LiveId" clId="{CDE089A9-A992-425E-90C6-FC8CBED75005}" dt="2026-09-28T22:43:05.390" v="31" actId="1076"/>
          <ac:spMkLst>
            <pc:docMk/>
            <pc:sldMk cId="0" sldId="702"/>
            <ac:spMk id="13" creationId="{00000000-0000-0000-0000-000000000000}"/>
          </ac:spMkLst>
        </pc:spChg>
        <pc:spChg chg="add mod">
          <ac:chgData name="BiLL Chen" userId="57bada66e2e983d5" providerId="LiveId" clId="{CDE089A9-A992-425E-90C6-FC8CBED75005}" dt="2026-10-12T22:03:45.106" v="814" actId="1076"/>
          <ac:spMkLst>
            <pc:docMk/>
            <pc:sldMk cId="0" sldId="702"/>
            <ac:spMk id="16" creationId="{33FA8ADF-1979-BA38-0B6C-3063647B0263}"/>
          </ac:spMkLst>
        </pc:spChg>
        <pc:spChg chg="mod">
          <ac:chgData name="BiLL Chen" userId="57bada66e2e983d5" providerId="LiveId" clId="{CDE089A9-A992-425E-90C6-FC8CBED75005}" dt="2026-10-05T17:30:10.438" v="776" actId="27636"/>
          <ac:spMkLst>
            <pc:docMk/>
            <pc:sldMk cId="0" sldId="702"/>
            <ac:spMk id="250" creationId="{00000000-0000-0000-0000-000000000000}"/>
          </ac:spMkLst>
        </pc:spChg>
        <pc:spChg chg="mod">
          <ac:chgData name="BiLL Chen" userId="57bada66e2e983d5" providerId="LiveId" clId="{CDE089A9-A992-425E-90C6-FC8CBED75005}" dt="2026-09-28T22:43:05.390" v="31" actId="1076"/>
          <ac:spMkLst>
            <pc:docMk/>
            <pc:sldMk cId="0" sldId="702"/>
            <ac:spMk id="731" creationId="{00000000-0000-0000-0000-000000000000}"/>
          </ac:spMkLst>
        </pc:spChg>
        <pc:cxnChg chg="mod">
          <ac:chgData name="BiLL Chen" userId="57bada66e2e983d5" providerId="LiveId" clId="{CDE089A9-A992-425E-90C6-FC8CBED75005}" dt="2026-09-28T22:43:05.390" v="31" actId="1076"/>
          <ac:cxnSpMkLst>
            <pc:docMk/>
            <pc:sldMk cId="0" sldId="702"/>
            <ac:cxnSpMk id="3" creationId="{00000000-0000-0000-0000-000000000000}"/>
          </ac:cxnSpMkLst>
        </pc:cxnChg>
        <pc:cxnChg chg="mod">
          <ac:chgData name="BiLL Chen" userId="57bada66e2e983d5" providerId="LiveId" clId="{CDE089A9-A992-425E-90C6-FC8CBED75005}" dt="2026-09-28T22:43:05.390" v="31" actId="1076"/>
          <ac:cxnSpMkLst>
            <pc:docMk/>
            <pc:sldMk cId="0" sldId="702"/>
            <ac:cxnSpMk id="4" creationId="{00000000-0000-0000-0000-000000000000}"/>
          </ac:cxnSpMkLst>
        </pc:cxnChg>
        <pc:cxnChg chg="mod">
          <ac:chgData name="BiLL Chen" userId="57bada66e2e983d5" providerId="LiveId" clId="{CDE089A9-A992-425E-90C6-FC8CBED75005}" dt="2026-09-28T22:43:05.390" v="31" actId="1076"/>
          <ac:cxnSpMkLst>
            <pc:docMk/>
            <pc:sldMk cId="0" sldId="702"/>
            <ac:cxnSpMk id="7" creationId="{00000000-0000-0000-0000-000000000000}"/>
          </ac:cxnSpMkLst>
        </pc:cxnChg>
        <pc:cxnChg chg="mod">
          <ac:chgData name="BiLL Chen" userId="57bada66e2e983d5" providerId="LiveId" clId="{CDE089A9-A992-425E-90C6-FC8CBED75005}" dt="2026-09-28T22:43:05.390" v="31" actId="1076"/>
          <ac:cxnSpMkLst>
            <pc:docMk/>
            <pc:sldMk cId="0" sldId="702"/>
            <ac:cxnSpMk id="9" creationId="{00000000-0000-0000-0000-000000000000}"/>
          </ac:cxnSpMkLst>
        </pc:cxnChg>
        <pc:cxnChg chg="mod">
          <ac:chgData name="BiLL Chen" userId="57bada66e2e983d5" providerId="LiveId" clId="{CDE089A9-A992-425E-90C6-FC8CBED75005}" dt="2026-09-28T22:43:05.390" v="31" actId="1076"/>
          <ac:cxnSpMkLst>
            <pc:docMk/>
            <pc:sldMk cId="0" sldId="702"/>
            <ac:cxnSpMk id="11" creationId="{00000000-0000-0000-0000-000000000000}"/>
          </ac:cxnSpMkLst>
        </pc:cxnChg>
        <pc:cxnChg chg="mod">
          <ac:chgData name="BiLL Chen" userId="57bada66e2e983d5" providerId="LiveId" clId="{CDE089A9-A992-425E-90C6-FC8CBED75005}" dt="2026-09-28T22:43:05.390" v="31" actId="1076"/>
          <ac:cxnSpMkLst>
            <pc:docMk/>
            <pc:sldMk cId="0" sldId="702"/>
            <ac:cxnSpMk id="12" creationId="{00000000-0000-0000-0000-000000000000}"/>
          </ac:cxnSpMkLst>
        </pc:cxnChg>
      </pc:sldChg>
      <pc:sldChg chg="addSp modSp new mod">
        <pc:chgData name="BiLL Chen" userId="57bada66e2e983d5" providerId="LiveId" clId="{CDE089A9-A992-425E-90C6-FC8CBED75005}" dt="2026-09-28T17:16:12.309" v="9" actId="27614"/>
        <pc:sldMkLst>
          <pc:docMk/>
          <pc:sldMk cId="2678463948" sldId="706"/>
        </pc:sldMkLst>
        <pc:picChg chg="add mod">
          <ac:chgData name="BiLL Chen" userId="57bada66e2e983d5" providerId="LiveId" clId="{CDE089A9-A992-425E-90C6-FC8CBED75005}" dt="2026-09-28T17:16:12.309" v="9" actId="27614"/>
          <ac:picMkLst>
            <pc:docMk/>
            <pc:sldMk cId="2678463948" sldId="706"/>
            <ac:picMk id="3" creationId="{18F5B149-DFCF-C66D-0661-660D1E57DD29}"/>
          </ac:picMkLst>
        </pc:picChg>
      </pc:sldChg>
      <pc:sldChg chg="addSp delSp modSp new mod modAnim">
        <pc:chgData name="BiLL Chen" userId="57bada66e2e983d5" providerId="LiveId" clId="{CDE089A9-A992-425E-90C6-FC8CBED75005}" dt="2026-09-28T23:03:10.515" v="147"/>
        <pc:sldMkLst>
          <pc:docMk/>
          <pc:sldMk cId="388962814" sldId="707"/>
        </pc:sldMkLst>
        <pc:spChg chg="add mod">
          <ac:chgData name="BiLL Chen" userId="57bada66e2e983d5" providerId="LiveId" clId="{CDE089A9-A992-425E-90C6-FC8CBED75005}" dt="2026-09-28T22:59:28.013" v="72"/>
          <ac:spMkLst>
            <pc:docMk/>
            <pc:sldMk cId="388962814" sldId="707"/>
            <ac:spMk id="7" creationId="{4FD6DFAE-35E5-BEAA-D67C-AA9EF6C65D78}"/>
          </ac:spMkLst>
        </pc:spChg>
        <pc:spChg chg="add mod">
          <ac:chgData name="BiLL Chen" userId="57bada66e2e983d5" providerId="LiveId" clId="{CDE089A9-A992-425E-90C6-FC8CBED75005}" dt="2026-09-28T23:02:45.846" v="139" actId="1076"/>
          <ac:spMkLst>
            <pc:docMk/>
            <pc:sldMk cId="388962814" sldId="707"/>
            <ac:spMk id="9" creationId="{86D0A6C8-0A80-AF1C-E394-FC5A3FFE5011}"/>
          </ac:spMkLst>
        </pc:spChg>
        <pc:spChg chg="add mod">
          <ac:chgData name="BiLL Chen" userId="57bada66e2e983d5" providerId="LiveId" clId="{CDE089A9-A992-425E-90C6-FC8CBED75005}" dt="2026-09-28T23:03:05.916" v="146" actId="1076"/>
          <ac:spMkLst>
            <pc:docMk/>
            <pc:sldMk cId="388962814" sldId="707"/>
            <ac:spMk id="11" creationId="{AE10B9A8-6BE9-1CF2-2629-211A454EA05A}"/>
          </ac:spMkLst>
        </pc:spChg>
        <pc:spChg chg="add mod">
          <ac:chgData name="BiLL Chen" userId="57bada66e2e983d5" providerId="LiveId" clId="{CDE089A9-A992-425E-90C6-FC8CBED75005}" dt="2026-09-28T23:03:03.126" v="145" actId="1076"/>
          <ac:spMkLst>
            <pc:docMk/>
            <pc:sldMk cId="388962814" sldId="707"/>
            <ac:spMk id="12" creationId="{301D6D70-B9A9-114C-2D62-4359D1B221A7}"/>
          </ac:spMkLst>
        </pc:spChg>
        <pc:picChg chg="add mod">
          <ac:chgData name="BiLL Chen" userId="57bada66e2e983d5" providerId="LiveId" clId="{CDE089A9-A992-425E-90C6-FC8CBED75005}" dt="2026-09-28T23:02:51.112" v="141" actId="1076"/>
          <ac:picMkLst>
            <pc:docMk/>
            <pc:sldMk cId="388962814" sldId="707"/>
            <ac:picMk id="5" creationId="{1E5714C3-F977-61A5-5E1C-F0D7FA973ECF}"/>
          </ac:picMkLst>
        </pc:picChg>
      </pc:sldChg>
      <pc:sldChg chg="addSp modSp new del mod ord">
        <pc:chgData name="BiLL Chen" userId="57bada66e2e983d5" providerId="LiveId" clId="{CDE089A9-A992-425E-90C6-FC8CBED75005}" dt="2026-10-12T22:03:36.263" v="812" actId="47"/>
        <pc:sldMkLst>
          <pc:docMk/>
          <pc:sldMk cId="4011021127" sldId="708"/>
        </pc:sldMkLst>
        <pc:spChg chg="add mod">
          <ac:chgData name="BiLL Chen" userId="57bada66e2e983d5" providerId="LiveId" clId="{CDE089A9-A992-425E-90C6-FC8CBED75005}" dt="2026-10-12T22:00:05.941" v="805" actId="20577"/>
          <ac:spMkLst>
            <pc:docMk/>
            <pc:sldMk cId="4011021127" sldId="708"/>
            <ac:spMk id="2" creationId="{87E1F2B5-C658-4114-2289-4B632B0B051B}"/>
          </ac:spMkLst>
        </pc:spChg>
      </pc:sldChg>
      <pc:sldChg chg="addSp delSp modSp mod delAnim modAnim">
        <pc:chgData name="BiLL Chen" userId="57bada66e2e983d5" providerId="LiveId" clId="{CDE089A9-A992-425E-90C6-FC8CBED75005}" dt="2026-10-12T22:01:32.263" v="811" actId="1076"/>
        <pc:sldMkLst>
          <pc:docMk/>
          <pc:sldMk cId="0" sldId="710"/>
        </pc:sldMkLst>
        <pc:spChg chg="add del mod">
          <ac:chgData name="BiLL Chen" userId="57bada66e2e983d5" providerId="LiveId" clId="{CDE089A9-A992-425E-90C6-FC8CBED75005}" dt="2026-10-12T22:00:38.909" v="808" actId="21"/>
          <ac:spMkLst>
            <pc:docMk/>
            <pc:sldMk cId="0" sldId="710"/>
            <ac:spMk id="2" creationId="{7BB7CADB-1F60-315A-2C07-019FFA770C7A}"/>
          </ac:spMkLst>
        </pc:spChg>
        <pc:spChg chg="add mod">
          <ac:chgData name="BiLL Chen" userId="57bada66e2e983d5" providerId="LiveId" clId="{CDE089A9-A992-425E-90C6-FC8CBED75005}" dt="2026-10-12T22:01:32.263" v="811" actId="1076"/>
          <ac:spMkLst>
            <pc:docMk/>
            <pc:sldMk cId="0" sldId="710"/>
            <ac:spMk id="3" creationId="{3B716DF4-6A37-4B37-18C7-3E6C8EC75682}"/>
          </ac:spMkLst>
        </pc:spChg>
      </pc:sldChg>
      <pc:sldChg chg="addSp modSp add modAnim">
        <pc:chgData name="BiLL Chen" userId="57bada66e2e983d5" providerId="LiveId" clId="{CDE089A9-A992-425E-90C6-FC8CBED75005}" dt="2026-10-12T22:00:49.005" v="809"/>
        <pc:sldMkLst>
          <pc:docMk/>
          <pc:sldMk cId="0" sldId="711"/>
        </pc:sldMkLst>
        <pc:spChg chg="add mod">
          <ac:chgData name="BiLL Chen" userId="57bada66e2e983d5" providerId="LiveId" clId="{CDE089A9-A992-425E-90C6-FC8CBED75005}" dt="2026-10-12T22:00:49.005" v="809"/>
          <ac:spMkLst>
            <pc:docMk/>
            <pc:sldMk cId="0" sldId="711"/>
            <ac:spMk id="2" creationId="{7BB7CADB-1F60-315A-2C07-019FFA770C7A}"/>
          </ac:spMkLst>
        </pc:spChg>
      </pc:sldChg>
      <pc:sldChg chg="addSp modSp new mod">
        <pc:chgData name="BiLL Chen" userId="57bada66e2e983d5" providerId="LiveId" clId="{CDE089A9-A992-425E-90C6-FC8CBED75005}" dt="2026-10-05T17:35:03.646" v="788" actId="27614"/>
        <pc:sldMkLst>
          <pc:docMk/>
          <pc:sldMk cId="1872634348" sldId="715"/>
        </pc:sldMkLst>
        <pc:picChg chg="add mod">
          <ac:chgData name="BiLL Chen" userId="57bada66e2e983d5" providerId="LiveId" clId="{CDE089A9-A992-425E-90C6-FC8CBED75005}" dt="2026-10-05T17:35:03.646" v="788" actId="27614"/>
          <ac:picMkLst>
            <pc:docMk/>
            <pc:sldMk cId="1872634348" sldId="715"/>
            <ac:picMk id="3" creationId="{86A390BC-CAE9-D225-93BD-34D41DB68519}"/>
          </ac:picMkLst>
        </pc:picChg>
      </pc:sldChg>
      <pc:sldChg chg="add setBg">
        <pc:chgData name="BiLL Chen" userId="57bada66e2e983d5" providerId="LiveId" clId="{CDE089A9-A992-425E-90C6-FC8CBED75005}" dt="2026-10-05T17:41:00.206" v="789"/>
        <pc:sldMkLst>
          <pc:docMk/>
          <pc:sldMk cId="0" sldId="716"/>
        </pc:sldMkLst>
      </pc:sldChg>
      <pc:sldChg chg="add setBg">
        <pc:chgData name="BiLL Chen" userId="57bada66e2e983d5" providerId="LiveId" clId="{CDE089A9-A992-425E-90C6-FC8CBED75005}" dt="2026-10-05T17:41:00.206" v="789"/>
        <pc:sldMkLst>
          <pc:docMk/>
          <pc:sldMk cId="0" sldId="717"/>
        </pc:sldMkLst>
      </pc:sldChg>
      <pc:sldChg chg="add setBg">
        <pc:chgData name="BiLL Chen" userId="57bada66e2e983d5" providerId="LiveId" clId="{CDE089A9-A992-425E-90C6-FC8CBED75005}" dt="2026-10-05T17:41:00.206" v="789"/>
        <pc:sldMkLst>
          <pc:docMk/>
          <pc:sldMk cId="0" sldId="718"/>
        </pc:sldMkLst>
      </pc:sldChg>
      <pc:sldChg chg="add setBg">
        <pc:chgData name="BiLL Chen" userId="57bada66e2e983d5" providerId="LiveId" clId="{CDE089A9-A992-425E-90C6-FC8CBED75005}" dt="2026-10-05T17:41:00.206" v="789"/>
        <pc:sldMkLst>
          <pc:docMk/>
          <pc:sldMk cId="0" sldId="719"/>
        </pc:sldMkLst>
      </pc:sldChg>
      <pc:sldChg chg="add del setBg">
        <pc:chgData name="BiLL Chen" userId="57bada66e2e983d5" providerId="LiveId" clId="{CDE089A9-A992-425E-90C6-FC8CBED75005}" dt="2026-10-05T17:47:10.649" v="792"/>
        <pc:sldMkLst>
          <pc:docMk/>
          <pc:sldMk cId="0" sldId="720"/>
        </pc:sldMkLst>
      </pc:sldChg>
      <pc:sldChg chg="add del setBg">
        <pc:chgData name="BiLL Chen" userId="57bada66e2e983d5" providerId="LiveId" clId="{CDE089A9-A992-425E-90C6-FC8CBED75005}" dt="2026-10-05T17:47:10.649" v="792"/>
        <pc:sldMkLst>
          <pc:docMk/>
          <pc:sldMk cId="0" sldId="721"/>
        </pc:sldMkLst>
      </pc:sldChg>
      <pc:sldChg chg="add del setBg">
        <pc:chgData name="BiLL Chen" userId="57bada66e2e983d5" providerId="LiveId" clId="{CDE089A9-A992-425E-90C6-FC8CBED75005}" dt="2026-10-05T17:47:10.649" v="792"/>
        <pc:sldMkLst>
          <pc:docMk/>
          <pc:sldMk cId="0" sldId="722"/>
        </pc:sldMkLst>
      </pc:sldChg>
      <pc:sldChg chg="add del setBg">
        <pc:chgData name="BiLL Chen" userId="57bada66e2e983d5" providerId="LiveId" clId="{CDE089A9-A992-425E-90C6-FC8CBED75005}" dt="2026-10-05T17:47:10.649" v="792"/>
        <pc:sldMkLst>
          <pc:docMk/>
          <pc:sldMk cId="0" sldId="723"/>
        </pc:sldMkLst>
      </pc:sldChg>
      <pc:sldChg chg="add del setBg">
        <pc:chgData name="BiLL Chen" userId="57bada66e2e983d5" providerId="LiveId" clId="{CDE089A9-A992-425E-90C6-FC8CBED75005}" dt="2026-10-05T17:47:10.649" v="792"/>
        <pc:sldMkLst>
          <pc:docMk/>
          <pc:sldMk cId="0" sldId="724"/>
        </pc:sldMkLst>
      </pc:sldChg>
      <pc:sldChg chg="add del setBg">
        <pc:chgData name="BiLL Chen" userId="57bada66e2e983d5" providerId="LiveId" clId="{CDE089A9-A992-425E-90C6-FC8CBED75005}" dt="2026-10-05T17:47:10.649" v="792"/>
        <pc:sldMkLst>
          <pc:docMk/>
          <pc:sldMk cId="0" sldId="725"/>
        </pc:sldMkLst>
      </pc:sldChg>
      <pc:sldChg chg="add del setBg">
        <pc:chgData name="BiLL Chen" userId="57bada66e2e983d5" providerId="LiveId" clId="{CDE089A9-A992-425E-90C6-FC8CBED75005}" dt="2026-10-05T17:47:10.649" v="792"/>
        <pc:sldMkLst>
          <pc:docMk/>
          <pc:sldMk cId="0" sldId="72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014FFDF-8C7F-484A-9ECA-BFEC66AFC08A}" type="datetimeFigureOut">
              <a:rPr lang="zh-TW" altLang="en-US" smtClean="0"/>
              <a:t>2026/10/13</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B41BC3D-B054-4557-891D-05D357EDB4C0}" type="slidenum">
              <a:rPr lang="zh-TW" altLang="en-US" smtClean="0"/>
              <a:t>‹#›</a:t>
            </a:fld>
            <a:endParaRPr lang="zh-TW" altLang="en-US"/>
          </a:p>
        </p:txBody>
      </p:sp>
    </p:spTree>
    <p:extLst>
      <p:ext uri="{BB962C8B-B14F-4D97-AF65-F5344CB8AC3E}">
        <p14:creationId xmlns:p14="http://schemas.microsoft.com/office/powerpoint/2010/main" val="32831057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248F50-F01B-4A85-95BC-B9CA6B20B6D8}" type="datetimeFigureOut">
              <a:rPr lang="zh-TW" altLang="en-US" smtClean="0"/>
              <a:t>2026/10/13</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565E74-0455-4E46-B99F-B56E1F5955AD}" type="slidenum">
              <a:rPr lang="zh-TW" altLang="en-US" smtClean="0"/>
              <a:t>‹#›</a:t>
            </a:fld>
            <a:endParaRPr lang="zh-TW" altLang="en-US"/>
          </a:p>
        </p:txBody>
      </p:sp>
    </p:spTree>
    <p:extLst>
      <p:ext uri="{BB962C8B-B14F-4D97-AF65-F5344CB8AC3E}">
        <p14:creationId xmlns:p14="http://schemas.microsoft.com/office/powerpoint/2010/main" val="3479067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【本頁目標】分清楚位置、位移、路徑長，並知道速度一定和路徑相切。
【按鍵順序】① 位置 r → ② 位移 Δr 和路徑長 Δs → ③ 平均速度 → ④ Δt 變小 → ⑤ 瞬時速度 v → ⑥ 結論
【講稿】
1. 先選一個固定原點 O。從 O 拉到質點的箭頭，就是位置向量 r。r 的大小和方向都知道，P 點的位置就確定了。
2. 過了 Δt，質點跑到 P′。位移 Δr = r′ − r，是從 P 直直指到 P′ 的箭頭（弦）。紫色的弧 Δs 才是真的走過的路。
3. 平均速度 v_av = Δr / Δt，方向和 Δr 一樣，也就是沿著弦的方向。
4. 讓 Δt 越來越小，弦就越來越貼近路徑，最後變成切線。
5. 所以瞬時速度（instantaneous velocity）v = dr/dt（式 2-7），一定和路徑相切，指向運動方向。v 的大小叫速率（speed），v = ds/dt（式 2-8）。
【英文】位置向量 position vector、位移 displacement、路徑長 path length、速度 velocity、速率 speed。
【記憶口訣】「位移走捷徑，路長走彎路；Δt 一縮小，弦就變切線。」
【課堂提問】弦和弧什麼時候一樣長？→ Δt 趨近 0 的時候。
【常見錯誤】把 |Δr| 當成走過的距離。</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【本頁目標】知道加速度 a 的方向由 dv 決定，一般不和路徑相切。
【按鍵順序】① v 和 v′ → ② 速度三角形 → ③ 切線和 a → ④ 結論
【講稿】
1. P 點的速度是 v，P′ 點的速度是 v′。兩個的大小和方向都不一樣。
2. 把 v 和 v′ 平移到同一點。從 v 的尖端畫到 v′ 的尖端，就是 Δv = v′ − v。
3. 平均加速度 a_av = Δv / Δt。Δt 趨近 0，就得到瞬時加速度 a = dv/dt = v̇ = r̈（式 2-9）。
4. 看圖：a 和切線夾了一個角，而且偏向路徑彎進去的那一側。所以 a 一般不與路徑相切。
5. 這個例子 a 和 v 的夾角大於 90°，代表質點一邊轉彎、一邊減速。
【記憶口訣】「v 貼著路走，a 往彎內拉。」
【課堂提問】a 一定和 v 同方向嗎？→ 不一定，a 和 dv 同方向。
【常見錯誤】速度三角形頭尾接錯。Δv = v′ − v，要從 v 的尖端指向 v′ 的尖端。</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【本頁目標】記住中英文名詞，看懂原文書和考題。
【講稿】
1. 速度 velocity 是向量，有大小也有方向。
2. 速率 speed 是純量，只有大小。速率就是速度的大小：speed = |velocity|。
3. 位移 displacement 對應速度 velocity；路徑長 distance 對應速率 speed。
   平均速度 average velocity = displacement ÷ time
   平均速率 average speed = distance ÷ time
4. 原文書（例如 Hibbeler、Meriam）的寫法：velocity 用 v（粗體或加箭頭），speed 用 v（一般字體）。
5. 切線 tangent：瞬時速度一定沿著路徑的切線方向。
【記憶口訣】「velocity 字長帶方向，speed 字短只有大小。」
也可以記成：「displacement 配 velocity，distance 配 speed。」
【課堂提問】英文考題問 "What is the average speed?"，要用位移還是路徑長？→ 路徑長（distance）。
【常見錯誤】英文題目的 speed 和 velocity 混用，答案單位對了，但少寫方向或多寫方向。</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【帶法】每題先讓全班舉手選 ○ 或 ✕，再按一下出答案。錯最多的那一題，直接跳到對應的觀念頁講。
【答案與理由】
1. ✕　位移是 0，但路徑長是 2πR。→ 觀念 1、2
2. ✕　速率不變，可是方向在變，就有加速度。→ 觀念 4
3. ✕　速率是 v = ds/dt。d|r|/dt 只是「離 O 的距離」變化的快慢。→ 觀念 6
4. ○　v 和 dr 同方向，dr 貼著路徑，所以 v 一定相切。→ 觀念 3
5. ✕　a 和 dv 同方向，不是和 v 同方向。→ 觀念 5
6. ○　Δr = r′ − r 相減時，原點的影響抵消了，但原點要固定。→ 觀念 7
【總口訣】「位移看頭尾，路長看過程；v 貼著路，a 看 dv；速率 ds/dt，不是 d|r|/dt。」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按三下，P′ 一步一步靠近 P。
2. 弦 Δr 是抄捷徑，弧 Δs 是沿路走，所以 |Δr| ≤ Δs。
3. 比值從 0.909、0.974，變成 0.997，越來越接近 1。
4. 取極限時 |dr| = ds。這就是為什麼速率可以寫成 v = ds/dt。
【記憶口訣】「捷徑短，彎路長，靠很近才一樣。」
【課堂提問】繞圓一圈回到原點，Δr 是多少？Δs 是多少？→ Δr = 0，Δs = 2πR。
【常見錯誤】題目問「走了多遠」，卻用位移大小作答。</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往前走 5 m，再走回原點。
2. 路徑長 s = 10 m，位移 |Δr| = 0。
3. 平均速率（average speed）= Δs / Δt，看「總共走了多少路」，是純量。
4. 平均速度（average velocity）= Δr / Δt，看「最後離起點多遠、在哪個方向」，是向量。
5. 生活例子：操場跑一圈 400 m，花 80 s。平均速率 5 m/s，平均速度 0。
【記憶口訣】「速度問結果，速率問過程。」
【課堂提問】什麼情況下，平均速率會等於平均速度的大小？→ 直線運動而且不回頭。
【常見錯誤】用 |Δr| ÷ Δt 算平均速率。</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綠色的 v 永遠沿著切線，因為 v 和 dr 同方向。
2. 波峰：路往下彎，a 朝下。
3. 波谷：路往上彎，a 朝上。
4. 反曲點：路剛好不彎。這個例子水平速度固定，所以 a = 0。
5. 補充：一般情況下，反曲點只是「往內拉」的那部分是 0，如果速率在變，還會有沿著切線的加速度。
【記憶口訣】「v 貼著走，a 往內拉；彎向哪邊，a 就拉向哪邊。」
【課堂提問】開車過 S 形彎，a 的方向怎麼變？→ 跟著彎的方向左右翻轉。
【常見錯誤】以為 a 也一定沿著切線。</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三個位置的速率都是 1.2 m/s。
2. 直線段：方向不變，速率也不變，a = 0。
3. 轉彎段：速率沒變，但方向在變，速度向量就在變，所以有加速度，而且指向彎的內側。
4. 這個例子轉彎半徑 1.5 m，|a| = 1.2² ÷ 1.5 = 0.96 m/s²。a = v² / ρ 的公式後面的法線與切線分量會再學。
5. 生活例子：車子等速過彎，乘客覺得被甩向外側，就是車子有向內加速度的證據。
【記憶口訣】「大小變、方向變，只要一個變，就有 a。」
【課堂提問】等速率圓周運動，加速度是多少？→ 不是 0，指向圓心。
【常見錯誤】看到「等速率」就寫 a = 0。</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a 表示「速度正在往哪裡改」，不是「質點往哪裡跑」。
2. ① 直線加速：a 和 v 同向，夾角 0°。
3. ② 等速率轉彎：a 垂直 v，夾角 90°，只改方向，不改快慢。
4. ③ 轉彎又減速：夾角大於 90°，一邊轉彎，一邊變慢。
5. ④ 直線煞車：a 和 v 反向，夾角 180°。
【記憶口訣】「小於 90 在加速，等於 90 只轉彎，大於 90 在減速。」
【課堂提問】車子轉彎時踩煞車，a 和 v 的夾角是多少？→ 大於 90°。
【常見錯誤】把 a 畫成和 v 同方向。</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老師站在圓心 O，學生繞著老師跑。
2. 三個位置的 |r| 都是 1.8 m，距離沒變，所以 d|r|/dt = 0。
3. 可是學生一直在跑，速率（speed）ds/dt = 1.2 m/s，不是 0。
4. d|r|/dt 只代表「離 O 變遠或變近」有多快。
5. 只有直線運動而且路徑通過 O 時，兩者大小才會一樣。
【記憶口訣】「繞著老師跑，距離不變腳在跑。」
【課堂提問】月球繞地球（近似圓軌道），d|r|/dt 大約是多少？→ 接近 0，但月球速率不是 0。
【常見錯誤】先算 |r|，再對時間微分，就當成速率。</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兩個人站在不同的固定點 O₁、O₂，看同一個質點 P。
2. 兩個人畫出的 r₁、r₂ 長度不同、方向也不同。
3. 可是質點跑多快、往哪跑，兩個人量到的 v 完全一樣，a 也一樣。
4. 原因：Δr = r′ − r，原點的位置在相減時抵消了。
5. 前提是原點固定不動。如果原點在動（例如站在行駛的車上看），就變成相對運動，後面章節會學。
【記憶口訣】「站哪看，r 不同；v 和 a，大家同。」
【課堂提問】換了原點，哪些量會變？→ 只有位置向量 r 會變。
【常見錯誤】以為換了座標原點，速度也要重算。</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有箭頭的 ṙ 就是 dr/dt，也就是整個速度 v（綠色）。
2. 沒箭頭的 ṙ 是 d|r|/dt，只是 v 沿著 r 方向的那一段（藍色），代表離 O 變遠或變近的快慢。
3. 質點在左邊時正在靠近 O，所以 ṙ &lt; 0。
4. 經過離 O 最近的點時，ṙ = 0，但速度大小還是 1 m/s。
5. 後面學極座標時，速度會拆成 ṙ 和 rθ̇ 兩個分量，這裡的 ṙ 就是其中一個。
【記憶口訣】「有箭頭是全部，沒箭頭只算遠近。」
【課堂提問】ṙ 可以是負的嗎？→ 可以，代表正在靠近 O。
【常見錯誤】作答時漏寫向量箭頭，被當成純量扣分。</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【講稿】
1. 先把位置寫成分量：r = x i + y j。
2. 逐項對時間微分：v = ẋ i + ẏ j，再微分一次：a = ẍ i + ÿ j。
3. ẋ 和 ẏ 是直角三角形的兩股，速率是斜邊：v = √(ẋ² + ẏ²)。
4. 範例：x = t²、y = 2t（m、s）。
   v = 2t i + 2 j，t = 1 s 時 v = 2 i + 2 j，速率 = √8 ≈ 2.83 m/s。
   a = 2 i，是水平方向；而 v 在 45° 方向，所以 a 不和路徑相切，剛好呼應觀念 3。
5. 這樣算不會用到 d|r|/dt，自然避開觀念 6 的陷阱。
【記憶口訣】「先拆 x、y，再微分，最後畢氏定理。」
【課堂提問】知道 ẋ = 3、ẏ = 4，速率多少？→ 5 m/s。
【常見錯誤】ẋ、ẏ 分開算完，速率直接相加寫成 ẋ + ẏ。</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2740865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190108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15065957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34420335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7589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32328488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4067903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7240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621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3327315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章首">
    <p:bg>
      <p:bgPr>
        <a:solidFill>
          <a:schemeClr val="bg1"/>
        </a:solidFill>
        <a:effectLst/>
      </p:bgPr>
    </p:bg>
    <p:spTree>
      <p:nvGrpSpPr>
        <p:cNvPr id="1" name=""/>
        <p:cNvGrpSpPr/>
        <p:nvPr/>
      </p:nvGrpSpPr>
      <p:grpSpPr>
        <a:xfrm>
          <a:off x="0" y="0"/>
          <a:ext cx="0" cy="0"/>
          <a:chOff x="0" y="0"/>
          <a:chExt cx="0" cy="0"/>
        </a:xfrm>
      </p:grpSpPr>
      <p:sp>
        <p:nvSpPr>
          <p:cNvPr id="2" name="標題 1"/>
          <p:cNvSpPr>
            <a:spLocks noGrp="1"/>
          </p:cNvSpPr>
          <p:nvPr>
            <p:ph type="title" hasCustomPrompt="1"/>
          </p:nvPr>
        </p:nvSpPr>
        <p:spPr>
          <a:xfrm>
            <a:off x="323853" y="426219"/>
            <a:ext cx="8039409" cy="333876"/>
          </a:xfrm>
        </p:spPr>
        <p:txBody>
          <a:bodyPr/>
          <a:lstStyle>
            <a:lvl1pPr>
              <a:defRPr kumimoji="1" lang="zh-TW" altLang="en-US" sz="3600" b="1" dirty="0">
                <a:solidFill>
                  <a:srgbClr val="2399AD"/>
                </a:solidFill>
                <a:latin typeface="Arial" pitchFamily="34" charset="0"/>
                <a:ea typeface="微軟正黑體" pitchFamily="34" charset="-120"/>
                <a:cs typeface="+mj-cs"/>
              </a:defRPr>
            </a:lvl1pPr>
          </a:lstStyle>
          <a:p>
            <a:pPr lvl="0" algn="l" rtl="0" eaLnBrk="0" fontAlgn="base" hangingPunct="0">
              <a:lnSpc>
                <a:spcPct val="100000"/>
              </a:lnSpc>
              <a:spcBef>
                <a:spcPct val="0"/>
              </a:spcBef>
              <a:spcAft>
                <a:spcPct val="0"/>
              </a:spcAft>
            </a:pPr>
            <a:r>
              <a:rPr lang="zh-TW" altLang="en-US" dirty="0"/>
              <a:t>章名</a:t>
            </a:r>
          </a:p>
        </p:txBody>
      </p:sp>
      <p:sp>
        <p:nvSpPr>
          <p:cNvPr id="3" name="內容版面配置區 2"/>
          <p:cNvSpPr>
            <a:spLocks noGrp="1"/>
          </p:cNvSpPr>
          <p:nvPr>
            <p:ph idx="1"/>
          </p:nvPr>
        </p:nvSpPr>
        <p:spPr>
          <a:xfrm>
            <a:off x="323850" y="812698"/>
            <a:ext cx="8032750" cy="4087915"/>
          </a:xfrm>
          <a:prstGeom prst="rect">
            <a:avLst/>
          </a:prstGeom>
        </p:spPr>
        <p:txBody>
          <a:bodyPr/>
          <a:lstStyle>
            <a:lvl1pPr marL="358775" indent="-358775">
              <a:buClr>
                <a:srgbClr val="1F8899"/>
              </a:buClr>
              <a:buFont typeface="Wingdings" panose="05000000000000000000" pitchFamily="2" charset="2"/>
              <a:buChar char="l"/>
              <a:defRPr sz="3200" b="1">
                <a:latin typeface="微軟正黑體" panose="020B0604030504040204" pitchFamily="34" charset="-120"/>
                <a:ea typeface="微軟正黑體" panose="020B0604030504040204" pitchFamily="34" charset="-120"/>
              </a:defRPr>
            </a:lvl1pPr>
            <a:lvl2pPr marL="663575" indent="-303213">
              <a:buClr>
                <a:srgbClr val="FF6600"/>
              </a:buClr>
              <a:buFont typeface="Wingdings" panose="05000000000000000000" pitchFamily="2" charset="2"/>
              <a:buChar char="v"/>
              <a:defRPr b="1">
                <a:latin typeface="微軟正黑體" panose="020B0604030504040204" pitchFamily="34" charset="-120"/>
                <a:ea typeface="微軟正黑體" panose="020B0604030504040204" pitchFamily="34" charset="-120"/>
              </a:defRPr>
            </a:lvl2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矩形: 圓角 3">
            <a:extLst>
              <a:ext uri="{FF2B5EF4-FFF2-40B4-BE49-F238E27FC236}">
                <a16:creationId xmlns:a16="http://schemas.microsoft.com/office/drawing/2014/main" id="{3D36C16C-17C5-4316-2336-999B84F43C56}"/>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5" name="Rectangle 16">
            <a:extLst>
              <a:ext uri="{FF2B5EF4-FFF2-40B4-BE49-F238E27FC236}">
                <a16:creationId xmlns:a16="http://schemas.microsoft.com/office/drawing/2014/main" id="{B578C548-531A-A2D5-5329-6C9963B89866}"/>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9"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1"/>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0"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2"/>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pic>
        <p:nvPicPr>
          <p:cNvPr id="11" name="圖片 10">
            <a:extLst>
              <a:ext uri="{FF2B5EF4-FFF2-40B4-BE49-F238E27FC236}">
                <a16:creationId xmlns:a16="http://schemas.microsoft.com/office/drawing/2014/main" id="{704EA603-7C1A-679F-A54C-155C41C34EF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Tree>
    <p:extLst>
      <p:ext uri="{BB962C8B-B14F-4D97-AF65-F5344CB8AC3E}">
        <p14:creationId xmlns:p14="http://schemas.microsoft.com/office/powerpoint/2010/main" val="1090048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176D0A-1707-DDF3-135C-F04A1EDC35CF}"/>
              </a:ext>
            </a:extLst>
          </p:cNvPr>
          <p:cNvSpPr>
            <a:spLocks noGrp="1"/>
          </p:cNvSpPr>
          <p:nvPr>
            <p:ph type="title"/>
          </p:nvPr>
        </p:nvSpPr>
        <p:spPr>
          <a:xfrm>
            <a:off x="323850" y="426219"/>
            <a:ext cx="7992566" cy="333876"/>
          </a:xfrm>
        </p:spPr>
        <p:txBody>
          <a:bodyPr/>
          <a:lstStyle>
            <a:lvl1pPr>
              <a:defRPr sz="3600"/>
            </a:lvl1pPr>
          </a:lstStyle>
          <a:p>
            <a:r>
              <a:rPr lang="zh-TW" altLang="en-US" dirty="0"/>
              <a:t>按一下以編輯母片標題樣式</a:t>
            </a:r>
          </a:p>
        </p:txBody>
      </p:sp>
      <p:sp>
        <p:nvSpPr>
          <p:cNvPr id="5" name="內容版面配置區 4">
            <a:extLst>
              <a:ext uri="{FF2B5EF4-FFF2-40B4-BE49-F238E27FC236}">
                <a16:creationId xmlns:a16="http://schemas.microsoft.com/office/drawing/2014/main" id="{0055332B-BDEB-DD80-4CA9-52D2F60902C5}"/>
              </a:ext>
            </a:extLst>
          </p:cNvPr>
          <p:cNvSpPr>
            <a:spLocks noGrp="1"/>
          </p:cNvSpPr>
          <p:nvPr>
            <p:ph sz="quarter" idx="10"/>
          </p:nvPr>
        </p:nvSpPr>
        <p:spPr>
          <a:xfrm>
            <a:off x="324000" y="812700"/>
            <a:ext cx="8031600" cy="4087800"/>
          </a:xfrm>
          <a:prstGeom prst="rect">
            <a:avLst/>
          </a:prstGeom>
        </p:spPr>
        <p:txBody>
          <a:bodyPr/>
          <a:lstStyle>
            <a:lvl4pPr marL="869950" indent="-514350">
              <a:defRPr/>
            </a:lvl4pPr>
            <a:lvl5pPr marL="627063" marR="0" indent="0" algn="just" defTabSz="914400" rtl="0" eaLnBrk="1" fontAlgn="base" latinLnBrk="0" hangingPunct="1">
              <a:lnSpc>
                <a:spcPct val="110000"/>
              </a:lnSpc>
              <a:spcBef>
                <a:spcPts val="200"/>
              </a:spcBef>
              <a:spcAft>
                <a:spcPct val="0"/>
              </a:spcAft>
              <a:buClr>
                <a:schemeClr val="accent1"/>
              </a:buClr>
              <a:buSzTx/>
              <a:buFontTx/>
              <a:buNone/>
              <a:tabLst/>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第四層第四第四第四第四第四第四第四第四第四第四第四第四</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r>
              <a:rPr lang="zh-TW" altLang="en-US" dirty="0"/>
              <a:t>第五層第五層第五層第五層第五層第五層五層第五層</a:t>
            </a:r>
          </a:p>
          <a:p>
            <a:pPr marL="892175" marR="0" lvl="4" indent="0" algn="just" defTabSz="914400" rtl="0" eaLnBrk="1" fontAlgn="base" latinLnBrk="0" hangingPunct="1">
              <a:lnSpc>
                <a:spcPct val="110000"/>
              </a:lnSpc>
              <a:spcBef>
                <a:spcPts val="200"/>
              </a:spcBef>
              <a:spcAft>
                <a:spcPct val="0"/>
              </a:spcAft>
              <a:buClr>
                <a:schemeClr val="accent1"/>
              </a:buClr>
              <a:buSzTx/>
              <a:buFontTx/>
              <a:buNone/>
              <a:tabLst/>
              <a:defRPr/>
            </a:pPr>
            <a:endParaRPr lang="zh-TW" altLang="en-US" dirty="0"/>
          </a:p>
        </p:txBody>
      </p:sp>
    </p:spTree>
    <p:extLst>
      <p:ext uri="{BB962C8B-B14F-4D97-AF65-F5344CB8AC3E}">
        <p14:creationId xmlns:p14="http://schemas.microsoft.com/office/powerpoint/2010/main" val="7876971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ags" Target="../tags/tag2.xml"/><Relationship Id="rId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1.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png"/><Relationship Id="rId5" Type="http://schemas.openxmlformats.org/officeDocument/2006/relationships/tags" Target="../tags/tag14.xml"/><Relationship Id="rId4" Type="http://schemas.openxmlformats.org/officeDocument/2006/relationships/tags" Target="../tags/tag13.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image" Target="../media/image1.png"/><Relationship Id="rId5" Type="http://schemas.openxmlformats.org/officeDocument/2006/relationships/tags" Target="../tags/tag18.xml"/><Relationship Id="rId4" Type="http://schemas.openxmlformats.org/officeDocument/2006/relationships/tags" Target="../tags/tag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6359753"/>
      </p:ext>
    </p:extLst>
  </p:cSld>
  <p:clrMap bg1="lt1" tx1="dk1" bg2="lt2" tx2="dk2" accent1="accent1" accent2="accent2" accent3="accent3" accent4="accent4" accent5="accent5" accent6="accent6" hlink="hlink" folHlink="folHlink"/>
  <p:sldLayoutIdLst>
    <p:sldLayoutId id="2147483694" r:id="rId1"/>
    <p:sldLayoutId id="2147483695"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2-2</a:t>
            </a:r>
            <a:endParaRPr lang="zh-TW" altLang="en-US"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5"/>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6"/>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74557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7" r:id="rId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5"/>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6"/>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2-4</a:t>
            </a:r>
            <a:endParaRPr lang="zh-TW" altLang="en-US"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74786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6" r:id="rId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2-6</a:t>
            </a:r>
            <a:endParaRPr lang="zh-TW" altLang="en-US"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2-8</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4539708"/>
      </p:ext>
    </p:extLst>
  </p:cSld>
  <p:clrMap bg1="lt1" tx1="dk1" bg2="lt2" tx2="dk2" accent1="accent1" accent2="accent2" accent3="accent3" accent4="accent4" accent5="accent5" accent6="accent6" hlink="hlink" folHlink="folHlink"/>
  <p:sldLayoutIdLst>
    <p:sldLayoutId id="2147483679" r:id="rId1"/>
    <p:sldLayoutId id="2147483680"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63" name="橢圓 83">
            <a:extLst>
              <a:ext uri="{FF2B5EF4-FFF2-40B4-BE49-F238E27FC236}">
                <a16:creationId xmlns:a16="http://schemas.microsoft.com/office/drawing/2014/main" id="{5EE4B661-7153-4951-A4BE-46A1B4970A0F}"/>
              </a:ext>
            </a:extLst>
          </p:cNvPr>
          <p:cNvSpPr>
            <a:spLocks noChangeArrowheads="1"/>
          </p:cNvSpPr>
          <p:nvPr/>
        </p:nvSpPr>
        <p:spPr bwMode="auto">
          <a:xfrm>
            <a:off x="371475" y="57597"/>
            <a:ext cx="831850" cy="649188"/>
          </a:xfrm>
          <a:prstGeom prst="ellipse">
            <a:avLst/>
          </a:prstGeom>
          <a:solidFill>
            <a:schemeClr val="bg1"/>
          </a:solidFill>
          <a:ln w="12700" algn="ctr">
            <a:noFill/>
            <a:round/>
            <a:headEnd/>
            <a:tailEnd/>
          </a:ln>
        </p:spPr>
        <p:txBody>
          <a:bodyPr anchor="ctr">
            <a:spAutoFit/>
          </a:bodyPr>
          <a:lstStyle>
            <a:lvl1pPr eaLnBrk="0" hangingPunct="0">
              <a:defRPr kumimoji="1" sz="2400">
                <a:solidFill>
                  <a:srgbClr val="0000FF"/>
                </a:solidFill>
                <a:latin typeface="Times New Roman" pitchFamily="18" charset="0"/>
                <a:ea typeface="標楷體" pitchFamily="65" charset="-120"/>
              </a:defRPr>
            </a:lvl1pPr>
            <a:lvl2pPr marL="742950" indent="-285750" eaLnBrk="0" hangingPunct="0">
              <a:defRPr kumimoji="1" sz="2400">
                <a:solidFill>
                  <a:srgbClr val="0000FF"/>
                </a:solidFill>
                <a:latin typeface="Times New Roman" pitchFamily="18" charset="0"/>
                <a:ea typeface="標楷體" pitchFamily="65" charset="-120"/>
              </a:defRPr>
            </a:lvl2pPr>
            <a:lvl3pPr marL="1143000" indent="-228600" eaLnBrk="0" hangingPunct="0">
              <a:defRPr kumimoji="1" sz="2400">
                <a:solidFill>
                  <a:srgbClr val="0000FF"/>
                </a:solidFill>
                <a:latin typeface="Times New Roman" pitchFamily="18" charset="0"/>
                <a:ea typeface="標楷體" pitchFamily="65" charset="-120"/>
              </a:defRPr>
            </a:lvl3pPr>
            <a:lvl4pPr marL="1600200" indent="-228600" eaLnBrk="0" hangingPunct="0">
              <a:defRPr kumimoji="1" sz="2400">
                <a:solidFill>
                  <a:srgbClr val="0000FF"/>
                </a:solidFill>
                <a:latin typeface="Times New Roman" pitchFamily="18" charset="0"/>
                <a:ea typeface="標楷體" pitchFamily="65" charset="-120"/>
              </a:defRPr>
            </a:lvl4pPr>
            <a:lvl5pPr marL="2057400" indent="-228600" eaLnBrk="0" hangingPunct="0">
              <a:defRPr kumimoji="1" sz="2400">
                <a:solidFill>
                  <a:srgbClr val="0000FF"/>
                </a:solidFill>
                <a:latin typeface="Times New Roman" pitchFamily="18" charset="0"/>
                <a:ea typeface="標楷體" pitchFamily="65" charset="-120"/>
              </a:defRPr>
            </a:lvl5pPr>
            <a:lvl6pPr marL="25146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6pPr>
            <a:lvl7pPr marL="29718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7pPr>
            <a:lvl8pPr marL="34290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8pPr>
            <a:lvl9pPr marL="3886200" indent="-228600" algn="ctr" eaLnBrk="0" fontAlgn="base" hangingPunct="0">
              <a:spcBef>
                <a:spcPct val="0"/>
              </a:spcBef>
              <a:spcAft>
                <a:spcPct val="0"/>
              </a:spcAft>
              <a:defRPr kumimoji="1" sz="2400">
                <a:solidFill>
                  <a:srgbClr val="0000FF"/>
                </a:solidFill>
                <a:latin typeface="Times New Roman" pitchFamily="18" charset="0"/>
                <a:ea typeface="標楷體" pitchFamily="65" charset="-120"/>
              </a:defRPr>
            </a:lvl9pPr>
          </a:lstStyle>
          <a:p>
            <a:pPr algn="ctr" eaLnBrk="1" hangingPunct="1">
              <a:defRPr/>
            </a:pPr>
            <a:endParaRPr lang="zh-TW" altLang="en-US" b="1"/>
          </a:p>
        </p:txBody>
      </p:sp>
      <p:sp>
        <p:nvSpPr>
          <p:cNvPr id="6" name="矩形: 圓角 5">
            <a:extLst>
              <a:ext uri="{FF2B5EF4-FFF2-40B4-BE49-F238E27FC236}">
                <a16:creationId xmlns:a16="http://schemas.microsoft.com/office/drawing/2014/main" id="{A438030D-A763-B483-7662-DACCDD2C851E}"/>
              </a:ext>
            </a:extLst>
          </p:cNvPr>
          <p:cNvSpPr/>
          <p:nvPr/>
        </p:nvSpPr>
        <p:spPr>
          <a:xfrm>
            <a:off x="0" y="1"/>
            <a:ext cx="9144000" cy="258024"/>
          </a:xfrm>
          <a:prstGeom prst="roundRect">
            <a:avLst>
              <a:gd name="adj" fmla="val 0"/>
            </a:avLst>
          </a:prstGeom>
          <a:solidFill>
            <a:srgbClr val="FAC49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nchorCtr="0"/>
          <a:lstStyle/>
          <a:p>
            <a:pPr marL="0" algn="l" defTabSz="457200" rtl="0" eaLnBrk="1" latinLnBrk="0" hangingPunct="1"/>
            <a:r>
              <a:rPr lang="zh-TW" altLang="en-US" sz="1600" kern="1200" dirty="0">
                <a:solidFill>
                  <a:schemeClr val="tx1"/>
                </a:solidFill>
                <a:latin typeface="+mn-lt"/>
                <a:ea typeface="+mn-ea"/>
                <a:cs typeface="+mn-cs"/>
              </a:rPr>
              <a:t>動力學</a:t>
            </a:r>
          </a:p>
        </p:txBody>
      </p:sp>
      <p:sp>
        <p:nvSpPr>
          <p:cNvPr id="21" name="Rectangle 4">
            <a:extLst>
              <a:ext uri="{FF2B5EF4-FFF2-40B4-BE49-F238E27FC236}">
                <a16:creationId xmlns:a16="http://schemas.microsoft.com/office/drawing/2014/main" id="{2435E6A7-11C0-42CC-A9ED-295ABFCCA678}"/>
              </a:ext>
            </a:extLst>
          </p:cNvPr>
          <p:cNvSpPr>
            <a:spLocks noGrp="1" noChangeArrowheads="1"/>
          </p:cNvSpPr>
          <p:nvPr>
            <p:ph type="title"/>
          </p:nvPr>
        </p:nvSpPr>
        <p:spPr bwMode="auto">
          <a:xfrm>
            <a:off x="323853" y="426219"/>
            <a:ext cx="8039409" cy="33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36000" rIns="91440" bIns="36000" numCol="1" anchor="ctr" anchorCtr="0" compatLnSpc="1">
            <a:prstTxWarp prst="textNoShape">
              <a:avLst/>
            </a:prstTxWarp>
          </a:bodyPr>
          <a:lstStyle/>
          <a:p>
            <a:pPr lvl="0"/>
            <a:r>
              <a:rPr lang="zh-TW" altLang="en-US" dirty="0"/>
              <a:t>按一下以編輯母片標題樣式</a:t>
            </a:r>
          </a:p>
        </p:txBody>
      </p:sp>
      <p:sp>
        <p:nvSpPr>
          <p:cNvPr id="7" name="矩形: 圓角 6" descr="Right-1">
            <a:extLst>
              <a:ext uri="{FF2B5EF4-FFF2-40B4-BE49-F238E27FC236}">
                <a16:creationId xmlns:a16="http://schemas.microsoft.com/office/drawing/2014/main" id="{5FA4D091-6B96-55D0-1098-1C057F431788}"/>
              </a:ext>
            </a:extLst>
          </p:cNvPr>
          <p:cNvSpPr/>
          <p:nvPr/>
        </p:nvSpPr>
        <p:spPr>
          <a:xfrm>
            <a:off x="8586788" y="812697"/>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2-1</a:t>
            </a:r>
            <a:endParaRPr lang="zh-TW" altLang="en-US" b="1" dirty="0">
              <a:solidFill>
                <a:srgbClr val="FFFFFF"/>
              </a:solidFill>
              <a:latin typeface="Arial" panose="020B0604020202020204" pitchFamily="34" charset="0"/>
              <a:cs typeface="Arial" panose="020B0604020202020204" pitchFamily="34" charset="0"/>
            </a:endParaRPr>
          </a:p>
        </p:txBody>
      </p:sp>
      <p:sp>
        <p:nvSpPr>
          <p:cNvPr id="2054" name="Rectangle 16">
            <a:extLst>
              <a:ext uri="{FF2B5EF4-FFF2-40B4-BE49-F238E27FC236}">
                <a16:creationId xmlns:a16="http://schemas.microsoft.com/office/drawing/2014/main" id="{A23FC50A-D930-4E96-8A87-ECD346CA3F01}"/>
              </a:ext>
            </a:extLst>
          </p:cNvPr>
          <p:cNvSpPr>
            <a:spLocks noChangeArrowheads="1"/>
          </p:cNvSpPr>
          <p:nvPr/>
        </p:nvSpPr>
        <p:spPr bwMode="auto">
          <a:xfrm>
            <a:off x="8498685" y="-17856"/>
            <a:ext cx="635793" cy="27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defRPr kumimoji="1" sz="2400">
                <a:solidFill>
                  <a:srgbClr val="0000FF"/>
                </a:solidFill>
                <a:latin typeface="Times New Roman" panose="02020603050405020304" pitchFamily="18" charset="0"/>
                <a:ea typeface="新細明體" panose="02020500000000000000" pitchFamily="18" charset="-120"/>
              </a:defRPr>
            </a:lvl1pPr>
            <a:lvl2pPr marL="742950" indent="-285750">
              <a:defRPr kumimoji="1" sz="2400">
                <a:solidFill>
                  <a:srgbClr val="0000FF"/>
                </a:solidFill>
                <a:latin typeface="Times New Roman" panose="02020603050405020304" pitchFamily="18" charset="0"/>
                <a:ea typeface="新細明體" panose="02020500000000000000" pitchFamily="18" charset="-120"/>
              </a:defRPr>
            </a:lvl2pPr>
            <a:lvl3pPr marL="1143000" indent="-228600">
              <a:defRPr kumimoji="1" sz="2400">
                <a:solidFill>
                  <a:srgbClr val="0000FF"/>
                </a:solidFill>
                <a:latin typeface="Times New Roman" panose="02020603050405020304" pitchFamily="18" charset="0"/>
                <a:ea typeface="新細明體" panose="02020500000000000000" pitchFamily="18" charset="-120"/>
              </a:defRPr>
            </a:lvl3pPr>
            <a:lvl4pPr marL="1600200" indent="-228600">
              <a:defRPr kumimoji="1" sz="2400">
                <a:solidFill>
                  <a:srgbClr val="0000FF"/>
                </a:solidFill>
                <a:latin typeface="Times New Roman" panose="02020603050405020304" pitchFamily="18" charset="0"/>
                <a:ea typeface="新細明體" panose="02020500000000000000" pitchFamily="18" charset="-120"/>
              </a:defRPr>
            </a:lvl4pPr>
            <a:lvl5pPr marL="2057400" indent="-228600">
              <a:defRPr kumimoji="1" sz="2400">
                <a:solidFill>
                  <a:srgbClr val="0000FF"/>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rgbClr val="0000FF"/>
                </a:solidFill>
                <a:latin typeface="Times New Roman" panose="02020603050405020304" pitchFamily="18" charset="0"/>
                <a:ea typeface="新細明體" panose="02020500000000000000" pitchFamily="18" charset="-120"/>
              </a:defRPr>
            </a:lvl9pPr>
          </a:lstStyle>
          <a:p>
            <a:pPr algn="ctr" eaLnBrk="1" hangingPunct="1"/>
            <a:fld id="{3CFFE436-D845-4DE4-8258-4180705C7A96}" type="slidenum">
              <a:rPr lang="zh-TW" altLang="en-US" sz="1800" b="0" smtClean="0">
                <a:solidFill>
                  <a:schemeClr val="bg1"/>
                </a:solidFill>
                <a:latin typeface="Arial" panose="020B0604020202020204" pitchFamily="34" charset="0"/>
                <a:ea typeface="Arial Unicode MS" panose="020B0604020202020204" pitchFamily="34" charset="-120"/>
                <a:cs typeface="Arial Unicode MS" panose="020B0604020202020204" pitchFamily="34" charset="-120"/>
              </a:rPr>
              <a:pPr algn="ctr" eaLnBrk="1" hangingPunct="1"/>
              <a:t>‹#›</a:t>
            </a:fld>
            <a:endParaRPr lang="en-US" altLang="zh-TW" sz="1800" b="0" dirty="0">
              <a:solidFill>
                <a:schemeClr val="bg1"/>
              </a:solidFill>
              <a:latin typeface="Arial" panose="020B0604020202020204" pitchFamily="34" charset="0"/>
              <a:ea typeface="Arial Unicode MS" panose="020B0604020202020204" pitchFamily="34" charset="-120"/>
              <a:cs typeface="Arial Unicode MS" panose="020B0604020202020204" pitchFamily="34" charset="-120"/>
            </a:endParaRPr>
          </a:p>
        </p:txBody>
      </p:sp>
      <p:sp>
        <p:nvSpPr>
          <p:cNvPr id="12" name="矩形: 圓角 23" descr="Right-2">
            <a:hlinkClick r:id="" action="ppaction://noaction"/>
            <a:extLst>
              <a:ext uri="{FF2B5EF4-FFF2-40B4-BE49-F238E27FC236}">
                <a16:creationId xmlns:a16="http://schemas.microsoft.com/office/drawing/2014/main" id="{3FF86F28-229B-E847-3C1D-71D69791ACBB}"/>
              </a:ext>
            </a:extLst>
          </p:cNvPr>
          <p:cNvSpPr/>
          <p:nvPr userDrawn="1"/>
        </p:nvSpPr>
        <p:spPr>
          <a:xfrm>
            <a:off x="8586788" y="1088661"/>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2-2</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7" name="Rectangle 2">
            <a:extLst>
              <a:ext uri="{FF2B5EF4-FFF2-40B4-BE49-F238E27FC236}">
                <a16:creationId xmlns:a16="http://schemas.microsoft.com/office/drawing/2014/main" id="{AAB5356D-7243-4475-A602-3C0CCEAE4D66}"/>
              </a:ext>
            </a:extLst>
          </p:cNvPr>
          <p:cNvSpPr>
            <a:spLocks noGrp="1" noChangeArrowheads="1"/>
          </p:cNvSpPr>
          <p:nvPr>
            <p:ph type="body" idx="1"/>
          </p:nvPr>
        </p:nvSpPr>
        <p:spPr bwMode="auto">
          <a:xfrm>
            <a:off x="323850" y="812698"/>
            <a:ext cx="8032750" cy="40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dirty="0"/>
              <a:t>第一層內文內文內文內文內文內文內文內文內文內文內文內文內文內文內文</a:t>
            </a:r>
            <a:endParaRPr lang="en-US" altLang="zh-TW" dirty="0"/>
          </a:p>
          <a:p>
            <a:pPr marL="812800" lvl="1" indent="-812800" algn="l" rtl="0" eaLnBrk="0" fontAlgn="ctr" hangingPunct="0">
              <a:lnSpc>
                <a:spcPct val="110000"/>
              </a:lnSpc>
              <a:spcBef>
                <a:spcPts val="200"/>
              </a:spcBef>
              <a:spcAft>
                <a:spcPct val="0"/>
              </a:spcAft>
              <a:buClr>
                <a:schemeClr val="folHlink"/>
              </a:buClr>
              <a:buSzPct val="70000"/>
              <a:tabLst>
                <a:tab pos="811213" algn="l"/>
                <a:tab pos="1766888" algn="l"/>
              </a:tabLst>
            </a:pPr>
            <a:r>
              <a:rPr lang="zh-TW" altLang="en-US" dirty="0"/>
              <a:t>一、第二層第二層第二層第二層第二層第二層第二層</a:t>
            </a:r>
          </a:p>
          <a:p>
            <a:pPr marL="812800" lvl="2" indent="-812800" algn="l" rtl="0" eaLnBrk="0" fontAlgn="base" hangingPunct="0">
              <a:lnSpc>
                <a:spcPct val="110000"/>
              </a:lnSpc>
              <a:spcBef>
                <a:spcPts val="200"/>
              </a:spcBef>
              <a:spcAft>
                <a:spcPct val="0"/>
              </a:spcAft>
              <a:buClr>
                <a:schemeClr val="folHlink"/>
              </a:buClr>
              <a:tabLst>
                <a:tab pos="1766888" algn="l"/>
              </a:tabLst>
            </a:pPr>
            <a:r>
              <a:rPr lang="en-US" altLang="zh-TW" dirty="0"/>
              <a:t>(</a:t>
            </a:r>
            <a:r>
              <a:rPr lang="zh-TW" altLang="en-US" dirty="0"/>
              <a:t>一</a:t>
            </a:r>
            <a:r>
              <a:rPr lang="en-US" altLang="zh-TW" dirty="0"/>
              <a:t>)	</a:t>
            </a:r>
            <a:r>
              <a:rPr lang="zh-TW" altLang="en-US" dirty="0"/>
              <a:t>第三層第三層第三層第三層第三層第三層第三層</a:t>
            </a:r>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第四層第四層第四層第四層第四層第四層第四層第四層第四層</a:t>
            </a:r>
            <a:endParaRPr lang="en-US" altLang="zh-TW" dirty="0"/>
          </a:p>
          <a:p>
            <a:pPr marL="812800" lvl="3" indent="-457200" algn="l" rtl="0" eaLnBrk="0" fontAlgn="base" hangingPunct="0">
              <a:lnSpc>
                <a:spcPct val="100000"/>
              </a:lnSpc>
              <a:spcBef>
                <a:spcPts val="200"/>
              </a:spcBef>
              <a:spcAft>
                <a:spcPct val="0"/>
              </a:spcAft>
              <a:buClrTx/>
              <a:buFont typeface="+mj-lt"/>
              <a:buAutoNum type="arabicPeriod"/>
              <a:tabLst>
                <a:tab pos="1766888" algn="l"/>
              </a:tabLst>
            </a:pPr>
            <a:r>
              <a:rPr lang="zh-TW" altLang="en-US" dirty="0"/>
              <a:t>第四層第四層第四層第四層</a:t>
            </a:r>
          </a:p>
          <a:p>
            <a:pPr marL="1346200" marR="0" lvl="4" indent="-533400" algn="l" defTabSz="914400" rtl="0" eaLnBrk="0" fontAlgn="base" latinLnBrk="0" hangingPunct="0">
              <a:lnSpc>
                <a:spcPct val="110000"/>
              </a:lnSpc>
              <a:spcBef>
                <a:spcPts val="200"/>
              </a:spcBef>
              <a:spcAft>
                <a:spcPct val="0"/>
              </a:spcAft>
              <a:buClr>
                <a:schemeClr val="accent1"/>
              </a:buClr>
              <a:buSzTx/>
              <a:buFontTx/>
              <a:buNone/>
              <a:tabLst/>
            </a:pPr>
            <a:r>
              <a:rPr lang="en-US" altLang="zh-TW" dirty="0"/>
              <a:t>(1)	</a:t>
            </a:r>
            <a:r>
              <a:rPr lang="zh-TW" altLang="en-US" dirty="0"/>
              <a:t>第五層第五層第五層第五層第五層第五層第五層第五層第五層</a:t>
            </a:r>
            <a:endParaRPr lang="en-US" altLang="zh-TW" dirty="0"/>
          </a:p>
          <a:p>
            <a:pPr marL="1346200" lvl="5" indent="-355600" algn="l" rtl="0" fontAlgn="base">
              <a:lnSpc>
                <a:spcPct val="110000"/>
              </a:lnSpc>
              <a:spcBef>
                <a:spcPts val="200"/>
              </a:spcBef>
              <a:spcAft>
                <a:spcPct val="0"/>
              </a:spcAft>
              <a:buClr>
                <a:srgbClr val="DB0D48"/>
              </a:buClr>
              <a:buFont typeface="Arial" panose="020B0604020202020204" pitchFamily="34" charset="0"/>
              <a:buChar char="•"/>
              <a:tabLst>
                <a:tab pos="811213" algn="l"/>
              </a:tabLst>
            </a:pPr>
            <a:r>
              <a:rPr lang="zh-TW" altLang="en-US" dirty="0"/>
              <a:t>第六層項目符號</a:t>
            </a:r>
            <a:endParaRPr lang="en-US" altLang="zh-TW" dirty="0"/>
          </a:p>
          <a:p>
            <a:pPr lvl="6"/>
            <a:r>
              <a:rPr lang="en-US" altLang="zh-TW" dirty="0"/>
              <a:t>1-2-1</a:t>
            </a:r>
            <a:r>
              <a:rPr lang="zh-TW" altLang="en-US" dirty="0"/>
              <a:t>第七層</a:t>
            </a:r>
            <a:endParaRPr lang="en-US" altLang="zh-TW" dirty="0"/>
          </a:p>
          <a:p>
            <a:pPr marL="0" lvl="7" indent="0" algn="l" rtl="0" fontAlgn="base">
              <a:lnSpc>
                <a:spcPct val="110000"/>
              </a:lnSpc>
              <a:spcBef>
                <a:spcPts val="200"/>
              </a:spcBef>
              <a:spcAft>
                <a:spcPct val="0"/>
              </a:spcAft>
              <a:buClr>
                <a:schemeClr val="accent1"/>
              </a:buClr>
              <a:buFontTx/>
              <a:buNone/>
              <a:tabLst>
                <a:tab pos="811213" algn="l"/>
                <a:tab pos="1766888" algn="l"/>
              </a:tabLst>
            </a:pPr>
            <a:r>
              <a:rPr lang="en-US" altLang="zh-TW" dirty="0"/>
              <a:t>1-2-1-1</a:t>
            </a:r>
            <a:r>
              <a:rPr lang="zh-TW" altLang="en-US" dirty="0"/>
              <a:t>第八層</a:t>
            </a:r>
            <a:endParaRPr lang="en-US" altLang="zh-TW" dirty="0"/>
          </a:p>
          <a:p>
            <a:pPr marL="812800" lvl="8" indent="0" algn="l" rtl="0" fontAlgn="base">
              <a:lnSpc>
                <a:spcPct val="110000"/>
              </a:lnSpc>
              <a:spcBef>
                <a:spcPts val="200"/>
              </a:spcBef>
              <a:spcAft>
                <a:spcPct val="0"/>
              </a:spcAft>
              <a:buClr>
                <a:schemeClr val="accent1"/>
              </a:buClr>
              <a:buFontTx/>
              <a:buNone/>
              <a:tabLst>
                <a:tab pos="811213" algn="l"/>
                <a:tab pos="1766888" algn="l"/>
              </a:tabLst>
            </a:pPr>
            <a:r>
              <a:rPr lang="zh-TW" altLang="en-US" dirty="0"/>
              <a:t>第九層數字點用的內文數字點用的內文第九層數字點用的內文</a:t>
            </a:r>
          </a:p>
        </p:txBody>
      </p:sp>
      <p:pic>
        <p:nvPicPr>
          <p:cNvPr id="19" name="圖片 18">
            <a:extLst>
              <a:ext uri="{FF2B5EF4-FFF2-40B4-BE49-F238E27FC236}">
                <a16:creationId xmlns:a16="http://schemas.microsoft.com/office/drawing/2014/main" id="{704EA603-7C1A-679F-A54C-155C41C34EF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8769" y="4917664"/>
            <a:ext cx="563081" cy="165170"/>
          </a:xfrm>
          <a:prstGeom prst="rect">
            <a:avLst/>
          </a:prstGeom>
        </p:spPr>
      </p:pic>
      <p:sp>
        <p:nvSpPr>
          <p:cNvPr id="20" name="PA-手繪多邊形: 圖案 63">
            <a:hlinkClick r:id="" action="ppaction://hlinkshowjump?jump=endshow"/>
            <a:hlinkHover r:id="" action="ppaction://noaction" highlightClick="1"/>
            <a:extLst>
              <a:ext uri="{FF2B5EF4-FFF2-40B4-BE49-F238E27FC236}">
                <a16:creationId xmlns:a16="http://schemas.microsoft.com/office/drawing/2014/main" id="{8C82FAEB-FA14-94D0-2580-53D875479052}"/>
              </a:ext>
            </a:extLst>
          </p:cNvPr>
          <p:cNvSpPr>
            <a:spLocks noChangeAspect="1"/>
          </p:cNvSpPr>
          <p:nvPr userDrawn="1">
            <p:custDataLst>
              <p:tags r:id="rId4"/>
            </p:custDataLst>
          </p:nvPr>
        </p:nvSpPr>
        <p:spPr>
          <a:xfrm>
            <a:off x="8756960" y="4783873"/>
            <a:ext cx="323852" cy="323852"/>
          </a:xfrm>
          <a:custGeom>
            <a:avLst/>
            <a:gdLst>
              <a:gd name="connsiteX0" fmla="*/ 99522 w 323852"/>
              <a:gd name="connsiteY0" fmla="*/ 50326 h 323852"/>
              <a:gd name="connsiteX1" fmla="*/ 50326 w 323852"/>
              <a:gd name="connsiteY1" fmla="*/ 99522 h 323852"/>
              <a:gd name="connsiteX2" fmla="*/ 112640 w 323852"/>
              <a:gd name="connsiteY2" fmla="*/ 162018 h 323852"/>
              <a:gd name="connsiteX3" fmla="*/ 50326 w 323852"/>
              <a:gd name="connsiteY3" fmla="*/ 224332 h 323852"/>
              <a:gd name="connsiteX4" fmla="*/ 99522 w 323852"/>
              <a:gd name="connsiteY4" fmla="*/ 273528 h 323852"/>
              <a:gd name="connsiteX5" fmla="*/ 161836 w 323852"/>
              <a:gd name="connsiteY5" fmla="*/ 211214 h 323852"/>
              <a:gd name="connsiteX6" fmla="*/ 224332 w 323852"/>
              <a:gd name="connsiteY6" fmla="*/ 273528 h 323852"/>
              <a:gd name="connsiteX7" fmla="*/ 273528 w 323852"/>
              <a:gd name="connsiteY7" fmla="*/ 224332 h 323852"/>
              <a:gd name="connsiteX8" fmla="*/ 211214 w 323852"/>
              <a:gd name="connsiteY8" fmla="*/ 162018 h 323852"/>
              <a:gd name="connsiteX9" fmla="*/ 273528 w 323852"/>
              <a:gd name="connsiteY9" fmla="*/ 99522 h 323852"/>
              <a:gd name="connsiteX10" fmla="*/ 224332 w 323852"/>
              <a:gd name="connsiteY10" fmla="*/ 50326 h 323852"/>
              <a:gd name="connsiteX11" fmla="*/ 161836 w 323852"/>
              <a:gd name="connsiteY11" fmla="*/ 112640 h 323852"/>
              <a:gd name="connsiteX12" fmla="*/ 161926 w 323852"/>
              <a:gd name="connsiteY12" fmla="*/ 0 h 323852"/>
              <a:gd name="connsiteX13" fmla="*/ 323852 w 323852"/>
              <a:gd name="connsiteY13" fmla="*/ 161926 h 323852"/>
              <a:gd name="connsiteX14" fmla="*/ 161926 w 323852"/>
              <a:gd name="connsiteY14" fmla="*/ 323852 h 323852"/>
              <a:gd name="connsiteX15" fmla="*/ 0 w 323852"/>
              <a:gd name="connsiteY15" fmla="*/ 161926 h 323852"/>
              <a:gd name="connsiteX16" fmla="*/ 161926 w 323852"/>
              <a:gd name="connsiteY16"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3852" h="323852">
                <a:moveTo>
                  <a:pt x="99522" y="50326"/>
                </a:moveTo>
                <a:lnTo>
                  <a:pt x="50326" y="99522"/>
                </a:lnTo>
                <a:lnTo>
                  <a:pt x="112640" y="162018"/>
                </a:lnTo>
                <a:lnTo>
                  <a:pt x="50326" y="224332"/>
                </a:lnTo>
                <a:lnTo>
                  <a:pt x="99522" y="273528"/>
                </a:lnTo>
                <a:lnTo>
                  <a:pt x="161836" y="211214"/>
                </a:lnTo>
                <a:lnTo>
                  <a:pt x="224332" y="273528"/>
                </a:lnTo>
                <a:lnTo>
                  <a:pt x="273528" y="224332"/>
                </a:lnTo>
                <a:lnTo>
                  <a:pt x="211214" y="162018"/>
                </a:lnTo>
                <a:lnTo>
                  <a:pt x="273528" y="99522"/>
                </a:lnTo>
                <a:lnTo>
                  <a:pt x="224332" y="50326"/>
                </a:lnTo>
                <a:lnTo>
                  <a:pt x="161836" y="112640"/>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22" name="PA-手繪多邊形: 圖案 60">
            <a:hlinkClick r:id="" action="ppaction://hlinkshowjump?jump=firstslide"/>
            <a:hlinkHover r:id="" action="ppaction://noaction" highlightClick="1"/>
            <a:extLst>
              <a:ext uri="{FF2B5EF4-FFF2-40B4-BE49-F238E27FC236}">
                <a16:creationId xmlns:a16="http://schemas.microsoft.com/office/drawing/2014/main" id="{2734A31B-862D-F4BC-2115-19C3310A3E43}"/>
              </a:ext>
            </a:extLst>
          </p:cNvPr>
          <p:cNvSpPr>
            <a:spLocks noChangeAspect="1"/>
          </p:cNvSpPr>
          <p:nvPr userDrawn="1">
            <p:custDataLst>
              <p:tags r:id="rId5"/>
            </p:custDataLst>
          </p:nvPr>
        </p:nvSpPr>
        <p:spPr>
          <a:xfrm>
            <a:off x="8363259" y="4783873"/>
            <a:ext cx="323852" cy="323852"/>
          </a:xfrm>
          <a:custGeom>
            <a:avLst/>
            <a:gdLst>
              <a:gd name="connsiteX0" fmla="*/ 162075 w 323852"/>
              <a:gd name="connsiteY0" fmla="*/ 49606 h 323852"/>
              <a:gd name="connsiteX1" fmla="*/ 44826 w 323852"/>
              <a:gd name="connsiteY1" fmla="*/ 166706 h 323852"/>
              <a:gd name="connsiteX2" fmla="*/ 88440 w 323852"/>
              <a:gd name="connsiteY2" fmla="*/ 166706 h 323852"/>
              <a:gd name="connsiteX3" fmla="*/ 88440 w 323852"/>
              <a:gd name="connsiteY3" fmla="*/ 274247 h 323852"/>
              <a:gd name="connsiteX4" fmla="*/ 140418 w 323852"/>
              <a:gd name="connsiteY4" fmla="*/ 274247 h 323852"/>
              <a:gd name="connsiteX5" fmla="*/ 140418 w 323852"/>
              <a:gd name="connsiteY5" fmla="*/ 207482 h 323852"/>
              <a:gd name="connsiteX6" fmla="*/ 183732 w 323852"/>
              <a:gd name="connsiteY6" fmla="*/ 207482 h 323852"/>
              <a:gd name="connsiteX7" fmla="*/ 183732 w 323852"/>
              <a:gd name="connsiteY7" fmla="*/ 274247 h 323852"/>
              <a:gd name="connsiteX8" fmla="*/ 234069 w 323852"/>
              <a:gd name="connsiteY8" fmla="*/ 274247 h 323852"/>
              <a:gd name="connsiteX9" fmla="*/ 234069 w 323852"/>
              <a:gd name="connsiteY9" fmla="*/ 166706 h 323852"/>
              <a:gd name="connsiteX10" fmla="*/ 279026 w 323852"/>
              <a:gd name="connsiteY10" fmla="*/ 166706 h 323852"/>
              <a:gd name="connsiteX11" fmla="*/ 161926 w 323852"/>
              <a:gd name="connsiteY11" fmla="*/ 0 h 323852"/>
              <a:gd name="connsiteX12" fmla="*/ 323852 w 323852"/>
              <a:gd name="connsiteY12" fmla="*/ 161926 h 323852"/>
              <a:gd name="connsiteX13" fmla="*/ 161926 w 323852"/>
              <a:gd name="connsiteY13" fmla="*/ 323852 h 323852"/>
              <a:gd name="connsiteX14" fmla="*/ 0 w 323852"/>
              <a:gd name="connsiteY14" fmla="*/ 161926 h 323852"/>
              <a:gd name="connsiteX15" fmla="*/ 161926 w 323852"/>
              <a:gd name="connsiteY15" fmla="*/ 0 h 32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852" h="323852">
                <a:moveTo>
                  <a:pt x="162075" y="49606"/>
                </a:moveTo>
                <a:lnTo>
                  <a:pt x="44826" y="166706"/>
                </a:lnTo>
                <a:lnTo>
                  <a:pt x="88440" y="166706"/>
                </a:lnTo>
                <a:lnTo>
                  <a:pt x="88440" y="274247"/>
                </a:lnTo>
                <a:lnTo>
                  <a:pt x="140418" y="274247"/>
                </a:lnTo>
                <a:lnTo>
                  <a:pt x="140418" y="207482"/>
                </a:lnTo>
                <a:lnTo>
                  <a:pt x="183732" y="207482"/>
                </a:lnTo>
                <a:lnTo>
                  <a:pt x="183732" y="274247"/>
                </a:lnTo>
                <a:lnTo>
                  <a:pt x="234069" y="274247"/>
                </a:lnTo>
                <a:lnTo>
                  <a:pt x="234069" y="166706"/>
                </a:lnTo>
                <a:lnTo>
                  <a:pt x="279026" y="166706"/>
                </a:lnTo>
                <a:close/>
                <a:moveTo>
                  <a:pt x="161926" y="0"/>
                </a:moveTo>
                <a:cubicBezTo>
                  <a:pt x="251355" y="0"/>
                  <a:pt x="323852" y="72497"/>
                  <a:pt x="323852" y="161926"/>
                </a:cubicBezTo>
                <a:cubicBezTo>
                  <a:pt x="323852" y="251355"/>
                  <a:pt x="251355" y="323852"/>
                  <a:pt x="161926" y="323852"/>
                </a:cubicBezTo>
                <a:cubicBezTo>
                  <a:pt x="72497" y="323852"/>
                  <a:pt x="0" y="251355"/>
                  <a:pt x="0" y="161926"/>
                </a:cubicBezTo>
                <a:cubicBezTo>
                  <a:pt x="0" y="72497"/>
                  <a:pt x="72497" y="0"/>
                  <a:pt x="161926" y="0"/>
                </a:cubicBezTo>
                <a:close/>
              </a:path>
            </a:pathLst>
          </a:cu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TW" altLang="en-US"/>
          </a:p>
        </p:txBody>
      </p:sp>
      <p:sp>
        <p:nvSpPr>
          <p:cNvPr id="14" name="矩形: 圓角 23" descr="Right-2">
            <a:extLst>
              <a:ext uri="{FF2B5EF4-FFF2-40B4-BE49-F238E27FC236}">
                <a16:creationId xmlns:a16="http://schemas.microsoft.com/office/drawing/2014/main" id="{3FF86F28-229B-E847-3C1D-71D69791ACBB}"/>
              </a:ext>
            </a:extLst>
          </p:cNvPr>
          <p:cNvSpPr/>
          <p:nvPr userDrawn="1"/>
        </p:nvSpPr>
        <p:spPr>
          <a:xfrm>
            <a:off x="8586788" y="1360054"/>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2-3</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6" name="矩形: 圓角 23" descr="Right-2">
            <a:extLst>
              <a:ext uri="{FF2B5EF4-FFF2-40B4-BE49-F238E27FC236}">
                <a16:creationId xmlns:a16="http://schemas.microsoft.com/office/drawing/2014/main" id="{3FF86F28-229B-E847-3C1D-71D69791ACBB}"/>
              </a:ext>
            </a:extLst>
          </p:cNvPr>
          <p:cNvSpPr/>
          <p:nvPr userDrawn="1"/>
        </p:nvSpPr>
        <p:spPr>
          <a:xfrm>
            <a:off x="8586788" y="16209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2-4</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17" name="矩形: 圓角 6" descr="Right-1">
            <a:extLst>
              <a:ext uri="{FF2B5EF4-FFF2-40B4-BE49-F238E27FC236}">
                <a16:creationId xmlns:a16="http://schemas.microsoft.com/office/drawing/2014/main" id="{5FA4D091-6B96-55D0-1098-1C057F431788}"/>
              </a:ext>
            </a:extLst>
          </p:cNvPr>
          <p:cNvSpPr/>
          <p:nvPr userDrawn="1"/>
        </p:nvSpPr>
        <p:spPr>
          <a:xfrm>
            <a:off x="8586788" y="1893536"/>
            <a:ext cx="600074" cy="225028"/>
          </a:xfrm>
          <a:prstGeom prst="roundRect">
            <a:avLst>
              <a:gd name="adj" fmla="val 20635"/>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2-5</a:t>
            </a:r>
            <a:endParaRPr lang="zh-TW" altLang="en-US" b="1" dirty="0">
              <a:solidFill>
                <a:srgbClr val="FFFFFF"/>
              </a:solidFill>
              <a:latin typeface="Arial" panose="020B0604020202020204" pitchFamily="34" charset="0"/>
              <a:cs typeface="Arial" panose="020B0604020202020204" pitchFamily="34" charset="0"/>
            </a:endParaRPr>
          </a:p>
        </p:txBody>
      </p:sp>
      <p:sp>
        <p:nvSpPr>
          <p:cNvPr id="18" name="矩形: 圓角 23" descr="Right-2">
            <a:extLst>
              <a:ext uri="{FF2B5EF4-FFF2-40B4-BE49-F238E27FC236}">
                <a16:creationId xmlns:a16="http://schemas.microsoft.com/office/drawing/2014/main" id="{3FF86F28-229B-E847-3C1D-71D69791ACBB}"/>
              </a:ext>
            </a:extLst>
          </p:cNvPr>
          <p:cNvSpPr/>
          <p:nvPr userDrawn="1"/>
        </p:nvSpPr>
        <p:spPr>
          <a:xfrm>
            <a:off x="8586788" y="216950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2-6</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3" name="矩形: 圓角 23" descr="Right-2">
            <a:extLst>
              <a:ext uri="{FF2B5EF4-FFF2-40B4-BE49-F238E27FC236}">
                <a16:creationId xmlns:a16="http://schemas.microsoft.com/office/drawing/2014/main" id="{3FF86F28-229B-E847-3C1D-71D69791ACBB}"/>
              </a:ext>
            </a:extLst>
          </p:cNvPr>
          <p:cNvSpPr/>
          <p:nvPr userDrawn="1"/>
        </p:nvSpPr>
        <p:spPr>
          <a:xfrm>
            <a:off x="8586788" y="2440893"/>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2-7</a:t>
            </a:r>
            <a:endParaRPr lang="zh-TW" altLang="en-US" sz="1800" b="1" dirty="0">
              <a:solidFill>
                <a:srgbClr val="FFFFFF"/>
              </a:solidFill>
              <a:latin typeface="Arial" panose="020B0604020202020204" pitchFamily="34" charset="0"/>
              <a:cs typeface="Arial" panose="020B0604020202020204" pitchFamily="34" charset="0"/>
            </a:endParaRPr>
          </a:p>
        </p:txBody>
      </p:sp>
      <p:sp>
        <p:nvSpPr>
          <p:cNvPr id="24" name="矩形: 圓角 23" descr="Right-2">
            <a:extLst>
              <a:ext uri="{FF2B5EF4-FFF2-40B4-BE49-F238E27FC236}">
                <a16:creationId xmlns:a16="http://schemas.microsoft.com/office/drawing/2014/main" id="{3FF86F28-229B-E847-3C1D-71D69791ACBB}"/>
              </a:ext>
            </a:extLst>
          </p:cNvPr>
          <p:cNvSpPr/>
          <p:nvPr userDrawn="1"/>
        </p:nvSpPr>
        <p:spPr>
          <a:xfrm>
            <a:off x="8586788" y="2701739"/>
            <a:ext cx="600074" cy="225028"/>
          </a:xfrm>
          <a:prstGeom prst="roundRect">
            <a:avLst>
              <a:gd name="adj" fmla="val 18254"/>
            </a:avLst>
          </a:prstGeom>
          <a:solidFill>
            <a:srgbClr val="F67E1A"/>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b="1" dirty="0">
                <a:solidFill>
                  <a:srgbClr val="FFFFFF"/>
                </a:solidFill>
                <a:latin typeface="Arial" panose="020B0604020202020204" pitchFamily="34" charset="0"/>
                <a:cs typeface="Arial" panose="020B0604020202020204" pitchFamily="34" charset="0"/>
              </a:rPr>
              <a:t>2-8</a:t>
            </a:r>
            <a:endParaRPr lang="zh-TW" altLang="en-US" b="1" dirty="0">
              <a:solidFill>
                <a:srgbClr val="FFFFFF"/>
              </a:solidFill>
              <a:latin typeface="Arial" panose="020B0604020202020204" pitchFamily="34" charset="0"/>
              <a:cs typeface="Arial" panose="020B0604020202020204" pitchFamily="34" charset="0"/>
            </a:endParaRPr>
          </a:p>
        </p:txBody>
      </p:sp>
      <p:sp>
        <p:nvSpPr>
          <p:cNvPr id="25" name="矩形: 圓角 23" descr="Right-2">
            <a:extLst>
              <a:ext uri="{FF2B5EF4-FFF2-40B4-BE49-F238E27FC236}">
                <a16:creationId xmlns:a16="http://schemas.microsoft.com/office/drawing/2014/main" id="{3FF86F28-229B-E847-3C1D-71D69791ACBB}"/>
              </a:ext>
            </a:extLst>
          </p:cNvPr>
          <p:cNvSpPr/>
          <p:nvPr userDrawn="1"/>
        </p:nvSpPr>
        <p:spPr>
          <a:xfrm>
            <a:off x="8586788" y="2970530"/>
            <a:ext cx="600074" cy="225028"/>
          </a:xfrm>
          <a:prstGeom prst="roundRect">
            <a:avLst>
              <a:gd name="adj" fmla="val 18254"/>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lvl="0" algn="ctr"/>
            <a:r>
              <a:rPr lang="en-US" altLang="zh-TW" sz="1800" b="1" dirty="0">
                <a:solidFill>
                  <a:srgbClr val="FFFFFF"/>
                </a:solidFill>
                <a:latin typeface="Arial" panose="020B0604020202020204" pitchFamily="34" charset="0"/>
                <a:cs typeface="Arial" panose="020B0604020202020204" pitchFamily="34" charset="0"/>
              </a:rPr>
              <a:t>2-9</a:t>
            </a:r>
            <a:endParaRPr lang="zh-TW" altLang="en-US" sz="1800" b="1"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9550606"/>
      </p:ext>
    </p:extLst>
  </p:cSld>
  <p:clrMap bg1="lt1" tx1="dk1" bg2="lt2" tx2="dk2" accent1="accent1" accent2="accent2" accent3="accent3" accent4="accent4" accent5="accent5" accent6="accent6" hlink="hlink" folHlink="folHlink"/>
  <p:sldLayoutIdLst>
    <p:sldLayoutId id="2147483667" r:id="rId1"/>
    <p:sldLayoutId id="2147483668" r:id="rId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rtl="0" eaLnBrk="1" fontAlgn="base" hangingPunct="1">
        <a:lnSpc>
          <a:spcPct val="100000"/>
        </a:lnSpc>
        <a:spcBef>
          <a:spcPct val="0"/>
        </a:spcBef>
        <a:spcAft>
          <a:spcPct val="0"/>
        </a:spcAft>
        <a:defRPr kumimoji="1" lang="zh-TW" altLang="en-US" sz="3600" b="1" dirty="0">
          <a:solidFill>
            <a:srgbClr val="2399AD"/>
          </a:solidFill>
          <a:latin typeface="Arial" pitchFamily="34" charset="0"/>
          <a:ea typeface="微軟正黑體" pitchFamily="34" charset="-120"/>
          <a:cs typeface="+mj-cs"/>
        </a:defRPr>
      </a:lvl1pPr>
      <a:lvl2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2pPr>
      <a:lvl3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3pPr>
      <a:lvl4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4pPr>
      <a:lvl5pPr algn="l" rtl="0" eaLnBrk="1" fontAlgn="base" hangingPunct="1">
        <a:lnSpc>
          <a:spcPct val="80000"/>
        </a:lnSpc>
        <a:spcBef>
          <a:spcPct val="0"/>
        </a:spcBef>
        <a:spcAft>
          <a:spcPct val="0"/>
        </a:spcAft>
        <a:defRPr kumimoji="1" sz="2800" b="1">
          <a:solidFill>
            <a:srgbClr val="0000AC"/>
          </a:solidFill>
          <a:latin typeface="Arial" charset="0"/>
          <a:ea typeface="微軟正黑體" pitchFamily="34" charset="-120"/>
        </a:defRPr>
      </a:lvl5pPr>
      <a:lvl6pPr marL="4572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6pPr>
      <a:lvl7pPr marL="9144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7pPr>
      <a:lvl8pPr marL="13716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8pPr>
      <a:lvl9pPr marL="1828800" algn="ctr" rtl="0" eaLnBrk="1" fontAlgn="base" hangingPunct="1">
        <a:lnSpc>
          <a:spcPct val="80000"/>
        </a:lnSpc>
        <a:spcBef>
          <a:spcPct val="0"/>
        </a:spcBef>
        <a:spcAft>
          <a:spcPct val="0"/>
        </a:spcAft>
        <a:defRPr kumimoji="1" sz="2800" b="1">
          <a:solidFill>
            <a:schemeClr val="bg1"/>
          </a:solidFill>
          <a:latin typeface="Times New Roman" pitchFamily="18" charset="0"/>
          <a:ea typeface="標楷體" pitchFamily="65" charset="-120"/>
        </a:defRPr>
      </a:lvl9pPr>
    </p:titleStyle>
    <p:bodyStyle>
      <a:lvl1pPr marL="0" indent="698500" algn="just" rtl="0" eaLnBrk="1" fontAlgn="base" hangingPunct="1">
        <a:lnSpc>
          <a:spcPct val="100000"/>
        </a:lnSpc>
        <a:spcBef>
          <a:spcPts val="200"/>
        </a:spcBef>
        <a:spcAft>
          <a:spcPct val="0"/>
        </a:spcAft>
        <a:buNone/>
        <a:tabLst>
          <a:tab pos="1766888" algn="l"/>
        </a:tabLst>
        <a:defRPr lang="zh-TW" altLang="en-US" sz="2800" b="0" dirty="0">
          <a:solidFill>
            <a:schemeClr val="tx1"/>
          </a:solidFill>
          <a:latin typeface="+mn-lt"/>
          <a:ea typeface="+mn-ea"/>
          <a:cs typeface="+mn-cs"/>
        </a:defRPr>
      </a:lvl1pPr>
      <a:lvl2pPr marL="1165225" indent="-1165225" algn="l" rtl="0" eaLnBrk="1" fontAlgn="ctr" hangingPunct="1">
        <a:lnSpc>
          <a:spcPct val="110000"/>
        </a:lnSpc>
        <a:spcBef>
          <a:spcPts val="200"/>
        </a:spcBef>
        <a:spcAft>
          <a:spcPct val="0"/>
        </a:spcAft>
        <a:buClr>
          <a:schemeClr val="folHlink"/>
        </a:buClr>
        <a:buSzPct val="70000"/>
        <a:tabLst/>
        <a:defRPr lang="zh-TW" altLang="en-US" sz="3200" b="1" dirty="0">
          <a:solidFill>
            <a:srgbClr val="0000AC"/>
          </a:solidFill>
          <a:latin typeface="Arial" pitchFamily="34" charset="0"/>
          <a:ea typeface="微軟正黑體" pitchFamily="34" charset="-120"/>
        </a:defRPr>
      </a:lvl2pPr>
      <a:lvl3pPr marL="985838" indent="-985838" algn="l" rtl="0" eaLnBrk="1" fontAlgn="base" hangingPunct="1">
        <a:lnSpc>
          <a:spcPct val="110000"/>
        </a:lnSpc>
        <a:spcBef>
          <a:spcPts val="200"/>
        </a:spcBef>
        <a:spcAft>
          <a:spcPct val="0"/>
        </a:spcAft>
        <a:buClr>
          <a:schemeClr val="folHlink"/>
        </a:buClr>
        <a:tabLst>
          <a:tab pos="1766888" algn="l"/>
        </a:tabLst>
        <a:defRPr lang="zh-TW" altLang="en-US" sz="2800" b="1" dirty="0">
          <a:solidFill>
            <a:schemeClr val="tx1"/>
          </a:solidFill>
          <a:latin typeface="+mn-ea"/>
          <a:ea typeface="+mn-ea"/>
        </a:defRPr>
      </a:lvl3pPr>
      <a:lvl4pPr marL="869950" indent="-514350" algn="just" rtl="0" eaLnBrk="1" fontAlgn="base" hangingPunct="1">
        <a:lnSpc>
          <a:spcPct val="100000"/>
        </a:lnSpc>
        <a:spcBef>
          <a:spcPts val="200"/>
        </a:spcBef>
        <a:spcAft>
          <a:spcPct val="0"/>
        </a:spcAft>
        <a:buClrTx/>
        <a:buFont typeface="+mj-lt"/>
        <a:buAutoNum type="arabicPeriod"/>
        <a:tabLst/>
        <a:defRPr lang="zh-TW" altLang="en-US" sz="2800" b="0" baseline="0" dirty="0">
          <a:solidFill>
            <a:schemeClr val="tx1"/>
          </a:solidFill>
          <a:latin typeface="+mj-lt"/>
          <a:ea typeface="微軟正黑體" pitchFamily="34" charset="-120"/>
        </a:defRPr>
      </a:lvl4pPr>
      <a:lvl5pPr marL="812800" marR="0" indent="0" algn="just" defTabSz="914400" rtl="0" eaLnBrk="1" fontAlgn="base" latinLnBrk="0" hangingPunct="1">
        <a:lnSpc>
          <a:spcPct val="110000"/>
        </a:lnSpc>
        <a:spcBef>
          <a:spcPts val="200"/>
        </a:spcBef>
        <a:spcAft>
          <a:spcPct val="0"/>
        </a:spcAft>
        <a:buClr>
          <a:schemeClr val="accent1"/>
        </a:buClr>
        <a:buSzTx/>
        <a:buFontTx/>
        <a:buNone/>
        <a:tabLst/>
        <a:defRPr kumimoji="1" lang="en-US" altLang="zh-TW" sz="2800" b="0" i="0" dirty="0">
          <a:solidFill>
            <a:srgbClr val="000000"/>
          </a:solidFill>
          <a:latin typeface="+mj-lt"/>
          <a:ea typeface="微軟正黑體" pitchFamily="34" charset="-120"/>
        </a:defRPr>
      </a:lvl5pPr>
      <a:lvl6pPr marL="1447800" indent="-457200" algn="l" rtl="0" eaLnBrk="1" fontAlgn="base" hangingPunct="1">
        <a:lnSpc>
          <a:spcPct val="110000"/>
        </a:lnSpc>
        <a:spcBef>
          <a:spcPts val="200"/>
        </a:spcBef>
        <a:spcAft>
          <a:spcPct val="0"/>
        </a:spcAft>
        <a:buClr>
          <a:srgbClr val="DB0D48"/>
        </a:buClr>
        <a:buFont typeface="Arial" panose="020B0604020202020204" pitchFamily="34" charset="0"/>
        <a:buChar char="•"/>
        <a:tabLst>
          <a:tab pos="627063" algn="l"/>
        </a:tabLst>
        <a:defRPr kumimoji="1" lang="en-US" altLang="zh-TW" sz="2800" b="0" i="0" dirty="0">
          <a:solidFill>
            <a:schemeClr val="tx1"/>
          </a:solidFill>
          <a:latin typeface="Arial" pitchFamily="34" charset="0"/>
          <a:ea typeface="微軟正黑體" pitchFamily="34" charset="-120"/>
        </a:defRPr>
      </a:lvl6pPr>
      <a:lvl7pPr marL="0" indent="0" algn="l" rtl="0" eaLnBrk="1" fontAlgn="base" hangingPunct="1">
        <a:lnSpc>
          <a:spcPct val="110000"/>
        </a:lnSpc>
        <a:spcBef>
          <a:spcPts val="200"/>
        </a:spcBef>
        <a:spcAft>
          <a:spcPct val="0"/>
        </a:spcAft>
        <a:buClr>
          <a:schemeClr val="accent1"/>
        </a:buClr>
        <a:buFontTx/>
        <a:buNone/>
        <a:tabLst/>
        <a:defRPr kumimoji="1" lang="en-US" altLang="zh-TW" sz="3200" b="1" dirty="0">
          <a:solidFill>
            <a:srgbClr val="BC0000"/>
          </a:solidFill>
          <a:latin typeface="+mn-ea"/>
          <a:ea typeface="+mn-ea"/>
        </a:defRPr>
      </a:lvl7pPr>
      <a:lvl8pPr marL="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en-US" altLang="zh-TW" sz="3200" b="1" dirty="0">
          <a:solidFill>
            <a:schemeClr val="tx1"/>
          </a:solidFill>
          <a:latin typeface="+mn-ea"/>
          <a:ea typeface="+mn-ea"/>
        </a:defRPr>
      </a:lvl8pPr>
      <a:lvl9pPr marL="812800" indent="0" algn="l" rtl="0" eaLnBrk="1" fontAlgn="base" hangingPunct="1">
        <a:lnSpc>
          <a:spcPct val="110000"/>
        </a:lnSpc>
        <a:spcBef>
          <a:spcPts val="200"/>
        </a:spcBef>
        <a:spcAft>
          <a:spcPct val="0"/>
        </a:spcAft>
        <a:buClr>
          <a:schemeClr val="accent1"/>
        </a:buClr>
        <a:buFontTx/>
        <a:buNone/>
        <a:tabLst>
          <a:tab pos="811213" algn="l"/>
          <a:tab pos="1766888" algn="l"/>
        </a:tabLst>
        <a:defRPr kumimoji="1" lang="zh-TW" altLang="en-US" sz="2800" dirty="0">
          <a:solidFill>
            <a:schemeClr val="tx1"/>
          </a:solidFill>
          <a:latin typeface="+mn-ea"/>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10.wmf"/><Relationship Id="rId7" Type="http://schemas.openxmlformats.org/officeDocument/2006/relationships/oleObject" Target="../embeddings/oleObject4.bin"/><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7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10.bin"/><Relationship Id="rId17" Type="http://schemas.openxmlformats.org/officeDocument/2006/relationships/image" Target="../media/image21.wmf"/><Relationship Id="rId2" Type="http://schemas.openxmlformats.org/officeDocument/2006/relationships/oleObject" Target="../embeddings/oleObject5.bin"/><Relationship Id="rId16"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7.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7.wmf"/><Relationship Id="rId14"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5.png"/><Relationship Id="rId2" Type="http://schemas.openxmlformats.org/officeDocument/2006/relationships/oleObject" Target="../embeddings/oleObject13.bin"/><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20.bin"/><Relationship Id="rId2" Type="http://schemas.openxmlformats.org/officeDocument/2006/relationships/oleObject" Target="../embeddings/oleObject15.bin"/><Relationship Id="rId16"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png"/><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9.wmf"/><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37.png"/><Relationship Id="rId7" Type="http://schemas.openxmlformats.org/officeDocument/2006/relationships/image" Target="../media/image410.png"/><Relationship Id="rId12"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400.png"/><Relationship Id="rId11" Type="http://schemas.openxmlformats.org/officeDocument/2006/relationships/image" Target="../media/image45.png"/><Relationship Id="rId5" Type="http://schemas.openxmlformats.org/officeDocument/2006/relationships/image" Target="../media/image390.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44.xml.rels><?xml version="1.0" encoding="UTF-8" standalone="yes"?>
<Relationships xmlns="http://schemas.openxmlformats.org/package/2006/relationships"><Relationship Id="rId8" Type="http://schemas.openxmlformats.org/officeDocument/2006/relationships/image" Target="../media/image520.png"/><Relationship Id="rId3" Type="http://schemas.openxmlformats.org/officeDocument/2006/relationships/image" Target="../media/image47.png"/><Relationship Id="rId7" Type="http://schemas.openxmlformats.org/officeDocument/2006/relationships/image" Target="../media/image510.png"/><Relationship Id="rId12"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500.png"/><Relationship Id="rId11" Type="http://schemas.openxmlformats.org/officeDocument/2006/relationships/image" Target="../media/image55.png"/><Relationship Id="rId5" Type="http://schemas.openxmlformats.org/officeDocument/2006/relationships/image" Target="../media/image490.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6.png"/></Relationships>
</file>

<file path=ppt/slides/_rels/slide50.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1.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s>
</file>

<file path=ppt/slides/_rels/slide5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94.png"/><Relationship Id="rId4" Type="http://schemas.openxmlformats.org/officeDocument/2006/relationships/image" Target="../media/image93.png"/></Relationships>
</file>

<file path=ppt/slides/_rels/slide53.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54.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chor="ctr"/>
          <a:lstStyle/>
          <a:p>
            <a:pPr marL="0" lvl="1" indent="0" algn="ctr" fontAlgn="base">
              <a:lnSpc>
                <a:spcPct val="100000"/>
              </a:lnSpc>
              <a:spcBef>
                <a:spcPct val="0"/>
              </a:spcBef>
              <a:buClrTx/>
              <a:buSzTx/>
              <a:buNone/>
              <a:tabLst>
                <a:tab pos="1766888" algn="l"/>
              </a:tabLst>
            </a:pPr>
            <a:r>
              <a:rPr kumimoji="1" lang="zh-TW" altLang="en-US" sz="3600" dirty="0">
                <a:solidFill>
                  <a:schemeClr val="tx1"/>
                </a:solidFill>
                <a:cs typeface="+mj-cs"/>
              </a:rPr>
              <a:t>第二部分　質點的曲線運動</a:t>
            </a:r>
          </a:p>
        </p:txBody>
      </p:sp>
      <p:pic>
        <p:nvPicPr>
          <p:cNvPr id="5" name="圖片 4" descr="The image depicts a QR code being scanned on a mobile phone.&#10;&#10;AI 產生的內容可能不正確。">
            <a:extLst>
              <a:ext uri="{FF2B5EF4-FFF2-40B4-BE49-F238E27FC236}">
                <a16:creationId xmlns:a16="http://schemas.microsoft.com/office/drawing/2014/main" id="{451DE977-74D4-C5FB-EB63-546EBDB2AF78}"/>
              </a:ext>
            </a:extLst>
          </p:cNvPr>
          <p:cNvPicPr>
            <a:picLocks noChangeAspect="1"/>
          </p:cNvPicPr>
          <p:nvPr/>
        </p:nvPicPr>
        <p:blipFill>
          <a:blip r:embed="rId2"/>
          <a:stretch>
            <a:fillRect/>
          </a:stretch>
        </p:blipFill>
        <p:spPr>
          <a:xfrm>
            <a:off x="3875696" y="3412222"/>
            <a:ext cx="1392607" cy="1418060"/>
          </a:xfrm>
          <a:prstGeom prst="rect">
            <a:avLst/>
          </a:prstGeom>
        </p:spPr>
      </p:pic>
      <p:sp>
        <p:nvSpPr>
          <p:cNvPr id="7" name="文字方塊 6">
            <a:extLst>
              <a:ext uri="{FF2B5EF4-FFF2-40B4-BE49-F238E27FC236}">
                <a16:creationId xmlns:a16="http://schemas.microsoft.com/office/drawing/2014/main" id="{337E98E4-BEEE-4BB1-4461-55B91D422AD5}"/>
              </a:ext>
            </a:extLst>
          </p:cNvPr>
          <p:cNvSpPr txBox="1"/>
          <p:nvPr/>
        </p:nvSpPr>
        <p:spPr>
          <a:xfrm>
            <a:off x="5321731" y="4460950"/>
            <a:ext cx="4599122" cy="369332"/>
          </a:xfrm>
          <a:prstGeom prst="rect">
            <a:avLst/>
          </a:prstGeom>
          <a:noFill/>
        </p:spPr>
        <p:txBody>
          <a:bodyPr wrap="square">
            <a:spAutoFit/>
          </a:bodyPr>
          <a:lstStyle/>
          <a:p>
            <a:r>
              <a:rPr lang="zh-TW" altLang="en-US" dirty="0"/>
              <a:t>https://tfc02106-cpu.github.io/QQ/</a:t>
            </a:r>
          </a:p>
        </p:txBody>
      </p:sp>
    </p:spTree>
    <p:extLst>
      <p:ext uri="{BB962C8B-B14F-4D97-AF65-F5344CB8AC3E}">
        <p14:creationId xmlns:p14="http://schemas.microsoft.com/office/powerpoint/2010/main" val="17142543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第二部分</a:t>
            </a:r>
            <a:r>
              <a:rPr lang="zh-TW" altLang="en-US" sz="2800" b="0" i="0" dirty="0">
                <a:solidFill>
                  <a:srgbClr val="1F8899"/>
                </a:solidFill>
                <a:latin typeface="Arial"/>
                <a:ea typeface="微軟正黑體"/>
                <a:cs typeface="Times New Roman"/>
              </a:rPr>
              <a:t>　從直線走到曲線</a:t>
            </a:r>
            <a:endParaRPr lang="zh-TW" sz="3200" dirty="0"/>
          </a:p>
        </p:txBody>
      </p:sp>
      <p:sp>
        <p:nvSpPr>
          <p:cNvPr id="250" name="Text"/>
          <p:cNvSpPr txBox="1"/>
          <p:nvPr/>
        </p:nvSpPr>
        <p:spPr>
          <a:xfrm>
            <a:off x="365760" y="1051560"/>
            <a:ext cx="7955280" cy="310896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前面三節的路徑是直線，方向只有正負兩種</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曲線運動的方向一直在變，必須用向量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highlight>
                  <a:srgbClr val="FFFF00"/>
                </a:highlight>
                <a:latin typeface="Times New Roman"/>
                <a:ea typeface="微軟正黑體"/>
                <a:cs typeface="Times New Roman"/>
              </a:rPr>
              <a:t>位置改用位置向量 r，位移是 Δr，不是 Δs</a:t>
            </a:r>
            <a:endParaRPr lang="zh-TW" sz="2400" dirty="0">
              <a:highlight>
                <a:srgbClr val="FFFF00"/>
              </a:highlight>
            </a:endParaRPr>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highlight>
                  <a:srgbClr val="FFFF00"/>
                </a:highlight>
                <a:latin typeface="Times New Roman"/>
                <a:ea typeface="微軟正黑體"/>
                <a:cs typeface="Times New Roman"/>
              </a:rPr>
              <a:t>速度永遠與路徑相切</a:t>
            </a:r>
            <a:r>
              <a:rPr lang="zh-TW" altLang="en-US" sz="2400" b="0" i="0" dirty="0">
                <a:solidFill>
                  <a:srgbClr val="333333"/>
                </a:solidFill>
                <a:latin typeface="Times New Roman"/>
                <a:ea typeface="微軟正黑體"/>
                <a:cs typeface="Times New Roman"/>
              </a:rPr>
              <a:t>；加速度不一定</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2-5 之後會換不同座標系，但定義完全相同</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0">
                                            <p:txEl>
                                              <p:pRg st="4" end="4"/>
                                            </p:txEl>
                                          </p:spTgt>
                                        </p:tgtEl>
                                        <p:attrNameLst>
                                          <p:attrName>style.visibility</p:attrName>
                                        </p:attrNameLst>
                                      </p:cBhvr>
                                      <p:to>
                                        <p:strVal val="visible"/>
                                      </p:to>
                                    </p:set>
                                    <p:animEffect transition="in" filter="fade">
                                      <p:cBhvr>
                                        <p:cTn id="27" dur="400"/>
                                        <p:tgtEl>
                                          <p:spTgt spid="2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lnSpc>
                <a:spcPct val="100000"/>
              </a:lnSpc>
            </a:pPr>
            <a:r>
              <a:rPr lang="zh-TW" altLang="en-US" sz="3600" dirty="0">
                <a:solidFill>
                  <a:srgbClr val="2399AD"/>
                </a:solidFill>
              </a:rPr>
              <a:t>學習重點</a:t>
            </a:r>
            <a:endParaRPr lang="zh-TW" altLang="en-US" sz="3600" dirty="0">
              <a:solidFill>
                <a:srgbClr val="2399AD"/>
              </a:solidFill>
              <a:latin typeface="Arial" pitchFamily="34" charset="0"/>
              <a:cs typeface="+mj-cs"/>
            </a:endParaRPr>
          </a:p>
        </p:txBody>
      </p:sp>
      <p:sp>
        <p:nvSpPr>
          <p:cNvPr id="3" name="內容版面配置區 2"/>
          <p:cNvSpPr>
            <a:spLocks noGrp="1"/>
          </p:cNvSpPr>
          <p:nvPr>
            <p:ph idx="1"/>
          </p:nvPr>
        </p:nvSpPr>
        <p:spPr/>
        <p:txBody>
          <a:bodyPr/>
          <a:lstStyle/>
          <a:p>
            <a:pPr marL="0" lvl="1" indent="698500" fontAlgn="base">
              <a:lnSpc>
                <a:spcPct val="100000"/>
              </a:lnSpc>
              <a:buClr>
                <a:srgbClr val="1F8899"/>
              </a:buClr>
              <a:buNone/>
              <a:tabLst>
                <a:tab pos="1766888" algn="l"/>
              </a:tabLst>
            </a:pPr>
            <a:r>
              <a:rPr lang="zh-TW" altLang="en-US" sz="2800" b="0" dirty="0">
                <a:solidFill>
                  <a:schemeClr val="tx1"/>
                </a:solidFill>
                <a:latin typeface="+mn-lt"/>
                <a:ea typeface="+mn-ea"/>
                <a:cs typeface="+mn-cs"/>
              </a:rPr>
              <a:t>實際狀況中的質點運動大都是沿著曲線軌跡在進行，本章因而針對研究曲線運動的向量表示與各類座標系統加以探討，使學習者在面對曲線運動問題時，可以依需要選用適當的座標系統，除了可以簡化運算過程，並得以明確描述物體的實際運動狀態，達成有效學習的目標。</a:t>
            </a:r>
          </a:p>
        </p:txBody>
      </p:sp>
    </p:spTree>
    <p:extLst>
      <p:ext uri="{BB962C8B-B14F-4D97-AF65-F5344CB8AC3E}">
        <p14:creationId xmlns:p14="http://schemas.microsoft.com/office/powerpoint/2010/main" val="19985149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lnSpc>
                <a:spcPct val="100000"/>
              </a:lnSpc>
            </a:pPr>
            <a:endParaRPr lang="zh-TW" altLang="en-US" sz="3600" dirty="0">
              <a:solidFill>
                <a:srgbClr val="2399AD"/>
              </a:solidFill>
              <a:latin typeface="Arial" pitchFamily="34" charset="0"/>
              <a:cs typeface="+mj-cs"/>
            </a:endParaRPr>
          </a:p>
        </p:txBody>
      </p:sp>
      <p:pic>
        <p:nvPicPr>
          <p:cNvPr id="1259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1620" y="1115537"/>
            <a:ext cx="6596037" cy="36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35451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E4B1E27-EC18-EA98-8550-9ED148B5AB34}"/>
              </a:ext>
            </a:extLst>
          </p:cNvPr>
          <p:cNvSpPr>
            <a:spLocks noGrp="1" noChangeArrowheads="1"/>
          </p:cNvSpPr>
          <p:nvPr>
            <p:ph type="title"/>
          </p:nvPr>
        </p:nvSpPr>
        <p:spPr/>
        <p:txBody>
          <a:bodyPr/>
          <a:lstStyle/>
          <a:p>
            <a:pPr eaLnBrk="1" hangingPunct="1"/>
            <a:r>
              <a:rPr lang="zh-TW" altLang="en-US" dirty="0"/>
              <a:t>本章提要</a:t>
            </a:r>
            <a:endParaRPr lang="zh-TW" altLang="zh-TW" dirty="0"/>
          </a:p>
        </p:txBody>
      </p:sp>
      <p:sp>
        <p:nvSpPr>
          <p:cNvPr id="26627" name="Rectangle 3">
            <a:extLst>
              <a:ext uri="{FF2B5EF4-FFF2-40B4-BE49-F238E27FC236}">
                <a16:creationId xmlns:a16="http://schemas.microsoft.com/office/drawing/2014/main" id="{5A0F3D3F-77E4-E43D-CCA8-370C1C271A39}"/>
              </a:ext>
            </a:extLst>
          </p:cNvPr>
          <p:cNvSpPr>
            <a:spLocks noGrp="1" noChangeArrowheads="1"/>
          </p:cNvSpPr>
          <p:nvPr>
            <p:ph type="body" idx="1"/>
          </p:nvPr>
        </p:nvSpPr>
        <p:spPr/>
        <p:txBody>
          <a:bodyPr/>
          <a:lstStyle/>
          <a:p>
            <a:pPr marL="0" lvl="1" indent="698500" fontAlgn="base">
              <a:lnSpc>
                <a:spcPct val="100000"/>
              </a:lnSpc>
              <a:buClr>
                <a:srgbClr val="1F8899"/>
              </a:buClr>
              <a:buNone/>
              <a:tabLst>
                <a:tab pos="1766888" algn="l"/>
              </a:tabLst>
            </a:pPr>
            <a:r>
              <a:rPr lang="zh-TW" altLang="zh-TW" sz="2800" b="0" dirty="0">
                <a:solidFill>
                  <a:schemeClr val="tx1"/>
                </a:solidFill>
                <a:latin typeface="+mn-lt"/>
                <a:ea typeface="+mn-ea"/>
                <a:cs typeface="+mn-cs"/>
              </a:rPr>
              <a:t>質點運動中，絕大多數情況是以曲線軌跡來進行，譬如月球之繞地球運轉，棒球員之投擲棒球，兵士之發射大砲等等。描述物體的曲線運動相較於直線運動要複雜一些，尤其是以直角座標來描述曲線運動，往往具有極大的困難度。為了解決這個問題，包含極座標、圓柱座標等不同的座標系統，被適當的運用於曲線運動的研究中，使問題因而得以簡化。</a:t>
            </a:r>
          </a:p>
        </p:txBody>
      </p:sp>
    </p:spTree>
    <p:extLst>
      <p:ext uri="{BB962C8B-B14F-4D97-AF65-F5344CB8AC3E}">
        <p14:creationId xmlns:p14="http://schemas.microsoft.com/office/powerpoint/2010/main" val="864306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lvl="1">
              <a:lnSpc>
                <a:spcPct val="100000"/>
              </a:lnSpc>
            </a:pPr>
            <a:r>
              <a:rPr lang="en-US" altLang="zh-TW" sz="3600" dirty="0">
                <a:solidFill>
                  <a:srgbClr val="2399AD"/>
                </a:solidFill>
              </a:rPr>
              <a:t>2-4</a:t>
            </a:r>
            <a:r>
              <a:rPr lang="zh-TW" altLang="en-US" sz="3600" dirty="0">
                <a:solidFill>
                  <a:srgbClr val="2399AD"/>
                </a:solidFill>
              </a:rPr>
              <a:t>　曲線運動的向量表示　</a:t>
            </a:r>
          </a:p>
        </p:txBody>
      </p:sp>
      <p:pic>
        <p:nvPicPr>
          <p:cNvPr id="68611" name="Picture 3"/>
          <p:cNvPicPr>
            <a:picLocks noGrp="1" noChangeAspect="1" noChangeArrowheads="1"/>
          </p:cNvPicPr>
          <p:nvPr>
            <p:ph sz="quarter" idx="10"/>
          </p:nvPr>
        </p:nvPicPr>
        <p:blipFill rotWithShape="1">
          <a:blip r:embed="rId2">
            <a:extLst>
              <a:ext uri="{28A0092B-C50C-407E-A947-70E740481C1C}">
                <a14:useLocalDpi xmlns:a14="http://schemas.microsoft.com/office/drawing/2010/main" val="0"/>
              </a:ext>
            </a:extLst>
          </a:blip>
          <a:srcRect b="53548"/>
          <a:stretch/>
        </p:blipFill>
        <p:spPr bwMode="auto">
          <a:xfrm>
            <a:off x="1136887" y="1794113"/>
            <a:ext cx="3137154" cy="2417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50000" b="-100"/>
          <a:stretch/>
        </p:blipFill>
        <p:spPr bwMode="auto">
          <a:xfrm>
            <a:off x="4414340" y="1635759"/>
            <a:ext cx="3137154" cy="2607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86091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2-4 位置與位移</a:t>
            </a:r>
            <a:r>
              <a:rPr lang="zh-TW" altLang="en-US" sz="2800" b="0" i="0" dirty="0">
                <a:solidFill>
                  <a:srgbClr val="1F8899"/>
                </a:solidFill>
                <a:latin typeface="Arial"/>
                <a:ea typeface="微軟正黑體"/>
                <a:cs typeface="Times New Roman"/>
              </a:rPr>
              <a:t>　向量 Δr 不等於路徑長 Δs</a:t>
            </a:r>
            <a:endParaRPr lang="zh-TW" sz="3200" dirty="0"/>
          </a:p>
        </p:txBody>
      </p:sp>
      <p:sp>
        <p:nvSpPr>
          <p:cNvPr id="250" name="Text"/>
          <p:cNvSpPr txBox="1"/>
          <p:nvPr/>
        </p:nvSpPr>
        <p:spPr>
          <a:xfrm>
            <a:off x="365760" y="1005840"/>
            <a:ext cx="4928616" cy="292608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位置向量 r：從原點 O 指到質點</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位移 Δr = r′ − r，是向量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路徑長 Δs 沿著曲線量，是純量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只有直線不折返時兩者大小才相等</a:t>
            </a:r>
            <a:endParaRPr lang="zh-TW" sz="2400" dirty="0"/>
          </a:p>
        </p:txBody>
      </p:sp>
      <p:sp>
        <p:nvSpPr>
          <p:cNvPr id="701" name="Curve"/>
          <p:cNvSpPr/>
          <p:nvPr/>
        </p:nvSpPr>
        <p:spPr>
          <a:xfrm>
            <a:off x="5120640" y="1938528"/>
            <a:ext cx="2606040" cy="1810512"/>
          </a:xfrm>
          <a:custGeom>
            <a:avLst/>
            <a:gdLst/>
            <a:ahLst/>
            <a:cxnLst/>
            <a:rect l="0" t="0" r="r" b="b"/>
            <a:pathLst>
              <a:path w="2606040" h="1810512">
                <a:moveTo>
                  <a:pt x="0" y="1810512"/>
                </a:moveTo>
                <a:lnTo>
                  <a:pt x="93073" y="1709007"/>
                </a:lnTo>
                <a:lnTo>
                  <a:pt x="186146" y="1610230"/>
                </a:lnTo>
                <a:lnTo>
                  <a:pt x="279219" y="1514183"/>
                </a:lnTo>
                <a:lnTo>
                  <a:pt x="372291" y="1420866"/>
                </a:lnTo>
                <a:lnTo>
                  <a:pt x="465364" y="1330277"/>
                </a:lnTo>
                <a:lnTo>
                  <a:pt x="558437" y="1242418"/>
                </a:lnTo>
                <a:lnTo>
                  <a:pt x="651510" y="1157288"/>
                </a:lnTo>
                <a:lnTo>
                  <a:pt x="744583" y="1074887"/>
                </a:lnTo>
                <a:lnTo>
                  <a:pt x="837656" y="995215"/>
                </a:lnTo>
                <a:lnTo>
                  <a:pt x="930729" y="918272"/>
                </a:lnTo>
                <a:lnTo>
                  <a:pt x="1023801" y="844059"/>
                </a:lnTo>
                <a:lnTo>
                  <a:pt x="1116874" y="772575"/>
                </a:lnTo>
                <a:lnTo>
                  <a:pt x="1209947" y="703820"/>
                </a:lnTo>
                <a:lnTo>
                  <a:pt x="1303020" y="637794"/>
                </a:lnTo>
                <a:lnTo>
                  <a:pt x="1396093" y="574497"/>
                </a:lnTo>
                <a:lnTo>
                  <a:pt x="1489166" y="513930"/>
                </a:lnTo>
                <a:lnTo>
                  <a:pt x="1582239" y="456092"/>
                </a:lnTo>
                <a:lnTo>
                  <a:pt x="1675311" y="400983"/>
                </a:lnTo>
                <a:lnTo>
                  <a:pt x="1768384" y="348603"/>
                </a:lnTo>
                <a:lnTo>
                  <a:pt x="1861457" y="298953"/>
                </a:lnTo>
                <a:lnTo>
                  <a:pt x="1954530" y="252032"/>
                </a:lnTo>
                <a:lnTo>
                  <a:pt x="2047603" y="207839"/>
                </a:lnTo>
                <a:lnTo>
                  <a:pt x="2140676" y="166376"/>
                </a:lnTo>
                <a:lnTo>
                  <a:pt x="2233749" y="127643"/>
                </a:lnTo>
                <a:lnTo>
                  <a:pt x="2326821" y="91638"/>
                </a:lnTo>
                <a:lnTo>
                  <a:pt x="2419894" y="58363"/>
                </a:lnTo>
                <a:lnTo>
                  <a:pt x="2512967" y="27817"/>
                </a:lnTo>
                <a:lnTo>
                  <a:pt x="2606040" y="0"/>
                </a:lnTo>
              </a:path>
            </a:pathLst>
          </a:custGeom>
          <a:noFill/>
          <a:ln w="19050">
            <a:solidFill>
              <a:srgbClr val="808080"/>
            </a:solidFill>
            <a:round/>
          </a:ln>
        </p:spPr>
        <p:txBody>
          <a:bodyPr/>
          <a:lstStyle/>
          <a:p>
            <a:endParaRPr lang="zh-TW"/>
          </a:p>
        </p:txBody>
      </p:sp>
      <p:cxnSp>
        <p:nvCxnSpPr>
          <p:cNvPr id="702" name="Line"/>
          <p:cNvCxnSpPr/>
          <p:nvPr/>
        </p:nvCxnSpPr>
        <p:spPr>
          <a:xfrm flipV="1">
            <a:off x="4709160" y="3215762"/>
            <a:ext cx="932688" cy="944758"/>
          </a:xfrm>
          <a:prstGeom prst="line">
            <a:avLst/>
          </a:prstGeom>
          <a:ln w="22225">
            <a:solidFill>
              <a:srgbClr val="1F8899"/>
            </a:solidFill>
            <a:tailEnd type="triangle" w="med" len="med"/>
          </a:ln>
        </p:spPr>
      </p:cxnSp>
      <p:cxnSp>
        <p:nvCxnSpPr>
          <p:cNvPr id="703" name="Line"/>
          <p:cNvCxnSpPr/>
          <p:nvPr/>
        </p:nvCxnSpPr>
        <p:spPr>
          <a:xfrm flipV="1">
            <a:off x="4709160" y="2056303"/>
            <a:ext cx="2670048" cy="2104217"/>
          </a:xfrm>
          <a:prstGeom prst="line">
            <a:avLst/>
          </a:prstGeom>
          <a:ln w="22225">
            <a:solidFill>
              <a:srgbClr val="1F8899"/>
            </a:solidFill>
            <a:tailEnd type="triangle" w="med" len="med"/>
          </a:ln>
        </p:spPr>
      </p:cxnSp>
      <p:cxnSp>
        <p:nvCxnSpPr>
          <p:cNvPr id="704" name="Line"/>
          <p:cNvCxnSpPr/>
          <p:nvPr/>
        </p:nvCxnSpPr>
        <p:spPr>
          <a:xfrm flipV="1">
            <a:off x="5641848" y="2056303"/>
            <a:ext cx="1737360" cy="1159459"/>
          </a:xfrm>
          <a:prstGeom prst="line">
            <a:avLst/>
          </a:prstGeom>
          <a:ln w="25400">
            <a:solidFill>
              <a:srgbClr val="D6006F"/>
            </a:solidFill>
            <a:tailEnd type="triangle" w="med" len="med"/>
          </a:ln>
        </p:spPr>
      </p:cxnSp>
      <p:sp>
        <p:nvSpPr>
          <p:cNvPr id="10" name="Shape"/>
          <p:cNvSpPr/>
          <p:nvPr/>
        </p:nvSpPr>
        <p:spPr>
          <a:xfrm>
            <a:off x="4658868" y="4110228"/>
            <a:ext cx="100584" cy="100584"/>
          </a:xfrm>
          <a:prstGeom prst="ellipse">
            <a:avLst/>
          </a:prstGeom>
          <a:solidFill>
            <a:srgbClr val="333333"/>
          </a:solidFill>
          <a:ln>
            <a:noFill/>
          </a:ln>
        </p:spPr>
        <p:txBody>
          <a:bodyPr/>
          <a:lstStyle/>
          <a:p>
            <a:endParaRPr lang="zh-TW"/>
          </a:p>
        </p:txBody>
      </p:sp>
      <p:sp>
        <p:nvSpPr>
          <p:cNvPr id="3" name="Shape"/>
          <p:cNvSpPr/>
          <p:nvPr/>
        </p:nvSpPr>
        <p:spPr>
          <a:xfrm>
            <a:off x="5596128" y="3170042"/>
            <a:ext cx="91440" cy="91440"/>
          </a:xfrm>
          <a:prstGeom prst="ellipse">
            <a:avLst/>
          </a:prstGeom>
          <a:solidFill>
            <a:srgbClr val="333333"/>
          </a:solidFill>
          <a:ln>
            <a:noFill/>
          </a:ln>
        </p:spPr>
        <p:txBody>
          <a:bodyPr/>
          <a:lstStyle/>
          <a:p>
            <a:endParaRPr lang="zh-TW"/>
          </a:p>
        </p:txBody>
      </p:sp>
      <p:sp>
        <p:nvSpPr>
          <p:cNvPr id="4" name="Shape"/>
          <p:cNvSpPr/>
          <p:nvPr/>
        </p:nvSpPr>
        <p:spPr>
          <a:xfrm>
            <a:off x="7333488" y="2010583"/>
            <a:ext cx="91440" cy="91440"/>
          </a:xfrm>
          <a:prstGeom prst="ellipse">
            <a:avLst/>
          </a:prstGeom>
          <a:solidFill>
            <a:srgbClr val="333333"/>
          </a:solidFill>
          <a:ln>
            <a:noFill/>
          </a:ln>
        </p:spPr>
        <p:txBody>
          <a:bodyPr/>
          <a:lstStyle/>
          <a:p>
            <a:endParaRPr lang="zh-TW"/>
          </a:p>
        </p:txBody>
      </p:sp>
      <p:sp>
        <p:nvSpPr>
          <p:cNvPr id="5" name="Text"/>
          <p:cNvSpPr txBox="1"/>
          <p:nvPr/>
        </p:nvSpPr>
        <p:spPr>
          <a:xfrm>
            <a:off x="4370832" y="4169664"/>
            <a:ext cx="36576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0" i="1" dirty="0">
                <a:solidFill>
                  <a:srgbClr val="333333"/>
                </a:solidFill>
                <a:latin typeface="Times New Roman"/>
                <a:ea typeface="微軟正黑體"/>
                <a:cs typeface="Times New Roman"/>
              </a:rPr>
              <a:t>O</a:t>
            </a:r>
            <a:endParaRPr lang="zh-TW" sz="2300" dirty="0"/>
          </a:p>
        </p:txBody>
      </p:sp>
      <p:sp>
        <p:nvSpPr>
          <p:cNvPr id="6" name="Text"/>
          <p:cNvSpPr txBox="1"/>
          <p:nvPr/>
        </p:nvSpPr>
        <p:spPr>
          <a:xfrm>
            <a:off x="4846320" y="3511296"/>
            <a:ext cx="36576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1" dirty="0">
                <a:solidFill>
                  <a:srgbClr val="1F8899"/>
                </a:solidFill>
                <a:latin typeface="Times New Roman"/>
                <a:ea typeface="微軟正黑體"/>
                <a:cs typeface="Times New Roman"/>
              </a:rPr>
              <a:t>r</a:t>
            </a:r>
            <a:endParaRPr lang="zh-TW" sz="2300" dirty="0"/>
          </a:p>
        </p:txBody>
      </p:sp>
      <p:sp>
        <p:nvSpPr>
          <p:cNvPr id="7" name="Text"/>
          <p:cNvSpPr txBox="1"/>
          <p:nvPr/>
        </p:nvSpPr>
        <p:spPr>
          <a:xfrm>
            <a:off x="6089904" y="3273552"/>
            <a:ext cx="45720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1" dirty="0">
                <a:solidFill>
                  <a:srgbClr val="1F8899"/>
                </a:solidFill>
                <a:latin typeface="Times New Roman"/>
                <a:ea typeface="微軟正黑體"/>
                <a:cs typeface="Times New Roman"/>
              </a:rPr>
              <a:t>r′</a:t>
            </a:r>
            <a:endParaRPr lang="zh-TW" sz="2300" dirty="0"/>
          </a:p>
        </p:txBody>
      </p:sp>
      <p:sp>
        <p:nvSpPr>
          <p:cNvPr id="8" name="Text"/>
          <p:cNvSpPr txBox="1"/>
          <p:nvPr/>
        </p:nvSpPr>
        <p:spPr>
          <a:xfrm>
            <a:off x="6693408" y="2761488"/>
            <a:ext cx="54864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0" dirty="0">
                <a:solidFill>
                  <a:srgbClr val="D6006F"/>
                </a:solidFill>
                <a:latin typeface="Times New Roman"/>
                <a:ea typeface="微軟正黑體"/>
                <a:cs typeface="Times New Roman"/>
              </a:rPr>
              <a:t>Δr</a:t>
            </a:r>
            <a:endParaRPr lang="zh-TW" sz="2300" dirty="0"/>
          </a:p>
        </p:txBody>
      </p:sp>
      <p:sp>
        <p:nvSpPr>
          <p:cNvPr id="9" name="Text"/>
          <p:cNvSpPr txBox="1"/>
          <p:nvPr/>
        </p:nvSpPr>
        <p:spPr>
          <a:xfrm>
            <a:off x="6144768" y="2194560"/>
            <a:ext cx="548640" cy="310896"/>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300" b="1" i="0" dirty="0">
                <a:solidFill>
                  <a:srgbClr val="808080"/>
                </a:solidFill>
                <a:latin typeface="Times New Roman"/>
                <a:ea typeface="微軟正黑體"/>
                <a:cs typeface="Times New Roman"/>
              </a:rPr>
              <a:t>Δs</a:t>
            </a:r>
            <a:endParaRPr lang="zh-TW"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01"/>
                                        </p:tgtEl>
                                        <p:attrNameLst>
                                          <p:attrName>style.visibility</p:attrName>
                                        </p:attrNameLst>
                                      </p:cBhvr>
                                      <p:to>
                                        <p:strVal val="visible"/>
                                      </p:to>
                                    </p:set>
                                    <p:animEffect transition="in" filter="wipe(right)">
                                      <p:cBhvr>
                                        <p:cTn id="27" dur="900"/>
                                        <p:tgtEl>
                                          <p:spTgt spid="70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02"/>
                                        </p:tgtEl>
                                        <p:attrNameLst>
                                          <p:attrName>style.visibility</p:attrName>
                                        </p:attrNameLst>
                                      </p:cBhvr>
                                      <p:to>
                                        <p:strVal val="visible"/>
                                      </p:to>
                                    </p:set>
                                    <p:animEffect transition="in" filter="fade">
                                      <p:cBhvr>
                                        <p:cTn id="32" dur="350"/>
                                        <p:tgtEl>
                                          <p:spTgt spid="702"/>
                                        </p:tgtEl>
                                      </p:cBhvr>
                                    </p:animEffect>
                                  </p:childTnLst>
                                </p:cTn>
                              </p:par>
                              <p:par>
                                <p:cTn id="33" presetID="10" presetClass="entr" presetSubtype="0" fill="hold" nodeType="afterEffect">
                                  <p:stCondLst>
                                    <p:cond delay="180"/>
                                  </p:stCondLst>
                                  <p:childTnLst>
                                    <p:set>
                                      <p:cBhvr>
                                        <p:cTn id="34" dur="1" fill="hold">
                                          <p:stCondLst>
                                            <p:cond delay="0"/>
                                          </p:stCondLst>
                                        </p:cTn>
                                        <p:tgtEl>
                                          <p:spTgt spid="703"/>
                                        </p:tgtEl>
                                        <p:attrNameLst>
                                          <p:attrName>style.visibility</p:attrName>
                                        </p:attrNameLst>
                                      </p:cBhvr>
                                      <p:to>
                                        <p:strVal val="visible"/>
                                      </p:to>
                                    </p:set>
                                    <p:animEffect transition="in" filter="fade">
                                      <p:cBhvr>
                                        <p:cTn id="35" dur="350"/>
                                        <p:tgtEl>
                                          <p:spTgt spid="70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04"/>
                                        </p:tgtEl>
                                        <p:attrNameLst>
                                          <p:attrName>style.visibility</p:attrName>
                                        </p:attrNameLst>
                                      </p:cBhvr>
                                      <p:to>
                                        <p:strVal val="visible"/>
                                      </p:to>
                                    </p:set>
                                    <p:animEffect transition="in" filter="fade">
                                      <p:cBhvr>
                                        <p:cTn id="40" dur="400"/>
                                        <p:tgtEl>
                                          <p:spTgt spid="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The image shows a comparison between linear and curvilinear motion, with elements like position vectors, displacement, and the distinction between distance and displacement.&#10;&#10;AI 產生的內容可能不正確。">
            <a:extLst>
              <a:ext uri="{FF2B5EF4-FFF2-40B4-BE49-F238E27FC236}">
                <a16:creationId xmlns:a16="http://schemas.microsoft.com/office/drawing/2014/main" id="{86A390BC-CAE9-D225-93BD-34D41DB68519}"/>
              </a:ext>
            </a:extLst>
          </p:cNvPr>
          <p:cNvPicPr>
            <a:picLocks noChangeAspect="1"/>
          </p:cNvPicPr>
          <p:nvPr/>
        </p:nvPicPr>
        <p:blipFill>
          <a:blip r:embed="rId2"/>
          <a:stretch>
            <a:fillRect/>
          </a:stretch>
        </p:blipFill>
        <p:spPr>
          <a:xfrm>
            <a:off x="881646" y="587776"/>
            <a:ext cx="7380707" cy="3967947"/>
          </a:xfrm>
          <a:prstGeom prst="rect">
            <a:avLst/>
          </a:prstGeom>
        </p:spPr>
      </p:pic>
    </p:spTree>
    <p:extLst>
      <p:ext uri="{BB962C8B-B14F-4D97-AF65-F5344CB8AC3E}">
        <p14:creationId xmlns:p14="http://schemas.microsoft.com/office/powerpoint/2010/main" val="1872634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文字 2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情況一：彎曲路徑（曲線運動）</a:t>
            </a:r>
          </a:p>
        </p:txBody>
      </p:sp>
      <p:sp>
        <p:nvSpPr>
          <p:cNvPr id="202" name="框 2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203" name="圖形 203"/>
          <p:cNvSpPr/>
          <p:nvPr/>
        </p:nvSpPr>
        <p:spPr>
          <a:xfrm>
            <a:off x="685800" y="1443729"/>
            <a:ext cx="4183380" cy="1831540"/>
          </a:xfrm>
          <a:custGeom>
            <a:avLst/>
            <a:gdLst/>
            <a:ahLst/>
            <a:cxnLst/>
            <a:rect l="0" t="0" r="r" b="b"/>
            <a:pathLst>
              <a:path w="5577840" h="2442053" fill="none">
                <a:moveTo>
                  <a:pt x="0" y="1942035"/>
                </a:moveTo>
                <a:lnTo>
                  <a:pt x="92964" y="1990781"/>
                </a:lnTo>
                <a:lnTo>
                  <a:pt x="185928" y="2041742"/>
                </a:lnTo>
                <a:lnTo>
                  <a:pt x="278892" y="2093817"/>
                </a:lnTo>
                <a:lnTo>
                  <a:pt x="371856" y="2145891"/>
                </a:lnTo>
                <a:lnTo>
                  <a:pt x="464820" y="2196852"/>
                </a:lnTo>
                <a:lnTo>
                  <a:pt x="557784" y="2245598"/>
                </a:lnTo>
                <a:lnTo>
                  <a:pt x="650748" y="2291060"/>
                </a:lnTo>
                <a:lnTo>
                  <a:pt x="743712" y="2332211"/>
                </a:lnTo>
                <a:lnTo>
                  <a:pt x="836676" y="2368081"/>
                </a:lnTo>
                <a:lnTo>
                  <a:pt x="929640" y="2397771"/>
                </a:lnTo>
                <a:lnTo>
                  <a:pt x="1022604" y="2420462"/>
                </a:lnTo>
                <a:lnTo>
                  <a:pt x="1115568" y="2435431"/>
                </a:lnTo>
                <a:lnTo>
                  <a:pt x="1208532" y="2442053"/>
                </a:lnTo>
                <a:lnTo>
                  <a:pt x="1301496" y="2439818"/>
                </a:lnTo>
                <a:lnTo>
                  <a:pt x="1394460" y="2428331"/>
                </a:lnTo>
                <a:lnTo>
                  <a:pt x="1487424" y="2407320"/>
                </a:lnTo>
                <a:lnTo>
                  <a:pt x="1580388" y="2376639"/>
                </a:lnTo>
                <a:lnTo>
                  <a:pt x="1673352" y="2336270"/>
                </a:lnTo>
                <a:lnTo>
                  <a:pt x="1766316" y="2286325"/>
                </a:lnTo>
                <a:lnTo>
                  <a:pt x="1859280" y="2227041"/>
                </a:lnTo>
                <a:lnTo>
                  <a:pt x="1952244" y="2158780"/>
                </a:lnTo>
                <a:lnTo>
                  <a:pt x="2045208" y="2082023"/>
                </a:lnTo>
                <a:lnTo>
                  <a:pt x="2138172" y="1997362"/>
                </a:lnTo>
                <a:lnTo>
                  <a:pt x="2231136" y="1905495"/>
                </a:lnTo>
                <a:lnTo>
                  <a:pt x="2324100" y="1807217"/>
                </a:lnTo>
                <a:lnTo>
                  <a:pt x="2417064" y="1703405"/>
                </a:lnTo>
                <a:lnTo>
                  <a:pt x="2510028" y="1595011"/>
                </a:lnTo>
                <a:lnTo>
                  <a:pt x="2602992" y="1483048"/>
                </a:lnTo>
                <a:lnTo>
                  <a:pt x="2695956" y="1368575"/>
                </a:lnTo>
                <a:lnTo>
                  <a:pt x="2788920" y="1252686"/>
                </a:lnTo>
                <a:lnTo>
                  <a:pt x="2881884" y="1136493"/>
                </a:lnTo>
                <a:lnTo>
                  <a:pt x="2974848" y="1021110"/>
                </a:lnTo>
                <a:lnTo>
                  <a:pt x="3067812" y="907644"/>
                </a:lnTo>
                <a:lnTo>
                  <a:pt x="3160776" y="797175"/>
                </a:lnTo>
                <a:lnTo>
                  <a:pt x="3253740" y="690741"/>
                </a:lnTo>
                <a:lnTo>
                  <a:pt x="3346704" y="589331"/>
                </a:lnTo>
                <a:lnTo>
                  <a:pt x="3439668" y="493863"/>
                </a:lnTo>
                <a:lnTo>
                  <a:pt x="3532632" y="405179"/>
                </a:lnTo>
                <a:lnTo>
                  <a:pt x="3625596" y="324030"/>
                </a:lnTo>
                <a:lnTo>
                  <a:pt x="3718560" y="251067"/>
                </a:lnTo>
                <a:lnTo>
                  <a:pt x="3811524" y="186834"/>
                </a:lnTo>
                <a:lnTo>
                  <a:pt x="3904488" y="131758"/>
                </a:lnTo>
                <a:lnTo>
                  <a:pt x="3997452" y="86144"/>
                </a:lnTo>
                <a:lnTo>
                  <a:pt x="4090416" y="50173"/>
                </a:lnTo>
                <a:lnTo>
                  <a:pt x="4183380" y="23897"/>
                </a:lnTo>
                <a:lnTo>
                  <a:pt x="4276344" y="7240"/>
                </a:lnTo>
                <a:lnTo>
                  <a:pt x="4369308" y="0"/>
                </a:lnTo>
                <a:lnTo>
                  <a:pt x="4462272" y="1847"/>
                </a:lnTo>
                <a:lnTo>
                  <a:pt x="4555236" y="12334"/>
                </a:lnTo>
                <a:lnTo>
                  <a:pt x="4648200" y="30896"/>
                </a:lnTo>
                <a:lnTo>
                  <a:pt x="4741164" y="56865"/>
                </a:lnTo>
                <a:lnTo>
                  <a:pt x="4834128" y="89470"/>
                </a:lnTo>
                <a:lnTo>
                  <a:pt x="4927092" y="127857"/>
                </a:lnTo>
                <a:lnTo>
                  <a:pt x="5020056" y="171091"/>
                </a:lnTo>
                <a:lnTo>
                  <a:pt x="5113020" y="218176"/>
                </a:lnTo>
                <a:lnTo>
                  <a:pt x="5205984" y="268063"/>
                </a:lnTo>
                <a:lnTo>
                  <a:pt x="5298948" y="319668"/>
                </a:lnTo>
                <a:lnTo>
                  <a:pt x="5391912" y="371881"/>
                </a:lnTo>
                <a:lnTo>
                  <a:pt x="5484876" y="423587"/>
                </a:lnTo>
                <a:lnTo>
                  <a:pt x="5577840" y="473676"/>
                </a:lnTo>
              </a:path>
            </a:pathLst>
          </a:custGeom>
          <a:noFill/>
          <a:ln w="32004" cap="rnd">
            <a:solidFill>
              <a:srgbClr val="9AA3B5"/>
            </a:solidFill>
          </a:ln>
        </p:spPr>
        <p:txBody>
          <a:bodyPr/>
          <a:lstStyle/>
          <a:p>
            <a:endParaRPr lang="zh-TW" altLang="en-US" sz="1350"/>
          </a:p>
        </p:txBody>
      </p:sp>
      <p:sp>
        <p:nvSpPr>
          <p:cNvPr id="204" name="圓 204"/>
          <p:cNvSpPr/>
          <p:nvPr/>
        </p:nvSpPr>
        <p:spPr>
          <a:xfrm>
            <a:off x="802386" y="4025646"/>
            <a:ext cx="109728" cy="109728"/>
          </a:xfrm>
          <a:prstGeom prst="ellipse">
            <a:avLst/>
          </a:prstGeom>
          <a:solidFill>
            <a:srgbClr val="2B3050"/>
          </a:solidFill>
          <a:ln>
            <a:noFill/>
          </a:ln>
        </p:spPr>
        <p:txBody>
          <a:bodyPr/>
          <a:lstStyle/>
          <a:p>
            <a:endParaRPr lang="zh-TW" altLang="en-US" sz="1350"/>
          </a:p>
        </p:txBody>
      </p:sp>
      <p:sp>
        <p:nvSpPr>
          <p:cNvPr id="205" name="文字 205"/>
          <p:cNvSpPr txBox="1"/>
          <p:nvPr/>
        </p:nvSpPr>
        <p:spPr>
          <a:xfrm>
            <a:off x="548640" y="397764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206" name="圓 206"/>
          <p:cNvSpPr/>
          <p:nvPr/>
        </p:nvSpPr>
        <p:spPr>
          <a:xfrm>
            <a:off x="1795424" y="3169670"/>
            <a:ext cx="123444" cy="123444"/>
          </a:xfrm>
          <a:prstGeom prst="ellipse">
            <a:avLst/>
          </a:prstGeom>
          <a:solidFill>
            <a:srgbClr val="1E2761"/>
          </a:solidFill>
          <a:ln>
            <a:noFill/>
          </a:ln>
        </p:spPr>
        <p:txBody>
          <a:bodyPr/>
          <a:lstStyle/>
          <a:p>
            <a:endParaRPr lang="zh-TW" altLang="en-US" sz="1350"/>
          </a:p>
        </p:txBody>
      </p:sp>
      <p:sp>
        <p:nvSpPr>
          <p:cNvPr id="207" name="圓 207"/>
          <p:cNvSpPr/>
          <p:nvPr/>
        </p:nvSpPr>
        <p:spPr>
          <a:xfrm>
            <a:off x="4389120" y="1510325"/>
            <a:ext cx="123444" cy="123444"/>
          </a:xfrm>
          <a:prstGeom prst="ellipse">
            <a:avLst/>
          </a:prstGeom>
          <a:solidFill>
            <a:srgbClr val="1E2761"/>
          </a:solidFill>
          <a:ln>
            <a:noFill/>
          </a:ln>
        </p:spPr>
        <p:txBody>
          <a:bodyPr/>
          <a:lstStyle/>
          <a:p>
            <a:endParaRPr lang="zh-TW" altLang="en-US" sz="1350"/>
          </a:p>
        </p:txBody>
      </p:sp>
      <p:sp>
        <p:nvSpPr>
          <p:cNvPr id="208" name="文字 208"/>
          <p:cNvSpPr txBox="1"/>
          <p:nvPr/>
        </p:nvSpPr>
        <p:spPr>
          <a:xfrm>
            <a:off x="1411376" y="2819912"/>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P₁</a:t>
            </a:r>
          </a:p>
        </p:txBody>
      </p:sp>
      <p:sp>
        <p:nvSpPr>
          <p:cNvPr id="209" name="文字 209"/>
          <p:cNvSpPr txBox="1"/>
          <p:nvPr/>
        </p:nvSpPr>
        <p:spPr>
          <a:xfrm>
            <a:off x="4485132" y="1194857"/>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P₂</a:t>
            </a:r>
          </a:p>
        </p:txBody>
      </p:sp>
      <p:sp>
        <p:nvSpPr>
          <p:cNvPr id="210" name="線 210"/>
          <p:cNvSpPr/>
          <p:nvPr/>
        </p:nvSpPr>
        <p:spPr>
          <a:xfrm flipV="1">
            <a:off x="857251" y="3231393"/>
            <a:ext cx="999896" cy="849118"/>
          </a:xfrm>
          <a:prstGeom prst="line">
            <a:avLst/>
          </a:prstGeom>
          <a:ln w="41148" cap="rnd">
            <a:solidFill>
              <a:srgbClr val="2F8F4E"/>
            </a:solidFill>
            <a:tailEnd type="triangle" w="med" len="med"/>
          </a:ln>
        </p:spPr>
        <p:txBody>
          <a:bodyPr/>
          <a:lstStyle/>
          <a:p>
            <a:endParaRPr lang="zh-TW" altLang="en-US" sz="1350"/>
          </a:p>
        </p:txBody>
      </p:sp>
      <p:sp>
        <p:nvSpPr>
          <p:cNvPr id="211" name="文字 211"/>
          <p:cNvSpPr txBox="1"/>
          <p:nvPr/>
        </p:nvSpPr>
        <p:spPr>
          <a:xfrm>
            <a:off x="945719" y="3415921"/>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212" name="圖形 212"/>
          <p:cNvSpPr/>
          <p:nvPr/>
        </p:nvSpPr>
        <p:spPr>
          <a:xfrm>
            <a:off x="1857147" y="1443575"/>
            <a:ext cx="2593696" cy="1787818"/>
          </a:xfrm>
          <a:custGeom>
            <a:avLst/>
            <a:gdLst/>
            <a:ahLst/>
            <a:cxnLst/>
            <a:rect l="0" t="0" r="r" b="b"/>
            <a:pathLst>
              <a:path w="3458261" h="2383757" fill="none">
                <a:moveTo>
                  <a:pt x="0" y="2383757"/>
                </a:moveTo>
                <a:lnTo>
                  <a:pt x="86457" y="2348326"/>
                </a:lnTo>
                <a:lnTo>
                  <a:pt x="172913" y="2304574"/>
                </a:lnTo>
                <a:lnTo>
                  <a:pt x="259370" y="2252662"/>
                </a:lnTo>
                <a:lnTo>
                  <a:pt x="345826" y="2192844"/>
                </a:lnTo>
                <a:lnTo>
                  <a:pt x="432283" y="2125463"/>
                </a:lnTo>
                <a:lnTo>
                  <a:pt x="518739" y="2050952"/>
                </a:lnTo>
                <a:lnTo>
                  <a:pt x="605196" y="1969824"/>
                </a:lnTo>
                <a:lnTo>
                  <a:pt x="691652" y="1882667"/>
                </a:lnTo>
                <a:lnTo>
                  <a:pt x="778109" y="1790139"/>
                </a:lnTo>
                <a:lnTo>
                  <a:pt x="864565" y="1692961"/>
                </a:lnTo>
                <a:lnTo>
                  <a:pt x="951022" y="1591904"/>
                </a:lnTo>
                <a:lnTo>
                  <a:pt x="1037478" y="1487787"/>
                </a:lnTo>
                <a:lnTo>
                  <a:pt x="1123935" y="1381462"/>
                </a:lnTo>
                <a:lnTo>
                  <a:pt x="1210391" y="1273806"/>
                </a:lnTo>
                <a:lnTo>
                  <a:pt x="1296848" y="1165714"/>
                </a:lnTo>
                <a:lnTo>
                  <a:pt x="1383304" y="1058082"/>
                </a:lnTo>
                <a:lnTo>
                  <a:pt x="1469761" y="951804"/>
                </a:lnTo>
                <a:lnTo>
                  <a:pt x="1556217" y="847756"/>
                </a:lnTo>
                <a:lnTo>
                  <a:pt x="1642674" y="746792"/>
                </a:lnTo>
                <a:lnTo>
                  <a:pt x="1729130" y="649726"/>
                </a:lnTo>
                <a:lnTo>
                  <a:pt x="1815587" y="557332"/>
                </a:lnTo>
                <a:lnTo>
                  <a:pt x="1902043" y="470326"/>
                </a:lnTo>
                <a:lnTo>
                  <a:pt x="1988500" y="389364"/>
                </a:lnTo>
                <a:lnTo>
                  <a:pt x="2074956" y="315035"/>
                </a:lnTo>
                <a:lnTo>
                  <a:pt x="2161413" y="247850"/>
                </a:lnTo>
                <a:lnTo>
                  <a:pt x="2247870" y="188236"/>
                </a:lnTo>
                <a:lnTo>
                  <a:pt x="2334326" y="136536"/>
                </a:lnTo>
                <a:lnTo>
                  <a:pt x="2420783" y="93002"/>
                </a:lnTo>
                <a:lnTo>
                  <a:pt x="2507239" y="57793"/>
                </a:lnTo>
                <a:lnTo>
                  <a:pt x="2593696" y="30969"/>
                </a:lnTo>
                <a:lnTo>
                  <a:pt x="2680152" y="12497"/>
                </a:lnTo>
                <a:lnTo>
                  <a:pt x="2766609" y="2249"/>
                </a:lnTo>
                <a:lnTo>
                  <a:pt x="2853065" y="0"/>
                </a:lnTo>
                <a:lnTo>
                  <a:pt x="2939522" y="5435"/>
                </a:lnTo>
                <a:lnTo>
                  <a:pt x="3025978" y="18150"/>
                </a:lnTo>
                <a:lnTo>
                  <a:pt x="3112435" y="37658"/>
                </a:lnTo>
                <a:lnTo>
                  <a:pt x="3198891" y="63394"/>
                </a:lnTo>
                <a:lnTo>
                  <a:pt x="3285348" y="94722"/>
                </a:lnTo>
                <a:lnTo>
                  <a:pt x="3371804" y="130942"/>
                </a:lnTo>
                <a:lnTo>
                  <a:pt x="3458261" y="171296"/>
                </a:lnTo>
              </a:path>
            </a:pathLst>
          </a:custGeom>
          <a:noFill/>
          <a:ln w="82296" cap="rnd">
            <a:solidFill>
              <a:srgbClr val="C8901F"/>
            </a:solidFill>
          </a:ln>
        </p:spPr>
        <p:txBody>
          <a:bodyPr/>
          <a:lstStyle/>
          <a:p>
            <a:endParaRPr lang="zh-TW" altLang="en-US" sz="1350"/>
          </a:p>
        </p:txBody>
      </p:sp>
      <p:sp>
        <p:nvSpPr>
          <p:cNvPr id="213" name="線 213"/>
          <p:cNvSpPr/>
          <p:nvPr/>
        </p:nvSpPr>
        <p:spPr>
          <a:xfrm>
            <a:off x="2571750" y="3648456"/>
            <a:ext cx="411480" cy="0"/>
          </a:xfrm>
          <a:prstGeom prst="line">
            <a:avLst/>
          </a:prstGeom>
          <a:ln w="82296" cap="rnd">
            <a:solidFill>
              <a:srgbClr val="C8901F"/>
            </a:solidFill>
          </a:ln>
        </p:spPr>
        <p:txBody>
          <a:bodyPr/>
          <a:lstStyle/>
          <a:p>
            <a:endParaRPr lang="zh-TW" altLang="en-US" sz="1350"/>
          </a:p>
        </p:txBody>
      </p:sp>
      <p:sp>
        <p:nvSpPr>
          <p:cNvPr id="214" name="文字 214"/>
          <p:cNvSpPr txBox="1"/>
          <p:nvPr/>
        </p:nvSpPr>
        <p:spPr>
          <a:xfrm>
            <a:off x="3051810" y="34975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路徑長（純量）</a:t>
            </a:r>
          </a:p>
        </p:txBody>
      </p:sp>
      <p:sp>
        <p:nvSpPr>
          <p:cNvPr id="215" name="圓 215"/>
          <p:cNvSpPr/>
          <p:nvPr/>
        </p:nvSpPr>
        <p:spPr>
          <a:xfrm>
            <a:off x="1767992" y="3142238"/>
            <a:ext cx="178308" cy="178308"/>
          </a:xfrm>
          <a:prstGeom prst="ellipse">
            <a:avLst/>
          </a:prstGeom>
          <a:solidFill>
            <a:srgbClr val="B23A28"/>
          </a:solidFill>
          <a:ln>
            <a:noFill/>
          </a:ln>
        </p:spPr>
        <p:txBody>
          <a:bodyPr/>
          <a:lstStyle/>
          <a:p>
            <a:endParaRPr lang="zh-TW" altLang="en-US" sz="1350"/>
          </a:p>
        </p:txBody>
      </p:sp>
      <p:sp>
        <p:nvSpPr>
          <p:cNvPr id="216" name="線 216"/>
          <p:cNvSpPr/>
          <p:nvPr/>
        </p:nvSpPr>
        <p:spPr>
          <a:xfrm flipV="1">
            <a:off x="857250" y="1572046"/>
            <a:ext cx="3593592" cy="2508464"/>
          </a:xfrm>
          <a:prstGeom prst="line">
            <a:avLst/>
          </a:prstGeom>
          <a:ln w="41148" cap="rnd">
            <a:solidFill>
              <a:srgbClr val="2E6FB7"/>
            </a:solidFill>
            <a:tailEnd type="triangle" w="med" len="med"/>
          </a:ln>
        </p:spPr>
        <p:txBody>
          <a:bodyPr/>
          <a:lstStyle/>
          <a:p>
            <a:endParaRPr lang="zh-TW" altLang="en-US" sz="1350"/>
          </a:p>
        </p:txBody>
      </p:sp>
      <p:sp>
        <p:nvSpPr>
          <p:cNvPr id="217" name="文字 217"/>
          <p:cNvSpPr txBox="1"/>
          <p:nvPr/>
        </p:nvSpPr>
        <p:spPr>
          <a:xfrm>
            <a:off x="2722626" y="2860568"/>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218" name="線 218"/>
          <p:cNvSpPr/>
          <p:nvPr/>
        </p:nvSpPr>
        <p:spPr>
          <a:xfrm flipV="1">
            <a:off x="1857147" y="1572047"/>
            <a:ext cx="2593696" cy="1659345"/>
          </a:xfrm>
          <a:prstGeom prst="line">
            <a:avLst/>
          </a:prstGeom>
          <a:ln w="54864" cap="rnd">
            <a:solidFill>
              <a:srgbClr val="D6006F"/>
            </a:solidFill>
            <a:tailEnd type="triangle" w="med" len="med"/>
          </a:ln>
        </p:spPr>
        <p:txBody>
          <a:bodyPr/>
          <a:lstStyle/>
          <a:p>
            <a:endParaRPr lang="zh-TW" altLang="en-US" sz="1350"/>
          </a:p>
        </p:txBody>
      </p:sp>
      <p:sp>
        <p:nvSpPr>
          <p:cNvPr id="219" name="線 219"/>
          <p:cNvSpPr/>
          <p:nvPr/>
        </p:nvSpPr>
        <p:spPr>
          <a:xfrm>
            <a:off x="2571750" y="3991356"/>
            <a:ext cx="411480" cy="0"/>
          </a:xfrm>
          <a:prstGeom prst="line">
            <a:avLst/>
          </a:prstGeom>
          <a:ln w="54864" cap="rnd">
            <a:solidFill>
              <a:srgbClr val="D6006F"/>
            </a:solidFill>
            <a:tailEnd type="triangle" w="med" len="med"/>
          </a:ln>
        </p:spPr>
        <p:txBody>
          <a:bodyPr/>
          <a:lstStyle/>
          <a:p>
            <a:endParaRPr lang="zh-TW" altLang="en-US" sz="1350"/>
          </a:p>
        </p:txBody>
      </p:sp>
      <p:sp>
        <p:nvSpPr>
          <p:cNvPr id="220" name="文字 220"/>
          <p:cNvSpPr txBox="1"/>
          <p:nvPr/>
        </p:nvSpPr>
        <p:spPr>
          <a:xfrm>
            <a:off x="3051810" y="38404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位移（向量）</a:t>
            </a:r>
          </a:p>
        </p:txBody>
      </p:sp>
      <p:sp>
        <p:nvSpPr>
          <p:cNvPr id="221" name="圓 221"/>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222" name="文字 222"/>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位置向量 r：從 O 指到質點</a:t>
            </a:r>
          </a:p>
        </p:txBody>
      </p:sp>
      <p:sp>
        <p:nvSpPr>
          <p:cNvPr id="223" name="圓 223"/>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224" name="文字 224"/>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r′ − r：向量</a:t>
            </a:r>
          </a:p>
        </p:txBody>
      </p:sp>
      <p:sp>
        <p:nvSpPr>
          <p:cNvPr id="225" name="圓 225"/>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226" name="文字 226"/>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Δs：沿曲線量，純量</a:t>
            </a:r>
          </a:p>
        </p:txBody>
      </p:sp>
      <p:sp>
        <p:nvSpPr>
          <p:cNvPr id="227" name="框 227"/>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228" name="文字 228"/>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229" name="文字 229"/>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彎曲的路一定比直線長</a:t>
            </a:r>
          </a:p>
        </p:txBody>
      </p:sp>
      <p:sp>
        <p:nvSpPr>
          <p:cNvPr id="230" name="文字 230"/>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500"/>
                                        <p:tgtEl>
                                          <p:spTgt spid="2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
                                        </p:tgtEl>
                                        <p:attrNameLst>
                                          <p:attrName>style.visibility</p:attrName>
                                        </p:attrNameLst>
                                      </p:cBhvr>
                                      <p:to>
                                        <p:strVal val="visible"/>
                                      </p:to>
                                    </p:set>
                                    <p:animEffect transition="in" filter="fade">
                                      <p:cBhvr>
                                        <p:cTn id="10" dur="500"/>
                                        <p:tgtEl>
                                          <p:spTgt spid="2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1"/>
                                        </p:tgtEl>
                                        <p:attrNameLst>
                                          <p:attrName>style.visibility</p:attrName>
                                        </p:attrNameLst>
                                      </p:cBhvr>
                                      <p:to>
                                        <p:strVal val="visible"/>
                                      </p:to>
                                    </p:set>
                                    <p:animEffect transition="in" filter="fade">
                                      <p:cBhvr>
                                        <p:cTn id="13" dur="500"/>
                                        <p:tgtEl>
                                          <p:spTgt spid="2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2"/>
                                        </p:tgtEl>
                                        <p:attrNameLst>
                                          <p:attrName>style.visibility</p:attrName>
                                        </p:attrNameLst>
                                      </p:cBhvr>
                                      <p:to>
                                        <p:strVal val="visible"/>
                                      </p:to>
                                    </p:set>
                                    <p:animEffect transition="in" filter="fade">
                                      <p:cBhvr>
                                        <p:cTn id="16" dur="500"/>
                                        <p:tgtEl>
                                          <p:spTgt spid="2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215">
                                            <p:txEl>
                                              <p:charRg st="4294967295" end="4294967295"/>
                                            </p:txEl>
                                          </p:spTgt>
                                        </p:tgtEl>
                                        <p:attrNameLst>
                                          <p:attrName>style.visibility</p:attrName>
                                        </p:attrNameLst>
                                      </p:cBhvr>
                                      <p:to>
                                        <p:strVal val="visible"/>
                                      </p:to>
                                    </p:set>
                                    <p:animEffect transition="in" filter="fade">
                                      <p:cBhvr>
                                        <p:cTn id="21" dur="300"/>
                                        <p:tgtEl>
                                          <p:spTgt spid="21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2"/>
                                        </p:tgtEl>
                                        <p:attrNameLst>
                                          <p:attrName>style.visibility</p:attrName>
                                        </p:attrNameLst>
                                      </p:cBhvr>
                                      <p:to>
                                        <p:strVal val="visible"/>
                                      </p:to>
                                    </p:set>
                                    <p:animEffect transition="in" filter="fade">
                                      <p:cBhvr>
                                        <p:cTn id="24" dur="2500"/>
                                        <p:tgtEl>
                                          <p:spTgt spid="2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3"/>
                                        </p:tgtEl>
                                        <p:attrNameLst>
                                          <p:attrName>style.visibility</p:attrName>
                                        </p:attrNameLst>
                                      </p:cBhvr>
                                      <p:to>
                                        <p:strVal val="visible"/>
                                      </p:to>
                                    </p:set>
                                    <p:animEffect transition="in" filter="fade">
                                      <p:cBhvr>
                                        <p:cTn id="29" dur="500"/>
                                        <p:tgtEl>
                                          <p:spTgt spid="2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4"/>
                                        </p:tgtEl>
                                        <p:attrNameLst>
                                          <p:attrName>style.visibility</p:attrName>
                                        </p:attrNameLst>
                                      </p:cBhvr>
                                      <p:to>
                                        <p:strVal val="visible"/>
                                      </p:to>
                                    </p:set>
                                    <p:animEffect transition="in" filter="fade">
                                      <p:cBhvr>
                                        <p:cTn id="32" dur="500"/>
                                        <p:tgtEl>
                                          <p:spTgt spid="2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5"/>
                                        </p:tgtEl>
                                        <p:attrNameLst>
                                          <p:attrName>style.visibility</p:attrName>
                                        </p:attrNameLst>
                                      </p:cBhvr>
                                      <p:to>
                                        <p:strVal val="visible"/>
                                      </p:to>
                                    </p:set>
                                    <p:animEffect transition="in" filter="fade">
                                      <p:cBhvr>
                                        <p:cTn id="35" dur="500"/>
                                        <p:tgtEl>
                                          <p:spTgt spid="2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6"/>
                                        </p:tgtEl>
                                        <p:attrNameLst>
                                          <p:attrName>style.visibility</p:attrName>
                                        </p:attrNameLst>
                                      </p:cBhvr>
                                      <p:to>
                                        <p:strVal val="visible"/>
                                      </p:to>
                                    </p:set>
                                    <p:animEffect transition="in" filter="fade">
                                      <p:cBhvr>
                                        <p:cTn id="38" dur="500"/>
                                        <p:tgtEl>
                                          <p:spTgt spid="2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6"/>
                                        </p:tgtEl>
                                        <p:attrNameLst>
                                          <p:attrName>style.visibility</p:attrName>
                                        </p:attrNameLst>
                                      </p:cBhvr>
                                      <p:to>
                                        <p:strVal val="visible"/>
                                      </p:to>
                                    </p:set>
                                    <p:animEffect transition="in" filter="fade">
                                      <p:cBhvr>
                                        <p:cTn id="43" dur="500"/>
                                        <p:tgtEl>
                                          <p:spTgt spid="2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7"/>
                                        </p:tgtEl>
                                        <p:attrNameLst>
                                          <p:attrName>style.visibility</p:attrName>
                                        </p:attrNameLst>
                                      </p:cBhvr>
                                      <p:to>
                                        <p:strVal val="visible"/>
                                      </p:to>
                                    </p:set>
                                    <p:animEffect transition="in" filter="fade">
                                      <p:cBhvr>
                                        <p:cTn id="46" dur="500"/>
                                        <p:tgtEl>
                                          <p:spTgt spid="2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8"/>
                                        </p:tgtEl>
                                        <p:attrNameLst>
                                          <p:attrName>style.visibility</p:attrName>
                                        </p:attrNameLst>
                                      </p:cBhvr>
                                      <p:to>
                                        <p:strVal val="visible"/>
                                      </p:to>
                                    </p:set>
                                    <p:animEffect transition="in" filter="fade">
                                      <p:cBhvr>
                                        <p:cTn id="51" dur="500"/>
                                        <p:tgtEl>
                                          <p:spTgt spid="2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9"/>
                                        </p:tgtEl>
                                        <p:attrNameLst>
                                          <p:attrName>style.visibility</p:attrName>
                                        </p:attrNameLst>
                                      </p:cBhvr>
                                      <p:to>
                                        <p:strVal val="visible"/>
                                      </p:to>
                                    </p:set>
                                    <p:animEffect transition="in" filter="fade">
                                      <p:cBhvr>
                                        <p:cTn id="54" dur="500"/>
                                        <p:tgtEl>
                                          <p:spTgt spid="2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0"/>
                                        </p:tgtEl>
                                        <p:attrNameLst>
                                          <p:attrName>style.visibility</p:attrName>
                                        </p:attrNameLst>
                                      </p:cBhvr>
                                      <p:to>
                                        <p:strVal val="visible"/>
                                      </p:to>
                                    </p:set>
                                    <p:animEffect transition="in" filter="fade">
                                      <p:cBhvr>
                                        <p:cTn id="57" dur="500"/>
                                        <p:tgtEl>
                                          <p:spTgt spid="2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3"/>
                                        </p:tgtEl>
                                        <p:attrNameLst>
                                          <p:attrName>style.visibility</p:attrName>
                                        </p:attrNameLst>
                                      </p:cBhvr>
                                      <p:to>
                                        <p:strVal val="visible"/>
                                      </p:to>
                                    </p:set>
                                    <p:animEffect transition="in" filter="fade">
                                      <p:cBhvr>
                                        <p:cTn id="60" dur="500"/>
                                        <p:tgtEl>
                                          <p:spTgt spid="2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4"/>
                                        </p:tgtEl>
                                        <p:attrNameLst>
                                          <p:attrName>style.visibility</p:attrName>
                                        </p:attrNameLst>
                                      </p:cBhvr>
                                      <p:to>
                                        <p:strVal val="visible"/>
                                      </p:to>
                                    </p:set>
                                    <p:animEffect transition="in" filter="fade">
                                      <p:cBhvr>
                                        <p:cTn id="63" dur="500"/>
                                        <p:tgtEl>
                                          <p:spTgt spid="2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7"/>
                                        </p:tgtEl>
                                        <p:attrNameLst>
                                          <p:attrName>style.visibility</p:attrName>
                                        </p:attrNameLst>
                                      </p:cBhvr>
                                      <p:to>
                                        <p:strVal val="visible"/>
                                      </p:to>
                                    </p:set>
                                    <p:animEffect transition="in" filter="fade">
                                      <p:cBhvr>
                                        <p:cTn id="68" dur="500"/>
                                        <p:tgtEl>
                                          <p:spTgt spid="22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8"/>
                                        </p:tgtEl>
                                        <p:attrNameLst>
                                          <p:attrName>style.visibility</p:attrName>
                                        </p:attrNameLst>
                                      </p:cBhvr>
                                      <p:to>
                                        <p:strVal val="visible"/>
                                      </p:to>
                                    </p:set>
                                    <p:animEffect transition="in" filter="fade">
                                      <p:cBhvr>
                                        <p:cTn id="71" dur="500"/>
                                        <p:tgtEl>
                                          <p:spTgt spid="2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9"/>
                                        </p:tgtEl>
                                        <p:attrNameLst>
                                          <p:attrName>style.visibility</p:attrName>
                                        </p:attrNameLst>
                                      </p:cBhvr>
                                      <p:to>
                                        <p:strVal val="visible"/>
                                      </p:to>
                                    </p:set>
                                    <p:animEffect transition="in" filter="fade">
                                      <p:cBhvr>
                                        <p:cTn id="74"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p:bldP spid="211" grpId="0" animBg="1"/>
      <p:bldP spid="212" grpId="0" animBg="1"/>
      <p:bldP spid="213" grpId="0" animBg="1"/>
      <p:bldP spid="214" grpId="0" animBg="1"/>
      <p:bldP spid="215" grpId="0"/>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文字 3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A：直線路徑，不折返</a:t>
            </a:r>
          </a:p>
        </p:txBody>
      </p:sp>
      <p:sp>
        <p:nvSpPr>
          <p:cNvPr id="302" name="框 3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303" name="線 303"/>
          <p:cNvSpPr/>
          <p:nvPr/>
        </p:nvSpPr>
        <p:spPr>
          <a:xfrm>
            <a:off x="562356" y="2023110"/>
            <a:ext cx="4262933" cy="0"/>
          </a:xfrm>
          <a:prstGeom prst="line">
            <a:avLst/>
          </a:prstGeom>
          <a:ln w="27432" cap="rnd">
            <a:solidFill>
              <a:srgbClr val="2B3050"/>
            </a:solidFill>
            <a:tailEnd type="triangle" w="med" len="med"/>
          </a:ln>
        </p:spPr>
        <p:txBody>
          <a:bodyPr/>
          <a:lstStyle/>
          <a:p>
            <a:endParaRPr lang="zh-TW" altLang="en-US" sz="1350"/>
          </a:p>
        </p:txBody>
      </p:sp>
      <p:sp>
        <p:nvSpPr>
          <p:cNvPr id="304" name="線 304"/>
          <p:cNvSpPr/>
          <p:nvPr/>
        </p:nvSpPr>
        <p:spPr>
          <a:xfrm>
            <a:off x="754380" y="1968246"/>
            <a:ext cx="0" cy="109728"/>
          </a:xfrm>
          <a:prstGeom prst="line">
            <a:avLst/>
          </a:prstGeom>
          <a:ln w="18288" cap="rnd">
            <a:solidFill>
              <a:srgbClr val="2B3050"/>
            </a:solidFill>
          </a:ln>
        </p:spPr>
        <p:txBody>
          <a:bodyPr/>
          <a:lstStyle/>
          <a:p>
            <a:endParaRPr lang="zh-TW" altLang="en-US" sz="1350"/>
          </a:p>
        </p:txBody>
      </p:sp>
      <p:sp>
        <p:nvSpPr>
          <p:cNvPr id="305" name="線 305"/>
          <p:cNvSpPr/>
          <p:nvPr/>
        </p:nvSpPr>
        <p:spPr>
          <a:xfrm>
            <a:off x="1138428" y="1968246"/>
            <a:ext cx="0" cy="109728"/>
          </a:xfrm>
          <a:prstGeom prst="line">
            <a:avLst/>
          </a:prstGeom>
          <a:ln w="18288" cap="rnd">
            <a:solidFill>
              <a:srgbClr val="2B3050"/>
            </a:solidFill>
          </a:ln>
        </p:spPr>
        <p:txBody>
          <a:bodyPr/>
          <a:lstStyle/>
          <a:p>
            <a:endParaRPr lang="zh-TW" altLang="en-US" sz="1350"/>
          </a:p>
        </p:txBody>
      </p:sp>
      <p:sp>
        <p:nvSpPr>
          <p:cNvPr id="306" name="線 306"/>
          <p:cNvSpPr/>
          <p:nvPr/>
        </p:nvSpPr>
        <p:spPr>
          <a:xfrm>
            <a:off x="1522476" y="1968246"/>
            <a:ext cx="0" cy="109728"/>
          </a:xfrm>
          <a:prstGeom prst="line">
            <a:avLst/>
          </a:prstGeom>
          <a:ln w="18288" cap="rnd">
            <a:solidFill>
              <a:srgbClr val="2B3050"/>
            </a:solidFill>
          </a:ln>
        </p:spPr>
        <p:txBody>
          <a:bodyPr/>
          <a:lstStyle/>
          <a:p>
            <a:endParaRPr lang="zh-TW" altLang="en-US" sz="1350"/>
          </a:p>
        </p:txBody>
      </p:sp>
      <p:sp>
        <p:nvSpPr>
          <p:cNvPr id="307" name="線 307"/>
          <p:cNvSpPr/>
          <p:nvPr/>
        </p:nvSpPr>
        <p:spPr>
          <a:xfrm>
            <a:off x="1906524" y="1968246"/>
            <a:ext cx="0" cy="109728"/>
          </a:xfrm>
          <a:prstGeom prst="line">
            <a:avLst/>
          </a:prstGeom>
          <a:ln w="18288" cap="rnd">
            <a:solidFill>
              <a:srgbClr val="2B3050"/>
            </a:solidFill>
          </a:ln>
        </p:spPr>
        <p:txBody>
          <a:bodyPr/>
          <a:lstStyle/>
          <a:p>
            <a:endParaRPr lang="zh-TW" altLang="en-US" sz="1350"/>
          </a:p>
        </p:txBody>
      </p:sp>
      <p:sp>
        <p:nvSpPr>
          <p:cNvPr id="308" name="線 308"/>
          <p:cNvSpPr/>
          <p:nvPr/>
        </p:nvSpPr>
        <p:spPr>
          <a:xfrm>
            <a:off x="2290572" y="1968246"/>
            <a:ext cx="0" cy="109728"/>
          </a:xfrm>
          <a:prstGeom prst="line">
            <a:avLst/>
          </a:prstGeom>
          <a:ln w="18288" cap="rnd">
            <a:solidFill>
              <a:srgbClr val="2B3050"/>
            </a:solidFill>
          </a:ln>
        </p:spPr>
        <p:txBody>
          <a:bodyPr/>
          <a:lstStyle/>
          <a:p>
            <a:endParaRPr lang="zh-TW" altLang="en-US" sz="1350"/>
          </a:p>
        </p:txBody>
      </p:sp>
      <p:sp>
        <p:nvSpPr>
          <p:cNvPr id="309" name="線 309"/>
          <p:cNvSpPr/>
          <p:nvPr/>
        </p:nvSpPr>
        <p:spPr>
          <a:xfrm>
            <a:off x="2674620" y="1968246"/>
            <a:ext cx="0" cy="109728"/>
          </a:xfrm>
          <a:prstGeom prst="line">
            <a:avLst/>
          </a:prstGeom>
          <a:ln w="18288" cap="rnd">
            <a:solidFill>
              <a:srgbClr val="2B3050"/>
            </a:solidFill>
          </a:ln>
        </p:spPr>
        <p:txBody>
          <a:bodyPr/>
          <a:lstStyle/>
          <a:p>
            <a:endParaRPr lang="zh-TW" altLang="en-US" sz="1350"/>
          </a:p>
        </p:txBody>
      </p:sp>
      <p:sp>
        <p:nvSpPr>
          <p:cNvPr id="310" name="線 310"/>
          <p:cNvSpPr/>
          <p:nvPr/>
        </p:nvSpPr>
        <p:spPr>
          <a:xfrm>
            <a:off x="3058668" y="1968246"/>
            <a:ext cx="0" cy="109728"/>
          </a:xfrm>
          <a:prstGeom prst="line">
            <a:avLst/>
          </a:prstGeom>
          <a:ln w="18288" cap="rnd">
            <a:solidFill>
              <a:srgbClr val="2B3050"/>
            </a:solidFill>
          </a:ln>
        </p:spPr>
        <p:txBody>
          <a:bodyPr/>
          <a:lstStyle/>
          <a:p>
            <a:endParaRPr lang="zh-TW" altLang="en-US" sz="1350"/>
          </a:p>
        </p:txBody>
      </p:sp>
      <p:sp>
        <p:nvSpPr>
          <p:cNvPr id="311" name="線 311"/>
          <p:cNvSpPr/>
          <p:nvPr/>
        </p:nvSpPr>
        <p:spPr>
          <a:xfrm>
            <a:off x="3442716" y="1968246"/>
            <a:ext cx="0" cy="109728"/>
          </a:xfrm>
          <a:prstGeom prst="line">
            <a:avLst/>
          </a:prstGeom>
          <a:ln w="18288" cap="rnd">
            <a:solidFill>
              <a:srgbClr val="2B3050"/>
            </a:solidFill>
          </a:ln>
        </p:spPr>
        <p:txBody>
          <a:bodyPr/>
          <a:lstStyle/>
          <a:p>
            <a:endParaRPr lang="zh-TW" altLang="en-US" sz="1350"/>
          </a:p>
        </p:txBody>
      </p:sp>
      <p:sp>
        <p:nvSpPr>
          <p:cNvPr id="312" name="線 312"/>
          <p:cNvSpPr/>
          <p:nvPr/>
        </p:nvSpPr>
        <p:spPr>
          <a:xfrm>
            <a:off x="3826764" y="1968246"/>
            <a:ext cx="0" cy="109728"/>
          </a:xfrm>
          <a:prstGeom prst="line">
            <a:avLst/>
          </a:prstGeom>
          <a:ln w="18288" cap="rnd">
            <a:solidFill>
              <a:srgbClr val="2B3050"/>
            </a:solidFill>
          </a:ln>
        </p:spPr>
        <p:txBody>
          <a:bodyPr/>
          <a:lstStyle/>
          <a:p>
            <a:endParaRPr lang="zh-TW" altLang="en-US" sz="1350"/>
          </a:p>
        </p:txBody>
      </p:sp>
      <p:sp>
        <p:nvSpPr>
          <p:cNvPr id="313" name="線 313"/>
          <p:cNvSpPr/>
          <p:nvPr/>
        </p:nvSpPr>
        <p:spPr>
          <a:xfrm>
            <a:off x="4210812" y="1968246"/>
            <a:ext cx="0" cy="109728"/>
          </a:xfrm>
          <a:prstGeom prst="line">
            <a:avLst/>
          </a:prstGeom>
          <a:ln w="18288" cap="rnd">
            <a:solidFill>
              <a:srgbClr val="2B3050"/>
            </a:solidFill>
          </a:ln>
        </p:spPr>
        <p:txBody>
          <a:bodyPr/>
          <a:lstStyle/>
          <a:p>
            <a:endParaRPr lang="zh-TW" altLang="en-US" sz="1350"/>
          </a:p>
        </p:txBody>
      </p:sp>
      <p:sp>
        <p:nvSpPr>
          <p:cNvPr id="314" name="線 314"/>
          <p:cNvSpPr/>
          <p:nvPr/>
        </p:nvSpPr>
        <p:spPr>
          <a:xfrm>
            <a:off x="4594860" y="1968246"/>
            <a:ext cx="0" cy="109728"/>
          </a:xfrm>
          <a:prstGeom prst="line">
            <a:avLst/>
          </a:prstGeom>
          <a:ln w="18288" cap="rnd">
            <a:solidFill>
              <a:srgbClr val="2B3050"/>
            </a:solidFill>
          </a:ln>
        </p:spPr>
        <p:txBody>
          <a:bodyPr/>
          <a:lstStyle/>
          <a:p>
            <a:endParaRPr lang="zh-TW" altLang="en-US" sz="1350"/>
          </a:p>
        </p:txBody>
      </p:sp>
      <p:sp>
        <p:nvSpPr>
          <p:cNvPr id="315" name="文字 315"/>
          <p:cNvSpPr txBox="1"/>
          <p:nvPr/>
        </p:nvSpPr>
        <p:spPr>
          <a:xfrm>
            <a:off x="51435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316" name="文字 316"/>
          <p:cNvSpPr txBox="1"/>
          <p:nvPr/>
        </p:nvSpPr>
        <p:spPr>
          <a:xfrm>
            <a:off x="243459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317" name="文字 317"/>
          <p:cNvSpPr txBox="1"/>
          <p:nvPr/>
        </p:nvSpPr>
        <p:spPr>
          <a:xfrm>
            <a:off x="435483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318" name="文字 318"/>
          <p:cNvSpPr txBox="1"/>
          <p:nvPr/>
        </p:nvSpPr>
        <p:spPr>
          <a:xfrm>
            <a:off x="4653839" y="166649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319" name="圓 319"/>
          <p:cNvSpPr/>
          <p:nvPr/>
        </p:nvSpPr>
        <p:spPr>
          <a:xfrm>
            <a:off x="699516" y="3957066"/>
            <a:ext cx="109728" cy="109728"/>
          </a:xfrm>
          <a:prstGeom prst="ellipse">
            <a:avLst/>
          </a:prstGeom>
          <a:solidFill>
            <a:srgbClr val="2B3050"/>
          </a:solidFill>
          <a:ln>
            <a:noFill/>
          </a:ln>
        </p:spPr>
        <p:txBody>
          <a:bodyPr/>
          <a:lstStyle/>
          <a:p>
            <a:endParaRPr lang="zh-TW" altLang="en-US" sz="1350"/>
          </a:p>
        </p:txBody>
      </p:sp>
      <p:sp>
        <p:nvSpPr>
          <p:cNvPr id="320" name="文字 320"/>
          <p:cNvSpPr txBox="1"/>
          <p:nvPr/>
        </p:nvSpPr>
        <p:spPr>
          <a:xfrm>
            <a:off x="445770" y="390906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321" name="圓 321"/>
          <p:cNvSpPr/>
          <p:nvPr/>
        </p:nvSpPr>
        <p:spPr>
          <a:xfrm>
            <a:off x="1076706" y="1961388"/>
            <a:ext cx="123444" cy="123444"/>
          </a:xfrm>
          <a:prstGeom prst="ellipse">
            <a:avLst/>
          </a:prstGeom>
          <a:solidFill>
            <a:srgbClr val="1E2761"/>
          </a:solidFill>
          <a:ln>
            <a:noFill/>
          </a:ln>
        </p:spPr>
        <p:txBody>
          <a:bodyPr/>
          <a:lstStyle/>
          <a:p>
            <a:endParaRPr lang="zh-TW" altLang="en-US" sz="1350"/>
          </a:p>
        </p:txBody>
      </p:sp>
      <p:sp>
        <p:nvSpPr>
          <p:cNvPr id="322" name="圓 322"/>
          <p:cNvSpPr/>
          <p:nvPr/>
        </p:nvSpPr>
        <p:spPr>
          <a:xfrm>
            <a:off x="3380994" y="1961388"/>
            <a:ext cx="123444" cy="123444"/>
          </a:xfrm>
          <a:prstGeom prst="ellipse">
            <a:avLst/>
          </a:prstGeom>
          <a:solidFill>
            <a:srgbClr val="1E2761"/>
          </a:solidFill>
          <a:ln>
            <a:noFill/>
          </a:ln>
        </p:spPr>
        <p:txBody>
          <a:bodyPr/>
          <a:lstStyle/>
          <a:p>
            <a:endParaRPr lang="zh-TW" altLang="en-US" sz="1350"/>
          </a:p>
        </p:txBody>
      </p:sp>
      <p:sp>
        <p:nvSpPr>
          <p:cNvPr id="323" name="文字 323"/>
          <p:cNvSpPr txBox="1"/>
          <p:nvPr/>
        </p:nvSpPr>
        <p:spPr>
          <a:xfrm>
            <a:off x="761238"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324" name="文字 324"/>
          <p:cNvSpPr txBox="1"/>
          <p:nvPr/>
        </p:nvSpPr>
        <p:spPr>
          <a:xfrm>
            <a:off x="3065526"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P₄（7 m）</a:t>
            </a:r>
          </a:p>
        </p:txBody>
      </p:sp>
      <p:sp>
        <p:nvSpPr>
          <p:cNvPr id="325" name="線 325"/>
          <p:cNvSpPr/>
          <p:nvPr/>
        </p:nvSpPr>
        <p:spPr>
          <a:xfrm flipV="1">
            <a:off x="754380" y="2023110"/>
            <a:ext cx="384048" cy="1988820"/>
          </a:xfrm>
          <a:prstGeom prst="line">
            <a:avLst/>
          </a:prstGeom>
          <a:ln w="36576" cap="rnd">
            <a:solidFill>
              <a:srgbClr val="2F8F4E"/>
            </a:solidFill>
            <a:tailEnd type="triangle" w="med" len="med"/>
          </a:ln>
        </p:spPr>
        <p:txBody>
          <a:bodyPr/>
          <a:lstStyle/>
          <a:p>
            <a:endParaRPr lang="zh-TW" altLang="en-US" sz="1350"/>
          </a:p>
        </p:txBody>
      </p:sp>
      <p:sp>
        <p:nvSpPr>
          <p:cNvPr id="326" name="文字 326"/>
          <p:cNvSpPr txBox="1"/>
          <p:nvPr/>
        </p:nvSpPr>
        <p:spPr>
          <a:xfrm>
            <a:off x="377190" y="3120390"/>
            <a:ext cx="960120" cy="308610"/>
          </a:xfrm>
          <a:prstGeom prst="rect">
            <a:avLst/>
          </a:prstGeom>
          <a:noFill/>
          <a:ln>
            <a:noFill/>
          </a:ln>
        </p:spPr>
        <p:txBody>
          <a:bodyPr wrap="none" lIns="34290" tIns="0" rIns="34290" bIns="0" anchor="ctr">
            <a:noAutofit/>
          </a:bodyPr>
          <a:lstStyle/>
          <a:p>
            <a:pPr algn="l">
              <a:buNone/>
            </a:pPr>
            <a:r>
              <a:rPr lang="zh-TW" altLang="en-US" b="1" dirty="0">
                <a:solidFill>
                  <a:srgbClr val="2F8F4E"/>
                </a:solidFill>
                <a:latin typeface="Microsoft JhengHei"/>
                <a:ea typeface="Microsoft JhengHei"/>
                <a:cs typeface="Microsoft JhengHei"/>
              </a:rPr>
              <a:t>r_start</a:t>
            </a:r>
          </a:p>
        </p:txBody>
      </p:sp>
      <p:sp>
        <p:nvSpPr>
          <p:cNvPr id="327" name="線 327"/>
          <p:cNvSpPr/>
          <p:nvPr/>
        </p:nvSpPr>
        <p:spPr>
          <a:xfrm flipV="1">
            <a:off x="754380" y="2023110"/>
            <a:ext cx="2688336" cy="1988820"/>
          </a:xfrm>
          <a:prstGeom prst="line">
            <a:avLst/>
          </a:prstGeom>
          <a:ln w="36576" cap="rnd">
            <a:solidFill>
              <a:srgbClr val="2E6FB7"/>
            </a:solidFill>
            <a:tailEnd type="triangle" w="med" len="med"/>
          </a:ln>
        </p:spPr>
        <p:txBody>
          <a:bodyPr/>
          <a:lstStyle/>
          <a:p>
            <a:endParaRPr lang="zh-TW" altLang="en-US" sz="1350"/>
          </a:p>
        </p:txBody>
      </p:sp>
      <p:sp>
        <p:nvSpPr>
          <p:cNvPr id="328" name="文字 328"/>
          <p:cNvSpPr txBox="1"/>
          <p:nvPr/>
        </p:nvSpPr>
        <p:spPr>
          <a:xfrm>
            <a:off x="2263140" y="3394710"/>
            <a:ext cx="891540" cy="308610"/>
          </a:xfrm>
          <a:prstGeom prst="rect">
            <a:avLst/>
          </a:prstGeom>
          <a:noFill/>
          <a:ln>
            <a:noFill/>
          </a:ln>
        </p:spPr>
        <p:txBody>
          <a:bodyPr wrap="none" lIns="34290" tIns="0" rIns="34290" bIns="0" anchor="ctr">
            <a:noAutofit/>
          </a:bodyPr>
          <a:lstStyle/>
          <a:p>
            <a:pPr algn="l">
              <a:buNone/>
            </a:pPr>
            <a:r>
              <a:rPr lang="zh-TW" altLang="en-US" b="1" dirty="0">
                <a:solidFill>
                  <a:srgbClr val="2E6FB7"/>
                </a:solidFill>
                <a:latin typeface="Microsoft JhengHei"/>
                <a:ea typeface="Microsoft JhengHei"/>
                <a:cs typeface="Microsoft JhengHei"/>
              </a:rPr>
              <a:t>r_end</a:t>
            </a:r>
          </a:p>
        </p:txBody>
      </p:sp>
      <p:sp>
        <p:nvSpPr>
          <p:cNvPr id="329" name="圓 329"/>
          <p:cNvSpPr/>
          <p:nvPr/>
        </p:nvSpPr>
        <p:spPr>
          <a:xfrm>
            <a:off x="1049274" y="1933956"/>
            <a:ext cx="178308" cy="178308"/>
          </a:xfrm>
          <a:prstGeom prst="ellipse">
            <a:avLst/>
          </a:prstGeom>
          <a:solidFill>
            <a:srgbClr val="B23A28"/>
          </a:solidFill>
          <a:ln>
            <a:noFill/>
          </a:ln>
        </p:spPr>
        <p:txBody>
          <a:bodyPr/>
          <a:lstStyle/>
          <a:p>
            <a:endParaRPr lang="zh-TW" altLang="en-US" sz="1350"/>
          </a:p>
        </p:txBody>
      </p:sp>
      <p:sp>
        <p:nvSpPr>
          <p:cNvPr id="330" name="線 330"/>
          <p:cNvSpPr/>
          <p:nvPr/>
        </p:nvSpPr>
        <p:spPr>
          <a:xfrm>
            <a:off x="1138428" y="1488186"/>
            <a:ext cx="2304288" cy="0"/>
          </a:xfrm>
          <a:prstGeom prst="line">
            <a:avLst/>
          </a:prstGeom>
          <a:ln w="73152" cap="rnd">
            <a:solidFill>
              <a:srgbClr val="C8901F"/>
            </a:solidFill>
          </a:ln>
        </p:spPr>
        <p:txBody>
          <a:bodyPr/>
          <a:lstStyle/>
          <a:p>
            <a:endParaRPr lang="zh-TW" altLang="en-US" sz="1350"/>
          </a:p>
        </p:txBody>
      </p:sp>
      <p:sp>
        <p:nvSpPr>
          <p:cNvPr id="331" name="文字 331"/>
          <p:cNvSpPr txBox="1"/>
          <p:nvPr/>
        </p:nvSpPr>
        <p:spPr>
          <a:xfrm>
            <a:off x="1829714" y="1062990"/>
            <a:ext cx="1303020" cy="288036"/>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 6 m</a:t>
            </a:r>
          </a:p>
        </p:txBody>
      </p:sp>
      <p:sp>
        <p:nvSpPr>
          <p:cNvPr id="332" name="線 332"/>
          <p:cNvSpPr/>
          <p:nvPr/>
        </p:nvSpPr>
        <p:spPr>
          <a:xfrm>
            <a:off x="1138428" y="2537460"/>
            <a:ext cx="2304288" cy="0"/>
          </a:xfrm>
          <a:prstGeom prst="line">
            <a:avLst/>
          </a:prstGeom>
          <a:ln w="54864" cap="rnd">
            <a:solidFill>
              <a:srgbClr val="D6006F"/>
            </a:solidFill>
            <a:tailEnd type="triangle" w="med" len="med"/>
          </a:ln>
        </p:spPr>
        <p:txBody>
          <a:bodyPr/>
          <a:lstStyle/>
          <a:p>
            <a:endParaRPr lang="zh-TW" altLang="en-US" sz="1350"/>
          </a:p>
        </p:txBody>
      </p:sp>
      <p:sp>
        <p:nvSpPr>
          <p:cNvPr id="333" name="文字 333"/>
          <p:cNvSpPr txBox="1"/>
          <p:nvPr/>
        </p:nvSpPr>
        <p:spPr>
          <a:xfrm>
            <a:off x="2751430" y="2571750"/>
            <a:ext cx="130302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6 m</a:t>
            </a:r>
          </a:p>
        </p:txBody>
      </p:sp>
      <p:sp>
        <p:nvSpPr>
          <p:cNvPr id="334" name="圓 334"/>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335" name="文字 335"/>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從 P₃ 一路往前到 P₄</a:t>
            </a:r>
          </a:p>
        </p:txBody>
      </p:sp>
      <p:sp>
        <p:nvSpPr>
          <p:cNvPr id="336" name="圓 336"/>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337" name="文字 337"/>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7 − 1 = 6 m</a:t>
            </a:r>
          </a:p>
        </p:txBody>
      </p:sp>
      <p:sp>
        <p:nvSpPr>
          <p:cNvPr id="338" name="圓 338"/>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339" name="文字 339"/>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7 − 1 = 6 m</a:t>
            </a:r>
          </a:p>
        </p:txBody>
      </p:sp>
      <p:sp>
        <p:nvSpPr>
          <p:cNvPr id="340" name="框 340"/>
          <p:cNvSpPr/>
          <p:nvPr/>
        </p:nvSpPr>
        <p:spPr>
          <a:xfrm>
            <a:off x="5314950" y="2811780"/>
            <a:ext cx="3429000" cy="857250"/>
          </a:xfrm>
          <a:prstGeom prst="roundRect">
            <a:avLst/>
          </a:prstGeom>
          <a:solidFill>
            <a:srgbClr val="EEF6EE"/>
          </a:solidFill>
          <a:ln>
            <a:noFill/>
          </a:ln>
        </p:spPr>
        <p:txBody>
          <a:bodyPr/>
          <a:lstStyle/>
          <a:p>
            <a:endParaRPr lang="zh-TW" altLang="en-US" sz="1350"/>
          </a:p>
        </p:txBody>
      </p:sp>
      <p:sp>
        <p:nvSpPr>
          <p:cNvPr id="341" name="文字 341"/>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|Δr| = Δs</a:t>
            </a:r>
          </a:p>
        </p:txBody>
      </p:sp>
      <p:sp>
        <p:nvSpPr>
          <p:cNvPr id="342" name="文字 342"/>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只有不折返的直線才相等</a:t>
            </a:r>
          </a:p>
        </p:txBody>
      </p:sp>
      <p:sp>
        <p:nvSpPr>
          <p:cNvPr id="343" name="文字 343"/>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500"/>
                                        <p:tgtEl>
                                          <p:spTgt spid="3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3"/>
                                        </p:tgtEl>
                                        <p:attrNameLst>
                                          <p:attrName>style.visibility</p:attrName>
                                        </p:attrNameLst>
                                      </p:cBhvr>
                                      <p:to>
                                        <p:strVal val="visible"/>
                                      </p:to>
                                    </p:set>
                                    <p:animEffect transition="in" filter="fade">
                                      <p:cBhvr>
                                        <p:cTn id="10" dur="500"/>
                                        <p:tgtEl>
                                          <p:spTgt spid="3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5"/>
                                        </p:tgtEl>
                                        <p:attrNameLst>
                                          <p:attrName>style.visibility</p:attrName>
                                        </p:attrNameLst>
                                      </p:cBhvr>
                                      <p:to>
                                        <p:strVal val="visible"/>
                                      </p:to>
                                    </p:set>
                                    <p:animEffect transition="in" filter="fade">
                                      <p:cBhvr>
                                        <p:cTn id="13" dur="500"/>
                                        <p:tgtEl>
                                          <p:spTgt spid="3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6"/>
                                        </p:tgtEl>
                                        <p:attrNameLst>
                                          <p:attrName>style.visibility</p:attrName>
                                        </p:attrNameLst>
                                      </p:cBhvr>
                                      <p:to>
                                        <p:strVal val="visible"/>
                                      </p:to>
                                    </p:set>
                                    <p:animEffect transition="in" filter="fade">
                                      <p:cBhvr>
                                        <p:cTn id="16" dur="500"/>
                                        <p:tgtEl>
                                          <p:spTgt spid="3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329">
                                            <p:txEl>
                                              <p:charRg st="4294967295" end="4294967295"/>
                                            </p:txEl>
                                          </p:spTgt>
                                        </p:tgtEl>
                                        <p:attrNameLst>
                                          <p:attrName>style.visibility</p:attrName>
                                        </p:attrNameLst>
                                      </p:cBhvr>
                                      <p:to>
                                        <p:strVal val="visible"/>
                                      </p:to>
                                    </p:set>
                                    <p:animEffect transition="in" filter="fade">
                                      <p:cBhvr>
                                        <p:cTn id="21" dur="300"/>
                                        <p:tgtEl>
                                          <p:spTgt spid="329">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0"/>
                                        </p:tgtEl>
                                        <p:attrNameLst>
                                          <p:attrName>style.visibility</p:attrName>
                                        </p:attrNameLst>
                                      </p:cBhvr>
                                      <p:to>
                                        <p:strVal val="visible"/>
                                      </p:to>
                                    </p:set>
                                    <p:animEffect transition="in" filter="fade">
                                      <p:cBhvr>
                                        <p:cTn id="24" dur="2000"/>
                                        <p:tgtEl>
                                          <p:spTgt spid="3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2"/>
                                        </p:tgtEl>
                                        <p:attrNameLst>
                                          <p:attrName>style.visibility</p:attrName>
                                        </p:attrNameLst>
                                      </p:cBhvr>
                                      <p:to>
                                        <p:strVal val="visible"/>
                                      </p:to>
                                    </p:set>
                                    <p:animEffect transition="in" filter="fade">
                                      <p:cBhvr>
                                        <p:cTn id="27" dur="500"/>
                                        <p:tgtEl>
                                          <p:spTgt spid="3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4"/>
                                        </p:tgtEl>
                                        <p:attrNameLst>
                                          <p:attrName>style.visibility</p:attrName>
                                        </p:attrNameLst>
                                      </p:cBhvr>
                                      <p:to>
                                        <p:strVal val="visible"/>
                                      </p:to>
                                    </p:set>
                                    <p:animEffect transition="in" filter="fade">
                                      <p:cBhvr>
                                        <p:cTn id="30" dur="500"/>
                                        <p:tgtEl>
                                          <p:spTgt spid="3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4"/>
                                        </p:tgtEl>
                                        <p:attrNameLst>
                                          <p:attrName>style.visibility</p:attrName>
                                        </p:attrNameLst>
                                      </p:cBhvr>
                                      <p:to>
                                        <p:strVal val="visible"/>
                                      </p:to>
                                    </p:set>
                                    <p:animEffect transition="in" filter="fade">
                                      <p:cBhvr>
                                        <p:cTn id="33" dur="500"/>
                                        <p:tgtEl>
                                          <p:spTgt spid="3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5"/>
                                        </p:tgtEl>
                                        <p:attrNameLst>
                                          <p:attrName>style.visibility</p:attrName>
                                        </p:attrNameLst>
                                      </p:cBhvr>
                                      <p:to>
                                        <p:strVal val="visible"/>
                                      </p:to>
                                    </p:set>
                                    <p:animEffect transition="in" filter="fade">
                                      <p:cBhvr>
                                        <p:cTn id="36" dur="500"/>
                                        <p:tgtEl>
                                          <p:spTgt spid="33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31"/>
                                        </p:tgtEl>
                                        <p:attrNameLst>
                                          <p:attrName>style.visibility</p:attrName>
                                        </p:attrNameLst>
                                      </p:cBhvr>
                                      <p:to>
                                        <p:strVal val="visible"/>
                                      </p:to>
                                    </p:set>
                                    <p:animEffect transition="in" filter="fade">
                                      <p:cBhvr>
                                        <p:cTn id="41" dur="500"/>
                                        <p:tgtEl>
                                          <p:spTgt spid="3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6"/>
                                        </p:tgtEl>
                                        <p:attrNameLst>
                                          <p:attrName>style.visibility</p:attrName>
                                        </p:attrNameLst>
                                      </p:cBhvr>
                                      <p:to>
                                        <p:strVal val="visible"/>
                                      </p:to>
                                    </p:set>
                                    <p:animEffect transition="in" filter="fade">
                                      <p:cBhvr>
                                        <p:cTn id="44" dur="500"/>
                                        <p:tgtEl>
                                          <p:spTgt spid="33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7"/>
                                        </p:tgtEl>
                                        <p:attrNameLst>
                                          <p:attrName>style.visibility</p:attrName>
                                        </p:attrNameLst>
                                      </p:cBhvr>
                                      <p:to>
                                        <p:strVal val="visible"/>
                                      </p:to>
                                    </p:set>
                                    <p:animEffect transition="in" filter="fade">
                                      <p:cBhvr>
                                        <p:cTn id="47" dur="500"/>
                                        <p:tgtEl>
                                          <p:spTgt spid="3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27"/>
                                        </p:tgtEl>
                                        <p:attrNameLst>
                                          <p:attrName>style.visibility</p:attrName>
                                        </p:attrNameLst>
                                      </p:cBhvr>
                                      <p:to>
                                        <p:strVal val="visible"/>
                                      </p:to>
                                    </p:set>
                                    <p:animEffect transition="in" filter="fade">
                                      <p:cBhvr>
                                        <p:cTn id="52" dur="500"/>
                                        <p:tgtEl>
                                          <p:spTgt spid="3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8"/>
                                        </p:tgtEl>
                                        <p:attrNameLst>
                                          <p:attrName>style.visibility</p:attrName>
                                        </p:attrNameLst>
                                      </p:cBhvr>
                                      <p:to>
                                        <p:strVal val="visible"/>
                                      </p:to>
                                    </p:set>
                                    <p:animEffect transition="in" filter="fade">
                                      <p:cBhvr>
                                        <p:cTn id="55" dur="500"/>
                                        <p:tgtEl>
                                          <p:spTgt spid="3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2"/>
                                        </p:tgtEl>
                                        <p:attrNameLst>
                                          <p:attrName>style.visibility</p:attrName>
                                        </p:attrNameLst>
                                      </p:cBhvr>
                                      <p:to>
                                        <p:strVal val="visible"/>
                                      </p:to>
                                    </p:set>
                                    <p:animEffect transition="in" filter="fade">
                                      <p:cBhvr>
                                        <p:cTn id="58" dur="500"/>
                                        <p:tgtEl>
                                          <p:spTgt spid="3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3"/>
                                        </p:tgtEl>
                                        <p:attrNameLst>
                                          <p:attrName>style.visibility</p:attrName>
                                        </p:attrNameLst>
                                      </p:cBhvr>
                                      <p:to>
                                        <p:strVal val="visible"/>
                                      </p:to>
                                    </p:set>
                                    <p:animEffect transition="in" filter="fade">
                                      <p:cBhvr>
                                        <p:cTn id="61" dur="500"/>
                                        <p:tgtEl>
                                          <p:spTgt spid="3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38"/>
                                        </p:tgtEl>
                                        <p:attrNameLst>
                                          <p:attrName>style.visibility</p:attrName>
                                        </p:attrNameLst>
                                      </p:cBhvr>
                                      <p:to>
                                        <p:strVal val="visible"/>
                                      </p:to>
                                    </p:set>
                                    <p:animEffect transition="in" filter="fade">
                                      <p:cBhvr>
                                        <p:cTn id="64" dur="500"/>
                                        <p:tgtEl>
                                          <p:spTgt spid="3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9"/>
                                        </p:tgtEl>
                                        <p:attrNameLst>
                                          <p:attrName>style.visibility</p:attrName>
                                        </p:attrNameLst>
                                      </p:cBhvr>
                                      <p:to>
                                        <p:strVal val="visible"/>
                                      </p:to>
                                    </p:set>
                                    <p:animEffect transition="in" filter="fade">
                                      <p:cBhvr>
                                        <p:cTn id="67" dur="500"/>
                                        <p:tgtEl>
                                          <p:spTgt spid="33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40"/>
                                        </p:tgtEl>
                                        <p:attrNameLst>
                                          <p:attrName>style.visibility</p:attrName>
                                        </p:attrNameLst>
                                      </p:cBhvr>
                                      <p:to>
                                        <p:strVal val="visible"/>
                                      </p:to>
                                    </p:set>
                                    <p:animEffect transition="in" filter="fade">
                                      <p:cBhvr>
                                        <p:cTn id="72" dur="500"/>
                                        <p:tgtEl>
                                          <p:spTgt spid="3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1"/>
                                        </p:tgtEl>
                                        <p:attrNameLst>
                                          <p:attrName>style.visibility</p:attrName>
                                        </p:attrNameLst>
                                      </p:cBhvr>
                                      <p:to>
                                        <p:strVal val="visible"/>
                                      </p:to>
                                    </p:set>
                                    <p:animEffect transition="in" filter="fade">
                                      <p:cBhvr>
                                        <p:cTn id="75" dur="500"/>
                                        <p:tgtEl>
                                          <p:spTgt spid="3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2"/>
                                        </p:tgtEl>
                                        <p:attrNameLst>
                                          <p:attrName>style.visibility</p:attrName>
                                        </p:attrNameLst>
                                      </p:cBhvr>
                                      <p:to>
                                        <p:strVal val="visible"/>
                                      </p:to>
                                    </p:set>
                                    <p:animEffect transition="in" filter="fade">
                                      <p:cBhvr>
                                        <p:cTn id="78" dur="5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animBg="1"/>
      <p:bldP spid="322" grpId="0" animBg="1"/>
      <p:bldP spid="323" grpId="0" animBg="1"/>
      <p:bldP spid="324" grpId="0" animBg="1"/>
      <p:bldP spid="325" grpId="0" animBg="1"/>
      <p:bldP spid="326" grpId="0" animBg="1"/>
      <p:bldP spid="327" grpId="0" animBg="1"/>
      <p:bldP spid="328" grpId="0" animBg="1"/>
      <p:bldP spid="329" grpId="0"/>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文字 4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B：直線路徑，有折返</a:t>
            </a:r>
          </a:p>
        </p:txBody>
      </p:sp>
      <p:sp>
        <p:nvSpPr>
          <p:cNvPr id="402" name="框 4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403" name="線 403"/>
          <p:cNvSpPr/>
          <p:nvPr/>
        </p:nvSpPr>
        <p:spPr>
          <a:xfrm>
            <a:off x="562356" y="2434590"/>
            <a:ext cx="4262933" cy="0"/>
          </a:xfrm>
          <a:prstGeom prst="line">
            <a:avLst/>
          </a:prstGeom>
          <a:ln w="27432" cap="rnd">
            <a:solidFill>
              <a:srgbClr val="2B3050"/>
            </a:solidFill>
            <a:tailEnd type="triangle" w="med" len="med"/>
          </a:ln>
        </p:spPr>
        <p:txBody>
          <a:bodyPr/>
          <a:lstStyle/>
          <a:p>
            <a:endParaRPr lang="zh-TW" altLang="en-US" sz="1350"/>
          </a:p>
        </p:txBody>
      </p:sp>
      <p:sp>
        <p:nvSpPr>
          <p:cNvPr id="404" name="線 404"/>
          <p:cNvSpPr/>
          <p:nvPr/>
        </p:nvSpPr>
        <p:spPr>
          <a:xfrm>
            <a:off x="754380" y="2379726"/>
            <a:ext cx="0" cy="109728"/>
          </a:xfrm>
          <a:prstGeom prst="line">
            <a:avLst/>
          </a:prstGeom>
          <a:ln w="18288" cap="rnd">
            <a:solidFill>
              <a:srgbClr val="2B3050"/>
            </a:solidFill>
          </a:ln>
        </p:spPr>
        <p:txBody>
          <a:bodyPr/>
          <a:lstStyle/>
          <a:p>
            <a:endParaRPr lang="zh-TW" altLang="en-US" sz="1350"/>
          </a:p>
        </p:txBody>
      </p:sp>
      <p:sp>
        <p:nvSpPr>
          <p:cNvPr id="405" name="線 405"/>
          <p:cNvSpPr/>
          <p:nvPr/>
        </p:nvSpPr>
        <p:spPr>
          <a:xfrm>
            <a:off x="1138428" y="2379726"/>
            <a:ext cx="0" cy="109728"/>
          </a:xfrm>
          <a:prstGeom prst="line">
            <a:avLst/>
          </a:prstGeom>
          <a:ln w="18288" cap="rnd">
            <a:solidFill>
              <a:srgbClr val="2B3050"/>
            </a:solidFill>
          </a:ln>
        </p:spPr>
        <p:txBody>
          <a:bodyPr/>
          <a:lstStyle/>
          <a:p>
            <a:endParaRPr lang="zh-TW" altLang="en-US" sz="1350"/>
          </a:p>
        </p:txBody>
      </p:sp>
      <p:sp>
        <p:nvSpPr>
          <p:cNvPr id="406" name="線 406"/>
          <p:cNvSpPr/>
          <p:nvPr/>
        </p:nvSpPr>
        <p:spPr>
          <a:xfrm>
            <a:off x="1522476" y="2379726"/>
            <a:ext cx="0" cy="109728"/>
          </a:xfrm>
          <a:prstGeom prst="line">
            <a:avLst/>
          </a:prstGeom>
          <a:ln w="18288" cap="rnd">
            <a:solidFill>
              <a:srgbClr val="2B3050"/>
            </a:solidFill>
          </a:ln>
        </p:spPr>
        <p:txBody>
          <a:bodyPr/>
          <a:lstStyle/>
          <a:p>
            <a:endParaRPr lang="zh-TW" altLang="en-US" sz="1350"/>
          </a:p>
        </p:txBody>
      </p:sp>
      <p:sp>
        <p:nvSpPr>
          <p:cNvPr id="407" name="線 407"/>
          <p:cNvSpPr/>
          <p:nvPr/>
        </p:nvSpPr>
        <p:spPr>
          <a:xfrm>
            <a:off x="1906524" y="2379726"/>
            <a:ext cx="0" cy="109728"/>
          </a:xfrm>
          <a:prstGeom prst="line">
            <a:avLst/>
          </a:prstGeom>
          <a:ln w="18288" cap="rnd">
            <a:solidFill>
              <a:srgbClr val="2B3050"/>
            </a:solidFill>
          </a:ln>
        </p:spPr>
        <p:txBody>
          <a:bodyPr/>
          <a:lstStyle/>
          <a:p>
            <a:endParaRPr lang="zh-TW" altLang="en-US" sz="1350"/>
          </a:p>
        </p:txBody>
      </p:sp>
      <p:sp>
        <p:nvSpPr>
          <p:cNvPr id="408" name="線 408"/>
          <p:cNvSpPr/>
          <p:nvPr/>
        </p:nvSpPr>
        <p:spPr>
          <a:xfrm>
            <a:off x="2290572" y="2379726"/>
            <a:ext cx="0" cy="109728"/>
          </a:xfrm>
          <a:prstGeom prst="line">
            <a:avLst/>
          </a:prstGeom>
          <a:ln w="18288" cap="rnd">
            <a:solidFill>
              <a:srgbClr val="2B3050"/>
            </a:solidFill>
          </a:ln>
        </p:spPr>
        <p:txBody>
          <a:bodyPr/>
          <a:lstStyle/>
          <a:p>
            <a:endParaRPr lang="zh-TW" altLang="en-US" sz="1350"/>
          </a:p>
        </p:txBody>
      </p:sp>
      <p:sp>
        <p:nvSpPr>
          <p:cNvPr id="409" name="線 409"/>
          <p:cNvSpPr/>
          <p:nvPr/>
        </p:nvSpPr>
        <p:spPr>
          <a:xfrm>
            <a:off x="2674620" y="2379726"/>
            <a:ext cx="0" cy="109728"/>
          </a:xfrm>
          <a:prstGeom prst="line">
            <a:avLst/>
          </a:prstGeom>
          <a:ln w="18288" cap="rnd">
            <a:solidFill>
              <a:srgbClr val="2B3050"/>
            </a:solidFill>
          </a:ln>
        </p:spPr>
        <p:txBody>
          <a:bodyPr/>
          <a:lstStyle/>
          <a:p>
            <a:endParaRPr lang="zh-TW" altLang="en-US" sz="1350"/>
          </a:p>
        </p:txBody>
      </p:sp>
      <p:sp>
        <p:nvSpPr>
          <p:cNvPr id="410" name="線 410"/>
          <p:cNvSpPr/>
          <p:nvPr/>
        </p:nvSpPr>
        <p:spPr>
          <a:xfrm>
            <a:off x="3058668" y="2379726"/>
            <a:ext cx="0" cy="109728"/>
          </a:xfrm>
          <a:prstGeom prst="line">
            <a:avLst/>
          </a:prstGeom>
          <a:ln w="18288" cap="rnd">
            <a:solidFill>
              <a:srgbClr val="2B3050"/>
            </a:solidFill>
          </a:ln>
        </p:spPr>
        <p:txBody>
          <a:bodyPr/>
          <a:lstStyle/>
          <a:p>
            <a:endParaRPr lang="zh-TW" altLang="en-US" sz="1350"/>
          </a:p>
        </p:txBody>
      </p:sp>
      <p:sp>
        <p:nvSpPr>
          <p:cNvPr id="411" name="線 411"/>
          <p:cNvSpPr/>
          <p:nvPr/>
        </p:nvSpPr>
        <p:spPr>
          <a:xfrm>
            <a:off x="3442716" y="2379726"/>
            <a:ext cx="0" cy="109728"/>
          </a:xfrm>
          <a:prstGeom prst="line">
            <a:avLst/>
          </a:prstGeom>
          <a:ln w="18288" cap="rnd">
            <a:solidFill>
              <a:srgbClr val="2B3050"/>
            </a:solidFill>
          </a:ln>
        </p:spPr>
        <p:txBody>
          <a:bodyPr/>
          <a:lstStyle/>
          <a:p>
            <a:endParaRPr lang="zh-TW" altLang="en-US" sz="1350"/>
          </a:p>
        </p:txBody>
      </p:sp>
      <p:sp>
        <p:nvSpPr>
          <p:cNvPr id="412" name="線 412"/>
          <p:cNvSpPr/>
          <p:nvPr/>
        </p:nvSpPr>
        <p:spPr>
          <a:xfrm>
            <a:off x="3826764" y="2379726"/>
            <a:ext cx="0" cy="109728"/>
          </a:xfrm>
          <a:prstGeom prst="line">
            <a:avLst/>
          </a:prstGeom>
          <a:ln w="18288" cap="rnd">
            <a:solidFill>
              <a:srgbClr val="2B3050"/>
            </a:solidFill>
          </a:ln>
        </p:spPr>
        <p:txBody>
          <a:bodyPr/>
          <a:lstStyle/>
          <a:p>
            <a:endParaRPr lang="zh-TW" altLang="en-US" sz="1350"/>
          </a:p>
        </p:txBody>
      </p:sp>
      <p:sp>
        <p:nvSpPr>
          <p:cNvPr id="413" name="線 413"/>
          <p:cNvSpPr/>
          <p:nvPr/>
        </p:nvSpPr>
        <p:spPr>
          <a:xfrm>
            <a:off x="4210812" y="2379726"/>
            <a:ext cx="0" cy="109728"/>
          </a:xfrm>
          <a:prstGeom prst="line">
            <a:avLst/>
          </a:prstGeom>
          <a:ln w="18288" cap="rnd">
            <a:solidFill>
              <a:srgbClr val="2B3050"/>
            </a:solidFill>
          </a:ln>
        </p:spPr>
        <p:txBody>
          <a:bodyPr/>
          <a:lstStyle/>
          <a:p>
            <a:endParaRPr lang="zh-TW" altLang="en-US" sz="1350"/>
          </a:p>
        </p:txBody>
      </p:sp>
      <p:sp>
        <p:nvSpPr>
          <p:cNvPr id="414" name="線 414"/>
          <p:cNvSpPr/>
          <p:nvPr/>
        </p:nvSpPr>
        <p:spPr>
          <a:xfrm>
            <a:off x="4594860" y="2379726"/>
            <a:ext cx="0" cy="109728"/>
          </a:xfrm>
          <a:prstGeom prst="line">
            <a:avLst/>
          </a:prstGeom>
          <a:ln w="18288" cap="rnd">
            <a:solidFill>
              <a:srgbClr val="2B3050"/>
            </a:solidFill>
          </a:ln>
        </p:spPr>
        <p:txBody>
          <a:bodyPr/>
          <a:lstStyle/>
          <a:p>
            <a:endParaRPr lang="zh-TW" altLang="en-US" sz="1350"/>
          </a:p>
        </p:txBody>
      </p:sp>
      <p:sp>
        <p:nvSpPr>
          <p:cNvPr id="415" name="文字 415"/>
          <p:cNvSpPr txBox="1"/>
          <p:nvPr/>
        </p:nvSpPr>
        <p:spPr>
          <a:xfrm>
            <a:off x="51435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416" name="文字 416"/>
          <p:cNvSpPr txBox="1"/>
          <p:nvPr/>
        </p:nvSpPr>
        <p:spPr>
          <a:xfrm>
            <a:off x="243459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417" name="文字 417"/>
          <p:cNvSpPr txBox="1"/>
          <p:nvPr/>
        </p:nvSpPr>
        <p:spPr>
          <a:xfrm>
            <a:off x="435483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418" name="文字 418"/>
          <p:cNvSpPr txBox="1"/>
          <p:nvPr/>
        </p:nvSpPr>
        <p:spPr>
          <a:xfrm>
            <a:off x="4653839" y="207797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419" name="圓 419"/>
          <p:cNvSpPr/>
          <p:nvPr/>
        </p:nvSpPr>
        <p:spPr>
          <a:xfrm>
            <a:off x="1076706" y="2372868"/>
            <a:ext cx="123444" cy="123444"/>
          </a:xfrm>
          <a:prstGeom prst="ellipse">
            <a:avLst/>
          </a:prstGeom>
          <a:solidFill>
            <a:srgbClr val="1E2761"/>
          </a:solidFill>
          <a:ln>
            <a:noFill/>
          </a:ln>
        </p:spPr>
        <p:txBody>
          <a:bodyPr/>
          <a:lstStyle/>
          <a:p>
            <a:endParaRPr lang="zh-TW" altLang="en-US" sz="1350"/>
          </a:p>
        </p:txBody>
      </p:sp>
      <p:sp>
        <p:nvSpPr>
          <p:cNvPr id="420" name="圓 420"/>
          <p:cNvSpPr/>
          <p:nvPr/>
        </p:nvSpPr>
        <p:spPr>
          <a:xfrm>
            <a:off x="4149090" y="2372868"/>
            <a:ext cx="123444" cy="123444"/>
          </a:xfrm>
          <a:prstGeom prst="ellipse">
            <a:avLst/>
          </a:prstGeom>
          <a:solidFill>
            <a:srgbClr val="4A5378"/>
          </a:solidFill>
          <a:ln>
            <a:noFill/>
          </a:ln>
        </p:spPr>
        <p:txBody>
          <a:bodyPr/>
          <a:lstStyle/>
          <a:p>
            <a:endParaRPr lang="zh-TW" altLang="en-US" sz="1350"/>
          </a:p>
        </p:txBody>
      </p:sp>
      <p:sp>
        <p:nvSpPr>
          <p:cNvPr id="421" name="圓 421"/>
          <p:cNvSpPr/>
          <p:nvPr/>
        </p:nvSpPr>
        <p:spPr>
          <a:xfrm>
            <a:off x="2612898" y="2372868"/>
            <a:ext cx="123444" cy="123444"/>
          </a:xfrm>
          <a:prstGeom prst="ellipse">
            <a:avLst/>
          </a:prstGeom>
          <a:solidFill>
            <a:srgbClr val="1E2761"/>
          </a:solidFill>
          <a:ln>
            <a:noFill/>
          </a:ln>
        </p:spPr>
        <p:txBody>
          <a:bodyPr/>
          <a:lstStyle/>
          <a:p>
            <a:endParaRPr lang="zh-TW" altLang="en-US" sz="1350"/>
          </a:p>
        </p:txBody>
      </p:sp>
      <p:sp>
        <p:nvSpPr>
          <p:cNvPr id="422" name="文字 422"/>
          <p:cNvSpPr txBox="1"/>
          <p:nvPr/>
        </p:nvSpPr>
        <p:spPr>
          <a:xfrm>
            <a:off x="761238"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423" name="文字 423"/>
          <p:cNvSpPr txBox="1"/>
          <p:nvPr/>
        </p:nvSpPr>
        <p:spPr>
          <a:xfrm>
            <a:off x="2297430"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P₅（5 m）</a:t>
            </a:r>
          </a:p>
        </p:txBody>
      </p:sp>
      <p:sp>
        <p:nvSpPr>
          <p:cNvPr id="424" name="文字 424"/>
          <p:cNvSpPr txBox="1"/>
          <p:nvPr/>
        </p:nvSpPr>
        <p:spPr>
          <a:xfrm>
            <a:off x="3044952" y="1062990"/>
            <a:ext cx="144018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P_turn（9 m）</a:t>
            </a:r>
          </a:p>
        </p:txBody>
      </p:sp>
      <p:sp>
        <p:nvSpPr>
          <p:cNvPr id="425" name="圓 425"/>
          <p:cNvSpPr/>
          <p:nvPr/>
        </p:nvSpPr>
        <p:spPr>
          <a:xfrm>
            <a:off x="1049274" y="2345436"/>
            <a:ext cx="178308" cy="178308"/>
          </a:xfrm>
          <a:prstGeom prst="ellipse">
            <a:avLst/>
          </a:prstGeom>
          <a:solidFill>
            <a:srgbClr val="B23A28"/>
          </a:solidFill>
          <a:ln>
            <a:noFill/>
          </a:ln>
        </p:spPr>
        <p:txBody>
          <a:bodyPr/>
          <a:lstStyle/>
          <a:p>
            <a:endParaRPr lang="zh-TW" altLang="en-US" sz="1350"/>
          </a:p>
        </p:txBody>
      </p:sp>
      <p:sp>
        <p:nvSpPr>
          <p:cNvPr id="426" name="線 426"/>
          <p:cNvSpPr/>
          <p:nvPr/>
        </p:nvSpPr>
        <p:spPr>
          <a:xfrm>
            <a:off x="1138428" y="1714500"/>
            <a:ext cx="3072384" cy="0"/>
          </a:xfrm>
          <a:prstGeom prst="line">
            <a:avLst/>
          </a:prstGeom>
          <a:ln w="73152" cap="rnd">
            <a:solidFill>
              <a:srgbClr val="C8901F"/>
            </a:solidFill>
            <a:tailEnd type="triangle" w="med" len="med"/>
          </a:ln>
        </p:spPr>
        <p:txBody>
          <a:bodyPr/>
          <a:lstStyle/>
          <a:p>
            <a:endParaRPr lang="zh-TW" altLang="en-US" sz="1350"/>
          </a:p>
        </p:txBody>
      </p:sp>
      <p:sp>
        <p:nvSpPr>
          <p:cNvPr id="427" name="文字 427"/>
          <p:cNvSpPr txBox="1"/>
          <p:nvPr/>
        </p:nvSpPr>
        <p:spPr>
          <a:xfrm>
            <a:off x="1368857" y="1371600"/>
            <a:ext cx="116586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去程 8 m</a:t>
            </a:r>
          </a:p>
        </p:txBody>
      </p:sp>
      <p:sp>
        <p:nvSpPr>
          <p:cNvPr id="428" name="線 428"/>
          <p:cNvSpPr/>
          <p:nvPr/>
        </p:nvSpPr>
        <p:spPr>
          <a:xfrm flipH="1">
            <a:off x="2674620" y="2091690"/>
            <a:ext cx="1536192" cy="0"/>
          </a:xfrm>
          <a:prstGeom prst="line">
            <a:avLst/>
          </a:prstGeom>
          <a:ln w="73152" cap="rnd">
            <a:solidFill>
              <a:srgbClr val="C8901F"/>
            </a:solidFill>
            <a:tailEnd type="triangle" w="med" len="med"/>
          </a:ln>
        </p:spPr>
        <p:txBody>
          <a:bodyPr/>
          <a:lstStyle/>
          <a:p>
            <a:endParaRPr lang="zh-TW" altLang="en-US" sz="1350"/>
          </a:p>
        </p:txBody>
      </p:sp>
      <p:sp>
        <p:nvSpPr>
          <p:cNvPr id="429" name="文字 429"/>
          <p:cNvSpPr txBox="1"/>
          <p:nvPr/>
        </p:nvSpPr>
        <p:spPr>
          <a:xfrm>
            <a:off x="1371600" y="1940814"/>
            <a:ext cx="1234440" cy="308610"/>
          </a:xfrm>
          <a:prstGeom prst="rect">
            <a:avLst/>
          </a:prstGeom>
          <a:noFill/>
          <a:ln>
            <a:noFill/>
          </a:ln>
        </p:spPr>
        <p:txBody>
          <a:bodyPr wrap="none" lIns="34290" tIns="0" rIns="34290" bIns="0" anchor="ctr">
            <a:noAutofit/>
          </a:bodyPr>
          <a:lstStyle/>
          <a:p>
            <a:pPr algn="r">
              <a:buNone/>
            </a:pPr>
            <a:r>
              <a:rPr lang="zh-TW" altLang="en-US" b="1" dirty="0">
                <a:solidFill>
                  <a:srgbClr val="9A6D12"/>
                </a:solidFill>
                <a:latin typeface="Microsoft JhengHei"/>
                <a:ea typeface="Microsoft JhengHei"/>
                <a:cs typeface="Microsoft JhengHei"/>
              </a:rPr>
              <a:t>回程 4 m</a:t>
            </a:r>
          </a:p>
        </p:txBody>
      </p:sp>
      <p:sp>
        <p:nvSpPr>
          <p:cNvPr id="430" name="線 430"/>
          <p:cNvSpPr/>
          <p:nvPr/>
        </p:nvSpPr>
        <p:spPr>
          <a:xfrm>
            <a:off x="1138428" y="3326130"/>
            <a:ext cx="1536192" cy="0"/>
          </a:xfrm>
          <a:prstGeom prst="line">
            <a:avLst/>
          </a:prstGeom>
          <a:ln w="54864" cap="rnd">
            <a:solidFill>
              <a:srgbClr val="D6006F"/>
            </a:solidFill>
            <a:tailEnd type="triangle" w="med" len="med"/>
          </a:ln>
        </p:spPr>
        <p:txBody>
          <a:bodyPr/>
          <a:lstStyle/>
          <a:p>
            <a:endParaRPr lang="zh-TW" altLang="en-US" sz="1350"/>
          </a:p>
        </p:txBody>
      </p:sp>
      <p:sp>
        <p:nvSpPr>
          <p:cNvPr id="431" name="文字 431"/>
          <p:cNvSpPr txBox="1"/>
          <p:nvPr/>
        </p:nvSpPr>
        <p:spPr>
          <a:xfrm>
            <a:off x="2777490" y="3175254"/>
            <a:ext cx="13716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4 m</a:t>
            </a:r>
          </a:p>
        </p:txBody>
      </p:sp>
      <p:sp>
        <p:nvSpPr>
          <p:cNvPr id="432" name="圓 432"/>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433" name="文字 433"/>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先往前到 9 m，再折回 5 m</a:t>
            </a:r>
          </a:p>
        </p:txBody>
      </p:sp>
      <p:sp>
        <p:nvSpPr>
          <p:cNvPr id="434" name="圓 434"/>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435" name="文字 435"/>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8 + 4 = 12 m</a:t>
            </a:r>
          </a:p>
        </p:txBody>
      </p:sp>
      <p:sp>
        <p:nvSpPr>
          <p:cNvPr id="436" name="圓 436"/>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437" name="文字 437"/>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5 − 1 = 4 m</a:t>
            </a:r>
          </a:p>
        </p:txBody>
      </p:sp>
      <p:sp>
        <p:nvSpPr>
          <p:cNvPr id="438" name="框 438"/>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439" name="文字 439"/>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440" name="文字 440"/>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折返的那段，位移被抵銷了</a:t>
            </a:r>
          </a:p>
        </p:txBody>
      </p:sp>
      <p:sp>
        <p:nvSpPr>
          <p:cNvPr id="441" name="文字 441"/>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500"/>
                                        <p:tgtEl>
                                          <p:spTgt spid="4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2"/>
                                        </p:tgtEl>
                                        <p:attrNameLst>
                                          <p:attrName>style.visibility</p:attrName>
                                        </p:attrNameLst>
                                      </p:cBhvr>
                                      <p:to>
                                        <p:strVal val="visible"/>
                                      </p:to>
                                    </p:set>
                                    <p:animEffect transition="in" filter="fade">
                                      <p:cBhvr>
                                        <p:cTn id="10" dur="500"/>
                                        <p:tgtEl>
                                          <p:spTgt spid="4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2"/>
                                        </p:tgtEl>
                                        <p:attrNameLst>
                                          <p:attrName>style.visibility</p:attrName>
                                        </p:attrNameLst>
                                      </p:cBhvr>
                                      <p:to>
                                        <p:strVal val="visible"/>
                                      </p:to>
                                    </p:set>
                                    <p:animEffect transition="in" filter="fade">
                                      <p:cBhvr>
                                        <p:cTn id="13" dur="500"/>
                                        <p:tgtEl>
                                          <p:spTgt spid="4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3"/>
                                        </p:tgtEl>
                                        <p:attrNameLst>
                                          <p:attrName>style.visibility</p:attrName>
                                        </p:attrNameLst>
                                      </p:cBhvr>
                                      <p:to>
                                        <p:strVal val="visible"/>
                                      </p:to>
                                    </p:set>
                                    <p:animEffect transition="in" filter="fade">
                                      <p:cBhvr>
                                        <p:cTn id="16" dur="500"/>
                                        <p:tgtEl>
                                          <p:spTgt spid="4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425">
                                            <p:txEl>
                                              <p:charRg st="4294967295" end="4294967295"/>
                                            </p:txEl>
                                          </p:spTgt>
                                        </p:tgtEl>
                                        <p:attrNameLst>
                                          <p:attrName>style.visibility</p:attrName>
                                        </p:attrNameLst>
                                      </p:cBhvr>
                                      <p:to>
                                        <p:strVal val="visible"/>
                                      </p:to>
                                    </p:set>
                                    <p:animEffect transition="in" filter="fade">
                                      <p:cBhvr>
                                        <p:cTn id="21" dur="300"/>
                                        <p:tgtEl>
                                          <p:spTgt spid="42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6"/>
                                        </p:tgtEl>
                                        <p:attrNameLst>
                                          <p:attrName>style.visibility</p:attrName>
                                        </p:attrNameLst>
                                      </p:cBhvr>
                                      <p:to>
                                        <p:strVal val="visible"/>
                                      </p:to>
                                    </p:set>
                                    <p:animEffect transition="in" filter="fade">
                                      <p:cBhvr>
                                        <p:cTn id="24" dur="2000"/>
                                        <p:tgtEl>
                                          <p:spTgt spid="4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0"/>
                                        </p:tgtEl>
                                        <p:attrNameLst>
                                          <p:attrName>style.visibility</p:attrName>
                                        </p:attrNameLst>
                                      </p:cBhvr>
                                      <p:to>
                                        <p:strVal val="visible"/>
                                      </p:to>
                                    </p:set>
                                    <p:animEffect transition="in" filter="fade">
                                      <p:cBhvr>
                                        <p:cTn id="27" dur="500"/>
                                        <p:tgtEl>
                                          <p:spTgt spid="4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4"/>
                                        </p:tgtEl>
                                        <p:attrNameLst>
                                          <p:attrName>style.visibility</p:attrName>
                                        </p:attrNameLst>
                                      </p:cBhvr>
                                      <p:to>
                                        <p:strVal val="visible"/>
                                      </p:to>
                                    </p:set>
                                    <p:animEffect transition="in" filter="fade">
                                      <p:cBhvr>
                                        <p:cTn id="30" dur="500"/>
                                        <p:tgtEl>
                                          <p:spTgt spid="4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28"/>
                                        </p:tgtEl>
                                        <p:attrNameLst>
                                          <p:attrName>style.visibility</p:attrName>
                                        </p:attrNameLst>
                                      </p:cBhvr>
                                      <p:to>
                                        <p:strVal val="visible"/>
                                      </p:to>
                                    </p:set>
                                    <p:animEffect transition="in" filter="fade">
                                      <p:cBhvr>
                                        <p:cTn id="33" dur="1500"/>
                                        <p:tgtEl>
                                          <p:spTgt spid="42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21"/>
                                        </p:tgtEl>
                                        <p:attrNameLst>
                                          <p:attrName>style.visibility</p:attrName>
                                        </p:attrNameLst>
                                      </p:cBhvr>
                                      <p:to>
                                        <p:strVal val="visible"/>
                                      </p:to>
                                    </p:set>
                                    <p:animEffect transition="in" filter="fade">
                                      <p:cBhvr>
                                        <p:cTn id="36" dur="500"/>
                                        <p:tgtEl>
                                          <p:spTgt spid="4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23"/>
                                        </p:tgtEl>
                                        <p:attrNameLst>
                                          <p:attrName>style.visibility</p:attrName>
                                        </p:attrNameLst>
                                      </p:cBhvr>
                                      <p:to>
                                        <p:strVal val="visible"/>
                                      </p:to>
                                    </p:set>
                                    <p:animEffect transition="in" filter="fade">
                                      <p:cBhvr>
                                        <p:cTn id="39" dur="500"/>
                                        <p:tgtEl>
                                          <p:spTgt spid="4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27"/>
                                        </p:tgtEl>
                                        <p:attrNameLst>
                                          <p:attrName>style.visibility</p:attrName>
                                        </p:attrNameLst>
                                      </p:cBhvr>
                                      <p:to>
                                        <p:strVal val="visible"/>
                                      </p:to>
                                    </p:set>
                                    <p:animEffect transition="in" filter="fade">
                                      <p:cBhvr>
                                        <p:cTn id="44" dur="500"/>
                                        <p:tgtEl>
                                          <p:spTgt spid="4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29"/>
                                        </p:tgtEl>
                                        <p:attrNameLst>
                                          <p:attrName>style.visibility</p:attrName>
                                        </p:attrNameLst>
                                      </p:cBhvr>
                                      <p:to>
                                        <p:strVal val="visible"/>
                                      </p:to>
                                    </p:set>
                                    <p:animEffect transition="in" filter="fade">
                                      <p:cBhvr>
                                        <p:cTn id="47" dur="500"/>
                                        <p:tgtEl>
                                          <p:spTgt spid="4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4"/>
                                        </p:tgtEl>
                                        <p:attrNameLst>
                                          <p:attrName>style.visibility</p:attrName>
                                        </p:attrNameLst>
                                      </p:cBhvr>
                                      <p:to>
                                        <p:strVal val="visible"/>
                                      </p:to>
                                    </p:set>
                                    <p:animEffect transition="in" filter="fade">
                                      <p:cBhvr>
                                        <p:cTn id="50" dur="500"/>
                                        <p:tgtEl>
                                          <p:spTgt spid="4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35"/>
                                        </p:tgtEl>
                                        <p:attrNameLst>
                                          <p:attrName>style.visibility</p:attrName>
                                        </p:attrNameLst>
                                      </p:cBhvr>
                                      <p:to>
                                        <p:strVal val="visible"/>
                                      </p:to>
                                    </p:set>
                                    <p:animEffect transition="in" filter="fade">
                                      <p:cBhvr>
                                        <p:cTn id="53" dur="500"/>
                                        <p:tgtEl>
                                          <p:spTgt spid="43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30"/>
                                        </p:tgtEl>
                                        <p:attrNameLst>
                                          <p:attrName>style.visibility</p:attrName>
                                        </p:attrNameLst>
                                      </p:cBhvr>
                                      <p:to>
                                        <p:strVal val="visible"/>
                                      </p:to>
                                    </p:set>
                                    <p:animEffect transition="in" filter="fade">
                                      <p:cBhvr>
                                        <p:cTn id="58" dur="500"/>
                                        <p:tgtEl>
                                          <p:spTgt spid="43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1"/>
                                        </p:tgtEl>
                                        <p:attrNameLst>
                                          <p:attrName>style.visibility</p:attrName>
                                        </p:attrNameLst>
                                      </p:cBhvr>
                                      <p:to>
                                        <p:strVal val="visible"/>
                                      </p:to>
                                    </p:set>
                                    <p:animEffect transition="in" filter="fade">
                                      <p:cBhvr>
                                        <p:cTn id="61" dur="500"/>
                                        <p:tgtEl>
                                          <p:spTgt spid="4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6"/>
                                        </p:tgtEl>
                                        <p:attrNameLst>
                                          <p:attrName>style.visibility</p:attrName>
                                        </p:attrNameLst>
                                      </p:cBhvr>
                                      <p:to>
                                        <p:strVal val="visible"/>
                                      </p:to>
                                    </p:set>
                                    <p:animEffect transition="in" filter="fade">
                                      <p:cBhvr>
                                        <p:cTn id="64" dur="500"/>
                                        <p:tgtEl>
                                          <p:spTgt spid="4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7"/>
                                        </p:tgtEl>
                                        <p:attrNameLst>
                                          <p:attrName>style.visibility</p:attrName>
                                        </p:attrNameLst>
                                      </p:cBhvr>
                                      <p:to>
                                        <p:strVal val="visible"/>
                                      </p:to>
                                    </p:set>
                                    <p:animEffect transition="in" filter="fade">
                                      <p:cBhvr>
                                        <p:cTn id="67" dur="500"/>
                                        <p:tgtEl>
                                          <p:spTgt spid="43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38"/>
                                        </p:tgtEl>
                                        <p:attrNameLst>
                                          <p:attrName>style.visibility</p:attrName>
                                        </p:attrNameLst>
                                      </p:cBhvr>
                                      <p:to>
                                        <p:strVal val="visible"/>
                                      </p:to>
                                    </p:set>
                                    <p:animEffect transition="in" filter="fade">
                                      <p:cBhvr>
                                        <p:cTn id="72" dur="500"/>
                                        <p:tgtEl>
                                          <p:spTgt spid="43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9"/>
                                        </p:tgtEl>
                                        <p:attrNameLst>
                                          <p:attrName>style.visibility</p:attrName>
                                        </p:attrNameLst>
                                      </p:cBhvr>
                                      <p:to>
                                        <p:strVal val="visible"/>
                                      </p:to>
                                    </p:set>
                                    <p:animEffect transition="in" filter="fade">
                                      <p:cBhvr>
                                        <p:cTn id="75" dur="500"/>
                                        <p:tgtEl>
                                          <p:spTgt spid="4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0"/>
                                        </p:tgtEl>
                                        <p:attrNameLst>
                                          <p:attrName>style.visibility</p:attrName>
                                        </p:attrNameLst>
                                      </p:cBhvr>
                                      <p:to>
                                        <p:strVal val="visible"/>
                                      </p:to>
                                    </p:set>
                                    <p:animEffect transition="in" filter="fade">
                                      <p:cBhvr>
                                        <p:cTn id="78" dur="5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 grpId="0" animBg="1"/>
      <p:bldP spid="420" grpId="0" animBg="1"/>
      <p:bldP spid="421" grpId="0" animBg="1"/>
      <p:bldP spid="422" grpId="0" animBg="1"/>
      <p:bldP spid="423" grpId="0" animBg="1"/>
      <p:bldP spid="424" grpId="0" animBg="1"/>
      <p:bldP spid="425" grpId="0"/>
      <p:bldP spid="426" grpId="0" animBg="1"/>
      <p:bldP spid="427" grpId="0" animBg="1"/>
      <p:bldP spid="428" grpId="0" animBg="1"/>
      <p:bldP spid="429" grpId="0" animBg="1"/>
      <p:bldP spid="430" grpId="0" animBg="1"/>
      <p:bldP spid="431" grpId="0" animBg="1"/>
      <p:bldP spid="432" grpId="0" animBg="1"/>
      <p:bldP spid="433" grpId="0" animBg="1"/>
      <p:bldP spid="434" grpId="0" animBg="1"/>
      <p:bldP spid="435" grpId="0" animBg="1"/>
      <p:bldP spid="436" grpId="0" animBg="1"/>
      <p:bldP spid="437" grpId="0" animBg="1"/>
      <p:bldP spid="438" grpId="0" animBg="1"/>
      <p:bldP spid="439" grpId="0" animBg="1"/>
      <p:bldP spid="4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文字 5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特性對比：位移 vs 路徑長</a:t>
            </a:r>
          </a:p>
        </p:txBody>
      </p:sp>
      <p:sp>
        <p:nvSpPr>
          <p:cNvPr id="502" name="文字 502"/>
          <p:cNvSpPr txBox="1"/>
          <p:nvPr/>
        </p:nvSpPr>
        <p:spPr>
          <a:xfrm>
            <a:off x="425196" y="1062990"/>
            <a:ext cx="1755648" cy="411480"/>
          </a:xfrm>
          <a:prstGeom prst="rect">
            <a:avLst/>
          </a:prstGeom>
          <a:solidFill>
            <a:srgbClr val="1E2761"/>
          </a:solidFill>
          <a:ln>
            <a:noFill/>
          </a:ln>
        </p:spPr>
        <p:txBody>
          <a:bodyPr wrap="none" lIns="34290" tIns="0" rIns="34290" bIns="0" anchor="ctr">
            <a:noAutofit/>
          </a:bodyPr>
          <a:lstStyle/>
          <a:p>
            <a:pPr algn="ctr">
              <a:buNone/>
            </a:pPr>
            <a:endParaRPr sz="1350"/>
          </a:p>
        </p:txBody>
      </p:sp>
      <p:sp>
        <p:nvSpPr>
          <p:cNvPr id="503" name="文字 503"/>
          <p:cNvSpPr txBox="1"/>
          <p:nvPr/>
        </p:nvSpPr>
        <p:spPr>
          <a:xfrm>
            <a:off x="2208276" y="1062990"/>
            <a:ext cx="134416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性質</a:t>
            </a:r>
          </a:p>
        </p:txBody>
      </p:sp>
      <p:sp>
        <p:nvSpPr>
          <p:cNvPr id="504" name="文字 504"/>
          <p:cNvSpPr txBox="1"/>
          <p:nvPr/>
        </p:nvSpPr>
        <p:spPr>
          <a:xfrm>
            <a:off x="3579876" y="1062990"/>
            <a:ext cx="223570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跟路徑的關係</a:t>
            </a:r>
          </a:p>
        </p:txBody>
      </p:sp>
      <p:sp>
        <p:nvSpPr>
          <p:cNvPr id="505" name="文字 505"/>
          <p:cNvSpPr txBox="1"/>
          <p:nvPr/>
        </p:nvSpPr>
        <p:spPr>
          <a:xfrm>
            <a:off x="5843016" y="1062990"/>
            <a:ext cx="285292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大小是</a:t>
            </a:r>
          </a:p>
        </p:txBody>
      </p:sp>
      <p:sp>
        <p:nvSpPr>
          <p:cNvPr id="506" name="文字 506"/>
          <p:cNvSpPr txBox="1"/>
          <p:nvPr/>
        </p:nvSpPr>
        <p:spPr>
          <a:xfrm>
            <a:off x="425196" y="1474470"/>
            <a:ext cx="1755648" cy="466344"/>
          </a:xfrm>
          <a:prstGeom prst="rect">
            <a:avLst/>
          </a:prstGeom>
          <a:solidFill>
            <a:srgbClr val="F4F6FB"/>
          </a:solidFill>
          <a:ln>
            <a:noFill/>
          </a:ln>
        </p:spPr>
        <p:txBody>
          <a:bodyPr wrap="none" lIns="34290" tIns="0" rIns="34290" bIns="0" anchor="ctr">
            <a:noAutofit/>
          </a:bodyPr>
          <a:lstStyle/>
          <a:p>
            <a:pPr algn="ctr">
              <a:buNone/>
            </a:pPr>
            <a:r>
              <a:rPr lang="zh-TW" altLang="en-US" b="1" dirty="0">
                <a:solidFill>
                  <a:srgbClr val="D6006F"/>
                </a:solidFill>
                <a:latin typeface="Microsoft JhengHei"/>
                <a:ea typeface="Microsoft JhengHei"/>
                <a:cs typeface="Microsoft JhengHei"/>
              </a:rPr>
              <a:t>位移 Δr</a:t>
            </a:r>
          </a:p>
        </p:txBody>
      </p:sp>
      <p:sp>
        <p:nvSpPr>
          <p:cNvPr id="507" name="文字 507"/>
          <p:cNvSpPr txBox="1"/>
          <p:nvPr/>
        </p:nvSpPr>
        <p:spPr>
          <a:xfrm>
            <a:off x="2208276" y="1474470"/>
            <a:ext cx="134416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向量</a:t>
            </a:r>
          </a:p>
        </p:txBody>
      </p:sp>
      <p:sp>
        <p:nvSpPr>
          <p:cNvPr id="508" name="文字 508"/>
          <p:cNvSpPr txBox="1"/>
          <p:nvPr/>
        </p:nvSpPr>
        <p:spPr>
          <a:xfrm>
            <a:off x="3579876" y="1474470"/>
            <a:ext cx="223570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與路徑無關</a:t>
            </a:r>
          </a:p>
        </p:txBody>
      </p:sp>
      <p:sp>
        <p:nvSpPr>
          <p:cNvPr id="509" name="文字 509"/>
          <p:cNvSpPr txBox="1"/>
          <p:nvPr/>
        </p:nvSpPr>
        <p:spPr>
          <a:xfrm>
            <a:off x="5843016" y="1474470"/>
            <a:ext cx="285292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起點到終點的直線距離</a:t>
            </a:r>
          </a:p>
        </p:txBody>
      </p:sp>
      <p:sp>
        <p:nvSpPr>
          <p:cNvPr id="510" name="文字 510"/>
          <p:cNvSpPr txBox="1"/>
          <p:nvPr/>
        </p:nvSpPr>
        <p:spPr>
          <a:xfrm>
            <a:off x="425196" y="1968246"/>
            <a:ext cx="1755648" cy="466344"/>
          </a:xfrm>
          <a:prstGeom prst="rect">
            <a:avLst/>
          </a:prstGeom>
          <a:solidFill>
            <a:srgbClr val="FFFFFF"/>
          </a:solidFill>
          <a:ln>
            <a:noFill/>
          </a:ln>
        </p:spPr>
        <p:txBody>
          <a:bodyPr wrap="none" lIns="34290" tIns="0" rIns="34290" bIns="0" anchor="ctr">
            <a:noAutofit/>
          </a:bodyPr>
          <a:lstStyle/>
          <a:p>
            <a:pPr algn="ctr">
              <a:buNone/>
            </a:pPr>
            <a:r>
              <a:rPr lang="zh-TW" altLang="en-US" b="1" dirty="0">
                <a:solidFill>
                  <a:srgbClr val="9A6D12"/>
                </a:solidFill>
                <a:latin typeface="Microsoft JhengHei"/>
                <a:ea typeface="Microsoft JhengHei"/>
                <a:cs typeface="Microsoft JhengHei"/>
              </a:rPr>
              <a:t>路徑長 Δs</a:t>
            </a:r>
          </a:p>
        </p:txBody>
      </p:sp>
      <p:sp>
        <p:nvSpPr>
          <p:cNvPr id="511" name="文字 511"/>
          <p:cNvSpPr txBox="1"/>
          <p:nvPr/>
        </p:nvSpPr>
        <p:spPr>
          <a:xfrm>
            <a:off x="2208276" y="1968246"/>
            <a:ext cx="134416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純量</a:t>
            </a:r>
          </a:p>
        </p:txBody>
      </p:sp>
      <p:sp>
        <p:nvSpPr>
          <p:cNvPr id="512" name="文字 512"/>
          <p:cNvSpPr txBox="1"/>
          <p:nvPr/>
        </p:nvSpPr>
        <p:spPr>
          <a:xfrm>
            <a:off x="3579876" y="1968246"/>
            <a:ext cx="223570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與路徑有關</a:t>
            </a:r>
          </a:p>
        </p:txBody>
      </p:sp>
      <p:sp>
        <p:nvSpPr>
          <p:cNvPr id="513" name="文字 513"/>
          <p:cNvSpPr txBox="1"/>
          <p:nvPr/>
        </p:nvSpPr>
        <p:spPr>
          <a:xfrm>
            <a:off x="5843016" y="1968246"/>
            <a:ext cx="285292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實際走過的總距離</a:t>
            </a:r>
          </a:p>
        </p:txBody>
      </p:sp>
      <p:sp>
        <p:nvSpPr>
          <p:cNvPr id="514" name="文字 514"/>
          <p:cNvSpPr txBox="1"/>
          <p:nvPr/>
        </p:nvSpPr>
        <p:spPr>
          <a:xfrm>
            <a:off x="425196" y="2708910"/>
            <a:ext cx="8298180" cy="41148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三種情況：曲線 |Δr| &lt; Δs；直線不折返 |Δr| = Δs；直線有折返 |Δr| &lt; Δs</a:t>
            </a:r>
          </a:p>
        </p:txBody>
      </p:sp>
      <p:sp>
        <p:nvSpPr>
          <p:cNvPr id="515" name="文字 515"/>
          <p:cNvSpPr txBox="1"/>
          <p:nvPr/>
        </p:nvSpPr>
        <p:spPr>
          <a:xfrm>
            <a:off x="425196" y="3257550"/>
            <a:ext cx="8298180" cy="548640"/>
          </a:xfrm>
          <a:prstGeom prst="roundRect">
            <a:avLst/>
          </a:prstGeom>
          <a:solidFill>
            <a:srgbClr val="1E2761"/>
          </a:solidFill>
          <a:ln>
            <a:noFill/>
          </a:ln>
        </p:spPr>
        <p:txBody>
          <a:bodyPr wrap="none" lIns="34290" tIns="0" rIns="34290" bIns="0" anchor="ctr">
            <a:noAutofit/>
          </a:bodyPr>
          <a:lstStyle/>
          <a:p>
            <a:pPr algn="ctr">
              <a:buNone/>
            </a:pPr>
            <a:r>
              <a:rPr lang="zh-TW" altLang="en-US" sz="2100" b="1" dirty="0">
                <a:solidFill>
                  <a:srgbClr val="FFFFFF"/>
                </a:solidFill>
                <a:latin typeface="Microsoft JhengHei"/>
                <a:ea typeface="Microsoft JhengHei"/>
                <a:cs typeface="Microsoft JhengHei"/>
              </a:rPr>
              <a:t>口訣：位移看頭尾，路徑長看全程。永遠 |Δr| ≤ Δs。</a:t>
            </a:r>
          </a:p>
        </p:txBody>
      </p:sp>
      <p:sp>
        <p:nvSpPr>
          <p:cNvPr id="516" name="文字 516"/>
          <p:cNvSpPr txBox="1"/>
          <p:nvPr/>
        </p:nvSpPr>
        <p:spPr>
          <a:xfrm>
            <a:off x="425196" y="3943350"/>
            <a:ext cx="8298180" cy="342900"/>
          </a:xfrm>
          <a:prstGeom prst="rect">
            <a:avLst/>
          </a:prstGeom>
          <a:noFill/>
          <a:ln>
            <a:noFill/>
          </a:ln>
        </p:spPr>
        <p:txBody>
          <a:bodyPr wrap="none" lIns="34290" tIns="0" rIns="34290" bIns="0" anchor="ctr">
            <a:noAutofit/>
          </a:bodyPr>
          <a:lstStyle/>
          <a:p>
            <a:pPr algn="l">
              <a:buNone/>
            </a:pPr>
            <a:r>
              <a:rPr lang="zh-TW" altLang="en-US" b="1" dirty="0">
                <a:solidFill>
                  <a:srgbClr val="B23A28"/>
                </a:solidFill>
                <a:latin typeface="Microsoft JhengHei"/>
                <a:ea typeface="Microsoft JhengHei"/>
                <a:cs typeface="Microsoft JhengHei"/>
              </a:rPr>
              <a:t>所以「平均速度的大小」也一定 ≤「平均速率」。</a:t>
            </a:r>
          </a:p>
        </p:txBody>
      </p:sp>
      <p:sp>
        <p:nvSpPr>
          <p:cNvPr id="517" name="文字 517"/>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500"/>
                                        <p:tgtEl>
                                          <p:spTgt spid="5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7"/>
                                        </p:tgtEl>
                                        <p:attrNameLst>
                                          <p:attrName>style.visibility</p:attrName>
                                        </p:attrNameLst>
                                      </p:cBhvr>
                                      <p:to>
                                        <p:strVal val="visible"/>
                                      </p:to>
                                    </p:set>
                                    <p:animEffect transition="in" filter="fade">
                                      <p:cBhvr>
                                        <p:cTn id="10" dur="500"/>
                                        <p:tgtEl>
                                          <p:spTgt spid="5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8"/>
                                        </p:tgtEl>
                                        <p:attrNameLst>
                                          <p:attrName>style.visibility</p:attrName>
                                        </p:attrNameLst>
                                      </p:cBhvr>
                                      <p:to>
                                        <p:strVal val="visible"/>
                                      </p:to>
                                    </p:set>
                                    <p:animEffect transition="in" filter="fade">
                                      <p:cBhvr>
                                        <p:cTn id="13" dur="500"/>
                                        <p:tgtEl>
                                          <p:spTgt spid="50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09"/>
                                        </p:tgtEl>
                                        <p:attrNameLst>
                                          <p:attrName>style.visibility</p:attrName>
                                        </p:attrNameLst>
                                      </p:cBhvr>
                                      <p:to>
                                        <p:strVal val="visible"/>
                                      </p:to>
                                    </p:set>
                                    <p:animEffect transition="in" filter="fade">
                                      <p:cBhvr>
                                        <p:cTn id="16" dur="500"/>
                                        <p:tgtEl>
                                          <p:spTgt spid="50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10"/>
                                        </p:tgtEl>
                                        <p:attrNameLst>
                                          <p:attrName>style.visibility</p:attrName>
                                        </p:attrNameLst>
                                      </p:cBhvr>
                                      <p:to>
                                        <p:strVal val="visible"/>
                                      </p:to>
                                    </p:set>
                                    <p:animEffect transition="in" filter="fade">
                                      <p:cBhvr>
                                        <p:cTn id="21" dur="500"/>
                                        <p:tgtEl>
                                          <p:spTgt spid="5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1"/>
                                        </p:tgtEl>
                                        <p:attrNameLst>
                                          <p:attrName>style.visibility</p:attrName>
                                        </p:attrNameLst>
                                      </p:cBhvr>
                                      <p:to>
                                        <p:strVal val="visible"/>
                                      </p:to>
                                    </p:set>
                                    <p:animEffect transition="in" filter="fade">
                                      <p:cBhvr>
                                        <p:cTn id="24" dur="500"/>
                                        <p:tgtEl>
                                          <p:spTgt spid="5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2"/>
                                        </p:tgtEl>
                                        <p:attrNameLst>
                                          <p:attrName>style.visibility</p:attrName>
                                        </p:attrNameLst>
                                      </p:cBhvr>
                                      <p:to>
                                        <p:strVal val="visible"/>
                                      </p:to>
                                    </p:set>
                                    <p:animEffect transition="in" filter="fade">
                                      <p:cBhvr>
                                        <p:cTn id="27" dur="500"/>
                                        <p:tgtEl>
                                          <p:spTgt spid="5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13"/>
                                        </p:tgtEl>
                                        <p:attrNameLst>
                                          <p:attrName>style.visibility</p:attrName>
                                        </p:attrNameLst>
                                      </p:cBhvr>
                                      <p:to>
                                        <p:strVal val="visible"/>
                                      </p:to>
                                    </p:set>
                                    <p:animEffect transition="in" filter="fade">
                                      <p:cBhvr>
                                        <p:cTn id="30" dur="500"/>
                                        <p:tgtEl>
                                          <p:spTgt spid="5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14"/>
                                        </p:tgtEl>
                                        <p:attrNameLst>
                                          <p:attrName>style.visibility</p:attrName>
                                        </p:attrNameLst>
                                      </p:cBhvr>
                                      <p:to>
                                        <p:strVal val="visible"/>
                                      </p:to>
                                    </p:set>
                                    <p:animEffect transition="in" filter="fade">
                                      <p:cBhvr>
                                        <p:cTn id="35" dur="500"/>
                                        <p:tgtEl>
                                          <p:spTgt spid="5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15"/>
                                        </p:tgtEl>
                                        <p:attrNameLst>
                                          <p:attrName>style.visibility</p:attrName>
                                        </p:attrNameLst>
                                      </p:cBhvr>
                                      <p:to>
                                        <p:strVal val="visible"/>
                                      </p:to>
                                    </p:set>
                                    <p:animEffect transition="in" filter="fade">
                                      <p:cBhvr>
                                        <p:cTn id="40" dur="500"/>
                                        <p:tgtEl>
                                          <p:spTgt spid="5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16"/>
                                        </p:tgtEl>
                                        <p:attrNameLst>
                                          <p:attrName>style.visibility</p:attrName>
                                        </p:attrNameLst>
                                      </p:cBhvr>
                                      <p:to>
                                        <p:strVal val="visible"/>
                                      </p:to>
                                    </p:set>
                                    <p:animEffect transition="in" filter="fade">
                                      <p:cBhvr>
                                        <p:cTn id="45" dur="5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 grpId="0" animBg="1"/>
      <p:bldP spid="507" grpId="0" animBg="1"/>
      <p:bldP spid="508" grpId="0" animBg="1"/>
      <p:bldP spid="509" grpId="0" animBg="1"/>
      <p:bldP spid="510" grpId="0" animBg="1"/>
      <p:bldP spid="511" grpId="0" animBg="1"/>
      <p:bldP spid="512" grpId="0" animBg="1"/>
      <p:bldP spid="513" grpId="0" animBg="1"/>
      <p:bldP spid="514" grpId="0" animBg="1"/>
      <p:bldP spid="515" grpId="0" animBg="1"/>
      <p:bldP spid="5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marL="0" lvl="1" indent="698500" fontAlgn="base">
              <a:lnSpc>
                <a:spcPct val="100000"/>
              </a:lnSpc>
              <a:buClr>
                <a:srgbClr val="1F8899"/>
              </a:buClr>
              <a:tabLst>
                <a:tab pos="1766888" algn="l"/>
              </a:tabLst>
            </a:pPr>
            <a:r>
              <a:rPr lang="zh-TW" altLang="zh-TW" sz="2800" b="0" dirty="0">
                <a:solidFill>
                  <a:schemeClr val="tx1"/>
                </a:solidFill>
                <a:latin typeface="+mn-lt"/>
                <a:ea typeface="+mn-ea"/>
                <a:cs typeface="+mn-cs"/>
              </a:rPr>
              <a:t>一質點沿一曲線路徑運動者，稱為質點的曲線運動，各相關物理量定義如下：</a:t>
            </a:r>
            <a:endParaRPr lang="zh-TW" altLang="en-US" sz="2800" b="0" dirty="0">
              <a:solidFill>
                <a:schemeClr val="tx1"/>
              </a:solidFill>
              <a:latin typeface="+mn-lt"/>
              <a:ea typeface="+mn-ea"/>
              <a:cs typeface="+mn-cs"/>
            </a:endParaRPr>
          </a:p>
          <a:p>
            <a:endParaRPr lang="zh-TW" altLang="en-US" dirty="0"/>
          </a:p>
        </p:txBody>
      </p:sp>
      <p:pic>
        <p:nvPicPr>
          <p:cNvPr id="696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952" y="2100297"/>
            <a:ext cx="3808095" cy="2735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圖片 4" descr="The image depicts a mathematical expression involving variables and subtraction, with the equation Ar = r' - r = r' + (-r).&#10;&#10;AI 產生的內容可能不正確。">
            <a:extLst>
              <a:ext uri="{FF2B5EF4-FFF2-40B4-BE49-F238E27FC236}">
                <a16:creationId xmlns:a16="http://schemas.microsoft.com/office/drawing/2014/main" id="{F4B20E72-AF2D-BC30-E320-FBCC4FE16C10}"/>
              </a:ext>
            </a:extLst>
          </p:cNvPr>
          <p:cNvPicPr>
            <a:picLocks noChangeAspect="1"/>
          </p:cNvPicPr>
          <p:nvPr/>
        </p:nvPicPr>
        <p:blipFill>
          <a:blip r:embed="rId3"/>
          <a:stretch>
            <a:fillRect/>
          </a:stretch>
        </p:blipFill>
        <p:spPr>
          <a:xfrm>
            <a:off x="6542273" y="2571750"/>
            <a:ext cx="1901930" cy="395681"/>
          </a:xfrm>
          <a:prstGeom prst="rect">
            <a:avLst/>
          </a:prstGeom>
        </p:spPr>
      </p:pic>
    </p:spTree>
    <p:extLst>
      <p:ext uri="{BB962C8B-B14F-4D97-AF65-F5344CB8AC3E}">
        <p14:creationId xmlns:p14="http://schemas.microsoft.com/office/powerpoint/2010/main" val="1861728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文字 6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圖 2-12：位置、位移與路徑長</a:t>
            </a:r>
          </a:p>
        </p:txBody>
      </p:sp>
      <p:sp>
        <p:nvSpPr>
          <p:cNvPr id="602" name="框 602"/>
          <p:cNvSpPr/>
          <p:nvPr/>
        </p:nvSpPr>
        <p:spPr>
          <a:xfrm>
            <a:off x="342900" y="857250"/>
            <a:ext cx="5006340" cy="3566160"/>
          </a:xfrm>
          <a:prstGeom prst="roundRect">
            <a:avLst/>
          </a:prstGeom>
          <a:solidFill>
            <a:srgbClr val="F4F6FB"/>
          </a:solidFill>
          <a:ln>
            <a:noFill/>
          </a:ln>
        </p:spPr>
        <p:txBody>
          <a:bodyPr/>
          <a:lstStyle/>
          <a:p>
            <a:endParaRPr lang="zh-TW" altLang="en-US" sz="1350"/>
          </a:p>
        </p:txBody>
      </p:sp>
      <p:sp>
        <p:nvSpPr>
          <p:cNvPr id="603" name="圖形 603"/>
          <p:cNvSpPr/>
          <p:nvPr/>
        </p:nvSpPr>
        <p:spPr>
          <a:xfrm>
            <a:off x="3576886" y="1078114"/>
            <a:ext cx="537914" cy="3124433"/>
          </a:xfrm>
          <a:custGeom>
            <a:avLst/>
            <a:gdLst/>
            <a:ahLst/>
            <a:cxnLst/>
            <a:rect l="0" t="0" r="r" b="b"/>
            <a:pathLst>
              <a:path w="717219" h="4165910" fill="none">
                <a:moveTo>
                  <a:pt x="0" y="4165910"/>
                </a:moveTo>
                <a:lnTo>
                  <a:pt x="67595" y="4076371"/>
                </a:lnTo>
                <a:lnTo>
                  <a:pt x="132184" y="3984641"/>
                </a:lnTo>
                <a:lnTo>
                  <a:pt x="193696" y="3890819"/>
                </a:lnTo>
                <a:lnTo>
                  <a:pt x="252064" y="3795009"/>
                </a:lnTo>
                <a:lnTo>
                  <a:pt x="307223" y="3697317"/>
                </a:lnTo>
                <a:lnTo>
                  <a:pt x="359113" y="3597850"/>
                </a:lnTo>
                <a:lnTo>
                  <a:pt x="407677" y="3496716"/>
                </a:lnTo>
                <a:lnTo>
                  <a:pt x="452860" y="3394029"/>
                </a:lnTo>
                <a:lnTo>
                  <a:pt x="494614" y="3289900"/>
                </a:lnTo>
                <a:lnTo>
                  <a:pt x="532893" y="3184443"/>
                </a:lnTo>
                <a:lnTo>
                  <a:pt x="567654" y="3077776"/>
                </a:lnTo>
                <a:lnTo>
                  <a:pt x="598860" y="2970015"/>
                </a:lnTo>
                <a:lnTo>
                  <a:pt x="626476" y="2861278"/>
                </a:lnTo>
                <a:lnTo>
                  <a:pt x="650471" y="2751685"/>
                </a:lnTo>
                <a:lnTo>
                  <a:pt x="670819" y="2641357"/>
                </a:lnTo>
                <a:lnTo>
                  <a:pt x="687499" y="2530416"/>
                </a:lnTo>
                <a:lnTo>
                  <a:pt x="700491" y="2418982"/>
                </a:lnTo>
                <a:lnTo>
                  <a:pt x="709781" y="2307178"/>
                </a:lnTo>
                <a:lnTo>
                  <a:pt x="715359" y="2195128"/>
                </a:lnTo>
                <a:lnTo>
                  <a:pt x="717219" y="2082955"/>
                </a:lnTo>
                <a:lnTo>
                  <a:pt x="715359" y="1970782"/>
                </a:lnTo>
                <a:lnTo>
                  <a:pt x="709781" y="1858732"/>
                </a:lnTo>
                <a:lnTo>
                  <a:pt x="700491" y="1746929"/>
                </a:lnTo>
                <a:lnTo>
                  <a:pt x="687499" y="1635495"/>
                </a:lnTo>
                <a:lnTo>
                  <a:pt x="670819" y="1524553"/>
                </a:lnTo>
                <a:lnTo>
                  <a:pt x="650471" y="1414225"/>
                </a:lnTo>
                <a:lnTo>
                  <a:pt x="626476" y="1304632"/>
                </a:lnTo>
                <a:lnTo>
                  <a:pt x="598860" y="1195896"/>
                </a:lnTo>
                <a:lnTo>
                  <a:pt x="567654" y="1088134"/>
                </a:lnTo>
                <a:lnTo>
                  <a:pt x="532893" y="981467"/>
                </a:lnTo>
                <a:lnTo>
                  <a:pt x="494614" y="876011"/>
                </a:lnTo>
                <a:lnTo>
                  <a:pt x="452860" y="771881"/>
                </a:lnTo>
                <a:lnTo>
                  <a:pt x="407677" y="669194"/>
                </a:lnTo>
                <a:lnTo>
                  <a:pt x="359113" y="568061"/>
                </a:lnTo>
                <a:lnTo>
                  <a:pt x="307223" y="468593"/>
                </a:lnTo>
                <a:lnTo>
                  <a:pt x="252064" y="370901"/>
                </a:lnTo>
                <a:lnTo>
                  <a:pt x="193696" y="275092"/>
                </a:lnTo>
                <a:lnTo>
                  <a:pt x="132184" y="181270"/>
                </a:lnTo>
                <a:lnTo>
                  <a:pt x="67595" y="89539"/>
                </a:lnTo>
                <a:lnTo>
                  <a:pt x="0" y="0"/>
                </a:lnTo>
              </a:path>
            </a:pathLst>
          </a:custGeom>
          <a:noFill/>
          <a:ln w="32004" cap="rnd">
            <a:solidFill>
              <a:srgbClr val="9AA3B5"/>
            </a:solidFill>
          </a:ln>
        </p:spPr>
        <p:txBody>
          <a:bodyPr/>
          <a:lstStyle/>
          <a:p>
            <a:endParaRPr lang="zh-TW" altLang="en-US" sz="1350"/>
          </a:p>
        </p:txBody>
      </p:sp>
      <p:sp>
        <p:nvSpPr>
          <p:cNvPr id="604" name="圓 604"/>
          <p:cNvSpPr/>
          <p:nvPr/>
        </p:nvSpPr>
        <p:spPr>
          <a:xfrm>
            <a:off x="699516" y="4059936"/>
            <a:ext cx="109728" cy="109728"/>
          </a:xfrm>
          <a:prstGeom prst="ellipse">
            <a:avLst/>
          </a:prstGeom>
          <a:solidFill>
            <a:srgbClr val="2B3050"/>
          </a:solidFill>
          <a:ln>
            <a:noFill/>
          </a:ln>
        </p:spPr>
        <p:txBody>
          <a:bodyPr/>
          <a:lstStyle/>
          <a:p>
            <a:endParaRPr lang="zh-TW" altLang="en-US" sz="1350"/>
          </a:p>
        </p:txBody>
      </p:sp>
      <p:sp>
        <p:nvSpPr>
          <p:cNvPr id="605" name="文字 605"/>
          <p:cNvSpPr txBox="1"/>
          <p:nvPr/>
        </p:nvSpPr>
        <p:spPr>
          <a:xfrm>
            <a:off x="445770" y="397764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606" name="圓 606"/>
          <p:cNvSpPr/>
          <p:nvPr/>
        </p:nvSpPr>
        <p:spPr>
          <a:xfrm>
            <a:off x="3900050" y="3446471"/>
            <a:ext cx="123444" cy="123444"/>
          </a:xfrm>
          <a:prstGeom prst="ellipse">
            <a:avLst/>
          </a:prstGeom>
          <a:solidFill>
            <a:srgbClr val="1E2761"/>
          </a:solidFill>
          <a:ln>
            <a:noFill/>
          </a:ln>
        </p:spPr>
        <p:txBody>
          <a:bodyPr/>
          <a:lstStyle/>
          <a:p>
            <a:endParaRPr lang="zh-TW" altLang="en-US" sz="1350"/>
          </a:p>
        </p:txBody>
      </p:sp>
      <p:sp>
        <p:nvSpPr>
          <p:cNvPr id="607" name="文字 607"/>
          <p:cNvSpPr txBox="1"/>
          <p:nvPr/>
        </p:nvSpPr>
        <p:spPr>
          <a:xfrm>
            <a:off x="4064642" y="3473903"/>
            <a:ext cx="34290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608" name="文字 608"/>
          <p:cNvSpPr txBox="1"/>
          <p:nvPr/>
        </p:nvSpPr>
        <p:spPr>
          <a:xfrm>
            <a:off x="4373252" y="3542483"/>
            <a:ext cx="857250" cy="308610"/>
          </a:xfrm>
          <a:prstGeom prst="rect">
            <a:avLst/>
          </a:prstGeom>
          <a:solidFill>
            <a:srgbClr val="FFFFFF"/>
          </a:solidFill>
          <a:ln>
            <a:noFill/>
          </a:ln>
        </p:spPr>
        <p:txBody>
          <a:bodyPr wrap="none" lIns="34290" tIns="0" rIns="34290" bIns="0" anchor="ctr">
            <a:noAutofit/>
          </a:bodyPr>
          <a:lstStyle/>
          <a:p>
            <a:pPr algn="l">
              <a:buNone/>
            </a:pPr>
            <a:r>
              <a:rPr lang="zh-TW" altLang="en-US" dirty="0">
                <a:solidFill>
                  <a:srgbClr val="4A5378"/>
                </a:solidFill>
                <a:latin typeface="Microsoft JhengHei"/>
                <a:ea typeface="Microsoft JhengHei"/>
                <a:cs typeface="Microsoft JhengHei"/>
              </a:rPr>
              <a:t>時間 t</a:t>
            </a:r>
          </a:p>
        </p:txBody>
      </p:sp>
      <p:sp>
        <p:nvSpPr>
          <p:cNvPr id="609" name="線 609"/>
          <p:cNvSpPr/>
          <p:nvPr/>
        </p:nvSpPr>
        <p:spPr>
          <a:xfrm flipV="1">
            <a:off x="754381" y="3508192"/>
            <a:ext cx="3207392" cy="606608"/>
          </a:xfrm>
          <a:prstGeom prst="line">
            <a:avLst/>
          </a:prstGeom>
          <a:ln w="41148" cap="rnd">
            <a:solidFill>
              <a:srgbClr val="2F8F4E"/>
            </a:solidFill>
            <a:tailEnd type="triangle" w="med" len="med"/>
          </a:ln>
        </p:spPr>
        <p:txBody>
          <a:bodyPr/>
          <a:lstStyle/>
          <a:p>
            <a:endParaRPr lang="zh-TW" altLang="en-US" sz="1350"/>
          </a:p>
        </p:txBody>
      </p:sp>
      <p:sp>
        <p:nvSpPr>
          <p:cNvPr id="610" name="文字 610"/>
          <p:cNvSpPr txBox="1"/>
          <p:nvPr/>
        </p:nvSpPr>
        <p:spPr>
          <a:xfrm>
            <a:off x="2289497" y="3845786"/>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611" name="圓 611"/>
          <p:cNvSpPr/>
          <p:nvPr/>
        </p:nvSpPr>
        <p:spPr>
          <a:xfrm>
            <a:off x="3872618" y="3419039"/>
            <a:ext cx="178308" cy="178308"/>
          </a:xfrm>
          <a:prstGeom prst="ellipse">
            <a:avLst/>
          </a:prstGeom>
          <a:solidFill>
            <a:srgbClr val="B23A28"/>
          </a:solidFill>
          <a:ln>
            <a:noFill/>
          </a:ln>
        </p:spPr>
        <p:txBody>
          <a:bodyPr/>
          <a:lstStyle/>
          <a:p>
            <a:endParaRPr lang="zh-TW" altLang="en-US" sz="1350"/>
          </a:p>
        </p:txBody>
      </p:sp>
      <p:sp>
        <p:nvSpPr>
          <p:cNvPr id="612" name="圖形 612"/>
          <p:cNvSpPr/>
          <p:nvPr/>
        </p:nvSpPr>
        <p:spPr>
          <a:xfrm>
            <a:off x="3857994" y="1527981"/>
            <a:ext cx="256728" cy="1980212"/>
          </a:xfrm>
          <a:custGeom>
            <a:avLst/>
            <a:gdLst/>
            <a:ahLst/>
            <a:cxnLst/>
            <a:rect l="0" t="0" r="r" b="b"/>
            <a:pathLst>
              <a:path w="342304" h="2640282" fill="none">
                <a:moveTo>
                  <a:pt x="138371" y="2640282"/>
                </a:moveTo>
                <a:lnTo>
                  <a:pt x="160955" y="2576242"/>
                </a:lnTo>
                <a:lnTo>
                  <a:pt x="182249" y="2511761"/>
                </a:lnTo>
                <a:lnTo>
                  <a:pt x="202244" y="2446866"/>
                </a:lnTo>
                <a:lnTo>
                  <a:pt x="220933" y="2381583"/>
                </a:lnTo>
                <a:lnTo>
                  <a:pt x="238308" y="2315938"/>
                </a:lnTo>
                <a:lnTo>
                  <a:pt x="254361" y="2249957"/>
                </a:lnTo>
                <a:lnTo>
                  <a:pt x="269088" y="2183668"/>
                </a:lnTo>
                <a:lnTo>
                  <a:pt x="282481" y="2117096"/>
                </a:lnTo>
                <a:lnTo>
                  <a:pt x="294535" y="2050269"/>
                </a:lnTo>
                <a:lnTo>
                  <a:pt x="305246" y="1983213"/>
                </a:lnTo>
                <a:lnTo>
                  <a:pt x="314608" y="1915956"/>
                </a:lnTo>
                <a:lnTo>
                  <a:pt x="322619" y="1848524"/>
                </a:lnTo>
                <a:lnTo>
                  <a:pt x="329275" y="1780946"/>
                </a:lnTo>
                <a:lnTo>
                  <a:pt x="334573" y="1713247"/>
                </a:lnTo>
                <a:lnTo>
                  <a:pt x="338512" y="1645456"/>
                </a:lnTo>
                <a:lnTo>
                  <a:pt x="341089" y="1577599"/>
                </a:lnTo>
                <a:lnTo>
                  <a:pt x="342304" y="1509704"/>
                </a:lnTo>
                <a:lnTo>
                  <a:pt x="342156" y="1441799"/>
                </a:lnTo>
                <a:lnTo>
                  <a:pt x="340645" y="1373910"/>
                </a:lnTo>
                <a:lnTo>
                  <a:pt x="337771" y="1306065"/>
                </a:lnTo>
                <a:lnTo>
                  <a:pt x="333537" y="1238292"/>
                </a:lnTo>
                <a:lnTo>
                  <a:pt x="327944" y="1170617"/>
                </a:lnTo>
                <a:lnTo>
                  <a:pt x="320993" y="1103068"/>
                </a:lnTo>
                <a:lnTo>
                  <a:pt x="312688" y="1035672"/>
                </a:lnTo>
                <a:lnTo>
                  <a:pt x="303032" y="968456"/>
                </a:lnTo>
                <a:lnTo>
                  <a:pt x="292029" y="901448"/>
                </a:lnTo>
                <a:lnTo>
                  <a:pt x="279683" y="834674"/>
                </a:lnTo>
                <a:lnTo>
                  <a:pt x="266000" y="768161"/>
                </a:lnTo>
                <a:lnTo>
                  <a:pt x="250984" y="701937"/>
                </a:lnTo>
                <a:lnTo>
                  <a:pt x="234643" y="636027"/>
                </a:lnTo>
                <a:lnTo>
                  <a:pt x="216982" y="570458"/>
                </a:lnTo>
                <a:lnTo>
                  <a:pt x="198008" y="505257"/>
                </a:lnTo>
                <a:lnTo>
                  <a:pt x="177730" y="440450"/>
                </a:lnTo>
                <a:lnTo>
                  <a:pt x="156155" y="376063"/>
                </a:lnTo>
                <a:lnTo>
                  <a:pt x="133292" y="312121"/>
                </a:lnTo>
                <a:lnTo>
                  <a:pt x="109151" y="248652"/>
                </a:lnTo>
                <a:lnTo>
                  <a:pt x="83740" y="185680"/>
                </a:lnTo>
                <a:lnTo>
                  <a:pt x="57071" y="123230"/>
                </a:lnTo>
                <a:lnTo>
                  <a:pt x="29154" y="61329"/>
                </a:lnTo>
                <a:lnTo>
                  <a:pt x="0" y="0"/>
                </a:lnTo>
              </a:path>
            </a:pathLst>
          </a:custGeom>
          <a:noFill/>
          <a:ln w="82296" cap="rnd">
            <a:solidFill>
              <a:srgbClr val="C8901F"/>
            </a:solidFill>
          </a:ln>
        </p:spPr>
        <p:txBody>
          <a:bodyPr/>
          <a:lstStyle/>
          <a:p>
            <a:endParaRPr lang="zh-TW" altLang="en-US" sz="1350"/>
          </a:p>
        </p:txBody>
      </p:sp>
      <p:sp>
        <p:nvSpPr>
          <p:cNvPr id="613" name="文字 613"/>
          <p:cNvSpPr txBox="1"/>
          <p:nvPr/>
        </p:nvSpPr>
        <p:spPr>
          <a:xfrm>
            <a:off x="4214192" y="2356654"/>
            <a:ext cx="685800" cy="308610"/>
          </a:xfrm>
          <a:prstGeom prst="rect">
            <a:avLst/>
          </a:prstGeom>
          <a:noFill/>
          <a:ln>
            <a:noFill/>
          </a:ln>
        </p:spPr>
        <p:txBody>
          <a:bodyPr wrap="none" lIns="34290" tIns="0" rIns="34290" bIns="0" anchor="ctr">
            <a:noAutofit/>
          </a:bodyPr>
          <a:lstStyle/>
          <a:p>
            <a:pPr algn="l">
              <a:buNone/>
            </a:pPr>
            <a:r>
              <a:rPr lang="zh-TW" altLang="en-US" sz="1950" b="1" dirty="0">
                <a:solidFill>
                  <a:srgbClr val="9A6D12"/>
                </a:solidFill>
                <a:latin typeface="Microsoft JhengHei"/>
                <a:ea typeface="Microsoft JhengHei"/>
                <a:cs typeface="Microsoft JhengHei"/>
              </a:rPr>
              <a:t>Δs</a:t>
            </a:r>
          </a:p>
        </p:txBody>
      </p:sp>
      <p:sp>
        <p:nvSpPr>
          <p:cNvPr id="614" name="圓 614"/>
          <p:cNvSpPr/>
          <p:nvPr/>
        </p:nvSpPr>
        <p:spPr>
          <a:xfrm>
            <a:off x="3796272" y="1466259"/>
            <a:ext cx="123444" cy="123444"/>
          </a:xfrm>
          <a:prstGeom prst="ellipse">
            <a:avLst/>
          </a:prstGeom>
          <a:solidFill>
            <a:srgbClr val="1E2761"/>
          </a:solidFill>
          <a:ln>
            <a:noFill/>
          </a:ln>
        </p:spPr>
        <p:txBody>
          <a:bodyPr/>
          <a:lstStyle/>
          <a:p>
            <a:endParaRPr lang="zh-TW" altLang="en-US" sz="1350"/>
          </a:p>
        </p:txBody>
      </p:sp>
      <p:sp>
        <p:nvSpPr>
          <p:cNvPr id="615" name="文字 615"/>
          <p:cNvSpPr txBox="1"/>
          <p:nvPr/>
        </p:nvSpPr>
        <p:spPr>
          <a:xfrm>
            <a:off x="3960864" y="1219371"/>
            <a:ext cx="4114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616" name="文字 616"/>
          <p:cNvSpPr txBox="1"/>
          <p:nvPr/>
        </p:nvSpPr>
        <p:spPr>
          <a:xfrm>
            <a:off x="4372344" y="1219371"/>
            <a:ext cx="891540" cy="308610"/>
          </a:xfrm>
          <a:prstGeom prst="rect">
            <a:avLst/>
          </a:prstGeom>
          <a:solidFill>
            <a:srgbClr val="FFFFFF"/>
          </a:solidFill>
          <a:ln>
            <a:noFill/>
          </a:ln>
        </p:spPr>
        <p:txBody>
          <a:bodyPr wrap="none" lIns="34290" tIns="0" rIns="34290" bIns="0" anchor="ctr">
            <a:noAutofit/>
          </a:bodyPr>
          <a:lstStyle/>
          <a:p>
            <a:pPr algn="l">
              <a:buNone/>
            </a:pPr>
            <a:r>
              <a:rPr lang="zh-TW" altLang="en-US" dirty="0">
                <a:solidFill>
                  <a:srgbClr val="4A5378"/>
                </a:solidFill>
                <a:latin typeface="Microsoft JhengHei"/>
                <a:ea typeface="Microsoft JhengHei"/>
                <a:cs typeface="Microsoft JhengHei"/>
              </a:rPr>
              <a:t>t + Δt</a:t>
            </a:r>
          </a:p>
        </p:txBody>
      </p:sp>
      <p:sp>
        <p:nvSpPr>
          <p:cNvPr id="617" name="線 617"/>
          <p:cNvSpPr/>
          <p:nvPr/>
        </p:nvSpPr>
        <p:spPr>
          <a:xfrm flipV="1">
            <a:off x="754380" y="1527981"/>
            <a:ext cx="3103614" cy="2586819"/>
          </a:xfrm>
          <a:prstGeom prst="line">
            <a:avLst/>
          </a:prstGeom>
          <a:ln w="41148" cap="rnd">
            <a:solidFill>
              <a:srgbClr val="2E6FB7"/>
            </a:solidFill>
            <a:tailEnd type="triangle" w="med" len="med"/>
          </a:ln>
        </p:spPr>
        <p:txBody>
          <a:bodyPr/>
          <a:lstStyle/>
          <a:p>
            <a:endParaRPr lang="zh-TW" altLang="en-US" sz="1350"/>
          </a:p>
        </p:txBody>
      </p:sp>
      <p:sp>
        <p:nvSpPr>
          <p:cNvPr id="618" name="文字 618"/>
          <p:cNvSpPr txBox="1"/>
          <p:nvPr/>
        </p:nvSpPr>
        <p:spPr>
          <a:xfrm>
            <a:off x="1860417" y="2581361"/>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619" name="線 619"/>
          <p:cNvSpPr/>
          <p:nvPr/>
        </p:nvSpPr>
        <p:spPr>
          <a:xfrm flipH="1" flipV="1">
            <a:off x="3857995" y="1527981"/>
            <a:ext cx="103778" cy="1980212"/>
          </a:xfrm>
          <a:prstGeom prst="line">
            <a:avLst/>
          </a:prstGeom>
          <a:ln w="54864" cap="rnd">
            <a:solidFill>
              <a:srgbClr val="D6006F"/>
            </a:solidFill>
            <a:tailEnd type="triangle" w="med" len="med"/>
          </a:ln>
        </p:spPr>
        <p:txBody>
          <a:bodyPr/>
          <a:lstStyle/>
          <a:p>
            <a:endParaRPr lang="zh-TW" altLang="en-US" sz="1350"/>
          </a:p>
        </p:txBody>
      </p:sp>
      <p:sp>
        <p:nvSpPr>
          <p:cNvPr id="620" name="文字 620"/>
          <p:cNvSpPr txBox="1"/>
          <p:nvPr/>
        </p:nvSpPr>
        <p:spPr>
          <a:xfrm>
            <a:off x="3391232" y="2356654"/>
            <a:ext cx="548640" cy="308610"/>
          </a:xfrm>
          <a:prstGeom prst="rect">
            <a:avLst/>
          </a:prstGeom>
          <a:noFill/>
          <a:ln>
            <a:noFill/>
          </a:ln>
        </p:spPr>
        <p:txBody>
          <a:bodyPr wrap="none" lIns="34290" tIns="0" rIns="34290" bIns="0" anchor="ctr">
            <a:noAutofit/>
          </a:bodyPr>
          <a:lstStyle/>
          <a:p>
            <a:pPr algn="l">
              <a:buNone/>
            </a:pPr>
            <a:r>
              <a:rPr lang="zh-TW" altLang="en-US" sz="1950" b="1" dirty="0">
                <a:solidFill>
                  <a:srgbClr val="D6006F"/>
                </a:solidFill>
                <a:latin typeface="Microsoft JhengHei"/>
                <a:ea typeface="Microsoft JhengHei"/>
                <a:cs typeface="Microsoft JhengHei"/>
              </a:rPr>
              <a:t>Δr</a:t>
            </a:r>
          </a:p>
        </p:txBody>
      </p:sp>
      <p:sp>
        <p:nvSpPr>
          <p:cNvPr id="621" name="圓 621"/>
          <p:cNvSpPr/>
          <p:nvPr/>
        </p:nvSpPr>
        <p:spPr>
          <a:xfrm>
            <a:off x="547268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622" name="文字 622"/>
          <p:cNvSpPr txBox="1"/>
          <p:nvPr/>
        </p:nvSpPr>
        <p:spPr>
          <a:xfrm>
            <a:off x="5829300" y="120015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時間 t：質點在 P，位置 r</a:t>
            </a:r>
          </a:p>
        </p:txBody>
      </p:sp>
      <p:sp>
        <p:nvSpPr>
          <p:cNvPr id="623" name="圓 623"/>
          <p:cNvSpPr/>
          <p:nvPr/>
        </p:nvSpPr>
        <p:spPr>
          <a:xfrm>
            <a:off x="547268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624" name="文字 624"/>
          <p:cNvSpPr txBox="1"/>
          <p:nvPr/>
        </p:nvSpPr>
        <p:spPr>
          <a:xfrm>
            <a:off x="5829300" y="1625346"/>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時間 t + Δt：到 P′，位置 r′</a:t>
            </a:r>
          </a:p>
        </p:txBody>
      </p:sp>
      <p:sp>
        <p:nvSpPr>
          <p:cNvPr id="625" name="圓 625"/>
          <p:cNvSpPr/>
          <p:nvPr/>
        </p:nvSpPr>
        <p:spPr>
          <a:xfrm>
            <a:off x="547268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626" name="文字 626"/>
          <p:cNvSpPr txBox="1"/>
          <p:nvPr/>
        </p:nvSpPr>
        <p:spPr>
          <a:xfrm>
            <a:off x="5829300" y="2050542"/>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走過的曲線長：Δs（純量）</a:t>
            </a:r>
          </a:p>
        </p:txBody>
      </p:sp>
      <p:sp>
        <p:nvSpPr>
          <p:cNvPr id="627" name="圓 627"/>
          <p:cNvSpPr/>
          <p:nvPr/>
        </p:nvSpPr>
        <p:spPr>
          <a:xfrm>
            <a:off x="5472684" y="2503170"/>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4</a:t>
            </a:r>
          </a:p>
        </p:txBody>
      </p:sp>
      <p:sp>
        <p:nvSpPr>
          <p:cNvPr id="628" name="文字 628"/>
          <p:cNvSpPr txBox="1"/>
          <p:nvPr/>
        </p:nvSpPr>
        <p:spPr>
          <a:xfrm>
            <a:off x="5829300" y="2475738"/>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頭尾連線：Δr = r′ − r（向量）</a:t>
            </a:r>
          </a:p>
        </p:txBody>
      </p:sp>
      <p:sp>
        <p:nvSpPr>
          <p:cNvPr id="629" name="文字 629"/>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出處：全華《動力學》圖 2-12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9"/>
                                        </p:tgtEl>
                                        <p:attrNameLst>
                                          <p:attrName>style.visibility</p:attrName>
                                        </p:attrNameLst>
                                      </p:cBhvr>
                                      <p:to>
                                        <p:strVal val="visible"/>
                                      </p:to>
                                    </p:set>
                                    <p:animEffect transition="in" filter="fade">
                                      <p:cBhvr>
                                        <p:cTn id="7" dur="500"/>
                                        <p:tgtEl>
                                          <p:spTgt spid="60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0"/>
                                        </p:tgtEl>
                                        <p:attrNameLst>
                                          <p:attrName>style.visibility</p:attrName>
                                        </p:attrNameLst>
                                      </p:cBhvr>
                                      <p:to>
                                        <p:strVal val="visible"/>
                                      </p:to>
                                    </p:set>
                                    <p:animEffect transition="in" filter="fade">
                                      <p:cBhvr>
                                        <p:cTn id="10" dur="500"/>
                                        <p:tgtEl>
                                          <p:spTgt spid="6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06"/>
                                        </p:tgtEl>
                                        <p:attrNameLst>
                                          <p:attrName>style.visibility</p:attrName>
                                        </p:attrNameLst>
                                      </p:cBhvr>
                                      <p:to>
                                        <p:strVal val="visible"/>
                                      </p:to>
                                    </p:set>
                                    <p:animEffect transition="in" filter="fade">
                                      <p:cBhvr>
                                        <p:cTn id="13" dur="500"/>
                                        <p:tgtEl>
                                          <p:spTgt spid="60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07"/>
                                        </p:tgtEl>
                                        <p:attrNameLst>
                                          <p:attrName>style.visibility</p:attrName>
                                        </p:attrNameLst>
                                      </p:cBhvr>
                                      <p:to>
                                        <p:strVal val="visible"/>
                                      </p:to>
                                    </p:set>
                                    <p:animEffect transition="in" filter="fade">
                                      <p:cBhvr>
                                        <p:cTn id="16" dur="500"/>
                                        <p:tgtEl>
                                          <p:spTgt spid="60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08"/>
                                        </p:tgtEl>
                                        <p:attrNameLst>
                                          <p:attrName>style.visibility</p:attrName>
                                        </p:attrNameLst>
                                      </p:cBhvr>
                                      <p:to>
                                        <p:strVal val="visible"/>
                                      </p:to>
                                    </p:set>
                                    <p:animEffect transition="in" filter="fade">
                                      <p:cBhvr>
                                        <p:cTn id="19" dur="500"/>
                                        <p:tgtEl>
                                          <p:spTgt spid="60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21"/>
                                        </p:tgtEl>
                                        <p:attrNameLst>
                                          <p:attrName>style.visibility</p:attrName>
                                        </p:attrNameLst>
                                      </p:cBhvr>
                                      <p:to>
                                        <p:strVal val="visible"/>
                                      </p:to>
                                    </p:set>
                                    <p:animEffect transition="in" filter="fade">
                                      <p:cBhvr>
                                        <p:cTn id="22" dur="500"/>
                                        <p:tgtEl>
                                          <p:spTgt spid="6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22"/>
                                        </p:tgtEl>
                                        <p:attrNameLst>
                                          <p:attrName>style.visibility</p:attrName>
                                        </p:attrNameLst>
                                      </p:cBhvr>
                                      <p:to>
                                        <p:strVal val="visible"/>
                                      </p:to>
                                    </p:set>
                                    <p:animEffect transition="in" filter="fade">
                                      <p:cBhvr>
                                        <p:cTn id="25" dur="500"/>
                                        <p:tgtEl>
                                          <p:spTgt spid="62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nodePh="1">
                                  <p:stCondLst>
                                    <p:cond delay="0"/>
                                  </p:stCondLst>
                                  <p:endCondLst>
                                    <p:cond evt="begin" delay="0">
                                      <p:tn val="28"/>
                                    </p:cond>
                                  </p:endCondLst>
                                  <p:childTnLst>
                                    <p:set>
                                      <p:cBhvr>
                                        <p:cTn id="29" dur="1" fill="hold">
                                          <p:stCondLst>
                                            <p:cond delay="0"/>
                                          </p:stCondLst>
                                        </p:cTn>
                                        <p:tgtEl>
                                          <p:spTgt spid="611">
                                            <p:txEl>
                                              <p:charRg st="4294967295" end="4294967295"/>
                                            </p:txEl>
                                          </p:spTgt>
                                        </p:tgtEl>
                                        <p:attrNameLst>
                                          <p:attrName>style.visibility</p:attrName>
                                        </p:attrNameLst>
                                      </p:cBhvr>
                                      <p:to>
                                        <p:strVal val="visible"/>
                                      </p:to>
                                    </p:set>
                                    <p:animEffect transition="in" filter="fade">
                                      <p:cBhvr>
                                        <p:cTn id="30" dur="300"/>
                                        <p:tgtEl>
                                          <p:spTgt spid="611">
                                            <p:txEl>
                                              <p:charRg st="4294967295" end="429496729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2"/>
                                        </p:tgtEl>
                                        <p:attrNameLst>
                                          <p:attrName>style.visibility</p:attrName>
                                        </p:attrNameLst>
                                      </p:cBhvr>
                                      <p:to>
                                        <p:strVal val="visible"/>
                                      </p:to>
                                    </p:set>
                                    <p:animEffect transition="in" filter="fade">
                                      <p:cBhvr>
                                        <p:cTn id="33" dur="2200"/>
                                        <p:tgtEl>
                                          <p:spTgt spid="6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14"/>
                                        </p:tgtEl>
                                        <p:attrNameLst>
                                          <p:attrName>style.visibility</p:attrName>
                                        </p:attrNameLst>
                                      </p:cBhvr>
                                      <p:to>
                                        <p:strVal val="visible"/>
                                      </p:to>
                                    </p:set>
                                    <p:animEffect transition="in" filter="fade">
                                      <p:cBhvr>
                                        <p:cTn id="38" dur="500"/>
                                        <p:tgtEl>
                                          <p:spTgt spid="6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15"/>
                                        </p:tgtEl>
                                        <p:attrNameLst>
                                          <p:attrName>style.visibility</p:attrName>
                                        </p:attrNameLst>
                                      </p:cBhvr>
                                      <p:to>
                                        <p:strVal val="visible"/>
                                      </p:to>
                                    </p:set>
                                    <p:animEffect transition="in" filter="fade">
                                      <p:cBhvr>
                                        <p:cTn id="41" dur="500"/>
                                        <p:tgtEl>
                                          <p:spTgt spid="6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16"/>
                                        </p:tgtEl>
                                        <p:attrNameLst>
                                          <p:attrName>style.visibility</p:attrName>
                                        </p:attrNameLst>
                                      </p:cBhvr>
                                      <p:to>
                                        <p:strVal val="visible"/>
                                      </p:to>
                                    </p:set>
                                    <p:animEffect transition="in" filter="fade">
                                      <p:cBhvr>
                                        <p:cTn id="44" dur="500"/>
                                        <p:tgtEl>
                                          <p:spTgt spid="6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23"/>
                                        </p:tgtEl>
                                        <p:attrNameLst>
                                          <p:attrName>style.visibility</p:attrName>
                                        </p:attrNameLst>
                                      </p:cBhvr>
                                      <p:to>
                                        <p:strVal val="visible"/>
                                      </p:to>
                                    </p:set>
                                    <p:animEffect transition="in" filter="fade">
                                      <p:cBhvr>
                                        <p:cTn id="47" dur="500"/>
                                        <p:tgtEl>
                                          <p:spTgt spid="6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4"/>
                                        </p:tgtEl>
                                        <p:attrNameLst>
                                          <p:attrName>style.visibility</p:attrName>
                                        </p:attrNameLst>
                                      </p:cBhvr>
                                      <p:to>
                                        <p:strVal val="visible"/>
                                      </p:to>
                                    </p:set>
                                    <p:animEffect transition="in" filter="fade">
                                      <p:cBhvr>
                                        <p:cTn id="50" dur="500"/>
                                        <p:tgtEl>
                                          <p:spTgt spid="6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13"/>
                                        </p:tgtEl>
                                        <p:attrNameLst>
                                          <p:attrName>style.visibility</p:attrName>
                                        </p:attrNameLst>
                                      </p:cBhvr>
                                      <p:to>
                                        <p:strVal val="visible"/>
                                      </p:to>
                                    </p:set>
                                    <p:animEffect transition="in" filter="fade">
                                      <p:cBhvr>
                                        <p:cTn id="55" dur="500"/>
                                        <p:tgtEl>
                                          <p:spTgt spid="61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25"/>
                                        </p:tgtEl>
                                        <p:attrNameLst>
                                          <p:attrName>style.visibility</p:attrName>
                                        </p:attrNameLst>
                                      </p:cBhvr>
                                      <p:to>
                                        <p:strVal val="visible"/>
                                      </p:to>
                                    </p:set>
                                    <p:animEffect transition="in" filter="fade">
                                      <p:cBhvr>
                                        <p:cTn id="58" dur="500"/>
                                        <p:tgtEl>
                                          <p:spTgt spid="6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26"/>
                                        </p:tgtEl>
                                        <p:attrNameLst>
                                          <p:attrName>style.visibility</p:attrName>
                                        </p:attrNameLst>
                                      </p:cBhvr>
                                      <p:to>
                                        <p:strVal val="visible"/>
                                      </p:to>
                                    </p:set>
                                    <p:animEffect transition="in" filter="fade">
                                      <p:cBhvr>
                                        <p:cTn id="61" dur="500"/>
                                        <p:tgtEl>
                                          <p:spTgt spid="62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17"/>
                                        </p:tgtEl>
                                        <p:attrNameLst>
                                          <p:attrName>style.visibility</p:attrName>
                                        </p:attrNameLst>
                                      </p:cBhvr>
                                      <p:to>
                                        <p:strVal val="visible"/>
                                      </p:to>
                                    </p:set>
                                    <p:animEffect transition="in" filter="fade">
                                      <p:cBhvr>
                                        <p:cTn id="66" dur="500"/>
                                        <p:tgtEl>
                                          <p:spTgt spid="61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18"/>
                                        </p:tgtEl>
                                        <p:attrNameLst>
                                          <p:attrName>style.visibility</p:attrName>
                                        </p:attrNameLst>
                                      </p:cBhvr>
                                      <p:to>
                                        <p:strVal val="visible"/>
                                      </p:to>
                                    </p:set>
                                    <p:animEffect transition="in" filter="fade">
                                      <p:cBhvr>
                                        <p:cTn id="69" dur="500"/>
                                        <p:tgtEl>
                                          <p:spTgt spid="61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19"/>
                                        </p:tgtEl>
                                        <p:attrNameLst>
                                          <p:attrName>style.visibility</p:attrName>
                                        </p:attrNameLst>
                                      </p:cBhvr>
                                      <p:to>
                                        <p:strVal val="visible"/>
                                      </p:to>
                                    </p:set>
                                    <p:animEffect transition="in" filter="fade">
                                      <p:cBhvr>
                                        <p:cTn id="74" dur="500"/>
                                        <p:tgtEl>
                                          <p:spTgt spid="61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20"/>
                                        </p:tgtEl>
                                        <p:attrNameLst>
                                          <p:attrName>style.visibility</p:attrName>
                                        </p:attrNameLst>
                                      </p:cBhvr>
                                      <p:to>
                                        <p:strVal val="visible"/>
                                      </p:to>
                                    </p:set>
                                    <p:animEffect transition="in" filter="fade">
                                      <p:cBhvr>
                                        <p:cTn id="77" dur="500"/>
                                        <p:tgtEl>
                                          <p:spTgt spid="6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27"/>
                                        </p:tgtEl>
                                        <p:attrNameLst>
                                          <p:attrName>style.visibility</p:attrName>
                                        </p:attrNameLst>
                                      </p:cBhvr>
                                      <p:to>
                                        <p:strVal val="visible"/>
                                      </p:to>
                                    </p:set>
                                    <p:animEffect transition="in" filter="fade">
                                      <p:cBhvr>
                                        <p:cTn id="80" dur="500"/>
                                        <p:tgtEl>
                                          <p:spTgt spid="6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28"/>
                                        </p:tgtEl>
                                        <p:attrNameLst>
                                          <p:attrName>style.visibility</p:attrName>
                                        </p:attrNameLst>
                                      </p:cBhvr>
                                      <p:to>
                                        <p:strVal val="visible"/>
                                      </p:to>
                                    </p:set>
                                    <p:animEffect transition="in" filter="fade">
                                      <p:cBhvr>
                                        <p:cTn id="83" dur="500"/>
                                        <p:tgtEl>
                                          <p:spTgt spid="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 grpId="0" animBg="1"/>
      <p:bldP spid="607" grpId="0" animBg="1"/>
      <p:bldP spid="608" grpId="0" animBg="1"/>
      <p:bldP spid="609" grpId="0" animBg="1"/>
      <p:bldP spid="610" grpId="0" animBg="1"/>
      <p:bldP spid="611" grpId="0"/>
      <p:bldP spid="612" grpId="0" animBg="1"/>
      <p:bldP spid="613" grpId="0" animBg="1"/>
      <p:bldP spid="614" grpId="0" animBg="1"/>
      <p:bldP spid="615" grpId="0" animBg="1"/>
      <p:bldP spid="616" grpId="0" animBg="1"/>
      <p:bldP spid="617" grpId="0" animBg="1"/>
      <p:bldP spid="618" grpId="0" animBg="1"/>
      <p:bldP spid="619" grpId="0" animBg="1"/>
      <p:bldP spid="620" grpId="0" animBg="1"/>
      <p:bldP spid="621" grpId="0" animBg="1"/>
      <p:bldP spid="622" grpId="0" animBg="1"/>
      <p:bldP spid="623" grpId="0" animBg="1"/>
      <p:bldP spid="624" grpId="0" animBg="1"/>
      <p:bldP spid="625" grpId="0" animBg="1"/>
      <p:bldP spid="626" grpId="0" animBg="1"/>
      <p:bldP spid="627" grpId="0" animBg="1"/>
      <p:bldP spid="62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文字 7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Δr = r′ − r = r′ + (−r)：向量減法</a:t>
            </a:r>
          </a:p>
        </p:txBody>
      </p:sp>
      <p:sp>
        <p:nvSpPr>
          <p:cNvPr id="702" name="框 702"/>
          <p:cNvSpPr/>
          <p:nvPr/>
        </p:nvSpPr>
        <p:spPr>
          <a:xfrm>
            <a:off x="342900" y="857250"/>
            <a:ext cx="5006340" cy="3566160"/>
          </a:xfrm>
          <a:prstGeom prst="roundRect">
            <a:avLst/>
          </a:prstGeom>
          <a:solidFill>
            <a:srgbClr val="F4F6FB"/>
          </a:solidFill>
          <a:ln>
            <a:noFill/>
          </a:ln>
        </p:spPr>
        <p:txBody>
          <a:bodyPr/>
          <a:lstStyle/>
          <a:p>
            <a:endParaRPr lang="zh-TW" altLang="en-US" sz="1350"/>
          </a:p>
        </p:txBody>
      </p:sp>
      <p:sp>
        <p:nvSpPr>
          <p:cNvPr id="703" name="圓 703"/>
          <p:cNvSpPr/>
          <p:nvPr/>
        </p:nvSpPr>
        <p:spPr>
          <a:xfrm>
            <a:off x="1248156" y="3957066"/>
            <a:ext cx="109728" cy="109728"/>
          </a:xfrm>
          <a:prstGeom prst="ellipse">
            <a:avLst/>
          </a:prstGeom>
          <a:solidFill>
            <a:srgbClr val="2B3050"/>
          </a:solidFill>
          <a:ln>
            <a:noFill/>
          </a:ln>
        </p:spPr>
        <p:txBody>
          <a:bodyPr/>
          <a:lstStyle/>
          <a:p>
            <a:endParaRPr lang="zh-TW" altLang="en-US" sz="1350"/>
          </a:p>
        </p:txBody>
      </p:sp>
      <p:sp>
        <p:nvSpPr>
          <p:cNvPr id="704" name="文字 704"/>
          <p:cNvSpPr txBox="1"/>
          <p:nvPr/>
        </p:nvSpPr>
        <p:spPr>
          <a:xfrm>
            <a:off x="994410" y="387477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705" name="線 705"/>
          <p:cNvSpPr/>
          <p:nvPr/>
        </p:nvSpPr>
        <p:spPr>
          <a:xfrm flipV="1">
            <a:off x="1303020" y="3188970"/>
            <a:ext cx="2743200" cy="822960"/>
          </a:xfrm>
          <a:prstGeom prst="line">
            <a:avLst/>
          </a:prstGeom>
          <a:ln w="41148" cap="rnd">
            <a:solidFill>
              <a:srgbClr val="2F8F4E"/>
            </a:solidFill>
            <a:tailEnd type="triangle" w="med" len="med"/>
          </a:ln>
        </p:spPr>
        <p:txBody>
          <a:bodyPr/>
          <a:lstStyle/>
          <a:p>
            <a:endParaRPr lang="zh-TW" altLang="en-US" sz="1350"/>
          </a:p>
        </p:txBody>
      </p:sp>
      <p:sp>
        <p:nvSpPr>
          <p:cNvPr id="706" name="文字 706"/>
          <p:cNvSpPr txBox="1"/>
          <p:nvPr/>
        </p:nvSpPr>
        <p:spPr>
          <a:xfrm>
            <a:off x="2400300" y="3634740"/>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707" name="線 707"/>
          <p:cNvSpPr/>
          <p:nvPr/>
        </p:nvSpPr>
        <p:spPr>
          <a:xfrm flipV="1">
            <a:off x="1303020" y="1405890"/>
            <a:ext cx="2400300" cy="2606040"/>
          </a:xfrm>
          <a:prstGeom prst="line">
            <a:avLst/>
          </a:prstGeom>
          <a:ln w="41148" cap="rnd">
            <a:solidFill>
              <a:srgbClr val="2E6FB7"/>
            </a:solidFill>
            <a:tailEnd type="triangle" w="med" len="med"/>
          </a:ln>
        </p:spPr>
        <p:txBody>
          <a:bodyPr/>
          <a:lstStyle/>
          <a:p>
            <a:endParaRPr lang="zh-TW" altLang="en-US" sz="1350"/>
          </a:p>
        </p:txBody>
      </p:sp>
      <p:sp>
        <p:nvSpPr>
          <p:cNvPr id="708" name="文字 708"/>
          <p:cNvSpPr txBox="1"/>
          <p:nvPr/>
        </p:nvSpPr>
        <p:spPr>
          <a:xfrm>
            <a:off x="1988820" y="2434590"/>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709" name="文字 709"/>
          <p:cNvSpPr txBox="1"/>
          <p:nvPr/>
        </p:nvSpPr>
        <p:spPr>
          <a:xfrm>
            <a:off x="4128516" y="3120390"/>
            <a:ext cx="34290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710" name="文字 710"/>
          <p:cNvSpPr txBox="1"/>
          <p:nvPr/>
        </p:nvSpPr>
        <p:spPr>
          <a:xfrm>
            <a:off x="3785616" y="1165860"/>
            <a:ext cx="4114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711" name="線 711"/>
          <p:cNvSpPr/>
          <p:nvPr/>
        </p:nvSpPr>
        <p:spPr>
          <a:xfrm flipH="1">
            <a:off x="1364742" y="3408426"/>
            <a:ext cx="2743200" cy="822960"/>
          </a:xfrm>
          <a:prstGeom prst="line">
            <a:avLst/>
          </a:prstGeom>
          <a:ln w="41148" cap="rnd">
            <a:solidFill>
              <a:srgbClr val="2F8F4E"/>
            </a:solidFill>
            <a:prstDash val="dash"/>
            <a:tailEnd type="triangle" w="med" len="med"/>
          </a:ln>
        </p:spPr>
        <p:txBody>
          <a:bodyPr/>
          <a:lstStyle/>
          <a:p>
            <a:endParaRPr lang="zh-TW" altLang="en-US" sz="1350"/>
          </a:p>
        </p:txBody>
      </p:sp>
      <p:sp>
        <p:nvSpPr>
          <p:cNvPr id="712" name="文字 712"/>
          <p:cNvSpPr txBox="1"/>
          <p:nvPr/>
        </p:nvSpPr>
        <p:spPr>
          <a:xfrm>
            <a:off x="2811780" y="3806190"/>
            <a:ext cx="54864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713" name="線 713"/>
          <p:cNvSpPr/>
          <p:nvPr/>
        </p:nvSpPr>
        <p:spPr>
          <a:xfrm flipH="1" flipV="1">
            <a:off x="960120" y="2228850"/>
            <a:ext cx="342900" cy="1783080"/>
          </a:xfrm>
          <a:prstGeom prst="line">
            <a:avLst/>
          </a:prstGeom>
          <a:ln w="54864" cap="rnd">
            <a:solidFill>
              <a:srgbClr val="D6006F"/>
            </a:solidFill>
            <a:tailEnd type="triangle" w="med" len="med"/>
          </a:ln>
        </p:spPr>
        <p:txBody>
          <a:bodyPr/>
          <a:lstStyle/>
          <a:p>
            <a:endParaRPr lang="zh-TW" altLang="en-US" sz="1350"/>
          </a:p>
        </p:txBody>
      </p:sp>
      <p:sp>
        <p:nvSpPr>
          <p:cNvPr id="714" name="文字 714"/>
          <p:cNvSpPr txBox="1"/>
          <p:nvPr/>
        </p:nvSpPr>
        <p:spPr>
          <a:xfrm>
            <a:off x="548640" y="2983230"/>
            <a:ext cx="548640" cy="308610"/>
          </a:xfrm>
          <a:prstGeom prst="rect">
            <a:avLst/>
          </a:prstGeom>
          <a:noFill/>
          <a:ln>
            <a:noFill/>
          </a:ln>
        </p:spPr>
        <p:txBody>
          <a:bodyPr wrap="none" lIns="34290" tIns="0" rIns="34290" bIns="0" anchor="ctr">
            <a:noAutofit/>
          </a:bodyPr>
          <a:lstStyle/>
          <a:p>
            <a:pPr algn="l">
              <a:buNone/>
            </a:pPr>
            <a:r>
              <a:rPr lang="zh-TW" altLang="en-US" sz="1950" b="1" dirty="0">
                <a:solidFill>
                  <a:srgbClr val="D6006F"/>
                </a:solidFill>
                <a:latin typeface="Microsoft JhengHei"/>
                <a:ea typeface="Microsoft JhengHei"/>
                <a:cs typeface="Microsoft JhengHei"/>
              </a:rPr>
              <a:t>Δr</a:t>
            </a:r>
          </a:p>
        </p:txBody>
      </p:sp>
      <p:sp>
        <p:nvSpPr>
          <p:cNvPr id="715" name="線 715"/>
          <p:cNvSpPr/>
          <p:nvPr/>
        </p:nvSpPr>
        <p:spPr>
          <a:xfrm flipH="1" flipV="1">
            <a:off x="960120" y="2228850"/>
            <a:ext cx="342900" cy="1783080"/>
          </a:xfrm>
          <a:prstGeom prst="line">
            <a:avLst/>
          </a:prstGeom>
          <a:ln w="54864" cap="rnd">
            <a:solidFill>
              <a:srgbClr val="D6006F"/>
            </a:solidFill>
            <a:tailEnd type="triangle" w="med" len="med"/>
          </a:ln>
        </p:spPr>
        <p:txBody>
          <a:bodyPr/>
          <a:lstStyle/>
          <a:p>
            <a:endParaRPr lang="zh-TW" altLang="en-US" sz="1350"/>
          </a:p>
        </p:txBody>
      </p:sp>
      <p:sp>
        <p:nvSpPr>
          <p:cNvPr id="716" name="圓 716"/>
          <p:cNvSpPr/>
          <p:nvPr/>
        </p:nvSpPr>
        <p:spPr>
          <a:xfrm>
            <a:off x="547268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717" name="文字 717"/>
          <p:cNvSpPr txBox="1"/>
          <p:nvPr/>
        </p:nvSpPr>
        <p:spPr>
          <a:xfrm>
            <a:off x="5829300" y="120015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先畫 r 和 r′</a:t>
            </a:r>
          </a:p>
        </p:txBody>
      </p:sp>
      <p:sp>
        <p:nvSpPr>
          <p:cNvPr id="718" name="圓 718"/>
          <p:cNvSpPr/>
          <p:nvPr/>
        </p:nvSpPr>
        <p:spPr>
          <a:xfrm>
            <a:off x="5472684" y="163906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719" name="文字 719"/>
          <p:cNvSpPr txBox="1"/>
          <p:nvPr/>
        </p:nvSpPr>
        <p:spPr>
          <a:xfrm>
            <a:off x="5829300" y="161163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−r：把 r 的箭頭反過來</a:t>
            </a:r>
          </a:p>
        </p:txBody>
      </p:sp>
      <p:sp>
        <p:nvSpPr>
          <p:cNvPr id="720" name="圓 720"/>
          <p:cNvSpPr/>
          <p:nvPr/>
        </p:nvSpPr>
        <p:spPr>
          <a:xfrm>
            <a:off x="5472684" y="205054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721" name="文字 721"/>
          <p:cNvSpPr txBox="1"/>
          <p:nvPr/>
        </p:nvSpPr>
        <p:spPr>
          <a:xfrm>
            <a:off x="5829300" y="202311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把 −r 接到 r′ 的尖端</a:t>
            </a:r>
          </a:p>
        </p:txBody>
      </p:sp>
      <p:sp>
        <p:nvSpPr>
          <p:cNvPr id="722" name="圓 722"/>
          <p:cNvSpPr/>
          <p:nvPr/>
        </p:nvSpPr>
        <p:spPr>
          <a:xfrm>
            <a:off x="5472684" y="246202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4</a:t>
            </a:r>
          </a:p>
        </p:txBody>
      </p:sp>
      <p:sp>
        <p:nvSpPr>
          <p:cNvPr id="723" name="文字 723"/>
          <p:cNvSpPr txBox="1"/>
          <p:nvPr/>
        </p:nvSpPr>
        <p:spPr>
          <a:xfrm>
            <a:off x="5829300" y="243459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從 O 連到終點，就是 Δr</a:t>
            </a:r>
          </a:p>
        </p:txBody>
      </p:sp>
      <p:sp>
        <p:nvSpPr>
          <p:cNvPr id="724" name="圓 724"/>
          <p:cNvSpPr/>
          <p:nvPr/>
        </p:nvSpPr>
        <p:spPr>
          <a:xfrm>
            <a:off x="5472684" y="287350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5</a:t>
            </a:r>
          </a:p>
        </p:txBody>
      </p:sp>
      <p:sp>
        <p:nvSpPr>
          <p:cNvPr id="725" name="文字 725"/>
          <p:cNvSpPr txBox="1"/>
          <p:nvPr/>
        </p:nvSpPr>
        <p:spPr>
          <a:xfrm>
            <a:off x="5829300" y="284607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平移到 P：正是 P → P′</a:t>
            </a:r>
          </a:p>
        </p:txBody>
      </p:sp>
      <p:sp>
        <p:nvSpPr>
          <p:cNvPr id="726" name="文字 726"/>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出處：全華《動力學》圖 2-12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5"/>
                                        </p:tgtEl>
                                        <p:attrNameLst>
                                          <p:attrName>style.visibility</p:attrName>
                                        </p:attrNameLst>
                                      </p:cBhvr>
                                      <p:to>
                                        <p:strVal val="visible"/>
                                      </p:to>
                                    </p:set>
                                    <p:animEffect transition="in" filter="fade">
                                      <p:cBhvr>
                                        <p:cTn id="7" dur="500"/>
                                        <p:tgtEl>
                                          <p:spTgt spid="7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6"/>
                                        </p:tgtEl>
                                        <p:attrNameLst>
                                          <p:attrName>style.visibility</p:attrName>
                                        </p:attrNameLst>
                                      </p:cBhvr>
                                      <p:to>
                                        <p:strVal val="visible"/>
                                      </p:to>
                                    </p:set>
                                    <p:animEffect transition="in" filter="fade">
                                      <p:cBhvr>
                                        <p:cTn id="10" dur="500"/>
                                        <p:tgtEl>
                                          <p:spTgt spid="7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7"/>
                                        </p:tgtEl>
                                        <p:attrNameLst>
                                          <p:attrName>style.visibility</p:attrName>
                                        </p:attrNameLst>
                                      </p:cBhvr>
                                      <p:to>
                                        <p:strVal val="visible"/>
                                      </p:to>
                                    </p:set>
                                    <p:animEffect transition="in" filter="fade">
                                      <p:cBhvr>
                                        <p:cTn id="13" dur="500"/>
                                        <p:tgtEl>
                                          <p:spTgt spid="70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8"/>
                                        </p:tgtEl>
                                        <p:attrNameLst>
                                          <p:attrName>style.visibility</p:attrName>
                                        </p:attrNameLst>
                                      </p:cBhvr>
                                      <p:to>
                                        <p:strVal val="visible"/>
                                      </p:to>
                                    </p:set>
                                    <p:animEffect transition="in" filter="fade">
                                      <p:cBhvr>
                                        <p:cTn id="16" dur="500"/>
                                        <p:tgtEl>
                                          <p:spTgt spid="70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09"/>
                                        </p:tgtEl>
                                        <p:attrNameLst>
                                          <p:attrName>style.visibility</p:attrName>
                                        </p:attrNameLst>
                                      </p:cBhvr>
                                      <p:to>
                                        <p:strVal val="visible"/>
                                      </p:to>
                                    </p:set>
                                    <p:animEffect transition="in" filter="fade">
                                      <p:cBhvr>
                                        <p:cTn id="19" dur="500"/>
                                        <p:tgtEl>
                                          <p:spTgt spid="70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10"/>
                                        </p:tgtEl>
                                        <p:attrNameLst>
                                          <p:attrName>style.visibility</p:attrName>
                                        </p:attrNameLst>
                                      </p:cBhvr>
                                      <p:to>
                                        <p:strVal val="visible"/>
                                      </p:to>
                                    </p:set>
                                    <p:animEffect transition="in" filter="fade">
                                      <p:cBhvr>
                                        <p:cTn id="22" dur="500"/>
                                        <p:tgtEl>
                                          <p:spTgt spid="7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16"/>
                                        </p:tgtEl>
                                        <p:attrNameLst>
                                          <p:attrName>style.visibility</p:attrName>
                                        </p:attrNameLst>
                                      </p:cBhvr>
                                      <p:to>
                                        <p:strVal val="visible"/>
                                      </p:to>
                                    </p:set>
                                    <p:animEffect transition="in" filter="fade">
                                      <p:cBhvr>
                                        <p:cTn id="25" dur="500"/>
                                        <p:tgtEl>
                                          <p:spTgt spid="7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17"/>
                                        </p:tgtEl>
                                        <p:attrNameLst>
                                          <p:attrName>style.visibility</p:attrName>
                                        </p:attrNameLst>
                                      </p:cBhvr>
                                      <p:to>
                                        <p:strVal val="visible"/>
                                      </p:to>
                                    </p:set>
                                    <p:animEffect transition="in" filter="fade">
                                      <p:cBhvr>
                                        <p:cTn id="28" dur="500"/>
                                        <p:tgtEl>
                                          <p:spTgt spid="7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nodePh="1">
                                  <p:stCondLst>
                                    <p:cond delay="0"/>
                                  </p:stCondLst>
                                  <p:endCondLst>
                                    <p:cond evt="begin" delay="0">
                                      <p:tn val="31"/>
                                    </p:cond>
                                  </p:endCondLst>
                                  <p:childTnLst>
                                    <p:set>
                                      <p:cBhvr>
                                        <p:cTn id="32" dur="1" fill="hold">
                                          <p:stCondLst>
                                            <p:cond delay="0"/>
                                          </p:stCondLst>
                                        </p:cTn>
                                        <p:tgtEl>
                                          <p:spTgt spid="711">
                                            <p:txEl>
                                              <p:charRg st="4294967295" end="4294967295"/>
                                            </p:txEl>
                                          </p:spTgt>
                                        </p:tgtEl>
                                        <p:attrNameLst>
                                          <p:attrName>style.visibility</p:attrName>
                                        </p:attrNameLst>
                                      </p:cBhvr>
                                      <p:to>
                                        <p:strVal val="visible"/>
                                      </p:to>
                                    </p:set>
                                    <p:animEffect transition="in" filter="fade">
                                      <p:cBhvr>
                                        <p:cTn id="33" dur="500"/>
                                        <p:tgtEl>
                                          <p:spTgt spid="711">
                                            <p:txEl>
                                              <p:charRg st="4294967295" end="4294967295"/>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12"/>
                                        </p:tgtEl>
                                        <p:attrNameLst>
                                          <p:attrName>style.visibility</p:attrName>
                                        </p:attrNameLst>
                                      </p:cBhvr>
                                      <p:to>
                                        <p:strVal val="visible"/>
                                      </p:to>
                                    </p:set>
                                    <p:animEffect transition="in" filter="fade">
                                      <p:cBhvr>
                                        <p:cTn id="36" dur="500"/>
                                        <p:tgtEl>
                                          <p:spTgt spid="7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18"/>
                                        </p:tgtEl>
                                        <p:attrNameLst>
                                          <p:attrName>style.visibility</p:attrName>
                                        </p:attrNameLst>
                                      </p:cBhvr>
                                      <p:to>
                                        <p:strVal val="visible"/>
                                      </p:to>
                                    </p:set>
                                    <p:animEffect transition="in" filter="fade">
                                      <p:cBhvr>
                                        <p:cTn id="39" dur="500"/>
                                        <p:tgtEl>
                                          <p:spTgt spid="7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19"/>
                                        </p:tgtEl>
                                        <p:attrNameLst>
                                          <p:attrName>style.visibility</p:attrName>
                                        </p:attrNameLst>
                                      </p:cBhvr>
                                      <p:to>
                                        <p:strVal val="visible"/>
                                      </p:to>
                                    </p:set>
                                    <p:animEffect transition="in" filter="fade">
                                      <p:cBhvr>
                                        <p:cTn id="42" dur="500"/>
                                        <p:tgtEl>
                                          <p:spTgt spid="7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20"/>
                                        </p:tgtEl>
                                        <p:attrNameLst>
                                          <p:attrName>style.visibility</p:attrName>
                                        </p:attrNameLst>
                                      </p:cBhvr>
                                      <p:to>
                                        <p:strVal val="visible"/>
                                      </p:to>
                                    </p:set>
                                    <p:animEffect transition="in" filter="fade">
                                      <p:cBhvr>
                                        <p:cTn id="45" dur="500"/>
                                        <p:tgtEl>
                                          <p:spTgt spid="7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21"/>
                                        </p:tgtEl>
                                        <p:attrNameLst>
                                          <p:attrName>style.visibility</p:attrName>
                                        </p:attrNameLst>
                                      </p:cBhvr>
                                      <p:to>
                                        <p:strVal val="visible"/>
                                      </p:to>
                                    </p:set>
                                    <p:animEffect transition="in" filter="fade">
                                      <p:cBhvr>
                                        <p:cTn id="48" dur="500"/>
                                        <p:tgtEl>
                                          <p:spTgt spid="72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13"/>
                                        </p:tgtEl>
                                        <p:attrNameLst>
                                          <p:attrName>style.visibility</p:attrName>
                                        </p:attrNameLst>
                                      </p:cBhvr>
                                      <p:to>
                                        <p:strVal val="visible"/>
                                      </p:to>
                                    </p:set>
                                    <p:animEffect transition="in" filter="fade">
                                      <p:cBhvr>
                                        <p:cTn id="53" dur="500"/>
                                        <p:tgtEl>
                                          <p:spTgt spid="71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14"/>
                                        </p:tgtEl>
                                        <p:attrNameLst>
                                          <p:attrName>style.visibility</p:attrName>
                                        </p:attrNameLst>
                                      </p:cBhvr>
                                      <p:to>
                                        <p:strVal val="visible"/>
                                      </p:to>
                                    </p:set>
                                    <p:animEffect transition="in" filter="fade">
                                      <p:cBhvr>
                                        <p:cTn id="56" dur="500"/>
                                        <p:tgtEl>
                                          <p:spTgt spid="7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22"/>
                                        </p:tgtEl>
                                        <p:attrNameLst>
                                          <p:attrName>style.visibility</p:attrName>
                                        </p:attrNameLst>
                                      </p:cBhvr>
                                      <p:to>
                                        <p:strVal val="visible"/>
                                      </p:to>
                                    </p:set>
                                    <p:animEffect transition="in" filter="fade">
                                      <p:cBhvr>
                                        <p:cTn id="59" dur="500"/>
                                        <p:tgtEl>
                                          <p:spTgt spid="7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23"/>
                                        </p:tgtEl>
                                        <p:attrNameLst>
                                          <p:attrName>style.visibility</p:attrName>
                                        </p:attrNameLst>
                                      </p:cBhvr>
                                      <p:to>
                                        <p:strVal val="visible"/>
                                      </p:to>
                                    </p:set>
                                    <p:animEffect transition="in" filter="fade">
                                      <p:cBhvr>
                                        <p:cTn id="62" dur="500"/>
                                        <p:tgtEl>
                                          <p:spTgt spid="72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nodePh="1">
                                  <p:stCondLst>
                                    <p:cond delay="0"/>
                                  </p:stCondLst>
                                  <p:endCondLst>
                                    <p:cond evt="begin" delay="0">
                                      <p:tn val="65"/>
                                    </p:cond>
                                  </p:endCondLst>
                                  <p:childTnLst>
                                    <p:set>
                                      <p:cBhvr>
                                        <p:cTn id="66" dur="1" fill="hold">
                                          <p:stCondLst>
                                            <p:cond delay="0"/>
                                          </p:stCondLst>
                                        </p:cTn>
                                        <p:tgtEl>
                                          <p:spTgt spid="715">
                                            <p:txEl>
                                              <p:charRg st="4294967295" end="4294967295"/>
                                            </p:txEl>
                                          </p:spTgt>
                                        </p:tgtEl>
                                        <p:attrNameLst>
                                          <p:attrName>style.visibility</p:attrName>
                                        </p:attrNameLst>
                                      </p:cBhvr>
                                      <p:to>
                                        <p:strVal val="visible"/>
                                      </p:to>
                                    </p:set>
                                    <p:animEffect transition="in" filter="fade">
                                      <p:cBhvr>
                                        <p:cTn id="67" dur="200"/>
                                        <p:tgtEl>
                                          <p:spTgt spid="715">
                                            <p:txEl>
                                              <p:charRg st="4294967295" end="4294967295"/>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24"/>
                                        </p:tgtEl>
                                        <p:attrNameLst>
                                          <p:attrName>style.visibility</p:attrName>
                                        </p:attrNameLst>
                                      </p:cBhvr>
                                      <p:to>
                                        <p:strVal val="visible"/>
                                      </p:to>
                                    </p:set>
                                    <p:animEffect transition="in" filter="fade">
                                      <p:cBhvr>
                                        <p:cTn id="70" dur="500"/>
                                        <p:tgtEl>
                                          <p:spTgt spid="7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25"/>
                                        </p:tgtEl>
                                        <p:attrNameLst>
                                          <p:attrName>style.visibility</p:attrName>
                                        </p:attrNameLst>
                                      </p:cBhvr>
                                      <p:to>
                                        <p:strVal val="visible"/>
                                      </p:to>
                                    </p:set>
                                    <p:animEffect transition="in" filter="fade">
                                      <p:cBhvr>
                                        <p:cTn id="73" dur="500"/>
                                        <p:tgtEl>
                                          <p:spTgt spid="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 grpId="0" animBg="1"/>
      <p:bldP spid="706" grpId="0" animBg="1"/>
      <p:bldP spid="707" grpId="0" animBg="1"/>
      <p:bldP spid="708" grpId="0" animBg="1"/>
      <p:bldP spid="709" grpId="0" animBg="1"/>
      <p:bldP spid="710" grpId="0" animBg="1"/>
      <p:bldP spid="711" grpId="0"/>
      <p:bldP spid="712" grpId="0"/>
      <p:bldP spid="713" grpId="0" animBg="1"/>
      <p:bldP spid="714" grpId="0" animBg="1"/>
      <p:bldP spid="715" grpId="0"/>
      <p:bldP spid="716" grpId="0" animBg="1"/>
      <p:bldP spid="717" grpId="0" animBg="1"/>
      <p:bldP spid="718" grpId="0" animBg="1"/>
      <p:bldP spid="719" grpId="0" animBg="1"/>
      <p:bldP spid="720" grpId="0" animBg="1"/>
      <p:bldP spid="721" grpId="0" animBg="1"/>
      <p:bldP spid="722" grpId="0" animBg="1"/>
      <p:bldP spid="723" grpId="0" animBg="1"/>
      <p:bldP spid="724" grpId="0" animBg="1"/>
      <p:bldP spid="7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文字 8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Δt → 0：位移的方向趨近切線</a:t>
            </a:r>
          </a:p>
        </p:txBody>
      </p:sp>
      <p:sp>
        <p:nvSpPr>
          <p:cNvPr id="802" name="框 802"/>
          <p:cNvSpPr/>
          <p:nvPr/>
        </p:nvSpPr>
        <p:spPr>
          <a:xfrm>
            <a:off x="342900" y="857250"/>
            <a:ext cx="5006340" cy="3566160"/>
          </a:xfrm>
          <a:prstGeom prst="roundRect">
            <a:avLst/>
          </a:prstGeom>
          <a:solidFill>
            <a:srgbClr val="F4F6FB"/>
          </a:solidFill>
          <a:ln>
            <a:noFill/>
          </a:ln>
        </p:spPr>
        <p:txBody>
          <a:bodyPr/>
          <a:lstStyle/>
          <a:p>
            <a:endParaRPr lang="zh-TW" altLang="en-US" sz="1350"/>
          </a:p>
        </p:txBody>
      </p:sp>
      <p:sp>
        <p:nvSpPr>
          <p:cNvPr id="803" name="圖形 803"/>
          <p:cNvSpPr/>
          <p:nvPr/>
        </p:nvSpPr>
        <p:spPr>
          <a:xfrm>
            <a:off x="3576886" y="1078114"/>
            <a:ext cx="537914" cy="3124433"/>
          </a:xfrm>
          <a:custGeom>
            <a:avLst/>
            <a:gdLst/>
            <a:ahLst/>
            <a:cxnLst/>
            <a:rect l="0" t="0" r="r" b="b"/>
            <a:pathLst>
              <a:path w="717219" h="4165910" fill="none">
                <a:moveTo>
                  <a:pt x="0" y="4165910"/>
                </a:moveTo>
                <a:lnTo>
                  <a:pt x="67595" y="4076371"/>
                </a:lnTo>
                <a:lnTo>
                  <a:pt x="132184" y="3984641"/>
                </a:lnTo>
                <a:lnTo>
                  <a:pt x="193696" y="3890819"/>
                </a:lnTo>
                <a:lnTo>
                  <a:pt x="252064" y="3795009"/>
                </a:lnTo>
                <a:lnTo>
                  <a:pt x="307223" y="3697317"/>
                </a:lnTo>
                <a:lnTo>
                  <a:pt x="359113" y="3597850"/>
                </a:lnTo>
                <a:lnTo>
                  <a:pt x="407677" y="3496716"/>
                </a:lnTo>
                <a:lnTo>
                  <a:pt x="452860" y="3394029"/>
                </a:lnTo>
                <a:lnTo>
                  <a:pt x="494614" y="3289900"/>
                </a:lnTo>
                <a:lnTo>
                  <a:pt x="532893" y="3184443"/>
                </a:lnTo>
                <a:lnTo>
                  <a:pt x="567654" y="3077776"/>
                </a:lnTo>
                <a:lnTo>
                  <a:pt x="598860" y="2970015"/>
                </a:lnTo>
                <a:lnTo>
                  <a:pt x="626476" y="2861278"/>
                </a:lnTo>
                <a:lnTo>
                  <a:pt x="650471" y="2751685"/>
                </a:lnTo>
                <a:lnTo>
                  <a:pt x="670819" y="2641357"/>
                </a:lnTo>
                <a:lnTo>
                  <a:pt x="687499" y="2530416"/>
                </a:lnTo>
                <a:lnTo>
                  <a:pt x="700491" y="2418982"/>
                </a:lnTo>
                <a:lnTo>
                  <a:pt x="709781" y="2307178"/>
                </a:lnTo>
                <a:lnTo>
                  <a:pt x="715359" y="2195128"/>
                </a:lnTo>
                <a:lnTo>
                  <a:pt x="717219" y="2082955"/>
                </a:lnTo>
                <a:lnTo>
                  <a:pt x="715359" y="1970782"/>
                </a:lnTo>
                <a:lnTo>
                  <a:pt x="709781" y="1858732"/>
                </a:lnTo>
                <a:lnTo>
                  <a:pt x="700491" y="1746929"/>
                </a:lnTo>
                <a:lnTo>
                  <a:pt x="687499" y="1635495"/>
                </a:lnTo>
                <a:lnTo>
                  <a:pt x="670819" y="1524553"/>
                </a:lnTo>
                <a:lnTo>
                  <a:pt x="650471" y="1414225"/>
                </a:lnTo>
                <a:lnTo>
                  <a:pt x="626476" y="1304632"/>
                </a:lnTo>
                <a:lnTo>
                  <a:pt x="598860" y="1195896"/>
                </a:lnTo>
                <a:lnTo>
                  <a:pt x="567654" y="1088134"/>
                </a:lnTo>
                <a:lnTo>
                  <a:pt x="532893" y="981467"/>
                </a:lnTo>
                <a:lnTo>
                  <a:pt x="494614" y="876011"/>
                </a:lnTo>
                <a:lnTo>
                  <a:pt x="452860" y="771881"/>
                </a:lnTo>
                <a:lnTo>
                  <a:pt x="407677" y="669194"/>
                </a:lnTo>
                <a:lnTo>
                  <a:pt x="359113" y="568061"/>
                </a:lnTo>
                <a:lnTo>
                  <a:pt x="307223" y="468593"/>
                </a:lnTo>
                <a:lnTo>
                  <a:pt x="252064" y="370901"/>
                </a:lnTo>
                <a:lnTo>
                  <a:pt x="193696" y="275092"/>
                </a:lnTo>
                <a:lnTo>
                  <a:pt x="132184" y="181270"/>
                </a:lnTo>
                <a:lnTo>
                  <a:pt x="67595" y="89539"/>
                </a:lnTo>
                <a:lnTo>
                  <a:pt x="0" y="0"/>
                </a:lnTo>
              </a:path>
            </a:pathLst>
          </a:custGeom>
          <a:noFill/>
          <a:ln w="32004" cap="rnd">
            <a:solidFill>
              <a:srgbClr val="9AA3B5"/>
            </a:solidFill>
          </a:ln>
        </p:spPr>
        <p:txBody>
          <a:bodyPr/>
          <a:lstStyle/>
          <a:p>
            <a:endParaRPr lang="zh-TW" altLang="en-US" sz="1350"/>
          </a:p>
        </p:txBody>
      </p:sp>
      <p:sp>
        <p:nvSpPr>
          <p:cNvPr id="804" name="圓 804"/>
          <p:cNvSpPr/>
          <p:nvPr/>
        </p:nvSpPr>
        <p:spPr>
          <a:xfrm>
            <a:off x="3900050" y="3446471"/>
            <a:ext cx="123444" cy="123444"/>
          </a:xfrm>
          <a:prstGeom prst="ellipse">
            <a:avLst/>
          </a:prstGeom>
          <a:solidFill>
            <a:srgbClr val="1E2761"/>
          </a:solidFill>
          <a:ln>
            <a:noFill/>
          </a:ln>
        </p:spPr>
        <p:txBody>
          <a:bodyPr/>
          <a:lstStyle/>
          <a:p>
            <a:endParaRPr lang="zh-TW" altLang="en-US" sz="1350"/>
          </a:p>
        </p:txBody>
      </p:sp>
      <p:sp>
        <p:nvSpPr>
          <p:cNvPr id="805" name="文字 805"/>
          <p:cNvSpPr txBox="1"/>
          <p:nvPr/>
        </p:nvSpPr>
        <p:spPr>
          <a:xfrm>
            <a:off x="4064642" y="3473903"/>
            <a:ext cx="34290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a:t>
            </a:r>
          </a:p>
        </p:txBody>
      </p:sp>
      <p:sp>
        <p:nvSpPr>
          <p:cNvPr id="806" name="線 806"/>
          <p:cNvSpPr/>
          <p:nvPr/>
        </p:nvSpPr>
        <p:spPr>
          <a:xfrm flipH="1" flipV="1">
            <a:off x="3774845" y="1371600"/>
            <a:ext cx="186928" cy="2136593"/>
          </a:xfrm>
          <a:prstGeom prst="line">
            <a:avLst/>
          </a:prstGeom>
          <a:ln w="45720" cap="rnd">
            <a:solidFill>
              <a:srgbClr val="D6006F"/>
            </a:solidFill>
            <a:tailEnd type="triangle" w="med" len="med"/>
          </a:ln>
        </p:spPr>
        <p:txBody>
          <a:bodyPr/>
          <a:lstStyle/>
          <a:p>
            <a:endParaRPr lang="zh-TW" altLang="en-US" sz="1350"/>
          </a:p>
        </p:txBody>
      </p:sp>
      <p:sp>
        <p:nvSpPr>
          <p:cNvPr id="807" name="圓 807"/>
          <p:cNvSpPr/>
          <p:nvPr/>
        </p:nvSpPr>
        <p:spPr>
          <a:xfrm>
            <a:off x="3726839" y="1323594"/>
            <a:ext cx="96012" cy="96012"/>
          </a:xfrm>
          <a:prstGeom prst="ellipse">
            <a:avLst/>
          </a:prstGeom>
          <a:solidFill>
            <a:srgbClr val="D6006F"/>
          </a:solidFill>
          <a:ln>
            <a:noFill/>
          </a:ln>
        </p:spPr>
        <p:txBody>
          <a:bodyPr/>
          <a:lstStyle/>
          <a:p>
            <a:endParaRPr lang="zh-TW" altLang="en-US" sz="1350"/>
          </a:p>
        </p:txBody>
      </p:sp>
      <p:sp>
        <p:nvSpPr>
          <p:cNvPr id="808" name="線 808"/>
          <p:cNvSpPr/>
          <p:nvPr/>
        </p:nvSpPr>
        <p:spPr>
          <a:xfrm flipV="1">
            <a:off x="3961773" y="2287184"/>
            <a:ext cx="128333" cy="1221008"/>
          </a:xfrm>
          <a:prstGeom prst="line">
            <a:avLst/>
          </a:prstGeom>
          <a:ln w="45720" cap="rnd">
            <a:solidFill>
              <a:srgbClr val="D6006F"/>
            </a:solidFill>
            <a:tailEnd type="triangle" w="med" len="med"/>
          </a:ln>
        </p:spPr>
        <p:txBody>
          <a:bodyPr/>
          <a:lstStyle/>
          <a:p>
            <a:endParaRPr lang="zh-TW" altLang="en-US" sz="1350"/>
          </a:p>
        </p:txBody>
      </p:sp>
      <p:sp>
        <p:nvSpPr>
          <p:cNvPr id="809" name="圓 809"/>
          <p:cNvSpPr/>
          <p:nvPr/>
        </p:nvSpPr>
        <p:spPr>
          <a:xfrm>
            <a:off x="4042100" y="2239178"/>
            <a:ext cx="96012" cy="96012"/>
          </a:xfrm>
          <a:prstGeom prst="ellipse">
            <a:avLst/>
          </a:prstGeom>
          <a:solidFill>
            <a:srgbClr val="D6006F"/>
          </a:solidFill>
          <a:ln>
            <a:noFill/>
          </a:ln>
        </p:spPr>
        <p:txBody>
          <a:bodyPr/>
          <a:lstStyle/>
          <a:p>
            <a:endParaRPr lang="zh-TW" altLang="en-US" sz="1350"/>
          </a:p>
        </p:txBody>
      </p:sp>
      <p:sp>
        <p:nvSpPr>
          <p:cNvPr id="810" name="線 810"/>
          <p:cNvSpPr/>
          <p:nvPr/>
        </p:nvSpPr>
        <p:spPr>
          <a:xfrm flipV="1">
            <a:off x="3961773" y="3080955"/>
            <a:ext cx="114478" cy="427238"/>
          </a:xfrm>
          <a:prstGeom prst="line">
            <a:avLst/>
          </a:prstGeom>
          <a:ln w="45720" cap="rnd">
            <a:solidFill>
              <a:srgbClr val="D6006F"/>
            </a:solidFill>
            <a:tailEnd type="triangle" w="med" len="med"/>
          </a:ln>
        </p:spPr>
        <p:txBody>
          <a:bodyPr/>
          <a:lstStyle/>
          <a:p>
            <a:endParaRPr lang="zh-TW" altLang="en-US" sz="1350"/>
          </a:p>
        </p:txBody>
      </p:sp>
      <p:sp>
        <p:nvSpPr>
          <p:cNvPr id="811" name="圓 811"/>
          <p:cNvSpPr/>
          <p:nvPr/>
        </p:nvSpPr>
        <p:spPr>
          <a:xfrm>
            <a:off x="4028244" y="3032949"/>
            <a:ext cx="96012" cy="96012"/>
          </a:xfrm>
          <a:prstGeom prst="ellipse">
            <a:avLst/>
          </a:prstGeom>
          <a:solidFill>
            <a:srgbClr val="D6006F"/>
          </a:solidFill>
          <a:ln>
            <a:noFill/>
          </a:ln>
        </p:spPr>
        <p:txBody>
          <a:bodyPr/>
          <a:lstStyle/>
          <a:p>
            <a:endParaRPr lang="zh-TW" altLang="en-US" sz="1350"/>
          </a:p>
        </p:txBody>
      </p:sp>
      <p:sp>
        <p:nvSpPr>
          <p:cNvPr id="812" name="線 812"/>
          <p:cNvSpPr/>
          <p:nvPr/>
        </p:nvSpPr>
        <p:spPr>
          <a:xfrm flipV="1">
            <a:off x="3750671" y="1961534"/>
            <a:ext cx="774040" cy="2126656"/>
          </a:xfrm>
          <a:prstGeom prst="line">
            <a:avLst/>
          </a:prstGeom>
          <a:ln w="64008" cap="rnd">
            <a:solidFill>
              <a:srgbClr val="C8901F"/>
            </a:solidFill>
            <a:tailEnd type="triangle" w="med" len="med"/>
          </a:ln>
        </p:spPr>
        <p:txBody>
          <a:bodyPr/>
          <a:lstStyle/>
          <a:p>
            <a:endParaRPr lang="zh-TW" altLang="en-US" sz="1350"/>
          </a:p>
        </p:txBody>
      </p:sp>
      <p:sp>
        <p:nvSpPr>
          <p:cNvPr id="813" name="文字 813"/>
          <p:cNvSpPr txBox="1"/>
          <p:nvPr/>
        </p:nvSpPr>
        <p:spPr>
          <a:xfrm>
            <a:off x="3887831" y="3916739"/>
            <a:ext cx="1097280" cy="308610"/>
          </a:xfrm>
          <a:prstGeom prst="rect">
            <a:avLst/>
          </a:prstGeom>
          <a:noFill/>
          <a:ln>
            <a:noFill/>
          </a:ln>
        </p:spPr>
        <p:txBody>
          <a:bodyPr wrap="none" lIns="34290" tIns="0" rIns="34290" bIns="0" anchor="ctr">
            <a:noAutofit/>
          </a:bodyPr>
          <a:lstStyle/>
          <a:p>
            <a:pPr algn="r">
              <a:buNone/>
            </a:pPr>
            <a:r>
              <a:rPr lang="zh-TW" altLang="en-US" b="1" dirty="0">
                <a:solidFill>
                  <a:srgbClr val="9A6D12"/>
                </a:solidFill>
                <a:latin typeface="Microsoft JhengHei"/>
                <a:ea typeface="Microsoft JhengHei"/>
                <a:cs typeface="Microsoft JhengHei"/>
              </a:rPr>
              <a:t>切線方向</a:t>
            </a:r>
          </a:p>
        </p:txBody>
      </p:sp>
      <p:sp>
        <p:nvSpPr>
          <p:cNvPr id="814" name="圓 814"/>
          <p:cNvSpPr/>
          <p:nvPr/>
        </p:nvSpPr>
        <p:spPr>
          <a:xfrm>
            <a:off x="547268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815" name="文字 815"/>
          <p:cNvSpPr txBox="1"/>
          <p:nvPr/>
        </p:nvSpPr>
        <p:spPr>
          <a:xfrm>
            <a:off x="5829300" y="120015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Δt 越小，P′ 越靠近 P</a:t>
            </a:r>
          </a:p>
        </p:txBody>
      </p:sp>
      <p:sp>
        <p:nvSpPr>
          <p:cNvPr id="816" name="圓 816"/>
          <p:cNvSpPr/>
          <p:nvPr/>
        </p:nvSpPr>
        <p:spPr>
          <a:xfrm>
            <a:off x="547268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817" name="文字 817"/>
          <p:cNvSpPr txBox="1"/>
          <p:nvPr/>
        </p:nvSpPr>
        <p:spPr>
          <a:xfrm>
            <a:off x="5829300" y="1625346"/>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弦 Δr 越來越貼近曲線</a:t>
            </a:r>
          </a:p>
        </p:txBody>
      </p:sp>
      <p:sp>
        <p:nvSpPr>
          <p:cNvPr id="818" name="圓 818"/>
          <p:cNvSpPr/>
          <p:nvPr/>
        </p:nvSpPr>
        <p:spPr>
          <a:xfrm>
            <a:off x="547268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819" name="文字 819"/>
          <p:cNvSpPr txBox="1"/>
          <p:nvPr/>
        </p:nvSpPr>
        <p:spPr>
          <a:xfrm>
            <a:off x="5829300" y="2050542"/>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|Δr| 趨近 Δs</a:t>
            </a:r>
          </a:p>
        </p:txBody>
      </p:sp>
      <p:sp>
        <p:nvSpPr>
          <p:cNvPr id="820" name="圓 820"/>
          <p:cNvSpPr/>
          <p:nvPr/>
        </p:nvSpPr>
        <p:spPr>
          <a:xfrm>
            <a:off x="5472684" y="2503170"/>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4</a:t>
            </a:r>
          </a:p>
        </p:txBody>
      </p:sp>
      <p:sp>
        <p:nvSpPr>
          <p:cNvPr id="821" name="文字 821"/>
          <p:cNvSpPr txBox="1"/>
          <p:nvPr/>
        </p:nvSpPr>
        <p:spPr>
          <a:xfrm>
            <a:off x="5829300" y="2475738"/>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Δr 的方向趨近切線</a:t>
            </a:r>
          </a:p>
        </p:txBody>
      </p:sp>
      <p:sp>
        <p:nvSpPr>
          <p:cNvPr id="822" name="框 822"/>
          <p:cNvSpPr/>
          <p:nvPr/>
        </p:nvSpPr>
        <p:spPr>
          <a:xfrm>
            <a:off x="5486400" y="2983230"/>
            <a:ext cx="3223260" cy="857250"/>
          </a:xfrm>
          <a:prstGeom prst="roundRect">
            <a:avLst/>
          </a:prstGeom>
          <a:solidFill>
            <a:srgbClr val="FBF0EC"/>
          </a:solidFill>
          <a:ln>
            <a:noFill/>
          </a:ln>
        </p:spPr>
        <p:txBody>
          <a:bodyPr/>
          <a:lstStyle/>
          <a:p>
            <a:endParaRPr lang="zh-TW" altLang="en-US" sz="1350"/>
          </a:p>
        </p:txBody>
      </p:sp>
      <p:sp>
        <p:nvSpPr>
          <p:cNvPr id="823" name="文字 823"/>
          <p:cNvSpPr txBox="1"/>
          <p:nvPr/>
        </p:nvSpPr>
        <p:spPr>
          <a:xfrm>
            <a:off x="5623560" y="3031236"/>
            <a:ext cx="3017520" cy="342900"/>
          </a:xfrm>
          <a:prstGeom prst="rect">
            <a:avLst/>
          </a:prstGeom>
          <a:noFill/>
          <a:ln>
            <a:noFill/>
          </a:ln>
        </p:spPr>
        <p:txBody>
          <a:bodyPr wrap="none" lIns="34290" tIns="0" rIns="34290" bIns="0" anchor="ctr">
            <a:noAutofit/>
          </a:bodyPr>
          <a:lstStyle/>
          <a:p>
            <a:pPr algn="l">
              <a:buNone/>
            </a:pPr>
            <a:r>
              <a:rPr lang="zh-TW" altLang="en-US" b="1" dirty="0">
                <a:solidFill>
                  <a:srgbClr val="B23A28"/>
                </a:solidFill>
                <a:latin typeface="Microsoft JhengHei"/>
                <a:ea typeface="Microsoft JhengHei"/>
                <a:cs typeface="Microsoft JhengHei"/>
              </a:rPr>
              <a:t>v = lim Δr／Δt = dr／dt</a:t>
            </a:r>
          </a:p>
        </p:txBody>
      </p:sp>
      <p:sp>
        <p:nvSpPr>
          <p:cNvPr id="824" name="文字 824"/>
          <p:cNvSpPr txBox="1"/>
          <p:nvPr/>
        </p:nvSpPr>
        <p:spPr>
          <a:xfrm>
            <a:off x="5623560" y="3394710"/>
            <a:ext cx="301752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速度永遠沿著路徑的切線</a:t>
            </a:r>
          </a:p>
        </p:txBody>
      </p:sp>
      <p:sp>
        <p:nvSpPr>
          <p:cNvPr id="825" name="文字 825"/>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6"/>
                                        </p:tgtEl>
                                        <p:attrNameLst>
                                          <p:attrName>style.visibility</p:attrName>
                                        </p:attrNameLst>
                                      </p:cBhvr>
                                      <p:to>
                                        <p:strVal val="visible"/>
                                      </p:to>
                                    </p:set>
                                    <p:animEffect transition="in" filter="fade">
                                      <p:cBhvr>
                                        <p:cTn id="7" dur="500"/>
                                        <p:tgtEl>
                                          <p:spTgt spid="8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7"/>
                                        </p:tgtEl>
                                        <p:attrNameLst>
                                          <p:attrName>style.visibility</p:attrName>
                                        </p:attrNameLst>
                                      </p:cBhvr>
                                      <p:to>
                                        <p:strVal val="visible"/>
                                      </p:to>
                                    </p:set>
                                    <p:animEffect transition="in" filter="fade">
                                      <p:cBhvr>
                                        <p:cTn id="10" dur="500"/>
                                        <p:tgtEl>
                                          <p:spTgt spid="8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14"/>
                                        </p:tgtEl>
                                        <p:attrNameLst>
                                          <p:attrName>style.visibility</p:attrName>
                                        </p:attrNameLst>
                                      </p:cBhvr>
                                      <p:to>
                                        <p:strVal val="visible"/>
                                      </p:to>
                                    </p:set>
                                    <p:animEffect transition="in" filter="fade">
                                      <p:cBhvr>
                                        <p:cTn id="13" dur="500"/>
                                        <p:tgtEl>
                                          <p:spTgt spid="8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15"/>
                                        </p:tgtEl>
                                        <p:attrNameLst>
                                          <p:attrName>style.visibility</p:attrName>
                                        </p:attrNameLst>
                                      </p:cBhvr>
                                      <p:to>
                                        <p:strVal val="visible"/>
                                      </p:to>
                                    </p:set>
                                    <p:animEffect transition="in" filter="fade">
                                      <p:cBhvr>
                                        <p:cTn id="16" dur="500"/>
                                        <p:tgtEl>
                                          <p:spTgt spid="8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400"/>
                                        <p:tgtEl>
                                          <p:spTgt spid="806"/>
                                        </p:tgtEl>
                                      </p:cBhvr>
                                    </p:animEffect>
                                    <p:set>
                                      <p:cBhvr>
                                        <p:cTn id="21" dur="1" fill="hold">
                                          <p:stCondLst>
                                            <p:cond delay="399"/>
                                          </p:stCondLst>
                                        </p:cTn>
                                        <p:tgtEl>
                                          <p:spTgt spid="806"/>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808"/>
                                        </p:tgtEl>
                                        <p:attrNameLst>
                                          <p:attrName>style.visibility</p:attrName>
                                        </p:attrNameLst>
                                      </p:cBhvr>
                                      <p:to>
                                        <p:strVal val="visible"/>
                                      </p:to>
                                    </p:set>
                                    <p:animEffect transition="in" filter="fade">
                                      <p:cBhvr>
                                        <p:cTn id="24" dur="500"/>
                                        <p:tgtEl>
                                          <p:spTgt spid="80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09"/>
                                        </p:tgtEl>
                                        <p:attrNameLst>
                                          <p:attrName>style.visibility</p:attrName>
                                        </p:attrNameLst>
                                      </p:cBhvr>
                                      <p:to>
                                        <p:strVal val="visible"/>
                                      </p:to>
                                    </p:set>
                                    <p:animEffect transition="in" filter="fade">
                                      <p:cBhvr>
                                        <p:cTn id="27" dur="500"/>
                                        <p:tgtEl>
                                          <p:spTgt spid="80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16"/>
                                        </p:tgtEl>
                                        <p:attrNameLst>
                                          <p:attrName>style.visibility</p:attrName>
                                        </p:attrNameLst>
                                      </p:cBhvr>
                                      <p:to>
                                        <p:strVal val="visible"/>
                                      </p:to>
                                    </p:set>
                                    <p:animEffect transition="in" filter="fade">
                                      <p:cBhvr>
                                        <p:cTn id="30" dur="500"/>
                                        <p:tgtEl>
                                          <p:spTgt spid="8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17"/>
                                        </p:tgtEl>
                                        <p:attrNameLst>
                                          <p:attrName>style.visibility</p:attrName>
                                        </p:attrNameLst>
                                      </p:cBhvr>
                                      <p:to>
                                        <p:strVal val="visible"/>
                                      </p:to>
                                    </p:set>
                                    <p:animEffect transition="in" filter="fade">
                                      <p:cBhvr>
                                        <p:cTn id="33" dur="500"/>
                                        <p:tgtEl>
                                          <p:spTgt spid="8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400"/>
                                        <p:tgtEl>
                                          <p:spTgt spid="808"/>
                                        </p:tgtEl>
                                      </p:cBhvr>
                                    </p:animEffect>
                                    <p:set>
                                      <p:cBhvr>
                                        <p:cTn id="38" dur="1" fill="hold">
                                          <p:stCondLst>
                                            <p:cond delay="399"/>
                                          </p:stCondLst>
                                        </p:cTn>
                                        <p:tgtEl>
                                          <p:spTgt spid="808"/>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810"/>
                                        </p:tgtEl>
                                        <p:attrNameLst>
                                          <p:attrName>style.visibility</p:attrName>
                                        </p:attrNameLst>
                                      </p:cBhvr>
                                      <p:to>
                                        <p:strVal val="visible"/>
                                      </p:to>
                                    </p:set>
                                    <p:animEffect transition="in" filter="fade">
                                      <p:cBhvr>
                                        <p:cTn id="41" dur="500"/>
                                        <p:tgtEl>
                                          <p:spTgt spid="81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11"/>
                                        </p:tgtEl>
                                        <p:attrNameLst>
                                          <p:attrName>style.visibility</p:attrName>
                                        </p:attrNameLst>
                                      </p:cBhvr>
                                      <p:to>
                                        <p:strVal val="visible"/>
                                      </p:to>
                                    </p:set>
                                    <p:animEffect transition="in" filter="fade">
                                      <p:cBhvr>
                                        <p:cTn id="44" dur="500"/>
                                        <p:tgtEl>
                                          <p:spTgt spid="8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18"/>
                                        </p:tgtEl>
                                        <p:attrNameLst>
                                          <p:attrName>style.visibility</p:attrName>
                                        </p:attrNameLst>
                                      </p:cBhvr>
                                      <p:to>
                                        <p:strVal val="visible"/>
                                      </p:to>
                                    </p:set>
                                    <p:animEffect transition="in" filter="fade">
                                      <p:cBhvr>
                                        <p:cTn id="47" dur="500"/>
                                        <p:tgtEl>
                                          <p:spTgt spid="8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19"/>
                                        </p:tgtEl>
                                        <p:attrNameLst>
                                          <p:attrName>style.visibility</p:attrName>
                                        </p:attrNameLst>
                                      </p:cBhvr>
                                      <p:to>
                                        <p:strVal val="visible"/>
                                      </p:to>
                                    </p:set>
                                    <p:animEffect transition="in" filter="fade">
                                      <p:cBhvr>
                                        <p:cTn id="50" dur="500"/>
                                        <p:tgtEl>
                                          <p:spTgt spid="8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812"/>
                                        </p:tgtEl>
                                        <p:attrNameLst>
                                          <p:attrName>style.visibility</p:attrName>
                                        </p:attrNameLst>
                                      </p:cBhvr>
                                      <p:to>
                                        <p:strVal val="visible"/>
                                      </p:to>
                                    </p:set>
                                    <p:animEffect transition="in" filter="fade">
                                      <p:cBhvr>
                                        <p:cTn id="55" dur="500"/>
                                        <p:tgtEl>
                                          <p:spTgt spid="8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13"/>
                                        </p:tgtEl>
                                        <p:attrNameLst>
                                          <p:attrName>style.visibility</p:attrName>
                                        </p:attrNameLst>
                                      </p:cBhvr>
                                      <p:to>
                                        <p:strVal val="visible"/>
                                      </p:to>
                                    </p:set>
                                    <p:animEffect transition="in" filter="fade">
                                      <p:cBhvr>
                                        <p:cTn id="58" dur="500"/>
                                        <p:tgtEl>
                                          <p:spTgt spid="81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820"/>
                                        </p:tgtEl>
                                        <p:attrNameLst>
                                          <p:attrName>style.visibility</p:attrName>
                                        </p:attrNameLst>
                                      </p:cBhvr>
                                      <p:to>
                                        <p:strVal val="visible"/>
                                      </p:to>
                                    </p:set>
                                    <p:animEffect transition="in" filter="fade">
                                      <p:cBhvr>
                                        <p:cTn id="61" dur="500"/>
                                        <p:tgtEl>
                                          <p:spTgt spid="8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21"/>
                                        </p:tgtEl>
                                        <p:attrNameLst>
                                          <p:attrName>style.visibility</p:attrName>
                                        </p:attrNameLst>
                                      </p:cBhvr>
                                      <p:to>
                                        <p:strVal val="visible"/>
                                      </p:to>
                                    </p:set>
                                    <p:animEffect transition="in" filter="fade">
                                      <p:cBhvr>
                                        <p:cTn id="64" dur="500"/>
                                        <p:tgtEl>
                                          <p:spTgt spid="82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822"/>
                                        </p:tgtEl>
                                        <p:attrNameLst>
                                          <p:attrName>style.visibility</p:attrName>
                                        </p:attrNameLst>
                                      </p:cBhvr>
                                      <p:to>
                                        <p:strVal val="visible"/>
                                      </p:to>
                                    </p:set>
                                    <p:animEffect transition="in" filter="fade">
                                      <p:cBhvr>
                                        <p:cTn id="69" dur="500"/>
                                        <p:tgtEl>
                                          <p:spTgt spid="8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823"/>
                                        </p:tgtEl>
                                        <p:attrNameLst>
                                          <p:attrName>style.visibility</p:attrName>
                                        </p:attrNameLst>
                                      </p:cBhvr>
                                      <p:to>
                                        <p:strVal val="visible"/>
                                      </p:to>
                                    </p:set>
                                    <p:animEffect transition="in" filter="fade">
                                      <p:cBhvr>
                                        <p:cTn id="72" dur="500"/>
                                        <p:tgtEl>
                                          <p:spTgt spid="8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824"/>
                                        </p:tgtEl>
                                        <p:attrNameLst>
                                          <p:attrName>style.visibility</p:attrName>
                                        </p:attrNameLst>
                                      </p:cBhvr>
                                      <p:to>
                                        <p:strVal val="visible"/>
                                      </p:to>
                                    </p:set>
                                    <p:animEffect transition="in" filter="fade">
                                      <p:cBhvr>
                                        <p:cTn id="75" dur="500"/>
                                        <p:tgtEl>
                                          <p:spTgt spid="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 grpId="0" animBg="1"/>
      <p:bldP spid="806" grpId="1" animBg="1"/>
      <p:bldP spid="807" grpId="0" animBg="1"/>
      <p:bldP spid="808" grpId="0" animBg="1"/>
      <p:bldP spid="808" grpId="1" animBg="1"/>
      <p:bldP spid="809" grpId="0" animBg="1"/>
      <p:bldP spid="810" grpId="0" animBg="1"/>
      <p:bldP spid="811" grpId="0" animBg="1"/>
      <p:bldP spid="812" grpId="0" animBg="1"/>
      <p:bldP spid="813" grpId="0" animBg="1"/>
      <p:bldP spid="814" grpId="0" animBg="1"/>
      <p:bldP spid="815" grpId="0" animBg="1"/>
      <p:bldP spid="816" grpId="0" animBg="1"/>
      <p:bldP spid="817" grpId="0" animBg="1"/>
      <p:bldP spid="818" grpId="0" animBg="1"/>
      <p:bldP spid="819" grpId="0" animBg="1"/>
      <p:bldP spid="820" grpId="0" animBg="1"/>
      <p:bldP spid="821" grpId="0" animBg="1"/>
      <p:bldP spid="822" grpId="0" animBg="1"/>
      <p:bldP spid="823" grpId="0" animBg="1"/>
      <p:bldP spid="8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文字 2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情況一：彎曲路徑（曲線運動）</a:t>
            </a:r>
          </a:p>
        </p:txBody>
      </p:sp>
      <p:sp>
        <p:nvSpPr>
          <p:cNvPr id="202" name="框 2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203" name="圖形 203"/>
          <p:cNvSpPr/>
          <p:nvPr/>
        </p:nvSpPr>
        <p:spPr>
          <a:xfrm>
            <a:off x="685800" y="1443729"/>
            <a:ext cx="4183380" cy="1831540"/>
          </a:xfrm>
          <a:custGeom>
            <a:avLst/>
            <a:gdLst/>
            <a:ahLst/>
            <a:cxnLst/>
            <a:rect l="0" t="0" r="r" b="b"/>
            <a:pathLst>
              <a:path w="5577840" h="2442053" fill="none">
                <a:moveTo>
                  <a:pt x="0" y="1942035"/>
                </a:moveTo>
                <a:lnTo>
                  <a:pt x="92964" y="1990781"/>
                </a:lnTo>
                <a:lnTo>
                  <a:pt x="185928" y="2041742"/>
                </a:lnTo>
                <a:lnTo>
                  <a:pt x="278892" y="2093817"/>
                </a:lnTo>
                <a:lnTo>
                  <a:pt x="371856" y="2145891"/>
                </a:lnTo>
                <a:lnTo>
                  <a:pt x="464820" y="2196852"/>
                </a:lnTo>
                <a:lnTo>
                  <a:pt x="557784" y="2245598"/>
                </a:lnTo>
                <a:lnTo>
                  <a:pt x="650748" y="2291060"/>
                </a:lnTo>
                <a:lnTo>
                  <a:pt x="743712" y="2332211"/>
                </a:lnTo>
                <a:lnTo>
                  <a:pt x="836676" y="2368081"/>
                </a:lnTo>
                <a:lnTo>
                  <a:pt x="929640" y="2397771"/>
                </a:lnTo>
                <a:lnTo>
                  <a:pt x="1022604" y="2420462"/>
                </a:lnTo>
                <a:lnTo>
                  <a:pt x="1115568" y="2435431"/>
                </a:lnTo>
                <a:lnTo>
                  <a:pt x="1208532" y="2442053"/>
                </a:lnTo>
                <a:lnTo>
                  <a:pt x="1301496" y="2439818"/>
                </a:lnTo>
                <a:lnTo>
                  <a:pt x="1394460" y="2428331"/>
                </a:lnTo>
                <a:lnTo>
                  <a:pt x="1487424" y="2407320"/>
                </a:lnTo>
                <a:lnTo>
                  <a:pt x="1580388" y="2376639"/>
                </a:lnTo>
                <a:lnTo>
                  <a:pt x="1673352" y="2336270"/>
                </a:lnTo>
                <a:lnTo>
                  <a:pt x="1766316" y="2286325"/>
                </a:lnTo>
                <a:lnTo>
                  <a:pt x="1859280" y="2227041"/>
                </a:lnTo>
                <a:lnTo>
                  <a:pt x="1952244" y="2158780"/>
                </a:lnTo>
                <a:lnTo>
                  <a:pt x="2045208" y="2082023"/>
                </a:lnTo>
                <a:lnTo>
                  <a:pt x="2138172" y="1997362"/>
                </a:lnTo>
                <a:lnTo>
                  <a:pt x="2231136" y="1905495"/>
                </a:lnTo>
                <a:lnTo>
                  <a:pt x="2324100" y="1807217"/>
                </a:lnTo>
                <a:lnTo>
                  <a:pt x="2417064" y="1703405"/>
                </a:lnTo>
                <a:lnTo>
                  <a:pt x="2510028" y="1595011"/>
                </a:lnTo>
                <a:lnTo>
                  <a:pt x="2602992" y="1483048"/>
                </a:lnTo>
                <a:lnTo>
                  <a:pt x="2695956" y="1368575"/>
                </a:lnTo>
                <a:lnTo>
                  <a:pt x="2788920" y="1252686"/>
                </a:lnTo>
                <a:lnTo>
                  <a:pt x="2881884" y="1136493"/>
                </a:lnTo>
                <a:lnTo>
                  <a:pt x="2974848" y="1021110"/>
                </a:lnTo>
                <a:lnTo>
                  <a:pt x="3067812" y="907644"/>
                </a:lnTo>
                <a:lnTo>
                  <a:pt x="3160776" y="797175"/>
                </a:lnTo>
                <a:lnTo>
                  <a:pt x="3253740" y="690741"/>
                </a:lnTo>
                <a:lnTo>
                  <a:pt x="3346704" y="589331"/>
                </a:lnTo>
                <a:lnTo>
                  <a:pt x="3439668" y="493863"/>
                </a:lnTo>
                <a:lnTo>
                  <a:pt x="3532632" y="405179"/>
                </a:lnTo>
                <a:lnTo>
                  <a:pt x="3625596" y="324030"/>
                </a:lnTo>
                <a:lnTo>
                  <a:pt x="3718560" y="251067"/>
                </a:lnTo>
                <a:lnTo>
                  <a:pt x="3811524" y="186834"/>
                </a:lnTo>
                <a:lnTo>
                  <a:pt x="3904488" y="131758"/>
                </a:lnTo>
                <a:lnTo>
                  <a:pt x="3997452" y="86144"/>
                </a:lnTo>
                <a:lnTo>
                  <a:pt x="4090416" y="50173"/>
                </a:lnTo>
                <a:lnTo>
                  <a:pt x="4183380" y="23897"/>
                </a:lnTo>
                <a:lnTo>
                  <a:pt x="4276344" y="7240"/>
                </a:lnTo>
                <a:lnTo>
                  <a:pt x="4369308" y="0"/>
                </a:lnTo>
                <a:lnTo>
                  <a:pt x="4462272" y="1847"/>
                </a:lnTo>
                <a:lnTo>
                  <a:pt x="4555236" y="12334"/>
                </a:lnTo>
                <a:lnTo>
                  <a:pt x="4648200" y="30896"/>
                </a:lnTo>
                <a:lnTo>
                  <a:pt x="4741164" y="56865"/>
                </a:lnTo>
                <a:lnTo>
                  <a:pt x="4834128" y="89470"/>
                </a:lnTo>
                <a:lnTo>
                  <a:pt x="4927092" y="127857"/>
                </a:lnTo>
                <a:lnTo>
                  <a:pt x="5020056" y="171091"/>
                </a:lnTo>
                <a:lnTo>
                  <a:pt x="5113020" y="218176"/>
                </a:lnTo>
                <a:lnTo>
                  <a:pt x="5205984" y="268063"/>
                </a:lnTo>
                <a:lnTo>
                  <a:pt x="5298948" y="319668"/>
                </a:lnTo>
                <a:lnTo>
                  <a:pt x="5391912" y="371881"/>
                </a:lnTo>
                <a:lnTo>
                  <a:pt x="5484876" y="423587"/>
                </a:lnTo>
                <a:lnTo>
                  <a:pt x="5577840" y="473676"/>
                </a:lnTo>
              </a:path>
            </a:pathLst>
          </a:custGeom>
          <a:noFill/>
          <a:ln w="32004" cap="rnd">
            <a:solidFill>
              <a:srgbClr val="9AA3B5"/>
            </a:solidFill>
          </a:ln>
        </p:spPr>
        <p:txBody>
          <a:bodyPr/>
          <a:lstStyle/>
          <a:p>
            <a:endParaRPr lang="zh-TW" altLang="en-US" sz="1350"/>
          </a:p>
        </p:txBody>
      </p:sp>
      <p:sp>
        <p:nvSpPr>
          <p:cNvPr id="204" name="圓 204"/>
          <p:cNvSpPr/>
          <p:nvPr/>
        </p:nvSpPr>
        <p:spPr>
          <a:xfrm>
            <a:off x="802386" y="4025646"/>
            <a:ext cx="109728" cy="109728"/>
          </a:xfrm>
          <a:prstGeom prst="ellipse">
            <a:avLst/>
          </a:prstGeom>
          <a:solidFill>
            <a:srgbClr val="2B3050"/>
          </a:solidFill>
          <a:ln>
            <a:noFill/>
          </a:ln>
        </p:spPr>
        <p:txBody>
          <a:bodyPr/>
          <a:lstStyle/>
          <a:p>
            <a:endParaRPr lang="zh-TW" altLang="en-US" sz="1350"/>
          </a:p>
        </p:txBody>
      </p:sp>
      <p:sp>
        <p:nvSpPr>
          <p:cNvPr id="205" name="文字 205"/>
          <p:cNvSpPr txBox="1"/>
          <p:nvPr/>
        </p:nvSpPr>
        <p:spPr>
          <a:xfrm>
            <a:off x="548640" y="397764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206" name="圓 206"/>
          <p:cNvSpPr/>
          <p:nvPr/>
        </p:nvSpPr>
        <p:spPr>
          <a:xfrm>
            <a:off x="1795424" y="3169670"/>
            <a:ext cx="123444" cy="123444"/>
          </a:xfrm>
          <a:prstGeom prst="ellipse">
            <a:avLst/>
          </a:prstGeom>
          <a:solidFill>
            <a:srgbClr val="1E2761"/>
          </a:solidFill>
          <a:ln>
            <a:noFill/>
          </a:ln>
        </p:spPr>
        <p:txBody>
          <a:bodyPr/>
          <a:lstStyle/>
          <a:p>
            <a:endParaRPr lang="zh-TW" altLang="en-US" sz="1350"/>
          </a:p>
        </p:txBody>
      </p:sp>
      <p:sp>
        <p:nvSpPr>
          <p:cNvPr id="207" name="圓 207"/>
          <p:cNvSpPr/>
          <p:nvPr/>
        </p:nvSpPr>
        <p:spPr>
          <a:xfrm>
            <a:off x="4389120" y="1510325"/>
            <a:ext cx="123444" cy="123444"/>
          </a:xfrm>
          <a:prstGeom prst="ellipse">
            <a:avLst/>
          </a:prstGeom>
          <a:solidFill>
            <a:srgbClr val="1E2761"/>
          </a:solidFill>
          <a:ln>
            <a:noFill/>
          </a:ln>
        </p:spPr>
        <p:txBody>
          <a:bodyPr/>
          <a:lstStyle/>
          <a:p>
            <a:endParaRPr lang="zh-TW" altLang="en-US" sz="1350"/>
          </a:p>
        </p:txBody>
      </p:sp>
      <p:sp>
        <p:nvSpPr>
          <p:cNvPr id="208" name="文字 208"/>
          <p:cNvSpPr txBox="1"/>
          <p:nvPr/>
        </p:nvSpPr>
        <p:spPr>
          <a:xfrm>
            <a:off x="1411376" y="2819912"/>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P₁</a:t>
            </a:r>
          </a:p>
        </p:txBody>
      </p:sp>
      <p:sp>
        <p:nvSpPr>
          <p:cNvPr id="209" name="文字 209"/>
          <p:cNvSpPr txBox="1"/>
          <p:nvPr/>
        </p:nvSpPr>
        <p:spPr>
          <a:xfrm>
            <a:off x="4485132" y="1194857"/>
            <a:ext cx="48006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P₂</a:t>
            </a:r>
          </a:p>
        </p:txBody>
      </p:sp>
      <p:sp>
        <p:nvSpPr>
          <p:cNvPr id="210" name="線 210"/>
          <p:cNvSpPr/>
          <p:nvPr/>
        </p:nvSpPr>
        <p:spPr>
          <a:xfrm flipV="1">
            <a:off x="857251" y="3231393"/>
            <a:ext cx="999896" cy="849118"/>
          </a:xfrm>
          <a:prstGeom prst="line">
            <a:avLst/>
          </a:prstGeom>
          <a:ln w="41148" cap="rnd">
            <a:solidFill>
              <a:srgbClr val="2F8F4E"/>
            </a:solidFill>
            <a:tailEnd type="triangle" w="med" len="med"/>
          </a:ln>
        </p:spPr>
        <p:txBody>
          <a:bodyPr/>
          <a:lstStyle/>
          <a:p>
            <a:endParaRPr lang="zh-TW" altLang="en-US" sz="1350"/>
          </a:p>
        </p:txBody>
      </p:sp>
      <p:sp>
        <p:nvSpPr>
          <p:cNvPr id="211" name="文字 211"/>
          <p:cNvSpPr txBox="1"/>
          <p:nvPr/>
        </p:nvSpPr>
        <p:spPr>
          <a:xfrm>
            <a:off x="945719" y="3415921"/>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r</a:t>
            </a:r>
          </a:p>
        </p:txBody>
      </p:sp>
      <p:sp>
        <p:nvSpPr>
          <p:cNvPr id="212" name="圖形 212"/>
          <p:cNvSpPr/>
          <p:nvPr/>
        </p:nvSpPr>
        <p:spPr>
          <a:xfrm>
            <a:off x="1857147" y="1443575"/>
            <a:ext cx="2593696" cy="1787818"/>
          </a:xfrm>
          <a:custGeom>
            <a:avLst/>
            <a:gdLst/>
            <a:ahLst/>
            <a:cxnLst/>
            <a:rect l="0" t="0" r="r" b="b"/>
            <a:pathLst>
              <a:path w="3458261" h="2383757" fill="none">
                <a:moveTo>
                  <a:pt x="0" y="2383757"/>
                </a:moveTo>
                <a:lnTo>
                  <a:pt x="86457" y="2348326"/>
                </a:lnTo>
                <a:lnTo>
                  <a:pt x="172913" y="2304574"/>
                </a:lnTo>
                <a:lnTo>
                  <a:pt x="259370" y="2252662"/>
                </a:lnTo>
                <a:lnTo>
                  <a:pt x="345826" y="2192844"/>
                </a:lnTo>
                <a:lnTo>
                  <a:pt x="432283" y="2125463"/>
                </a:lnTo>
                <a:lnTo>
                  <a:pt x="518739" y="2050952"/>
                </a:lnTo>
                <a:lnTo>
                  <a:pt x="605196" y="1969824"/>
                </a:lnTo>
                <a:lnTo>
                  <a:pt x="691652" y="1882667"/>
                </a:lnTo>
                <a:lnTo>
                  <a:pt x="778109" y="1790139"/>
                </a:lnTo>
                <a:lnTo>
                  <a:pt x="864565" y="1692961"/>
                </a:lnTo>
                <a:lnTo>
                  <a:pt x="951022" y="1591904"/>
                </a:lnTo>
                <a:lnTo>
                  <a:pt x="1037478" y="1487787"/>
                </a:lnTo>
                <a:lnTo>
                  <a:pt x="1123935" y="1381462"/>
                </a:lnTo>
                <a:lnTo>
                  <a:pt x="1210391" y="1273806"/>
                </a:lnTo>
                <a:lnTo>
                  <a:pt x="1296848" y="1165714"/>
                </a:lnTo>
                <a:lnTo>
                  <a:pt x="1383304" y="1058082"/>
                </a:lnTo>
                <a:lnTo>
                  <a:pt x="1469761" y="951804"/>
                </a:lnTo>
                <a:lnTo>
                  <a:pt x="1556217" y="847756"/>
                </a:lnTo>
                <a:lnTo>
                  <a:pt x="1642674" y="746792"/>
                </a:lnTo>
                <a:lnTo>
                  <a:pt x="1729130" y="649726"/>
                </a:lnTo>
                <a:lnTo>
                  <a:pt x="1815587" y="557332"/>
                </a:lnTo>
                <a:lnTo>
                  <a:pt x="1902043" y="470326"/>
                </a:lnTo>
                <a:lnTo>
                  <a:pt x="1988500" y="389364"/>
                </a:lnTo>
                <a:lnTo>
                  <a:pt x="2074956" y="315035"/>
                </a:lnTo>
                <a:lnTo>
                  <a:pt x="2161413" y="247850"/>
                </a:lnTo>
                <a:lnTo>
                  <a:pt x="2247870" y="188236"/>
                </a:lnTo>
                <a:lnTo>
                  <a:pt x="2334326" y="136536"/>
                </a:lnTo>
                <a:lnTo>
                  <a:pt x="2420783" y="93002"/>
                </a:lnTo>
                <a:lnTo>
                  <a:pt x="2507239" y="57793"/>
                </a:lnTo>
                <a:lnTo>
                  <a:pt x="2593696" y="30969"/>
                </a:lnTo>
                <a:lnTo>
                  <a:pt x="2680152" y="12497"/>
                </a:lnTo>
                <a:lnTo>
                  <a:pt x="2766609" y="2249"/>
                </a:lnTo>
                <a:lnTo>
                  <a:pt x="2853065" y="0"/>
                </a:lnTo>
                <a:lnTo>
                  <a:pt x="2939522" y="5435"/>
                </a:lnTo>
                <a:lnTo>
                  <a:pt x="3025978" y="18150"/>
                </a:lnTo>
                <a:lnTo>
                  <a:pt x="3112435" y="37658"/>
                </a:lnTo>
                <a:lnTo>
                  <a:pt x="3198891" y="63394"/>
                </a:lnTo>
                <a:lnTo>
                  <a:pt x="3285348" y="94722"/>
                </a:lnTo>
                <a:lnTo>
                  <a:pt x="3371804" y="130942"/>
                </a:lnTo>
                <a:lnTo>
                  <a:pt x="3458261" y="171296"/>
                </a:lnTo>
              </a:path>
            </a:pathLst>
          </a:custGeom>
          <a:noFill/>
          <a:ln w="82296" cap="rnd">
            <a:solidFill>
              <a:srgbClr val="C8901F"/>
            </a:solidFill>
          </a:ln>
        </p:spPr>
        <p:txBody>
          <a:bodyPr/>
          <a:lstStyle/>
          <a:p>
            <a:endParaRPr lang="zh-TW" altLang="en-US" sz="1350"/>
          </a:p>
        </p:txBody>
      </p:sp>
      <p:sp>
        <p:nvSpPr>
          <p:cNvPr id="213" name="線 213"/>
          <p:cNvSpPr/>
          <p:nvPr/>
        </p:nvSpPr>
        <p:spPr>
          <a:xfrm>
            <a:off x="2571750" y="3648456"/>
            <a:ext cx="411480" cy="0"/>
          </a:xfrm>
          <a:prstGeom prst="line">
            <a:avLst/>
          </a:prstGeom>
          <a:ln w="82296" cap="rnd">
            <a:solidFill>
              <a:srgbClr val="C8901F"/>
            </a:solidFill>
          </a:ln>
        </p:spPr>
        <p:txBody>
          <a:bodyPr/>
          <a:lstStyle/>
          <a:p>
            <a:endParaRPr lang="zh-TW" altLang="en-US" sz="1350"/>
          </a:p>
        </p:txBody>
      </p:sp>
      <p:sp>
        <p:nvSpPr>
          <p:cNvPr id="214" name="文字 214"/>
          <p:cNvSpPr txBox="1"/>
          <p:nvPr/>
        </p:nvSpPr>
        <p:spPr>
          <a:xfrm>
            <a:off x="3051810" y="34975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路徑長（純量）</a:t>
            </a:r>
          </a:p>
        </p:txBody>
      </p:sp>
      <p:sp>
        <p:nvSpPr>
          <p:cNvPr id="215" name="圓 215"/>
          <p:cNvSpPr/>
          <p:nvPr/>
        </p:nvSpPr>
        <p:spPr>
          <a:xfrm>
            <a:off x="1767992" y="3142238"/>
            <a:ext cx="178308" cy="178308"/>
          </a:xfrm>
          <a:prstGeom prst="ellipse">
            <a:avLst/>
          </a:prstGeom>
          <a:solidFill>
            <a:srgbClr val="B23A28"/>
          </a:solidFill>
          <a:ln>
            <a:noFill/>
          </a:ln>
        </p:spPr>
        <p:txBody>
          <a:bodyPr/>
          <a:lstStyle/>
          <a:p>
            <a:endParaRPr lang="zh-TW" altLang="en-US" sz="1350"/>
          </a:p>
        </p:txBody>
      </p:sp>
      <p:sp>
        <p:nvSpPr>
          <p:cNvPr id="216" name="線 216"/>
          <p:cNvSpPr/>
          <p:nvPr/>
        </p:nvSpPr>
        <p:spPr>
          <a:xfrm flipV="1">
            <a:off x="857250" y="1572046"/>
            <a:ext cx="3593592" cy="2508464"/>
          </a:xfrm>
          <a:prstGeom prst="line">
            <a:avLst/>
          </a:prstGeom>
          <a:ln w="41148" cap="rnd">
            <a:solidFill>
              <a:srgbClr val="2E6FB7"/>
            </a:solidFill>
            <a:tailEnd type="triangle" w="med" len="med"/>
          </a:ln>
        </p:spPr>
        <p:txBody>
          <a:bodyPr/>
          <a:lstStyle/>
          <a:p>
            <a:endParaRPr lang="zh-TW" altLang="en-US" sz="1350"/>
          </a:p>
        </p:txBody>
      </p:sp>
      <p:sp>
        <p:nvSpPr>
          <p:cNvPr id="217" name="文字 217"/>
          <p:cNvSpPr txBox="1"/>
          <p:nvPr/>
        </p:nvSpPr>
        <p:spPr>
          <a:xfrm>
            <a:off x="2722626" y="2860568"/>
            <a:ext cx="342900" cy="308610"/>
          </a:xfrm>
          <a:prstGeom prst="rect">
            <a:avLst/>
          </a:prstGeom>
          <a:noFill/>
          <a:ln>
            <a:noFill/>
          </a:ln>
        </p:spPr>
        <p:txBody>
          <a:bodyPr wrap="none" lIns="34290" tIns="0" rIns="34290" bIns="0" anchor="ctr">
            <a:noAutofit/>
          </a:bodyPr>
          <a:lstStyle/>
          <a:p>
            <a:pPr algn="l">
              <a:buNone/>
            </a:pPr>
            <a:r>
              <a:rPr lang="zh-TW" altLang="en-US" sz="1950" b="1" dirty="0">
                <a:solidFill>
                  <a:srgbClr val="2E6FB7"/>
                </a:solidFill>
                <a:latin typeface="Microsoft JhengHei"/>
                <a:ea typeface="Microsoft JhengHei"/>
                <a:cs typeface="Microsoft JhengHei"/>
              </a:rPr>
              <a:t>r′</a:t>
            </a:r>
          </a:p>
        </p:txBody>
      </p:sp>
      <p:sp>
        <p:nvSpPr>
          <p:cNvPr id="218" name="線 218"/>
          <p:cNvSpPr/>
          <p:nvPr/>
        </p:nvSpPr>
        <p:spPr>
          <a:xfrm flipV="1">
            <a:off x="1857147" y="1572047"/>
            <a:ext cx="2593696" cy="1659345"/>
          </a:xfrm>
          <a:prstGeom prst="line">
            <a:avLst/>
          </a:prstGeom>
          <a:ln w="54864" cap="rnd">
            <a:solidFill>
              <a:srgbClr val="D6006F"/>
            </a:solidFill>
            <a:tailEnd type="triangle" w="med" len="med"/>
          </a:ln>
        </p:spPr>
        <p:txBody>
          <a:bodyPr/>
          <a:lstStyle/>
          <a:p>
            <a:endParaRPr lang="zh-TW" altLang="en-US" sz="1350"/>
          </a:p>
        </p:txBody>
      </p:sp>
      <p:sp>
        <p:nvSpPr>
          <p:cNvPr id="219" name="線 219"/>
          <p:cNvSpPr/>
          <p:nvPr/>
        </p:nvSpPr>
        <p:spPr>
          <a:xfrm>
            <a:off x="2571750" y="3991356"/>
            <a:ext cx="411480" cy="0"/>
          </a:xfrm>
          <a:prstGeom prst="line">
            <a:avLst/>
          </a:prstGeom>
          <a:ln w="54864" cap="rnd">
            <a:solidFill>
              <a:srgbClr val="D6006F"/>
            </a:solidFill>
            <a:tailEnd type="triangle" w="med" len="med"/>
          </a:ln>
        </p:spPr>
        <p:txBody>
          <a:bodyPr/>
          <a:lstStyle/>
          <a:p>
            <a:endParaRPr lang="zh-TW" altLang="en-US" sz="1350"/>
          </a:p>
        </p:txBody>
      </p:sp>
      <p:sp>
        <p:nvSpPr>
          <p:cNvPr id="220" name="文字 220"/>
          <p:cNvSpPr txBox="1"/>
          <p:nvPr/>
        </p:nvSpPr>
        <p:spPr>
          <a:xfrm>
            <a:off x="3051810" y="3840480"/>
            <a:ext cx="20574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位移（向量）</a:t>
            </a:r>
          </a:p>
        </p:txBody>
      </p:sp>
      <p:sp>
        <p:nvSpPr>
          <p:cNvPr id="221" name="圓 221"/>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222" name="文字 222"/>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位置向量 r：從 O 指到質點</a:t>
            </a:r>
          </a:p>
        </p:txBody>
      </p:sp>
      <p:sp>
        <p:nvSpPr>
          <p:cNvPr id="223" name="圓 223"/>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224" name="文字 224"/>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r′ − r：向量</a:t>
            </a:r>
          </a:p>
        </p:txBody>
      </p:sp>
      <p:sp>
        <p:nvSpPr>
          <p:cNvPr id="225" name="圓 225"/>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226" name="文字 226"/>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Δs：沿曲線量，純量</a:t>
            </a:r>
          </a:p>
        </p:txBody>
      </p:sp>
      <p:sp>
        <p:nvSpPr>
          <p:cNvPr id="227" name="框 227"/>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228" name="文字 228"/>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229" name="文字 229"/>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彎曲的路一定比直線長</a:t>
            </a:r>
          </a:p>
        </p:txBody>
      </p:sp>
      <p:sp>
        <p:nvSpPr>
          <p:cNvPr id="230" name="文字 230"/>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500"/>
                                        <p:tgtEl>
                                          <p:spTgt spid="2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
                                        </p:tgtEl>
                                        <p:attrNameLst>
                                          <p:attrName>style.visibility</p:attrName>
                                        </p:attrNameLst>
                                      </p:cBhvr>
                                      <p:to>
                                        <p:strVal val="visible"/>
                                      </p:to>
                                    </p:set>
                                    <p:animEffect transition="in" filter="fade">
                                      <p:cBhvr>
                                        <p:cTn id="10" dur="500"/>
                                        <p:tgtEl>
                                          <p:spTgt spid="2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1"/>
                                        </p:tgtEl>
                                        <p:attrNameLst>
                                          <p:attrName>style.visibility</p:attrName>
                                        </p:attrNameLst>
                                      </p:cBhvr>
                                      <p:to>
                                        <p:strVal val="visible"/>
                                      </p:to>
                                    </p:set>
                                    <p:animEffect transition="in" filter="fade">
                                      <p:cBhvr>
                                        <p:cTn id="13" dur="500"/>
                                        <p:tgtEl>
                                          <p:spTgt spid="2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2"/>
                                        </p:tgtEl>
                                        <p:attrNameLst>
                                          <p:attrName>style.visibility</p:attrName>
                                        </p:attrNameLst>
                                      </p:cBhvr>
                                      <p:to>
                                        <p:strVal val="visible"/>
                                      </p:to>
                                    </p:set>
                                    <p:animEffect transition="in" filter="fade">
                                      <p:cBhvr>
                                        <p:cTn id="16" dur="500"/>
                                        <p:tgtEl>
                                          <p:spTgt spid="2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215">
                                            <p:txEl>
                                              <p:charRg st="4294967295" end="4294967295"/>
                                            </p:txEl>
                                          </p:spTgt>
                                        </p:tgtEl>
                                        <p:attrNameLst>
                                          <p:attrName>style.visibility</p:attrName>
                                        </p:attrNameLst>
                                      </p:cBhvr>
                                      <p:to>
                                        <p:strVal val="visible"/>
                                      </p:to>
                                    </p:set>
                                    <p:animEffect transition="in" filter="fade">
                                      <p:cBhvr>
                                        <p:cTn id="21" dur="300"/>
                                        <p:tgtEl>
                                          <p:spTgt spid="21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2"/>
                                        </p:tgtEl>
                                        <p:attrNameLst>
                                          <p:attrName>style.visibility</p:attrName>
                                        </p:attrNameLst>
                                      </p:cBhvr>
                                      <p:to>
                                        <p:strVal val="visible"/>
                                      </p:to>
                                    </p:set>
                                    <p:animEffect transition="in" filter="fade">
                                      <p:cBhvr>
                                        <p:cTn id="24" dur="2500"/>
                                        <p:tgtEl>
                                          <p:spTgt spid="2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3"/>
                                        </p:tgtEl>
                                        <p:attrNameLst>
                                          <p:attrName>style.visibility</p:attrName>
                                        </p:attrNameLst>
                                      </p:cBhvr>
                                      <p:to>
                                        <p:strVal val="visible"/>
                                      </p:to>
                                    </p:set>
                                    <p:animEffect transition="in" filter="fade">
                                      <p:cBhvr>
                                        <p:cTn id="29" dur="500"/>
                                        <p:tgtEl>
                                          <p:spTgt spid="2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4"/>
                                        </p:tgtEl>
                                        <p:attrNameLst>
                                          <p:attrName>style.visibility</p:attrName>
                                        </p:attrNameLst>
                                      </p:cBhvr>
                                      <p:to>
                                        <p:strVal val="visible"/>
                                      </p:to>
                                    </p:set>
                                    <p:animEffect transition="in" filter="fade">
                                      <p:cBhvr>
                                        <p:cTn id="32" dur="500"/>
                                        <p:tgtEl>
                                          <p:spTgt spid="2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5"/>
                                        </p:tgtEl>
                                        <p:attrNameLst>
                                          <p:attrName>style.visibility</p:attrName>
                                        </p:attrNameLst>
                                      </p:cBhvr>
                                      <p:to>
                                        <p:strVal val="visible"/>
                                      </p:to>
                                    </p:set>
                                    <p:animEffect transition="in" filter="fade">
                                      <p:cBhvr>
                                        <p:cTn id="35" dur="500"/>
                                        <p:tgtEl>
                                          <p:spTgt spid="2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6"/>
                                        </p:tgtEl>
                                        <p:attrNameLst>
                                          <p:attrName>style.visibility</p:attrName>
                                        </p:attrNameLst>
                                      </p:cBhvr>
                                      <p:to>
                                        <p:strVal val="visible"/>
                                      </p:to>
                                    </p:set>
                                    <p:animEffect transition="in" filter="fade">
                                      <p:cBhvr>
                                        <p:cTn id="38" dur="500"/>
                                        <p:tgtEl>
                                          <p:spTgt spid="2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16"/>
                                        </p:tgtEl>
                                        <p:attrNameLst>
                                          <p:attrName>style.visibility</p:attrName>
                                        </p:attrNameLst>
                                      </p:cBhvr>
                                      <p:to>
                                        <p:strVal val="visible"/>
                                      </p:to>
                                    </p:set>
                                    <p:animEffect transition="in" filter="fade">
                                      <p:cBhvr>
                                        <p:cTn id="43" dur="500"/>
                                        <p:tgtEl>
                                          <p:spTgt spid="2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7"/>
                                        </p:tgtEl>
                                        <p:attrNameLst>
                                          <p:attrName>style.visibility</p:attrName>
                                        </p:attrNameLst>
                                      </p:cBhvr>
                                      <p:to>
                                        <p:strVal val="visible"/>
                                      </p:to>
                                    </p:set>
                                    <p:animEffect transition="in" filter="fade">
                                      <p:cBhvr>
                                        <p:cTn id="46" dur="500"/>
                                        <p:tgtEl>
                                          <p:spTgt spid="2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8"/>
                                        </p:tgtEl>
                                        <p:attrNameLst>
                                          <p:attrName>style.visibility</p:attrName>
                                        </p:attrNameLst>
                                      </p:cBhvr>
                                      <p:to>
                                        <p:strVal val="visible"/>
                                      </p:to>
                                    </p:set>
                                    <p:animEffect transition="in" filter="fade">
                                      <p:cBhvr>
                                        <p:cTn id="51" dur="500"/>
                                        <p:tgtEl>
                                          <p:spTgt spid="2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9"/>
                                        </p:tgtEl>
                                        <p:attrNameLst>
                                          <p:attrName>style.visibility</p:attrName>
                                        </p:attrNameLst>
                                      </p:cBhvr>
                                      <p:to>
                                        <p:strVal val="visible"/>
                                      </p:to>
                                    </p:set>
                                    <p:animEffect transition="in" filter="fade">
                                      <p:cBhvr>
                                        <p:cTn id="54" dur="500"/>
                                        <p:tgtEl>
                                          <p:spTgt spid="2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0"/>
                                        </p:tgtEl>
                                        <p:attrNameLst>
                                          <p:attrName>style.visibility</p:attrName>
                                        </p:attrNameLst>
                                      </p:cBhvr>
                                      <p:to>
                                        <p:strVal val="visible"/>
                                      </p:to>
                                    </p:set>
                                    <p:animEffect transition="in" filter="fade">
                                      <p:cBhvr>
                                        <p:cTn id="57" dur="500"/>
                                        <p:tgtEl>
                                          <p:spTgt spid="2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3"/>
                                        </p:tgtEl>
                                        <p:attrNameLst>
                                          <p:attrName>style.visibility</p:attrName>
                                        </p:attrNameLst>
                                      </p:cBhvr>
                                      <p:to>
                                        <p:strVal val="visible"/>
                                      </p:to>
                                    </p:set>
                                    <p:animEffect transition="in" filter="fade">
                                      <p:cBhvr>
                                        <p:cTn id="60" dur="500"/>
                                        <p:tgtEl>
                                          <p:spTgt spid="2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4"/>
                                        </p:tgtEl>
                                        <p:attrNameLst>
                                          <p:attrName>style.visibility</p:attrName>
                                        </p:attrNameLst>
                                      </p:cBhvr>
                                      <p:to>
                                        <p:strVal val="visible"/>
                                      </p:to>
                                    </p:set>
                                    <p:animEffect transition="in" filter="fade">
                                      <p:cBhvr>
                                        <p:cTn id="63" dur="500"/>
                                        <p:tgtEl>
                                          <p:spTgt spid="2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7"/>
                                        </p:tgtEl>
                                        <p:attrNameLst>
                                          <p:attrName>style.visibility</p:attrName>
                                        </p:attrNameLst>
                                      </p:cBhvr>
                                      <p:to>
                                        <p:strVal val="visible"/>
                                      </p:to>
                                    </p:set>
                                    <p:animEffect transition="in" filter="fade">
                                      <p:cBhvr>
                                        <p:cTn id="68" dur="500"/>
                                        <p:tgtEl>
                                          <p:spTgt spid="22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8"/>
                                        </p:tgtEl>
                                        <p:attrNameLst>
                                          <p:attrName>style.visibility</p:attrName>
                                        </p:attrNameLst>
                                      </p:cBhvr>
                                      <p:to>
                                        <p:strVal val="visible"/>
                                      </p:to>
                                    </p:set>
                                    <p:animEffect transition="in" filter="fade">
                                      <p:cBhvr>
                                        <p:cTn id="71" dur="500"/>
                                        <p:tgtEl>
                                          <p:spTgt spid="2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9"/>
                                        </p:tgtEl>
                                        <p:attrNameLst>
                                          <p:attrName>style.visibility</p:attrName>
                                        </p:attrNameLst>
                                      </p:cBhvr>
                                      <p:to>
                                        <p:strVal val="visible"/>
                                      </p:to>
                                    </p:set>
                                    <p:animEffect transition="in" filter="fade">
                                      <p:cBhvr>
                                        <p:cTn id="74"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p:bldP spid="211" grpId="0" animBg="1"/>
      <p:bldP spid="212" grpId="0" animBg="1"/>
      <p:bldP spid="213" grpId="0" animBg="1"/>
      <p:bldP spid="214" grpId="0" animBg="1"/>
      <p:bldP spid="215" grpId="0"/>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文字 3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A：直線路徑，不折返</a:t>
            </a:r>
          </a:p>
        </p:txBody>
      </p:sp>
      <p:sp>
        <p:nvSpPr>
          <p:cNvPr id="302" name="框 3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303" name="線 303"/>
          <p:cNvSpPr/>
          <p:nvPr/>
        </p:nvSpPr>
        <p:spPr>
          <a:xfrm>
            <a:off x="562356" y="2023110"/>
            <a:ext cx="4262933" cy="0"/>
          </a:xfrm>
          <a:prstGeom prst="line">
            <a:avLst/>
          </a:prstGeom>
          <a:ln w="27432" cap="rnd">
            <a:solidFill>
              <a:srgbClr val="2B3050"/>
            </a:solidFill>
            <a:tailEnd type="triangle" w="med" len="med"/>
          </a:ln>
        </p:spPr>
        <p:txBody>
          <a:bodyPr/>
          <a:lstStyle/>
          <a:p>
            <a:endParaRPr lang="zh-TW" altLang="en-US" sz="1350"/>
          </a:p>
        </p:txBody>
      </p:sp>
      <p:sp>
        <p:nvSpPr>
          <p:cNvPr id="304" name="線 304"/>
          <p:cNvSpPr/>
          <p:nvPr/>
        </p:nvSpPr>
        <p:spPr>
          <a:xfrm>
            <a:off x="754380" y="1968246"/>
            <a:ext cx="0" cy="109728"/>
          </a:xfrm>
          <a:prstGeom prst="line">
            <a:avLst/>
          </a:prstGeom>
          <a:ln w="18288" cap="rnd">
            <a:solidFill>
              <a:srgbClr val="2B3050"/>
            </a:solidFill>
          </a:ln>
        </p:spPr>
        <p:txBody>
          <a:bodyPr/>
          <a:lstStyle/>
          <a:p>
            <a:endParaRPr lang="zh-TW" altLang="en-US" sz="1350"/>
          </a:p>
        </p:txBody>
      </p:sp>
      <p:sp>
        <p:nvSpPr>
          <p:cNvPr id="305" name="線 305"/>
          <p:cNvSpPr/>
          <p:nvPr/>
        </p:nvSpPr>
        <p:spPr>
          <a:xfrm>
            <a:off x="1138428" y="1968246"/>
            <a:ext cx="0" cy="109728"/>
          </a:xfrm>
          <a:prstGeom prst="line">
            <a:avLst/>
          </a:prstGeom>
          <a:ln w="18288" cap="rnd">
            <a:solidFill>
              <a:srgbClr val="2B3050"/>
            </a:solidFill>
          </a:ln>
        </p:spPr>
        <p:txBody>
          <a:bodyPr/>
          <a:lstStyle/>
          <a:p>
            <a:endParaRPr lang="zh-TW" altLang="en-US" sz="1350"/>
          </a:p>
        </p:txBody>
      </p:sp>
      <p:sp>
        <p:nvSpPr>
          <p:cNvPr id="306" name="線 306"/>
          <p:cNvSpPr/>
          <p:nvPr/>
        </p:nvSpPr>
        <p:spPr>
          <a:xfrm>
            <a:off x="1522476" y="1968246"/>
            <a:ext cx="0" cy="109728"/>
          </a:xfrm>
          <a:prstGeom prst="line">
            <a:avLst/>
          </a:prstGeom>
          <a:ln w="18288" cap="rnd">
            <a:solidFill>
              <a:srgbClr val="2B3050"/>
            </a:solidFill>
          </a:ln>
        </p:spPr>
        <p:txBody>
          <a:bodyPr/>
          <a:lstStyle/>
          <a:p>
            <a:endParaRPr lang="zh-TW" altLang="en-US" sz="1350"/>
          </a:p>
        </p:txBody>
      </p:sp>
      <p:sp>
        <p:nvSpPr>
          <p:cNvPr id="307" name="線 307"/>
          <p:cNvSpPr/>
          <p:nvPr/>
        </p:nvSpPr>
        <p:spPr>
          <a:xfrm>
            <a:off x="1906524" y="1968246"/>
            <a:ext cx="0" cy="109728"/>
          </a:xfrm>
          <a:prstGeom prst="line">
            <a:avLst/>
          </a:prstGeom>
          <a:ln w="18288" cap="rnd">
            <a:solidFill>
              <a:srgbClr val="2B3050"/>
            </a:solidFill>
          </a:ln>
        </p:spPr>
        <p:txBody>
          <a:bodyPr/>
          <a:lstStyle/>
          <a:p>
            <a:endParaRPr lang="zh-TW" altLang="en-US" sz="1350"/>
          </a:p>
        </p:txBody>
      </p:sp>
      <p:sp>
        <p:nvSpPr>
          <p:cNvPr id="308" name="線 308"/>
          <p:cNvSpPr/>
          <p:nvPr/>
        </p:nvSpPr>
        <p:spPr>
          <a:xfrm>
            <a:off x="2290572" y="1968246"/>
            <a:ext cx="0" cy="109728"/>
          </a:xfrm>
          <a:prstGeom prst="line">
            <a:avLst/>
          </a:prstGeom>
          <a:ln w="18288" cap="rnd">
            <a:solidFill>
              <a:srgbClr val="2B3050"/>
            </a:solidFill>
          </a:ln>
        </p:spPr>
        <p:txBody>
          <a:bodyPr/>
          <a:lstStyle/>
          <a:p>
            <a:endParaRPr lang="zh-TW" altLang="en-US" sz="1350"/>
          </a:p>
        </p:txBody>
      </p:sp>
      <p:sp>
        <p:nvSpPr>
          <p:cNvPr id="309" name="線 309"/>
          <p:cNvSpPr/>
          <p:nvPr/>
        </p:nvSpPr>
        <p:spPr>
          <a:xfrm>
            <a:off x="2674620" y="1968246"/>
            <a:ext cx="0" cy="109728"/>
          </a:xfrm>
          <a:prstGeom prst="line">
            <a:avLst/>
          </a:prstGeom>
          <a:ln w="18288" cap="rnd">
            <a:solidFill>
              <a:srgbClr val="2B3050"/>
            </a:solidFill>
          </a:ln>
        </p:spPr>
        <p:txBody>
          <a:bodyPr/>
          <a:lstStyle/>
          <a:p>
            <a:endParaRPr lang="zh-TW" altLang="en-US" sz="1350"/>
          </a:p>
        </p:txBody>
      </p:sp>
      <p:sp>
        <p:nvSpPr>
          <p:cNvPr id="310" name="線 310"/>
          <p:cNvSpPr/>
          <p:nvPr/>
        </p:nvSpPr>
        <p:spPr>
          <a:xfrm>
            <a:off x="3058668" y="1968246"/>
            <a:ext cx="0" cy="109728"/>
          </a:xfrm>
          <a:prstGeom prst="line">
            <a:avLst/>
          </a:prstGeom>
          <a:ln w="18288" cap="rnd">
            <a:solidFill>
              <a:srgbClr val="2B3050"/>
            </a:solidFill>
          </a:ln>
        </p:spPr>
        <p:txBody>
          <a:bodyPr/>
          <a:lstStyle/>
          <a:p>
            <a:endParaRPr lang="zh-TW" altLang="en-US" sz="1350"/>
          </a:p>
        </p:txBody>
      </p:sp>
      <p:sp>
        <p:nvSpPr>
          <p:cNvPr id="311" name="線 311"/>
          <p:cNvSpPr/>
          <p:nvPr/>
        </p:nvSpPr>
        <p:spPr>
          <a:xfrm>
            <a:off x="3442716" y="1968246"/>
            <a:ext cx="0" cy="109728"/>
          </a:xfrm>
          <a:prstGeom prst="line">
            <a:avLst/>
          </a:prstGeom>
          <a:ln w="18288" cap="rnd">
            <a:solidFill>
              <a:srgbClr val="2B3050"/>
            </a:solidFill>
          </a:ln>
        </p:spPr>
        <p:txBody>
          <a:bodyPr/>
          <a:lstStyle/>
          <a:p>
            <a:endParaRPr lang="zh-TW" altLang="en-US" sz="1350"/>
          </a:p>
        </p:txBody>
      </p:sp>
      <p:sp>
        <p:nvSpPr>
          <p:cNvPr id="312" name="線 312"/>
          <p:cNvSpPr/>
          <p:nvPr/>
        </p:nvSpPr>
        <p:spPr>
          <a:xfrm>
            <a:off x="3826764" y="1968246"/>
            <a:ext cx="0" cy="109728"/>
          </a:xfrm>
          <a:prstGeom prst="line">
            <a:avLst/>
          </a:prstGeom>
          <a:ln w="18288" cap="rnd">
            <a:solidFill>
              <a:srgbClr val="2B3050"/>
            </a:solidFill>
          </a:ln>
        </p:spPr>
        <p:txBody>
          <a:bodyPr/>
          <a:lstStyle/>
          <a:p>
            <a:endParaRPr lang="zh-TW" altLang="en-US" sz="1350"/>
          </a:p>
        </p:txBody>
      </p:sp>
      <p:sp>
        <p:nvSpPr>
          <p:cNvPr id="313" name="線 313"/>
          <p:cNvSpPr/>
          <p:nvPr/>
        </p:nvSpPr>
        <p:spPr>
          <a:xfrm>
            <a:off x="4210812" y="1968246"/>
            <a:ext cx="0" cy="109728"/>
          </a:xfrm>
          <a:prstGeom prst="line">
            <a:avLst/>
          </a:prstGeom>
          <a:ln w="18288" cap="rnd">
            <a:solidFill>
              <a:srgbClr val="2B3050"/>
            </a:solidFill>
          </a:ln>
        </p:spPr>
        <p:txBody>
          <a:bodyPr/>
          <a:lstStyle/>
          <a:p>
            <a:endParaRPr lang="zh-TW" altLang="en-US" sz="1350"/>
          </a:p>
        </p:txBody>
      </p:sp>
      <p:sp>
        <p:nvSpPr>
          <p:cNvPr id="314" name="線 314"/>
          <p:cNvSpPr/>
          <p:nvPr/>
        </p:nvSpPr>
        <p:spPr>
          <a:xfrm>
            <a:off x="4594860" y="1968246"/>
            <a:ext cx="0" cy="109728"/>
          </a:xfrm>
          <a:prstGeom prst="line">
            <a:avLst/>
          </a:prstGeom>
          <a:ln w="18288" cap="rnd">
            <a:solidFill>
              <a:srgbClr val="2B3050"/>
            </a:solidFill>
          </a:ln>
        </p:spPr>
        <p:txBody>
          <a:bodyPr/>
          <a:lstStyle/>
          <a:p>
            <a:endParaRPr lang="zh-TW" altLang="en-US" sz="1350"/>
          </a:p>
        </p:txBody>
      </p:sp>
      <p:sp>
        <p:nvSpPr>
          <p:cNvPr id="315" name="文字 315"/>
          <p:cNvSpPr txBox="1"/>
          <p:nvPr/>
        </p:nvSpPr>
        <p:spPr>
          <a:xfrm>
            <a:off x="51435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316" name="文字 316"/>
          <p:cNvSpPr txBox="1"/>
          <p:nvPr/>
        </p:nvSpPr>
        <p:spPr>
          <a:xfrm>
            <a:off x="243459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317" name="文字 317"/>
          <p:cNvSpPr txBox="1"/>
          <p:nvPr/>
        </p:nvSpPr>
        <p:spPr>
          <a:xfrm>
            <a:off x="4354830" y="210540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318" name="文字 318"/>
          <p:cNvSpPr txBox="1"/>
          <p:nvPr/>
        </p:nvSpPr>
        <p:spPr>
          <a:xfrm>
            <a:off x="4653839" y="166649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319" name="圓 319"/>
          <p:cNvSpPr/>
          <p:nvPr/>
        </p:nvSpPr>
        <p:spPr>
          <a:xfrm>
            <a:off x="699516" y="3957066"/>
            <a:ext cx="109728" cy="109728"/>
          </a:xfrm>
          <a:prstGeom prst="ellipse">
            <a:avLst/>
          </a:prstGeom>
          <a:solidFill>
            <a:srgbClr val="2B3050"/>
          </a:solidFill>
          <a:ln>
            <a:noFill/>
          </a:ln>
        </p:spPr>
        <p:txBody>
          <a:bodyPr/>
          <a:lstStyle/>
          <a:p>
            <a:endParaRPr lang="zh-TW" altLang="en-US" sz="1350"/>
          </a:p>
        </p:txBody>
      </p:sp>
      <p:sp>
        <p:nvSpPr>
          <p:cNvPr id="320" name="文字 320"/>
          <p:cNvSpPr txBox="1"/>
          <p:nvPr/>
        </p:nvSpPr>
        <p:spPr>
          <a:xfrm>
            <a:off x="445770" y="3909060"/>
            <a:ext cx="27432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O</a:t>
            </a:r>
          </a:p>
        </p:txBody>
      </p:sp>
      <p:sp>
        <p:nvSpPr>
          <p:cNvPr id="321" name="圓 321"/>
          <p:cNvSpPr/>
          <p:nvPr/>
        </p:nvSpPr>
        <p:spPr>
          <a:xfrm>
            <a:off x="1076706" y="1961388"/>
            <a:ext cx="123444" cy="123444"/>
          </a:xfrm>
          <a:prstGeom prst="ellipse">
            <a:avLst/>
          </a:prstGeom>
          <a:solidFill>
            <a:srgbClr val="1E2761"/>
          </a:solidFill>
          <a:ln>
            <a:noFill/>
          </a:ln>
        </p:spPr>
        <p:txBody>
          <a:bodyPr/>
          <a:lstStyle/>
          <a:p>
            <a:endParaRPr lang="zh-TW" altLang="en-US" sz="1350"/>
          </a:p>
        </p:txBody>
      </p:sp>
      <p:sp>
        <p:nvSpPr>
          <p:cNvPr id="322" name="圓 322"/>
          <p:cNvSpPr/>
          <p:nvPr/>
        </p:nvSpPr>
        <p:spPr>
          <a:xfrm>
            <a:off x="3380994" y="1961388"/>
            <a:ext cx="123444" cy="123444"/>
          </a:xfrm>
          <a:prstGeom prst="ellipse">
            <a:avLst/>
          </a:prstGeom>
          <a:solidFill>
            <a:srgbClr val="1E2761"/>
          </a:solidFill>
          <a:ln>
            <a:noFill/>
          </a:ln>
        </p:spPr>
        <p:txBody>
          <a:bodyPr/>
          <a:lstStyle/>
          <a:p>
            <a:endParaRPr lang="zh-TW" altLang="en-US" sz="1350"/>
          </a:p>
        </p:txBody>
      </p:sp>
      <p:sp>
        <p:nvSpPr>
          <p:cNvPr id="323" name="文字 323"/>
          <p:cNvSpPr txBox="1"/>
          <p:nvPr/>
        </p:nvSpPr>
        <p:spPr>
          <a:xfrm>
            <a:off x="761238"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324" name="文字 324"/>
          <p:cNvSpPr txBox="1"/>
          <p:nvPr/>
        </p:nvSpPr>
        <p:spPr>
          <a:xfrm>
            <a:off x="3065526" y="1597914"/>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P₄（7 m）</a:t>
            </a:r>
          </a:p>
        </p:txBody>
      </p:sp>
      <p:sp>
        <p:nvSpPr>
          <p:cNvPr id="325" name="線 325"/>
          <p:cNvSpPr/>
          <p:nvPr/>
        </p:nvSpPr>
        <p:spPr>
          <a:xfrm flipV="1">
            <a:off x="754380" y="2023110"/>
            <a:ext cx="384048" cy="1988820"/>
          </a:xfrm>
          <a:prstGeom prst="line">
            <a:avLst/>
          </a:prstGeom>
          <a:ln w="36576" cap="rnd">
            <a:solidFill>
              <a:srgbClr val="2F8F4E"/>
            </a:solidFill>
            <a:tailEnd type="triangle" w="med" len="med"/>
          </a:ln>
        </p:spPr>
        <p:txBody>
          <a:bodyPr/>
          <a:lstStyle/>
          <a:p>
            <a:endParaRPr lang="zh-TW" altLang="en-US" sz="1350"/>
          </a:p>
        </p:txBody>
      </p:sp>
      <p:sp>
        <p:nvSpPr>
          <p:cNvPr id="326" name="文字 326"/>
          <p:cNvSpPr txBox="1"/>
          <p:nvPr/>
        </p:nvSpPr>
        <p:spPr>
          <a:xfrm>
            <a:off x="377190" y="3120390"/>
            <a:ext cx="960120" cy="308610"/>
          </a:xfrm>
          <a:prstGeom prst="rect">
            <a:avLst/>
          </a:prstGeom>
          <a:noFill/>
          <a:ln>
            <a:noFill/>
          </a:ln>
        </p:spPr>
        <p:txBody>
          <a:bodyPr wrap="none" lIns="34290" tIns="0" rIns="34290" bIns="0" anchor="ctr">
            <a:noAutofit/>
          </a:bodyPr>
          <a:lstStyle/>
          <a:p>
            <a:pPr algn="l">
              <a:buNone/>
            </a:pPr>
            <a:r>
              <a:rPr lang="zh-TW" altLang="en-US" b="1" dirty="0">
                <a:solidFill>
                  <a:srgbClr val="2F8F4E"/>
                </a:solidFill>
                <a:latin typeface="Microsoft JhengHei"/>
                <a:ea typeface="Microsoft JhengHei"/>
                <a:cs typeface="Microsoft JhengHei"/>
              </a:rPr>
              <a:t>r_start</a:t>
            </a:r>
          </a:p>
        </p:txBody>
      </p:sp>
      <p:sp>
        <p:nvSpPr>
          <p:cNvPr id="327" name="線 327"/>
          <p:cNvSpPr/>
          <p:nvPr/>
        </p:nvSpPr>
        <p:spPr>
          <a:xfrm flipV="1">
            <a:off x="754380" y="2023110"/>
            <a:ext cx="2688336" cy="1988820"/>
          </a:xfrm>
          <a:prstGeom prst="line">
            <a:avLst/>
          </a:prstGeom>
          <a:ln w="36576" cap="rnd">
            <a:solidFill>
              <a:srgbClr val="2E6FB7"/>
            </a:solidFill>
            <a:tailEnd type="triangle" w="med" len="med"/>
          </a:ln>
        </p:spPr>
        <p:txBody>
          <a:bodyPr/>
          <a:lstStyle/>
          <a:p>
            <a:endParaRPr lang="zh-TW" altLang="en-US" sz="1350"/>
          </a:p>
        </p:txBody>
      </p:sp>
      <p:sp>
        <p:nvSpPr>
          <p:cNvPr id="328" name="文字 328"/>
          <p:cNvSpPr txBox="1"/>
          <p:nvPr/>
        </p:nvSpPr>
        <p:spPr>
          <a:xfrm>
            <a:off x="2263140" y="3394710"/>
            <a:ext cx="891540" cy="308610"/>
          </a:xfrm>
          <a:prstGeom prst="rect">
            <a:avLst/>
          </a:prstGeom>
          <a:noFill/>
          <a:ln>
            <a:noFill/>
          </a:ln>
        </p:spPr>
        <p:txBody>
          <a:bodyPr wrap="none" lIns="34290" tIns="0" rIns="34290" bIns="0" anchor="ctr">
            <a:noAutofit/>
          </a:bodyPr>
          <a:lstStyle/>
          <a:p>
            <a:pPr algn="l">
              <a:buNone/>
            </a:pPr>
            <a:r>
              <a:rPr lang="zh-TW" altLang="en-US" b="1" dirty="0">
                <a:solidFill>
                  <a:srgbClr val="2E6FB7"/>
                </a:solidFill>
                <a:latin typeface="Microsoft JhengHei"/>
                <a:ea typeface="Microsoft JhengHei"/>
                <a:cs typeface="Microsoft JhengHei"/>
              </a:rPr>
              <a:t>r_end</a:t>
            </a:r>
          </a:p>
        </p:txBody>
      </p:sp>
      <p:sp>
        <p:nvSpPr>
          <p:cNvPr id="329" name="圓 329"/>
          <p:cNvSpPr/>
          <p:nvPr/>
        </p:nvSpPr>
        <p:spPr>
          <a:xfrm>
            <a:off x="1049274" y="1933956"/>
            <a:ext cx="178308" cy="178308"/>
          </a:xfrm>
          <a:prstGeom prst="ellipse">
            <a:avLst/>
          </a:prstGeom>
          <a:solidFill>
            <a:srgbClr val="B23A28"/>
          </a:solidFill>
          <a:ln>
            <a:noFill/>
          </a:ln>
        </p:spPr>
        <p:txBody>
          <a:bodyPr/>
          <a:lstStyle/>
          <a:p>
            <a:endParaRPr lang="zh-TW" altLang="en-US" sz="1350"/>
          </a:p>
        </p:txBody>
      </p:sp>
      <p:sp>
        <p:nvSpPr>
          <p:cNvPr id="330" name="線 330"/>
          <p:cNvSpPr/>
          <p:nvPr/>
        </p:nvSpPr>
        <p:spPr>
          <a:xfrm>
            <a:off x="1138428" y="1488186"/>
            <a:ext cx="2304288" cy="0"/>
          </a:xfrm>
          <a:prstGeom prst="line">
            <a:avLst/>
          </a:prstGeom>
          <a:ln w="73152" cap="rnd">
            <a:solidFill>
              <a:srgbClr val="C8901F"/>
            </a:solidFill>
          </a:ln>
        </p:spPr>
        <p:txBody>
          <a:bodyPr/>
          <a:lstStyle/>
          <a:p>
            <a:endParaRPr lang="zh-TW" altLang="en-US" sz="1350"/>
          </a:p>
        </p:txBody>
      </p:sp>
      <p:sp>
        <p:nvSpPr>
          <p:cNvPr id="331" name="文字 331"/>
          <p:cNvSpPr txBox="1"/>
          <p:nvPr/>
        </p:nvSpPr>
        <p:spPr>
          <a:xfrm>
            <a:off x="1829714" y="1062990"/>
            <a:ext cx="1303020" cy="288036"/>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Δs = 6 m</a:t>
            </a:r>
          </a:p>
        </p:txBody>
      </p:sp>
      <p:sp>
        <p:nvSpPr>
          <p:cNvPr id="332" name="線 332"/>
          <p:cNvSpPr/>
          <p:nvPr/>
        </p:nvSpPr>
        <p:spPr>
          <a:xfrm>
            <a:off x="1138428" y="2537460"/>
            <a:ext cx="2304288" cy="0"/>
          </a:xfrm>
          <a:prstGeom prst="line">
            <a:avLst/>
          </a:prstGeom>
          <a:ln w="54864" cap="rnd">
            <a:solidFill>
              <a:srgbClr val="D6006F"/>
            </a:solidFill>
            <a:tailEnd type="triangle" w="med" len="med"/>
          </a:ln>
        </p:spPr>
        <p:txBody>
          <a:bodyPr/>
          <a:lstStyle/>
          <a:p>
            <a:endParaRPr lang="zh-TW" altLang="en-US" sz="1350"/>
          </a:p>
        </p:txBody>
      </p:sp>
      <p:sp>
        <p:nvSpPr>
          <p:cNvPr id="333" name="文字 333"/>
          <p:cNvSpPr txBox="1"/>
          <p:nvPr/>
        </p:nvSpPr>
        <p:spPr>
          <a:xfrm>
            <a:off x="2751430" y="2571750"/>
            <a:ext cx="130302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6 m</a:t>
            </a:r>
          </a:p>
        </p:txBody>
      </p:sp>
      <p:sp>
        <p:nvSpPr>
          <p:cNvPr id="334" name="圓 334"/>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335" name="文字 335"/>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從 P₃ 一路往前到 P₄</a:t>
            </a:r>
          </a:p>
        </p:txBody>
      </p:sp>
      <p:sp>
        <p:nvSpPr>
          <p:cNvPr id="336" name="圓 336"/>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337" name="文字 337"/>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7 − 1 = 6 m</a:t>
            </a:r>
          </a:p>
        </p:txBody>
      </p:sp>
      <p:sp>
        <p:nvSpPr>
          <p:cNvPr id="338" name="圓 338"/>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339" name="文字 339"/>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7 − 1 = 6 m</a:t>
            </a:r>
          </a:p>
        </p:txBody>
      </p:sp>
      <p:sp>
        <p:nvSpPr>
          <p:cNvPr id="340" name="框 340"/>
          <p:cNvSpPr/>
          <p:nvPr/>
        </p:nvSpPr>
        <p:spPr>
          <a:xfrm>
            <a:off x="5314950" y="2811780"/>
            <a:ext cx="3429000" cy="857250"/>
          </a:xfrm>
          <a:prstGeom prst="roundRect">
            <a:avLst/>
          </a:prstGeom>
          <a:solidFill>
            <a:srgbClr val="EEF6EE"/>
          </a:solidFill>
          <a:ln>
            <a:noFill/>
          </a:ln>
        </p:spPr>
        <p:txBody>
          <a:bodyPr/>
          <a:lstStyle/>
          <a:p>
            <a:endParaRPr lang="zh-TW" altLang="en-US" sz="1350"/>
          </a:p>
        </p:txBody>
      </p:sp>
      <p:sp>
        <p:nvSpPr>
          <p:cNvPr id="341" name="文字 341"/>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2F8F4E"/>
                </a:solidFill>
                <a:latin typeface="Microsoft JhengHei"/>
                <a:ea typeface="Microsoft JhengHei"/>
                <a:cs typeface="Microsoft JhengHei"/>
              </a:rPr>
              <a:t>|Δr| = Δs</a:t>
            </a:r>
          </a:p>
        </p:txBody>
      </p:sp>
      <p:sp>
        <p:nvSpPr>
          <p:cNvPr id="342" name="文字 342"/>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只有不折返的直線才相等</a:t>
            </a:r>
          </a:p>
        </p:txBody>
      </p:sp>
      <p:sp>
        <p:nvSpPr>
          <p:cNvPr id="343" name="文字 343"/>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500"/>
                                        <p:tgtEl>
                                          <p:spTgt spid="3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3"/>
                                        </p:tgtEl>
                                        <p:attrNameLst>
                                          <p:attrName>style.visibility</p:attrName>
                                        </p:attrNameLst>
                                      </p:cBhvr>
                                      <p:to>
                                        <p:strVal val="visible"/>
                                      </p:to>
                                    </p:set>
                                    <p:animEffect transition="in" filter="fade">
                                      <p:cBhvr>
                                        <p:cTn id="10" dur="500"/>
                                        <p:tgtEl>
                                          <p:spTgt spid="3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5"/>
                                        </p:tgtEl>
                                        <p:attrNameLst>
                                          <p:attrName>style.visibility</p:attrName>
                                        </p:attrNameLst>
                                      </p:cBhvr>
                                      <p:to>
                                        <p:strVal val="visible"/>
                                      </p:to>
                                    </p:set>
                                    <p:animEffect transition="in" filter="fade">
                                      <p:cBhvr>
                                        <p:cTn id="13" dur="500"/>
                                        <p:tgtEl>
                                          <p:spTgt spid="3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6"/>
                                        </p:tgtEl>
                                        <p:attrNameLst>
                                          <p:attrName>style.visibility</p:attrName>
                                        </p:attrNameLst>
                                      </p:cBhvr>
                                      <p:to>
                                        <p:strVal val="visible"/>
                                      </p:to>
                                    </p:set>
                                    <p:animEffect transition="in" filter="fade">
                                      <p:cBhvr>
                                        <p:cTn id="16" dur="500"/>
                                        <p:tgtEl>
                                          <p:spTgt spid="3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329">
                                            <p:txEl>
                                              <p:charRg st="4294967295" end="4294967295"/>
                                            </p:txEl>
                                          </p:spTgt>
                                        </p:tgtEl>
                                        <p:attrNameLst>
                                          <p:attrName>style.visibility</p:attrName>
                                        </p:attrNameLst>
                                      </p:cBhvr>
                                      <p:to>
                                        <p:strVal val="visible"/>
                                      </p:to>
                                    </p:set>
                                    <p:animEffect transition="in" filter="fade">
                                      <p:cBhvr>
                                        <p:cTn id="21" dur="300"/>
                                        <p:tgtEl>
                                          <p:spTgt spid="329">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0"/>
                                        </p:tgtEl>
                                        <p:attrNameLst>
                                          <p:attrName>style.visibility</p:attrName>
                                        </p:attrNameLst>
                                      </p:cBhvr>
                                      <p:to>
                                        <p:strVal val="visible"/>
                                      </p:to>
                                    </p:set>
                                    <p:animEffect transition="in" filter="fade">
                                      <p:cBhvr>
                                        <p:cTn id="24" dur="2000"/>
                                        <p:tgtEl>
                                          <p:spTgt spid="3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2"/>
                                        </p:tgtEl>
                                        <p:attrNameLst>
                                          <p:attrName>style.visibility</p:attrName>
                                        </p:attrNameLst>
                                      </p:cBhvr>
                                      <p:to>
                                        <p:strVal val="visible"/>
                                      </p:to>
                                    </p:set>
                                    <p:animEffect transition="in" filter="fade">
                                      <p:cBhvr>
                                        <p:cTn id="27" dur="500"/>
                                        <p:tgtEl>
                                          <p:spTgt spid="3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4"/>
                                        </p:tgtEl>
                                        <p:attrNameLst>
                                          <p:attrName>style.visibility</p:attrName>
                                        </p:attrNameLst>
                                      </p:cBhvr>
                                      <p:to>
                                        <p:strVal val="visible"/>
                                      </p:to>
                                    </p:set>
                                    <p:animEffect transition="in" filter="fade">
                                      <p:cBhvr>
                                        <p:cTn id="30" dur="500"/>
                                        <p:tgtEl>
                                          <p:spTgt spid="3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4"/>
                                        </p:tgtEl>
                                        <p:attrNameLst>
                                          <p:attrName>style.visibility</p:attrName>
                                        </p:attrNameLst>
                                      </p:cBhvr>
                                      <p:to>
                                        <p:strVal val="visible"/>
                                      </p:to>
                                    </p:set>
                                    <p:animEffect transition="in" filter="fade">
                                      <p:cBhvr>
                                        <p:cTn id="33" dur="500"/>
                                        <p:tgtEl>
                                          <p:spTgt spid="3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5"/>
                                        </p:tgtEl>
                                        <p:attrNameLst>
                                          <p:attrName>style.visibility</p:attrName>
                                        </p:attrNameLst>
                                      </p:cBhvr>
                                      <p:to>
                                        <p:strVal val="visible"/>
                                      </p:to>
                                    </p:set>
                                    <p:animEffect transition="in" filter="fade">
                                      <p:cBhvr>
                                        <p:cTn id="36" dur="500"/>
                                        <p:tgtEl>
                                          <p:spTgt spid="33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31"/>
                                        </p:tgtEl>
                                        <p:attrNameLst>
                                          <p:attrName>style.visibility</p:attrName>
                                        </p:attrNameLst>
                                      </p:cBhvr>
                                      <p:to>
                                        <p:strVal val="visible"/>
                                      </p:to>
                                    </p:set>
                                    <p:animEffect transition="in" filter="fade">
                                      <p:cBhvr>
                                        <p:cTn id="41" dur="500"/>
                                        <p:tgtEl>
                                          <p:spTgt spid="3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36"/>
                                        </p:tgtEl>
                                        <p:attrNameLst>
                                          <p:attrName>style.visibility</p:attrName>
                                        </p:attrNameLst>
                                      </p:cBhvr>
                                      <p:to>
                                        <p:strVal val="visible"/>
                                      </p:to>
                                    </p:set>
                                    <p:animEffect transition="in" filter="fade">
                                      <p:cBhvr>
                                        <p:cTn id="44" dur="500"/>
                                        <p:tgtEl>
                                          <p:spTgt spid="33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7"/>
                                        </p:tgtEl>
                                        <p:attrNameLst>
                                          <p:attrName>style.visibility</p:attrName>
                                        </p:attrNameLst>
                                      </p:cBhvr>
                                      <p:to>
                                        <p:strVal val="visible"/>
                                      </p:to>
                                    </p:set>
                                    <p:animEffect transition="in" filter="fade">
                                      <p:cBhvr>
                                        <p:cTn id="47" dur="500"/>
                                        <p:tgtEl>
                                          <p:spTgt spid="3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27"/>
                                        </p:tgtEl>
                                        <p:attrNameLst>
                                          <p:attrName>style.visibility</p:attrName>
                                        </p:attrNameLst>
                                      </p:cBhvr>
                                      <p:to>
                                        <p:strVal val="visible"/>
                                      </p:to>
                                    </p:set>
                                    <p:animEffect transition="in" filter="fade">
                                      <p:cBhvr>
                                        <p:cTn id="52" dur="500"/>
                                        <p:tgtEl>
                                          <p:spTgt spid="3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8"/>
                                        </p:tgtEl>
                                        <p:attrNameLst>
                                          <p:attrName>style.visibility</p:attrName>
                                        </p:attrNameLst>
                                      </p:cBhvr>
                                      <p:to>
                                        <p:strVal val="visible"/>
                                      </p:to>
                                    </p:set>
                                    <p:animEffect transition="in" filter="fade">
                                      <p:cBhvr>
                                        <p:cTn id="55" dur="500"/>
                                        <p:tgtEl>
                                          <p:spTgt spid="3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2"/>
                                        </p:tgtEl>
                                        <p:attrNameLst>
                                          <p:attrName>style.visibility</p:attrName>
                                        </p:attrNameLst>
                                      </p:cBhvr>
                                      <p:to>
                                        <p:strVal val="visible"/>
                                      </p:to>
                                    </p:set>
                                    <p:animEffect transition="in" filter="fade">
                                      <p:cBhvr>
                                        <p:cTn id="58" dur="500"/>
                                        <p:tgtEl>
                                          <p:spTgt spid="3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3"/>
                                        </p:tgtEl>
                                        <p:attrNameLst>
                                          <p:attrName>style.visibility</p:attrName>
                                        </p:attrNameLst>
                                      </p:cBhvr>
                                      <p:to>
                                        <p:strVal val="visible"/>
                                      </p:to>
                                    </p:set>
                                    <p:animEffect transition="in" filter="fade">
                                      <p:cBhvr>
                                        <p:cTn id="61" dur="500"/>
                                        <p:tgtEl>
                                          <p:spTgt spid="33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38"/>
                                        </p:tgtEl>
                                        <p:attrNameLst>
                                          <p:attrName>style.visibility</p:attrName>
                                        </p:attrNameLst>
                                      </p:cBhvr>
                                      <p:to>
                                        <p:strVal val="visible"/>
                                      </p:to>
                                    </p:set>
                                    <p:animEffect transition="in" filter="fade">
                                      <p:cBhvr>
                                        <p:cTn id="64" dur="500"/>
                                        <p:tgtEl>
                                          <p:spTgt spid="33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39"/>
                                        </p:tgtEl>
                                        <p:attrNameLst>
                                          <p:attrName>style.visibility</p:attrName>
                                        </p:attrNameLst>
                                      </p:cBhvr>
                                      <p:to>
                                        <p:strVal val="visible"/>
                                      </p:to>
                                    </p:set>
                                    <p:animEffect transition="in" filter="fade">
                                      <p:cBhvr>
                                        <p:cTn id="67" dur="500"/>
                                        <p:tgtEl>
                                          <p:spTgt spid="33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40"/>
                                        </p:tgtEl>
                                        <p:attrNameLst>
                                          <p:attrName>style.visibility</p:attrName>
                                        </p:attrNameLst>
                                      </p:cBhvr>
                                      <p:to>
                                        <p:strVal val="visible"/>
                                      </p:to>
                                    </p:set>
                                    <p:animEffect transition="in" filter="fade">
                                      <p:cBhvr>
                                        <p:cTn id="72" dur="500"/>
                                        <p:tgtEl>
                                          <p:spTgt spid="34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1"/>
                                        </p:tgtEl>
                                        <p:attrNameLst>
                                          <p:attrName>style.visibility</p:attrName>
                                        </p:attrNameLst>
                                      </p:cBhvr>
                                      <p:to>
                                        <p:strVal val="visible"/>
                                      </p:to>
                                    </p:set>
                                    <p:animEffect transition="in" filter="fade">
                                      <p:cBhvr>
                                        <p:cTn id="75" dur="500"/>
                                        <p:tgtEl>
                                          <p:spTgt spid="34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2"/>
                                        </p:tgtEl>
                                        <p:attrNameLst>
                                          <p:attrName>style.visibility</p:attrName>
                                        </p:attrNameLst>
                                      </p:cBhvr>
                                      <p:to>
                                        <p:strVal val="visible"/>
                                      </p:to>
                                    </p:set>
                                    <p:animEffect transition="in" filter="fade">
                                      <p:cBhvr>
                                        <p:cTn id="78" dur="5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0" animBg="1"/>
      <p:bldP spid="322" grpId="0" animBg="1"/>
      <p:bldP spid="323" grpId="0" animBg="1"/>
      <p:bldP spid="324" grpId="0" animBg="1"/>
      <p:bldP spid="325" grpId="0" animBg="1"/>
      <p:bldP spid="326" grpId="0" animBg="1"/>
      <p:bldP spid="327" grpId="0" animBg="1"/>
      <p:bldP spid="328" grpId="0" animBg="1"/>
      <p:bldP spid="329" grpId="0"/>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文字 4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情況二 B：直線路徑，有折返</a:t>
            </a:r>
          </a:p>
        </p:txBody>
      </p:sp>
      <p:sp>
        <p:nvSpPr>
          <p:cNvPr id="402" name="框 402"/>
          <p:cNvSpPr/>
          <p:nvPr/>
        </p:nvSpPr>
        <p:spPr>
          <a:xfrm>
            <a:off x="342900" y="994410"/>
            <a:ext cx="4800600" cy="3429000"/>
          </a:xfrm>
          <a:prstGeom prst="roundRect">
            <a:avLst/>
          </a:prstGeom>
          <a:solidFill>
            <a:srgbClr val="F4F6FB"/>
          </a:solidFill>
          <a:ln>
            <a:noFill/>
          </a:ln>
        </p:spPr>
        <p:txBody>
          <a:bodyPr/>
          <a:lstStyle/>
          <a:p>
            <a:endParaRPr lang="zh-TW" altLang="en-US" sz="1350"/>
          </a:p>
        </p:txBody>
      </p:sp>
      <p:sp>
        <p:nvSpPr>
          <p:cNvPr id="403" name="線 403"/>
          <p:cNvSpPr/>
          <p:nvPr/>
        </p:nvSpPr>
        <p:spPr>
          <a:xfrm>
            <a:off x="562356" y="2434590"/>
            <a:ext cx="4262933" cy="0"/>
          </a:xfrm>
          <a:prstGeom prst="line">
            <a:avLst/>
          </a:prstGeom>
          <a:ln w="27432" cap="rnd">
            <a:solidFill>
              <a:srgbClr val="2B3050"/>
            </a:solidFill>
            <a:tailEnd type="triangle" w="med" len="med"/>
          </a:ln>
        </p:spPr>
        <p:txBody>
          <a:bodyPr/>
          <a:lstStyle/>
          <a:p>
            <a:endParaRPr lang="zh-TW" altLang="en-US" sz="1350"/>
          </a:p>
        </p:txBody>
      </p:sp>
      <p:sp>
        <p:nvSpPr>
          <p:cNvPr id="404" name="線 404"/>
          <p:cNvSpPr/>
          <p:nvPr/>
        </p:nvSpPr>
        <p:spPr>
          <a:xfrm>
            <a:off x="754380" y="2379726"/>
            <a:ext cx="0" cy="109728"/>
          </a:xfrm>
          <a:prstGeom prst="line">
            <a:avLst/>
          </a:prstGeom>
          <a:ln w="18288" cap="rnd">
            <a:solidFill>
              <a:srgbClr val="2B3050"/>
            </a:solidFill>
          </a:ln>
        </p:spPr>
        <p:txBody>
          <a:bodyPr/>
          <a:lstStyle/>
          <a:p>
            <a:endParaRPr lang="zh-TW" altLang="en-US" sz="1350"/>
          </a:p>
        </p:txBody>
      </p:sp>
      <p:sp>
        <p:nvSpPr>
          <p:cNvPr id="405" name="線 405"/>
          <p:cNvSpPr/>
          <p:nvPr/>
        </p:nvSpPr>
        <p:spPr>
          <a:xfrm>
            <a:off x="1138428" y="2379726"/>
            <a:ext cx="0" cy="109728"/>
          </a:xfrm>
          <a:prstGeom prst="line">
            <a:avLst/>
          </a:prstGeom>
          <a:ln w="18288" cap="rnd">
            <a:solidFill>
              <a:srgbClr val="2B3050"/>
            </a:solidFill>
          </a:ln>
        </p:spPr>
        <p:txBody>
          <a:bodyPr/>
          <a:lstStyle/>
          <a:p>
            <a:endParaRPr lang="zh-TW" altLang="en-US" sz="1350"/>
          </a:p>
        </p:txBody>
      </p:sp>
      <p:sp>
        <p:nvSpPr>
          <p:cNvPr id="406" name="線 406"/>
          <p:cNvSpPr/>
          <p:nvPr/>
        </p:nvSpPr>
        <p:spPr>
          <a:xfrm>
            <a:off x="1522476" y="2379726"/>
            <a:ext cx="0" cy="109728"/>
          </a:xfrm>
          <a:prstGeom prst="line">
            <a:avLst/>
          </a:prstGeom>
          <a:ln w="18288" cap="rnd">
            <a:solidFill>
              <a:srgbClr val="2B3050"/>
            </a:solidFill>
          </a:ln>
        </p:spPr>
        <p:txBody>
          <a:bodyPr/>
          <a:lstStyle/>
          <a:p>
            <a:endParaRPr lang="zh-TW" altLang="en-US" sz="1350"/>
          </a:p>
        </p:txBody>
      </p:sp>
      <p:sp>
        <p:nvSpPr>
          <p:cNvPr id="407" name="線 407"/>
          <p:cNvSpPr/>
          <p:nvPr/>
        </p:nvSpPr>
        <p:spPr>
          <a:xfrm>
            <a:off x="1906524" y="2379726"/>
            <a:ext cx="0" cy="109728"/>
          </a:xfrm>
          <a:prstGeom prst="line">
            <a:avLst/>
          </a:prstGeom>
          <a:ln w="18288" cap="rnd">
            <a:solidFill>
              <a:srgbClr val="2B3050"/>
            </a:solidFill>
          </a:ln>
        </p:spPr>
        <p:txBody>
          <a:bodyPr/>
          <a:lstStyle/>
          <a:p>
            <a:endParaRPr lang="zh-TW" altLang="en-US" sz="1350"/>
          </a:p>
        </p:txBody>
      </p:sp>
      <p:sp>
        <p:nvSpPr>
          <p:cNvPr id="408" name="線 408"/>
          <p:cNvSpPr/>
          <p:nvPr/>
        </p:nvSpPr>
        <p:spPr>
          <a:xfrm>
            <a:off x="2290572" y="2379726"/>
            <a:ext cx="0" cy="109728"/>
          </a:xfrm>
          <a:prstGeom prst="line">
            <a:avLst/>
          </a:prstGeom>
          <a:ln w="18288" cap="rnd">
            <a:solidFill>
              <a:srgbClr val="2B3050"/>
            </a:solidFill>
          </a:ln>
        </p:spPr>
        <p:txBody>
          <a:bodyPr/>
          <a:lstStyle/>
          <a:p>
            <a:endParaRPr lang="zh-TW" altLang="en-US" sz="1350"/>
          </a:p>
        </p:txBody>
      </p:sp>
      <p:sp>
        <p:nvSpPr>
          <p:cNvPr id="409" name="線 409"/>
          <p:cNvSpPr/>
          <p:nvPr/>
        </p:nvSpPr>
        <p:spPr>
          <a:xfrm>
            <a:off x="2674620" y="2379726"/>
            <a:ext cx="0" cy="109728"/>
          </a:xfrm>
          <a:prstGeom prst="line">
            <a:avLst/>
          </a:prstGeom>
          <a:ln w="18288" cap="rnd">
            <a:solidFill>
              <a:srgbClr val="2B3050"/>
            </a:solidFill>
          </a:ln>
        </p:spPr>
        <p:txBody>
          <a:bodyPr/>
          <a:lstStyle/>
          <a:p>
            <a:endParaRPr lang="zh-TW" altLang="en-US" sz="1350"/>
          </a:p>
        </p:txBody>
      </p:sp>
      <p:sp>
        <p:nvSpPr>
          <p:cNvPr id="410" name="線 410"/>
          <p:cNvSpPr/>
          <p:nvPr/>
        </p:nvSpPr>
        <p:spPr>
          <a:xfrm>
            <a:off x="3058668" y="2379726"/>
            <a:ext cx="0" cy="109728"/>
          </a:xfrm>
          <a:prstGeom prst="line">
            <a:avLst/>
          </a:prstGeom>
          <a:ln w="18288" cap="rnd">
            <a:solidFill>
              <a:srgbClr val="2B3050"/>
            </a:solidFill>
          </a:ln>
        </p:spPr>
        <p:txBody>
          <a:bodyPr/>
          <a:lstStyle/>
          <a:p>
            <a:endParaRPr lang="zh-TW" altLang="en-US" sz="1350"/>
          </a:p>
        </p:txBody>
      </p:sp>
      <p:sp>
        <p:nvSpPr>
          <p:cNvPr id="411" name="線 411"/>
          <p:cNvSpPr/>
          <p:nvPr/>
        </p:nvSpPr>
        <p:spPr>
          <a:xfrm>
            <a:off x="3442716" y="2379726"/>
            <a:ext cx="0" cy="109728"/>
          </a:xfrm>
          <a:prstGeom prst="line">
            <a:avLst/>
          </a:prstGeom>
          <a:ln w="18288" cap="rnd">
            <a:solidFill>
              <a:srgbClr val="2B3050"/>
            </a:solidFill>
          </a:ln>
        </p:spPr>
        <p:txBody>
          <a:bodyPr/>
          <a:lstStyle/>
          <a:p>
            <a:endParaRPr lang="zh-TW" altLang="en-US" sz="1350"/>
          </a:p>
        </p:txBody>
      </p:sp>
      <p:sp>
        <p:nvSpPr>
          <p:cNvPr id="412" name="線 412"/>
          <p:cNvSpPr/>
          <p:nvPr/>
        </p:nvSpPr>
        <p:spPr>
          <a:xfrm>
            <a:off x="3826764" y="2379726"/>
            <a:ext cx="0" cy="109728"/>
          </a:xfrm>
          <a:prstGeom prst="line">
            <a:avLst/>
          </a:prstGeom>
          <a:ln w="18288" cap="rnd">
            <a:solidFill>
              <a:srgbClr val="2B3050"/>
            </a:solidFill>
          </a:ln>
        </p:spPr>
        <p:txBody>
          <a:bodyPr/>
          <a:lstStyle/>
          <a:p>
            <a:endParaRPr lang="zh-TW" altLang="en-US" sz="1350"/>
          </a:p>
        </p:txBody>
      </p:sp>
      <p:sp>
        <p:nvSpPr>
          <p:cNvPr id="413" name="線 413"/>
          <p:cNvSpPr/>
          <p:nvPr/>
        </p:nvSpPr>
        <p:spPr>
          <a:xfrm>
            <a:off x="4210812" y="2379726"/>
            <a:ext cx="0" cy="109728"/>
          </a:xfrm>
          <a:prstGeom prst="line">
            <a:avLst/>
          </a:prstGeom>
          <a:ln w="18288" cap="rnd">
            <a:solidFill>
              <a:srgbClr val="2B3050"/>
            </a:solidFill>
          </a:ln>
        </p:spPr>
        <p:txBody>
          <a:bodyPr/>
          <a:lstStyle/>
          <a:p>
            <a:endParaRPr lang="zh-TW" altLang="en-US" sz="1350"/>
          </a:p>
        </p:txBody>
      </p:sp>
      <p:sp>
        <p:nvSpPr>
          <p:cNvPr id="414" name="線 414"/>
          <p:cNvSpPr/>
          <p:nvPr/>
        </p:nvSpPr>
        <p:spPr>
          <a:xfrm>
            <a:off x="4594860" y="2379726"/>
            <a:ext cx="0" cy="109728"/>
          </a:xfrm>
          <a:prstGeom prst="line">
            <a:avLst/>
          </a:prstGeom>
          <a:ln w="18288" cap="rnd">
            <a:solidFill>
              <a:srgbClr val="2B3050"/>
            </a:solidFill>
          </a:ln>
        </p:spPr>
        <p:txBody>
          <a:bodyPr/>
          <a:lstStyle/>
          <a:p>
            <a:endParaRPr lang="zh-TW" altLang="en-US" sz="1350"/>
          </a:p>
        </p:txBody>
      </p:sp>
      <p:sp>
        <p:nvSpPr>
          <p:cNvPr id="415" name="文字 415"/>
          <p:cNvSpPr txBox="1"/>
          <p:nvPr/>
        </p:nvSpPr>
        <p:spPr>
          <a:xfrm>
            <a:off x="51435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0</a:t>
            </a:r>
          </a:p>
        </p:txBody>
      </p:sp>
      <p:sp>
        <p:nvSpPr>
          <p:cNvPr id="416" name="文字 416"/>
          <p:cNvSpPr txBox="1"/>
          <p:nvPr/>
        </p:nvSpPr>
        <p:spPr>
          <a:xfrm>
            <a:off x="243459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5</a:t>
            </a:r>
          </a:p>
        </p:txBody>
      </p:sp>
      <p:sp>
        <p:nvSpPr>
          <p:cNvPr id="417" name="文字 417"/>
          <p:cNvSpPr txBox="1"/>
          <p:nvPr/>
        </p:nvSpPr>
        <p:spPr>
          <a:xfrm>
            <a:off x="4354830" y="2516886"/>
            <a:ext cx="480060" cy="288036"/>
          </a:xfrm>
          <a:prstGeom prst="rect">
            <a:avLst/>
          </a:prstGeom>
          <a:noFill/>
          <a:ln>
            <a:noFill/>
          </a:ln>
        </p:spPr>
        <p:txBody>
          <a:bodyPr wrap="none" lIns="34290" tIns="0" rIns="34290" bIns="0" anchor="ctr">
            <a:noAutofit/>
          </a:bodyPr>
          <a:lstStyle/>
          <a:p>
            <a:pPr algn="ctr">
              <a:buNone/>
            </a:pPr>
            <a:r>
              <a:rPr lang="zh-TW" altLang="en-US" dirty="0">
                <a:solidFill>
                  <a:srgbClr val="4A5378"/>
                </a:solidFill>
                <a:latin typeface="Microsoft JhengHei"/>
                <a:ea typeface="Microsoft JhengHei"/>
                <a:cs typeface="Microsoft JhengHei"/>
              </a:rPr>
              <a:t>10</a:t>
            </a:r>
          </a:p>
        </p:txBody>
      </p:sp>
      <p:sp>
        <p:nvSpPr>
          <p:cNvPr id="418" name="文字 418"/>
          <p:cNvSpPr txBox="1"/>
          <p:nvPr/>
        </p:nvSpPr>
        <p:spPr>
          <a:xfrm>
            <a:off x="4653839" y="2077974"/>
            <a:ext cx="27432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s</a:t>
            </a:r>
          </a:p>
        </p:txBody>
      </p:sp>
      <p:sp>
        <p:nvSpPr>
          <p:cNvPr id="419" name="圓 419"/>
          <p:cNvSpPr/>
          <p:nvPr/>
        </p:nvSpPr>
        <p:spPr>
          <a:xfrm>
            <a:off x="1076706" y="2372868"/>
            <a:ext cx="123444" cy="123444"/>
          </a:xfrm>
          <a:prstGeom prst="ellipse">
            <a:avLst/>
          </a:prstGeom>
          <a:solidFill>
            <a:srgbClr val="1E2761"/>
          </a:solidFill>
          <a:ln>
            <a:noFill/>
          </a:ln>
        </p:spPr>
        <p:txBody>
          <a:bodyPr/>
          <a:lstStyle/>
          <a:p>
            <a:endParaRPr lang="zh-TW" altLang="en-US" sz="1350"/>
          </a:p>
        </p:txBody>
      </p:sp>
      <p:sp>
        <p:nvSpPr>
          <p:cNvPr id="420" name="圓 420"/>
          <p:cNvSpPr/>
          <p:nvPr/>
        </p:nvSpPr>
        <p:spPr>
          <a:xfrm>
            <a:off x="4149090" y="2372868"/>
            <a:ext cx="123444" cy="123444"/>
          </a:xfrm>
          <a:prstGeom prst="ellipse">
            <a:avLst/>
          </a:prstGeom>
          <a:solidFill>
            <a:srgbClr val="4A5378"/>
          </a:solidFill>
          <a:ln>
            <a:noFill/>
          </a:ln>
        </p:spPr>
        <p:txBody>
          <a:bodyPr/>
          <a:lstStyle/>
          <a:p>
            <a:endParaRPr lang="zh-TW" altLang="en-US" sz="1350"/>
          </a:p>
        </p:txBody>
      </p:sp>
      <p:sp>
        <p:nvSpPr>
          <p:cNvPr id="421" name="圓 421"/>
          <p:cNvSpPr/>
          <p:nvPr/>
        </p:nvSpPr>
        <p:spPr>
          <a:xfrm>
            <a:off x="2612898" y="2372868"/>
            <a:ext cx="123444" cy="123444"/>
          </a:xfrm>
          <a:prstGeom prst="ellipse">
            <a:avLst/>
          </a:prstGeom>
          <a:solidFill>
            <a:srgbClr val="1E2761"/>
          </a:solidFill>
          <a:ln>
            <a:noFill/>
          </a:ln>
        </p:spPr>
        <p:txBody>
          <a:bodyPr/>
          <a:lstStyle/>
          <a:p>
            <a:endParaRPr lang="zh-TW" altLang="en-US" sz="1350"/>
          </a:p>
        </p:txBody>
      </p:sp>
      <p:sp>
        <p:nvSpPr>
          <p:cNvPr id="422" name="文字 422"/>
          <p:cNvSpPr txBox="1"/>
          <p:nvPr/>
        </p:nvSpPr>
        <p:spPr>
          <a:xfrm>
            <a:off x="761238"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P₃（1 m）</a:t>
            </a:r>
          </a:p>
        </p:txBody>
      </p:sp>
      <p:sp>
        <p:nvSpPr>
          <p:cNvPr id="423" name="文字 423"/>
          <p:cNvSpPr txBox="1"/>
          <p:nvPr/>
        </p:nvSpPr>
        <p:spPr>
          <a:xfrm>
            <a:off x="2297430" y="2811780"/>
            <a:ext cx="1097280" cy="308610"/>
          </a:xfrm>
          <a:prstGeom prst="rect">
            <a:avLst/>
          </a:prstGeom>
          <a:noFill/>
          <a:ln>
            <a:noFill/>
          </a:ln>
        </p:spPr>
        <p:txBody>
          <a:bodyPr wrap="none" lIns="34290" tIns="0" rIns="34290" bIns="0" anchor="ctr">
            <a:noAutofit/>
          </a:bodyPr>
          <a:lstStyle/>
          <a:p>
            <a:pPr algn="l">
              <a:buNone/>
            </a:pPr>
            <a:r>
              <a:rPr lang="zh-TW" altLang="en-US" b="1" dirty="0">
                <a:solidFill>
                  <a:srgbClr val="2B3050"/>
                </a:solidFill>
                <a:latin typeface="Microsoft JhengHei"/>
                <a:ea typeface="Microsoft JhengHei"/>
                <a:cs typeface="Microsoft JhengHei"/>
              </a:rPr>
              <a:t>P₅（5 m）</a:t>
            </a:r>
          </a:p>
        </p:txBody>
      </p:sp>
      <p:sp>
        <p:nvSpPr>
          <p:cNvPr id="424" name="文字 424"/>
          <p:cNvSpPr txBox="1"/>
          <p:nvPr/>
        </p:nvSpPr>
        <p:spPr>
          <a:xfrm>
            <a:off x="3044952" y="1062990"/>
            <a:ext cx="1440180" cy="288036"/>
          </a:xfrm>
          <a:prstGeom prst="rect">
            <a:avLst/>
          </a:prstGeom>
          <a:noFill/>
          <a:ln>
            <a:noFill/>
          </a:ln>
        </p:spPr>
        <p:txBody>
          <a:bodyPr wrap="none" lIns="34290" tIns="0" rIns="34290" bIns="0" anchor="ctr">
            <a:noAutofit/>
          </a:bodyPr>
          <a:lstStyle/>
          <a:p>
            <a:pPr algn="l">
              <a:buNone/>
            </a:pPr>
            <a:r>
              <a:rPr lang="zh-TW" altLang="en-US" b="1" dirty="0">
                <a:solidFill>
                  <a:srgbClr val="4A5378"/>
                </a:solidFill>
                <a:latin typeface="Microsoft JhengHei"/>
                <a:ea typeface="Microsoft JhengHei"/>
                <a:cs typeface="Microsoft JhengHei"/>
              </a:rPr>
              <a:t>P_turn（9 m）</a:t>
            </a:r>
          </a:p>
        </p:txBody>
      </p:sp>
      <p:sp>
        <p:nvSpPr>
          <p:cNvPr id="425" name="圓 425"/>
          <p:cNvSpPr/>
          <p:nvPr/>
        </p:nvSpPr>
        <p:spPr>
          <a:xfrm>
            <a:off x="1049274" y="2345436"/>
            <a:ext cx="178308" cy="178308"/>
          </a:xfrm>
          <a:prstGeom prst="ellipse">
            <a:avLst/>
          </a:prstGeom>
          <a:solidFill>
            <a:srgbClr val="B23A28"/>
          </a:solidFill>
          <a:ln>
            <a:noFill/>
          </a:ln>
        </p:spPr>
        <p:txBody>
          <a:bodyPr/>
          <a:lstStyle/>
          <a:p>
            <a:endParaRPr lang="zh-TW" altLang="en-US" sz="1350"/>
          </a:p>
        </p:txBody>
      </p:sp>
      <p:sp>
        <p:nvSpPr>
          <p:cNvPr id="426" name="線 426"/>
          <p:cNvSpPr/>
          <p:nvPr/>
        </p:nvSpPr>
        <p:spPr>
          <a:xfrm>
            <a:off x="1138428" y="1714500"/>
            <a:ext cx="3072384" cy="0"/>
          </a:xfrm>
          <a:prstGeom prst="line">
            <a:avLst/>
          </a:prstGeom>
          <a:ln w="73152" cap="rnd">
            <a:solidFill>
              <a:srgbClr val="C8901F"/>
            </a:solidFill>
            <a:tailEnd type="triangle" w="med" len="med"/>
          </a:ln>
        </p:spPr>
        <p:txBody>
          <a:bodyPr/>
          <a:lstStyle/>
          <a:p>
            <a:endParaRPr lang="zh-TW" altLang="en-US" sz="1350"/>
          </a:p>
        </p:txBody>
      </p:sp>
      <p:sp>
        <p:nvSpPr>
          <p:cNvPr id="427" name="文字 427"/>
          <p:cNvSpPr txBox="1"/>
          <p:nvPr/>
        </p:nvSpPr>
        <p:spPr>
          <a:xfrm>
            <a:off x="1368857" y="1371600"/>
            <a:ext cx="1165860" cy="308610"/>
          </a:xfrm>
          <a:prstGeom prst="rect">
            <a:avLst/>
          </a:prstGeom>
          <a:noFill/>
          <a:ln>
            <a:noFill/>
          </a:ln>
        </p:spPr>
        <p:txBody>
          <a:bodyPr wrap="none" lIns="34290" tIns="0" rIns="34290" bIns="0" anchor="ctr">
            <a:noAutofit/>
          </a:bodyPr>
          <a:lstStyle/>
          <a:p>
            <a:pPr algn="l">
              <a:buNone/>
            </a:pPr>
            <a:r>
              <a:rPr lang="zh-TW" altLang="en-US" b="1" dirty="0">
                <a:solidFill>
                  <a:srgbClr val="9A6D12"/>
                </a:solidFill>
                <a:latin typeface="Microsoft JhengHei"/>
                <a:ea typeface="Microsoft JhengHei"/>
                <a:cs typeface="Microsoft JhengHei"/>
              </a:rPr>
              <a:t>去程 8 m</a:t>
            </a:r>
          </a:p>
        </p:txBody>
      </p:sp>
      <p:sp>
        <p:nvSpPr>
          <p:cNvPr id="428" name="線 428"/>
          <p:cNvSpPr/>
          <p:nvPr/>
        </p:nvSpPr>
        <p:spPr>
          <a:xfrm flipH="1">
            <a:off x="2674620" y="2091690"/>
            <a:ext cx="1536192" cy="0"/>
          </a:xfrm>
          <a:prstGeom prst="line">
            <a:avLst/>
          </a:prstGeom>
          <a:ln w="73152" cap="rnd">
            <a:solidFill>
              <a:srgbClr val="C8901F"/>
            </a:solidFill>
            <a:tailEnd type="triangle" w="med" len="med"/>
          </a:ln>
        </p:spPr>
        <p:txBody>
          <a:bodyPr/>
          <a:lstStyle/>
          <a:p>
            <a:endParaRPr lang="zh-TW" altLang="en-US" sz="1350"/>
          </a:p>
        </p:txBody>
      </p:sp>
      <p:sp>
        <p:nvSpPr>
          <p:cNvPr id="429" name="文字 429"/>
          <p:cNvSpPr txBox="1"/>
          <p:nvPr/>
        </p:nvSpPr>
        <p:spPr>
          <a:xfrm>
            <a:off x="1371600" y="1940814"/>
            <a:ext cx="1234440" cy="308610"/>
          </a:xfrm>
          <a:prstGeom prst="rect">
            <a:avLst/>
          </a:prstGeom>
          <a:noFill/>
          <a:ln>
            <a:noFill/>
          </a:ln>
        </p:spPr>
        <p:txBody>
          <a:bodyPr wrap="none" lIns="34290" tIns="0" rIns="34290" bIns="0" anchor="ctr">
            <a:noAutofit/>
          </a:bodyPr>
          <a:lstStyle/>
          <a:p>
            <a:pPr algn="r">
              <a:buNone/>
            </a:pPr>
            <a:r>
              <a:rPr lang="zh-TW" altLang="en-US" b="1" dirty="0">
                <a:solidFill>
                  <a:srgbClr val="9A6D12"/>
                </a:solidFill>
                <a:latin typeface="Microsoft JhengHei"/>
                <a:ea typeface="Microsoft JhengHei"/>
                <a:cs typeface="Microsoft JhengHei"/>
              </a:rPr>
              <a:t>回程 4 m</a:t>
            </a:r>
          </a:p>
        </p:txBody>
      </p:sp>
      <p:sp>
        <p:nvSpPr>
          <p:cNvPr id="430" name="線 430"/>
          <p:cNvSpPr/>
          <p:nvPr/>
        </p:nvSpPr>
        <p:spPr>
          <a:xfrm>
            <a:off x="1138428" y="3326130"/>
            <a:ext cx="1536192" cy="0"/>
          </a:xfrm>
          <a:prstGeom prst="line">
            <a:avLst/>
          </a:prstGeom>
          <a:ln w="54864" cap="rnd">
            <a:solidFill>
              <a:srgbClr val="D6006F"/>
            </a:solidFill>
            <a:tailEnd type="triangle" w="med" len="med"/>
          </a:ln>
        </p:spPr>
        <p:txBody>
          <a:bodyPr/>
          <a:lstStyle/>
          <a:p>
            <a:endParaRPr lang="zh-TW" altLang="en-US" sz="1350"/>
          </a:p>
        </p:txBody>
      </p:sp>
      <p:sp>
        <p:nvSpPr>
          <p:cNvPr id="431" name="文字 431"/>
          <p:cNvSpPr txBox="1"/>
          <p:nvPr/>
        </p:nvSpPr>
        <p:spPr>
          <a:xfrm>
            <a:off x="2777490" y="3175254"/>
            <a:ext cx="1371600" cy="308610"/>
          </a:xfrm>
          <a:prstGeom prst="rect">
            <a:avLst/>
          </a:prstGeom>
          <a:noFill/>
          <a:ln>
            <a:noFill/>
          </a:ln>
        </p:spPr>
        <p:txBody>
          <a:bodyPr wrap="none" lIns="34290" tIns="0" rIns="34290" bIns="0" anchor="ctr">
            <a:noAutofit/>
          </a:bodyPr>
          <a:lstStyle/>
          <a:p>
            <a:pPr algn="l">
              <a:buNone/>
            </a:pPr>
            <a:r>
              <a:rPr lang="zh-TW" altLang="en-US" b="1" dirty="0">
                <a:solidFill>
                  <a:srgbClr val="D6006F"/>
                </a:solidFill>
                <a:latin typeface="Microsoft JhengHei"/>
                <a:ea typeface="Microsoft JhengHei"/>
                <a:cs typeface="Microsoft JhengHei"/>
              </a:rPr>
              <a:t>Δr = 4 m</a:t>
            </a:r>
          </a:p>
        </p:txBody>
      </p:sp>
      <p:sp>
        <p:nvSpPr>
          <p:cNvPr id="432" name="圓 432"/>
          <p:cNvSpPr/>
          <p:nvPr/>
        </p:nvSpPr>
        <p:spPr>
          <a:xfrm>
            <a:off x="5301234" y="1227582"/>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1</a:t>
            </a:r>
          </a:p>
        </p:txBody>
      </p:sp>
      <p:sp>
        <p:nvSpPr>
          <p:cNvPr id="433" name="文字 433"/>
          <p:cNvSpPr txBox="1"/>
          <p:nvPr/>
        </p:nvSpPr>
        <p:spPr>
          <a:xfrm>
            <a:off x="5657850" y="1200150"/>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先往前到 9 m，再折回 5 m</a:t>
            </a:r>
          </a:p>
        </p:txBody>
      </p:sp>
      <p:sp>
        <p:nvSpPr>
          <p:cNvPr id="434" name="圓 434"/>
          <p:cNvSpPr/>
          <p:nvPr/>
        </p:nvSpPr>
        <p:spPr>
          <a:xfrm>
            <a:off x="5301234" y="1652778"/>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2</a:t>
            </a:r>
          </a:p>
        </p:txBody>
      </p:sp>
      <p:sp>
        <p:nvSpPr>
          <p:cNvPr id="435" name="文字 435"/>
          <p:cNvSpPr txBox="1"/>
          <p:nvPr/>
        </p:nvSpPr>
        <p:spPr>
          <a:xfrm>
            <a:off x="5657850" y="1625346"/>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路徑長 Δs = 8 + 4 = 12 m</a:t>
            </a:r>
          </a:p>
        </p:txBody>
      </p:sp>
      <p:sp>
        <p:nvSpPr>
          <p:cNvPr id="436" name="圓 436"/>
          <p:cNvSpPr/>
          <p:nvPr/>
        </p:nvSpPr>
        <p:spPr>
          <a:xfrm>
            <a:off x="5301234" y="2077974"/>
            <a:ext cx="274320" cy="274320"/>
          </a:xfrm>
          <a:prstGeom prst="ellipse">
            <a:avLst/>
          </a:prstGeom>
          <a:solidFill>
            <a:srgbClr val="1E2761"/>
          </a:solidFill>
          <a:ln>
            <a:noFill/>
          </a:ln>
        </p:spPr>
        <p:txBody>
          <a:bodyPr lIns="0" tIns="0" rIns="0" bIns="0" anchor="ctr"/>
          <a:lstStyle/>
          <a:p>
            <a:pPr algn="ctr"/>
            <a:r>
              <a:rPr lang="en-US" b="1" i="1">
                <a:solidFill>
                  <a:srgbClr val="FFFFFF"/>
                </a:solidFill>
                <a:latin typeface="Cambria"/>
              </a:rPr>
              <a:t>3</a:t>
            </a:r>
          </a:p>
        </p:txBody>
      </p:sp>
      <p:sp>
        <p:nvSpPr>
          <p:cNvPr id="437" name="文字 437"/>
          <p:cNvSpPr txBox="1"/>
          <p:nvPr/>
        </p:nvSpPr>
        <p:spPr>
          <a:xfrm>
            <a:off x="5657850" y="2050542"/>
            <a:ext cx="342900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位移 Δr = 5 − 1 = 4 m</a:t>
            </a:r>
          </a:p>
        </p:txBody>
      </p:sp>
      <p:sp>
        <p:nvSpPr>
          <p:cNvPr id="438" name="框 438"/>
          <p:cNvSpPr/>
          <p:nvPr/>
        </p:nvSpPr>
        <p:spPr>
          <a:xfrm>
            <a:off x="5314950" y="2811780"/>
            <a:ext cx="3429000" cy="857250"/>
          </a:xfrm>
          <a:prstGeom prst="roundRect">
            <a:avLst/>
          </a:prstGeom>
          <a:solidFill>
            <a:srgbClr val="FBF0EC"/>
          </a:solidFill>
          <a:ln>
            <a:noFill/>
          </a:ln>
        </p:spPr>
        <p:txBody>
          <a:bodyPr/>
          <a:lstStyle/>
          <a:p>
            <a:endParaRPr lang="zh-TW" altLang="en-US" sz="1350"/>
          </a:p>
        </p:txBody>
      </p:sp>
      <p:sp>
        <p:nvSpPr>
          <p:cNvPr id="439" name="文字 439"/>
          <p:cNvSpPr txBox="1"/>
          <p:nvPr/>
        </p:nvSpPr>
        <p:spPr>
          <a:xfrm>
            <a:off x="5452110" y="2866644"/>
            <a:ext cx="3223260" cy="342900"/>
          </a:xfrm>
          <a:prstGeom prst="rect">
            <a:avLst/>
          </a:prstGeom>
          <a:noFill/>
          <a:ln>
            <a:noFill/>
          </a:ln>
        </p:spPr>
        <p:txBody>
          <a:bodyPr wrap="none" lIns="34290" tIns="0" rIns="34290" bIns="0" anchor="ctr">
            <a:noAutofit/>
          </a:bodyPr>
          <a:lstStyle/>
          <a:p>
            <a:pPr algn="l">
              <a:buNone/>
            </a:pPr>
            <a:r>
              <a:rPr lang="zh-TW" altLang="en-US" sz="1950" b="1" dirty="0">
                <a:solidFill>
                  <a:srgbClr val="B23A28"/>
                </a:solidFill>
                <a:latin typeface="Microsoft JhengHei"/>
                <a:ea typeface="Microsoft JhengHei"/>
                <a:cs typeface="Microsoft JhengHei"/>
              </a:rPr>
              <a:t>|Δr| &lt; Δs</a:t>
            </a:r>
          </a:p>
        </p:txBody>
      </p:sp>
      <p:sp>
        <p:nvSpPr>
          <p:cNvPr id="440" name="文字 440"/>
          <p:cNvSpPr txBox="1"/>
          <p:nvPr/>
        </p:nvSpPr>
        <p:spPr>
          <a:xfrm>
            <a:off x="5452110" y="3223260"/>
            <a:ext cx="3223260" cy="34290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折返的那段，位移被抵銷了</a:t>
            </a:r>
          </a:p>
        </p:txBody>
      </p:sp>
      <p:sp>
        <p:nvSpPr>
          <p:cNvPr id="441" name="文字 441"/>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500"/>
                                        <p:tgtEl>
                                          <p:spTgt spid="4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2"/>
                                        </p:tgtEl>
                                        <p:attrNameLst>
                                          <p:attrName>style.visibility</p:attrName>
                                        </p:attrNameLst>
                                      </p:cBhvr>
                                      <p:to>
                                        <p:strVal val="visible"/>
                                      </p:to>
                                    </p:set>
                                    <p:animEffect transition="in" filter="fade">
                                      <p:cBhvr>
                                        <p:cTn id="10" dur="500"/>
                                        <p:tgtEl>
                                          <p:spTgt spid="4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2"/>
                                        </p:tgtEl>
                                        <p:attrNameLst>
                                          <p:attrName>style.visibility</p:attrName>
                                        </p:attrNameLst>
                                      </p:cBhvr>
                                      <p:to>
                                        <p:strVal val="visible"/>
                                      </p:to>
                                    </p:set>
                                    <p:animEffect transition="in" filter="fade">
                                      <p:cBhvr>
                                        <p:cTn id="13" dur="500"/>
                                        <p:tgtEl>
                                          <p:spTgt spid="4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3"/>
                                        </p:tgtEl>
                                        <p:attrNameLst>
                                          <p:attrName>style.visibility</p:attrName>
                                        </p:attrNameLst>
                                      </p:cBhvr>
                                      <p:to>
                                        <p:strVal val="visible"/>
                                      </p:to>
                                    </p:set>
                                    <p:animEffect transition="in" filter="fade">
                                      <p:cBhvr>
                                        <p:cTn id="16" dur="500"/>
                                        <p:tgtEl>
                                          <p:spTgt spid="4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425">
                                            <p:txEl>
                                              <p:charRg st="4294967295" end="4294967295"/>
                                            </p:txEl>
                                          </p:spTgt>
                                        </p:tgtEl>
                                        <p:attrNameLst>
                                          <p:attrName>style.visibility</p:attrName>
                                        </p:attrNameLst>
                                      </p:cBhvr>
                                      <p:to>
                                        <p:strVal val="visible"/>
                                      </p:to>
                                    </p:set>
                                    <p:animEffect transition="in" filter="fade">
                                      <p:cBhvr>
                                        <p:cTn id="21" dur="300"/>
                                        <p:tgtEl>
                                          <p:spTgt spid="425">
                                            <p:txEl>
                                              <p:charRg st="4294967295" end="429496729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26"/>
                                        </p:tgtEl>
                                        <p:attrNameLst>
                                          <p:attrName>style.visibility</p:attrName>
                                        </p:attrNameLst>
                                      </p:cBhvr>
                                      <p:to>
                                        <p:strVal val="visible"/>
                                      </p:to>
                                    </p:set>
                                    <p:animEffect transition="in" filter="fade">
                                      <p:cBhvr>
                                        <p:cTn id="24" dur="2000"/>
                                        <p:tgtEl>
                                          <p:spTgt spid="4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0"/>
                                        </p:tgtEl>
                                        <p:attrNameLst>
                                          <p:attrName>style.visibility</p:attrName>
                                        </p:attrNameLst>
                                      </p:cBhvr>
                                      <p:to>
                                        <p:strVal val="visible"/>
                                      </p:to>
                                    </p:set>
                                    <p:animEffect transition="in" filter="fade">
                                      <p:cBhvr>
                                        <p:cTn id="27" dur="500"/>
                                        <p:tgtEl>
                                          <p:spTgt spid="4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4"/>
                                        </p:tgtEl>
                                        <p:attrNameLst>
                                          <p:attrName>style.visibility</p:attrName>
                                        </p:attrNameLst>
                                      </p:cBhvr>
                                      <p:to>
                                        <p:strVal val="visible"/>
                                      </p:to>
                                    </p:set>
                                    <p:animEffect transition="in" filter="fade">
                                      <p:cBhvr>
                                        <p:cTn id="30" dur="500"/>
                                        <p:tgtEl>
                                          <p:spTgt spid="4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28"/>
                                        </p:tgtEl>
                                        <p:attrNameLst>
                                          <p:attrName>style.visibility</p:attrName>
                                        </p:attrNameLst>
                                      </p:cBhvr>
                                      <p:to>
                                        <p:strVal val="visible"/>
                                      </p:to>
                                    </p:set>
                                    <p:animEffect transition="in" filter="fade">
                                      <p:cBhvr>
                                        <p:cTn id="33" dur="1500"/>
                                        <p:tgtEl>
                                          <p:spTgt spid="42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21"/>
                                        </p:tgtEl>
                                        <p:attrNameLst>
                                          <p:attrName>style.visibility</p:attrName>
                                        </p:attrNameLst>
                                      </p:cBhvr>
                                      <p:to>
                                        <p:strVal val="visible"/>
                                      </p:to>
                                    </p:set>
                                    <p:animEffect transition="in" filter="fade">
                                      <p:cBhvr>
                                        <p:cTn id="36" dur="500"/>
                                        <p:tgtEl>
                                          <p:spTgt spid="4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23"/>
                                        </p:tgtEl>
                                        <p:attrNameLst>
                                          <p:attrName>style.visibility</p:attrName>
                                        </p:attrNameLst>
                                      </p:cBhvr>
                                      <p:to>
                                        <p:strVal val="visible"/>
                                      </p:to>
                                    </p:set>
                                    <p:animEffect transition="in" filter="fade">
                                      <p:cBhvr>
                                        <p:cTn id="39" dur="500"/>
                                        <p:tgtEl>
                                          <p:spTgt spid="4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27"/>
                                        </p:tgtEl>
                                        <p:attrNameLst>
                                          <p:attrName>style.visibility</p:attrName>
                                        </p:attrNameLst>
                                      </p:cBhvr>
                                      <p:to>
                                        <p:strVal val="visible"/>
                                      </p:to>
                                    </p:set>
                                    <p:animEffect transition="in" filter="fade">
                                      <p:cBhvr>
                                        <p:cTn id="44" dur="500"/>
                                        <p:tgtEl>
                                          <p:spTgt spid="4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29"/>
                                        </p:tgtEl>
                                        <p:attrNameLst>
                                          <p:attrName>style.visibility</p:attrName>
                                        </p:attrNameLst>
                                      </p:cBhvr>
                                      <p:to>
                                        <p:strVal val="visible"/>
                                      </p:to>
                                    </p:set>
                                    <p:animEffect transition="in" filter="fade">
                                      <p:cBhvr>
                                        <p:cTn id="47" dur="500"/>
                                        <p:tgtEl>
                                          <p:spTgt spid="4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4"/>
                                        </p:tgtEl>
                                        <p:attrNameLst>
                                          <p:attrName>style.visibility</p:attrName>
                                        </p:attrNameLst>
                                      </p:cBhvr>
                                      <p:to>
                                        <p:strVal val="visible"/>
                                      </p:to>
                                    </p:set>
                                    <p:animEffect transition="in" filter="fade">
                                      <p:cBhvr>
                                        <p:cTn id="50" dur="500"/>
                                        <p:tgtEl>
                                          <p:spTgt spid="4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35"/>
                                        </p:tgtEl>
                                        <p:attrNameLst>
                                          <p:attrName>style.visibility</p:attrName>
                                        </p:attrNameLst>
                                      </p:cBhvr>
                                      <p:to>
                                        <p:strVal val="visible"/>
                                      </p:to>
                                    </p:set>
                                    <p:animEffect transition="in" filter="fade">
                                      <p:cBhvr>
                                        <p:cTn id="53" dur="500"/>
                                        <p:tgtEl>
                                          <p:spTgt spid="43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30"/>
                                        </p:tgtEl>
                                        <p:attrNameLst>
                                          <p:attrName>style.visibility</p:attrName>
                                        </p:attrNameLst>
                                      </p:cBhvr>
                                      <p:to>
                                        <p:strVal val="visible"/>
                                      </p:to>
                                    </p:set>
                                    <p:animEffect transition="in" filter="fade">
                                      <p:cBhvr>
                                        <p:cTn id="58" dur="500"/>
                                        <p:tgtEl>
                                          <p:spTgt spid="43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31"/>
                                        </p:tgtEl>
                                        <p:attrNameLst>
                                          <p:attrName>style.visibility</p:attrName>
                                        </p:attrNameLst>
                                      </p:cBhvr>
                                      <p:to>
                                        <p:strVal val="visible"/>
                                      </p:to>
                                    </p:set>
                                    <p:animEffect transition="in" filter="fade">
                                      <p:cBhvr>
                                        <p:cTn id="61" dur="500"/>
                                        <p:tgtEl>
                                          <p:spTgt spid="43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36"/>
                                        </p:tgtEl>
                                        <p:attrNameLst>
                                          <p:attrName>style.visibility</p:attrName>
                                        </p:attrNameLst>
                                      </p:cBhvr>
                                      <p:to>
                                        <p:strVal val="visible"/>
                                      </p:to>
                                    </p:set>
                                    <p:animEffect transition="in" filter="fade">
                                      <p:cBhvr>
                                        <p:cTn id="64" dur="500"/>
                                        <p:tgtEl>
                                          <p:spTgt spid="4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7"/>
                                        </p:tgtEl>
                                        <p:attrNameLst>
                                          <p:attrName>style.visibility</p:attrName>
                                        </p:attrNameLst>
                                      </p:cBhvr>
                                      <p:to>
                                        <p:strVal val="visible"/>
                                      </p:to>
                                    </p:set>
                                    <p:animEffect transition="in" filter="fade">
                                      <p:cBhvr>
                                        <p:cTn id="67" dur="500"/>
                                        <p:tgtEl>
                                          <p:spTgt spid="43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38"/>
                                        </p:tgtEl>
                                        <p:attrNameLst>
                                          <p:attrName>style.visibility</p:attrName>
                                        </p:attrNameLst>
                                      </p:cBhvr>
                                      <p:to>
                                        <p:strVal val="visible"/>
                                      </p:to>
                                    </p:set>
                                    <p:animEffect transition="in" filter="fade">
                                      <p:cBhvr>
                                        <p:cTn id="72" dur="500"/>
                                        <p:tgtEl>
                                          <p:spTgt spid="43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9"/>
                                        </p:tgtEl>
                                        <p:attrNameLst>
                                          <p:attrName>style.visibility</p:attrName>
                                        </p:attrNameLst>
                                      </p:cBhvr>
                                      <p:to>
                                        <p:strVal val="visible"/>
                                      </p:to>
                                    </p:set>
                                    <p:animEffect transition="in" filter="fade">
                                      <p:cBhvr>
                                        <p:cTn id="75" dur="500"/>
                                        <p:tgtEl>
                                          <p:spTgt spid="43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0"/>
                                        </p:tgtEl>
                                        <p:attrNameLst>
                                          <p:attrName>style.visibility</p:attrName>
                                        </p:attrNameLst>
                                      </p:cBhvr>
                                      <p:to>
                                        <p:strVal val="visible"/>
                                      </p:to>
                                    </p:set>
                                    <p:animEffect transition="in" filter="fade">
                                      <p:cBhvr>
                                        <p:cTn id="78" dur="5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 grpId="0" animBg="1"/>
      <p:bldP spid="420" grpId="0" animBg="1"/>
      <p:bldP spid="421" grpId="0" animBg="1"/>
      <p:bldP spid="422" grpId="0" animBg="1"/>
      <p:bldP spid="423" grpId="0" animBg="1"/>
      <p:bldP spid="424" grpId="0" animBg="1"/>
      <p:bldP spid="425" grpId="0"/>
      <p:bldP spid="426" grpId="0" animBg="1"/>
      <p:bldP spid="427" grpId="0" animBg="1"/>
      <p:bldP spid="428" grpId="0" animBg="1"/>
      <p:bldP spid="429" grpId="0" animBg="1"/>
      <p:bldP spid="430" grpId="0" animBg="1"/>
      <p:bldP spid="431" grpId="0" animBg="1"/>
      <p:bldP spid="432" grpId="0" animBg="1"/>
      <p:bldP spid="433" grpId="0" animBg="1"/>
      <p:bldP spid="434" grpId="0" animBg="1"/>
      <p:bldP spid="435" grpId="0" animBg="1"/>
      <p:bldP spid="436" grpId="0" animBg="1"/>
      <p:bldP spid="437" grpId="0" animBg="1"/>
      <p:bldP spid="438" grpId="0" animBg="1"/>
      <p:bldP spid="439" grpId="0" animBg="1"/>
      <p:bldP spid="44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文字 501"/>
          <p:cNvSpPr txBox="1"/>
          <p:nvPr/>
        </p:nvSpPr>
        <p:spPr>
          <a:xfrm>
            <a:off x="425196" y="219456"/>
            <a:ext cx="8298180" cy="514350"/>
          </a:xfrm>
          <a:prstGeom prst="rect">
            <a:avLst/>
          </a:prstGeom>
          <a:noFill/>
          <a:ln>
            <a:noFill/>
          </a:ln>
        </p:spPr>
        <p:txBody>
          <a:bodyPr wrap="none" lIns="34290" tIns="0" rIns="34290" bIns="0" anchor="ctr">
            <a:noAutofit/>
          </a:bodyPr>
          <a:lstStyle/>
          <a:p>
            <a:pPr algn="l">
              <a:buNone/>
            </a:pPr>
            <a:r>
              <a:rPr lang="zh-TW" altLang="en-US" sz="2400" b="1" dirty="0">
                <a:solidFill>
                  <a:srgbClr val="1E2761"/>
                </a:solidFill>
                <a:latin typeface="Microsoft JhengHei"/>
                <a:ea typeface="Microsoft JhengHei"/>
                <a:cs typeface="Microsoft JhengHei"/>
              </a:rPr>
              <a:t>特性對比：位移 vs 路徑長</a:t>
            </a:r>
          </a:p>
        </p:txBody>
      </p:sp>
      <p:sp>
        <p:nvSpPr>
          <p:cNvPr id="502" name="文字 502"/>
          <p:cNvSpPr txBox="1"/>
          <p:nvPr/>
        </p:nvSpPr>
        <p:spPr>
          <a:xfrm>
            <a:off x="425196" y="1062990"/>
            <a:ext cx="1755648" cy="411480"/>
          </a:xfrm>
          <a:prstGeom prst="rect">
            <a:avLst/>
          </a:prstGeom>
          <a:solidFill>
            <a:srgbClr val="1E2761"/>
          </a:solidFill>
          <a:ln>
            <a:noFill/>
          </a:ln>
        </p:spPr>
        <p:txBody>
          <a:bodyPr wrap="none" lIns="34290" tIns="0" rIns="34290" bIns="0" anchor="ctr">
            <a:noAutofit/>
          </a:bodyPr>
          <a:lstStyle/>
          <a:p>
            <a:pPr algn="ctr">
              <a:buNone/>
            </a:pPr>
            <a:endParaRPr sz="1350"/>
          </a:p>
        </p:txBody>
      </p:sp>
      <p:sp>
        <p:nvSpPr>
          <p:cNvPr id="503" name="文字 503"/>
          <p:cNvSpPr txBox="1"/>
          <p:nvPr/>
        </p:nvSpPr>
        <p:spPr>
          <a:xfrm>
            <a:off x="2208276" y="1062990"/>
            <a:ext cx="134416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性質</a:t>
            </a:r>
          </a:p>
        </p:txBody>
      </p:sp>
      <p:sp>
        <p:nvSpPr>
          <p:cNvPr id="504" name="文字 504"/>
          <p:cNvSpPr txBox="1"/>
          <p:nvPr/>
        </p:nvSpPr>
        <p:spPr>
          <a:xfrm>
            <a:off x="3579876" y="1062990"/>
            <a:ext cx="223570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跟路徑的關係</a:t>
            </a:r>
          </a:p>
        </p:txBody>
      </p:sp>
      <p:sp>
        <p:nvSpPr>
          <p:cNvPr id="505" name="文字 505"/>
          <p:cNvSpPr txBox="1"/>
          <p:nvPr/>
        </p:nvSpPr>
        <p:spPr>
          <a:xfrm>
            <a:off x="5843016" y="1062990"/>
            <a:ext cx="2852928" cy="411480"/>
          </a:xfrm>
          <a:prstGeom prst="rect">
            <a:avLst/>
          </a:prstGeom>
          <a:solidFill>
            <a:srgbClr val="1E2761"/>
          </a:solidFill>
          <a:ln>
            <a:noFill/>
          </a:ln>
        </p:spPr>
        <p:txBody>
          <a:bodyPr wrap="none" lIns="34290" tIns="0" rIns="34290" bIns="0" anchor="ctr">
            <a:noAutofit/>
          </a:bodyPr>
          <a:lstStyle/>
          <a:p>
            <a:pPr algn="ctr">
              <a:buNone/>
            </a:pPr>
            <a:r>
              <a:rPr lang="zh-TW" altLang="en-US" b="1" dirty="0">
                <a:solidFill>
                  <a:srgbClr val="FFFFFF"/>
                </a:solidFill>
                <a:latin typeface="Microsoft JhengHei"/>
                <a:ea typeface="Microsoft JhengHei"/>
                <a:cs typeface="Microsoft JhengHei"/>
              </a:rPr>
              <a:t>大小是</a:t>
            </a:r>
          </a:p>
        </p:txBody>
      </p:sp>
      <p:sp>
        <p:nvSpPr>
          <p:cNvPr id="506" name="文字 506"/>
          <p:cNvSpPr txBox="1"/>
          <p:nvPr/>
        </p:nvSpPr>
        <p:spPr>
          <a:xfrm>
            <a:off x="425196" y="1474470"/>
            <a:ext cx="1755648" cy="466344"/>
          </a:xfrm>
          <a:prstGeom prst="rect">
            <a:avLst/>
          </a:prstGeom>
          <a:solidFill>
            <a:srgbClr val="F4F6FB"/>
          </a:solidFill>
          <a:ln>
            <a:noFill/>
          </a:ln>
        </p:spPr>
        <p:txBody>
          <a:bodyPr wrap="none" lIns="34290" tIns="0" rIns="34290" bIns="0" anchor="ctr">
            <a:noAutofit/>
          </a:bodyPr>
          <a:lstStyle/>
          <a:p>
            <a:pPr algn="ctr">
              <a:buNone/>
            </a:pPr>
            <a:r>
              <a:rPr lang="zh-TW" altLang="en-US" b="1" dirty="0">
                <a:solidFill>
                  <a:srgbClr val="D6006F"/>
                </a:solidFill>
                <a:latin typeface="Microsoft JhengHei"/>
                <a:ea typeface="Microsoft JhengHei"/>
                <a:cs typeface="Microsoft JhengHei"/>
              </a:rPr>
              <a:t>位移 Δr</a:t>
            </a:r>
          </a:p>
        </p:txBody>
      </p:sp>
      <p:sp>
        <p:nvSpPr>
          <p:cNvPr id="507" name="文字 507"/>
          <p:cNvSpPr txBox="1"/>
          <p:nvPr/>
        </p:nvSpPr>
        <p:spPr>
          <a:xfrm>
            <a:off x="2208276" y="1474470"/>
            <a:ext cx="134416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向量</a:t>
            </a:r>
          </a:p>
        </p:txBody>
      </p:sp>
      <p:sp>
        <p:nvSpPr>
          <p:cNvPr id="508" name="文字 508"/>
          <p:cNvSpPr txBox="1"/>
          <p:nvPr/>
        </p:nvSpPr>
        <p:spPr>
          <a:xfrm>
            <a:off x="3579876" y="1474470"/>
            <a:ext cx="223570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與路徑無關</a:t>
            </a:r>
          </a:p>
        </p:txBody>
      </p:sp>
      <p:sp>
        <p:nvSpPr>
          <p:cNvPr id="509" name="文字 509"/>
          <p:cNvSpPr txBox="1"/>
          <p:nvPr/>
        </p:nvSpPr>
        <p:spPr>
          <a:xfrm>
            <a:off x="5843016" y="1474470"/>
            <a:ext cx="2852928" cy="466344"/>
          </a:xfrm>
          <a:prstGeom prst="rect">
            <a:avLst/>
          </a:prstGeom>
          <a:solidFill>
            <a:srgbClr val="F4F6FB"/>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起點到終點的直線距離</a:t>
            </a:r>
          </a:p>
        </p:txBody>
      </p:sp>
      <p:sp>
        <p:nvSpPr>
          <p:cNvPr id="510" name="文字 510"/>
          <p:cNvSpPr txBox="1"/>
          <p:nvPr/>
        </p:nvSpPr>
        <p:spPr>
          <a:xfrm>
            <a:off x="425196" y="1968246"/>
            <a:ext cx="1755648" cy="466344"/>
          </a:xfrm>
          <a:prstGeom prst="rect">
            <a:avLst/>
          </a:prstGeom>
          <a:solidFill>
            <a:srgbClr val="FFFFFF"/>
          </a:solidFill>
          <a:ln>
            <a:noFill/>
          </a:ln>
        </p:spPr>
        <p:txBody>
          <a:bodyPr wrap="none" lIns="34290" tIns="0" rIns="34290" bIns="0" anchor="ctr">
            <a:noAutofit/>
          </a:bodyPr>
          <a:lstStyle/>
          <a:p>
            <a:pPr algn="ctr">
              <a:buNone/>
            </a:pPr>
            <a:r>
              <a:rPr lang="zh-TW" altLang="en-US" b="1" dirty="0">
                <a:solidFill>
                  <a:srgbClr val="9A6D12"/>
                </a:solidFill>
                <a:latin typeface="Microsoft JhengHei"/>
                <a:ea typeface="Microsoft JhengHei"/>
                <a:cs typeface="Microsoft JhengHei"/>
              </a:rPr>
              <a:t>路徑長 Δs</a:t>
            </a:r>
          </a:p>
        </p:txBody>
      </p:sp>
      <p:sp>
        <p:nvSpPr>
          <p:cNvPr id="511" name="文字 511"/>
          <p:cNvSpPr txBox="1"/>
          <p:nvPr/>
        </p:nvSpPr>
        <p:spPr>
          <a:xfrm>
            <a:off x="2208276" y="1968246"/>
            <a:ext cx="134416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純量</a:t>
            </a:r>
          </a:p>
        </p:txBody>
      </p:sp>
      <p:sp>
        <p:nvSpPr>
          <p:cNvPr id="512" name="文字 512"/>
          <p:cNvSpPr txBox="1"/>
          <p:nvPr/>
        </p:nvSpPr>
        <p:spPr>
          <a:xfrm>
            <a:off x="3579876" y="1968246"/>
            <a:ext cx="223570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與路徑有關</a:t>
            </a:r>
          </a:p>
        </p:txBody>
      </p:sp>
      <p:sp>
        <p:nvSpPr>
          <p:cNvPr id="513" name="文字 513"/>
          <p:cNvSpPr txBox="1"/>
          <p:nvPr/>
        </p:nvSpPr>
        <p:spPr>
          <a:xfrm>
            <a:off x="5843016" y="1968246"/>
            <a:ext cx="2852928" cy="466344"/>
          </a:xfrm>
          <a:prstGeom prst="rect">
            <a:avLst/>
          </a:prstGeom>
          <a:solidFill>
            <a:srgbClr val="FFFFFF"/>
          </a:solidFill>
          <a:ln>
            <a:noFill/>
          </a:ln>
        </p:spPr>
        <p:txBody>
          <a:bodyPr wrap="none" lIns="34290" tIns="0" rIns="34290" bIns="0" anchor="ctr">
            <a:noAutofit/>
          </a:bodyPr>
          <a:lstStyle/>
          <a:p>
            <a:pPr algn="ctr">
              <a:buNone/>
            </a:pPr>
            <a:r>
              <a:rPr lang="zh-TW" altLang="en-US" dirty="0">
                <a:solidFill>
                  <a:srgbClr val="2B3050"/>
                </a:solidFill>
                <a:latin typeface="Microsoft JhengHei"/>
                <a:ea typeface="Microsoft JhengHei"/>
                <a:cs typeface="Microsoft JhengHei"/>
              </a:rPr>
              <a:t>實際走過的總距離</a:t>
            </a:r>
          </a:p>
        </p:txBody>
      </p:sp>
      <p:sp>
        <p:nvSpPr>
          <p:cNvPr id="514" name="文字 514"/>
          <p:cNvSpPr txBox="1"/>
          <p:nvPr/>
        </p:nvSpPr>
        <p:spPr>
          <a:xfrm>
            <a:off x="425196" y="2708910"/>
            <a:ext cx="8298180" cy="411480"/>
          </a:xfrm>
          <a:prstGeom prst="rect">
            <a:avLst/>
          </a:prstGeom>
          <a:noFill/>
          <a:ln>
            <a:noFill/>
          </a:ln>
        </p:spPr>
        <p:txBody>
          <a:bodyPr wrap="none" lIns="34290" tIns="0" rIns="34290" bIns="0" anchor="ctr">
            <a:noAutofit/>
          </a:bodyPr>
          <a:lstStyle/>
          <a:p>
            <a:pPr algn="l">
              <a:buNone/>
            </a:pPr>
            <a:r>
              <a:rPr lang="zh-TW" altLang="en-US" dirty="0">
                <a:solidFill>
                  <a:srgbClr val="2B3050"/>
                </a:solidFill>
                <a:latin typeface="Microsoft JhengHei"/>
                <a:ea typeface="Microsoft JhengHei"/>
                <a:cs typeface="Microsoft JhengHei"/>
              </a:rPr>
              <a:t>三種情況：曲線 |Δr| &lt; Δs；直線不折返 |Δr| = Δs；直線有折返 |Δr| &lt; Δs</a:t>
            </a:r>
          </a:p>
        </p:txBody>
      </p:sp>
      <p:sp>
        <p:nvSpPr>
          <p:cNvPr id="515" name="文字 515"/>
          <p:cNvSpPr txBox="1"/>
          <p:nvPr/>
        </p:nvSpPr>
        <p:spPr>
          <a:xfrm>
            <a:off x="425196" y="3257550"/>
            <a:ext cx="8298180" cy="548640"/>
          </a:xfrm>
          <a:prstGeom prst="roundRect">
            <a:avLst/>
          </a:prstGeom>
          <a:solidFill>
            <a:srgbClr val="1E2761"/>
          </a:solidFill>
          <a:ln>
            <a:noFill/>
          </a:ln>
        </p:spPr>
        <p:txBody>
          <a:bodyPr wrap="none" lIns="34290" tIns="0" rIns="34290" bIns="0" anchor="ctr">
            <a:noAutofit/>
          </a:bodyPr>
          <a:lstStyle/>
          <a:p>
            <a:pPr algn="ctr">
              <a:buNone/>
            </a:pPr>
            <a:r>
              <a:rPr lang="zh-TW" altLang="en-US" sz="2100" b="1" dirty="0">
                <a:solidFill>
                  <a:srgbClr val="FFFFFF"/>
                </a:solidFill>
                <a:latin typeface="Microsoft JhengHei"/>
                <a:ea typeface="Microsoft JhengHei"/>
                <a:cs typeface="Microsoft JhengHei"/>
              </a:rPr>
              <a:t>口訣：位移看頭尾，路徑長看全程。永遠 |Δr| ≤ Δs。</a:t>
            </a:r>
          </a:p>
        </p:txBody>
      </p:sp>
      <p:sp>
        <p:nvSpPr>
          <p:cNvPr id="516" name="文字 516"/>
          <p:cNvSpPr txBox="1"/>
          <p:nvPr/>
        </p:nvSpPr>
        <p:spPr>
          <a:xfrm>
            <a:off x="425196" y="3943350"/>
            <a:ext cx="8298180" cy="342900"/>
          </a:xfrm>
          <a:prstGeom prst="rect">
            <a:avLst/>
          </a:prstGeom>
          <a:noFill/>
          <a:ln>
            <a:noFill/>
          </a:ln>
        </p:spPr>
        <p:txBody>
          <a:bodyPr wrap="none" lIns="34290" tIns="0" rIns="34290" bIns="0" anchor="ctr">
            <a:noAutofit/>
          </a:bodyPr>
          <a:lstStyle/>
          <a:p>
            <a:pPr algn="l">
              <a:buNone/>
            </a:pPr>
            <a:r>
              <a:rPr lang="zh-TW" altLang="en-US" b="1" dirty="0">
                <a:solidFill>
                  <a:srgbClr val="B23A28"/>
                </a:solidFill>
                <a:latin typeface="Microsoft JhengHei"/>
                <a:ea typeface="Microsoft JhengHei"/>
                <a:cs typeface="Microsoft JhengHei"/>
              </a:rPr>
              <a:t>所以「平均速度的大小」也一定 ≤「平均速率」。</a:t>
            </a:r>
          </a:p>
        </p:txBody>
      </p:sp>
      <p:sp>
        <p:nvSpPr>
          <p:cNvPr id="517" name="文字 517"/>
          <p:cNvSpPr txBox="1"/>
          <p:nvPr/>
        </p:nvSpPr>
        <p:spPr>
          <a:xfrm>
            <a:off x="425196" y="4526280"/>
            <a:ext cx="8298180" cy="342900"/>
          </a:xfrm>
          <a:prstGeom prst="rect">
            <a:avLst/>
          </a:prstGeom>
          <a:noFill/>
          <a:ln>
            <a:noFill/>
          </a:ln>
        </p:spPr>
        <p:txBody>
          <a:bodyPr wrap="none" lIns="34290" tIns="0" rIns="34290" bIns="0" anchor="ctr">
            <a:noAutofit/>
          </a:bodyPr>
          <a:lstStyle/>
          <a:p>
            <a:pPr algn="l">
              <a:buNone/>
            </a:pPr>
            <a:r>
              <a:rPr lang="zh-TW" altLang="en-US" dirty="0">
                <a:solidFill>
                  <a:srgbClr val="757C9B"/>
                </a:solidFill>
                <a:latin typeface="Microsoft JhengHei"/>
                <a:ea typeface="Microsoft JhengHei"/>
                <a:cs typeface="Microsoft JhengHei"/>
              </a:rPr>
              <a:t>出處：全華《動力學》2-4 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500"/>
                                        <p:tgtEl>
                                          <p:spTgt spid="50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7"/>
                                        </p:tgtEl>
                                        <p:attrNameLst>
                                          <p:attrName>style.visibility</p:attrName>
                                        </p:attrNameLst>
                                      </p:cBhvr>
                                      <p:to>
                                        <p:strVal val="visible"/>
                                      </p:to>
                                    </p:set>
                                    <p:animEffect transition="in" filter="fade">
                                      <p:cBhvr>
                                        <p:cTn id="10" dur="500"/>
                                        <p:tgtEl>
                                          <p:spTgt spid="5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8"/>
                                        </p:tgtEl>
                                        <p:attrNameLst>
                                          <p:attrName>style.visibility</p:attrName>
                                        </p:attrNameLst>
                                      </p:cBhvr>
                                      <p:to>
                                        <p:strVal val="visible"/>
                                      </p:to>
                                    </p:set>
                                    <p:animEffect transition="in" filter="fade">
                                      <p:cBhvr>
                                        <p:cTn id="13" dur="500"/>
                                        <p:tgtEl>
                                          <p:spTgt spid="50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09"/>
                                        </p:tgtEl>
                                        <p:attrNameLst>
                                          <p:attrName>style.visibility</p:attrName>
                                        </p:attrNameLst>
                                      </p:cBhvr>
                                      <p:to>
                                        <p:strVal val="visible"/>
                                      </p:to>
                                    </p:set>
                                    <p:animEffect transition="in" filter="fade">
                                      <p:cBhvr>
                                        <p:cTn id="16" dur="500"/>
                                        <p:tgtEl>
                                          <p:spTgt spid="50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10"/>
                                        </p:tgtEl>
                                        <p:attrNameLst>
                                          <p:attrName>style.visibility</p:attrName>
                                        </p:attrNameLst>
                                      </p:cBhvr>
                                      <p:to>
                                        <p:strVal val="visible"/>
                                      </p:to>
                                    </p:set>
                                    <p:animEffect transition="in" filter="fade">
                                      <p:cBhvr>
                                        <p:cTn id="21" dur="500"/>
                                        <p:tgtEl>
                                          <p:spTgt spid="5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1"/>
                                        </p:tgtEl>
                                        <p:attrNameLst>
                                          <p:attrName>style.visibility</p:attrName>
                                        </p:attrNameLst>
                                      </p:cBhvr>
                                      <p:to>
                                        <p:strVal val="visible"/>
                                      </p:to>
                                    </p:set>
                                    <p:animEffect transition="in" filter="fade">
                                      <p:cBhvr>
                                        <p:cTn id="24" dur="500"/>
                                        <p:tgtEl>
                                          <p:spTgt spid="5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2"/>
                                        </p:tgtEl>
                                        <p:attrNameLst>
                                          <p:attrName>style.visibility</p:attrName>
                                        </p:attrNameLst>
                                      </p:cBhvr>
                                      <p:to>
                                        <p:strVal val="visible"/>
                                      </p:to>
                                    </p:set>
                                    <p:animEffect transition="in" filter="fade">
                                      <p:cBhvr>
                                        <p:cTn id="27" dur="500"/>
                                        <p:tgtEl>
                                          <p:spTgt spid="5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13"/>
                                        </p:tgtEl>
                                        <p:attrNameLst>
                                          <p:attrName>style.visibility</p:attrName>
                                        </p:attrNameLst>
                                      </p:cBhvr>
                                      <p:to>
                                        <p:strVal val="visible"/>
                                      </p:to>
                                    </p:set>
                                    <p:animEffect transition="in" filter="fade">
                                      <p:cBhvr>
                                        <p:cTn id="30" dur="500"/>
                                        <p:tgtEl>
                                          <p:spTgt spid="5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14"/>
                                        </p:tgtEl>
                                        <p:attrNameLst>
                                          <p:attrName>style.visibility</p:attrName>
                                        </p:attrNameLst>
                                      </p:cBhvr>
                                      <p:to>
                                        <p:strVal val="visible"/>
                                      </p:to>
                                    </p:set>
                                    <p:animEffect transition="in" filter="fade">
                                      <p:cBhvr>
                                        <p:cTn id="35" dur="500"/>
                                        <p:tgtEl>
                                          <p:spTgt spid="5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15"/>
                                        </p:tgtEl>
                                        <p:attrNameLst>
                                          <p:attrName>style.visibility</p:attrName>
                                        </p:attrNameLst>
                                      </p:cBhvr>
                                      <p:to>
                                        <p:strVal val="visible"/>
                                      </p:to>
                                    </p:set>
                                    <p:animEffect transition="in" filter="fade">
                                      <p:cBhvr>
                                        <p:cTn id="40" dur="500"/>
                                        <p:tgtEl>
                                          <p:spTgt spid="5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16"/>
                                        </p:tgtEl>
                                        <p:attrNameLst>
                                          <p:attrName>style.visibility</p:attrName>
                                        </p:attrNameLst>
                                      </p:cBhvr>
                                      <p:to>
                                        <p:strVal val="visible"/>
                                      </p:to>
                                    </p:set>
                                    <p:animEffect transition="in" filter="fade">
                                      <p:cBhvr>
                                        <p:cTn id="45" dur="500"/>
                                        <p:tgtEl>
                                          <p:spTgt spid="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 grpId="0" animBg="1"/>
      <p:bldP spid="507" grpId="0" animBg="1"/>
      <p:bldP spid="508" grpId="0" animBg="1"/>
      <p:bldP spid="509" grpId="0" animBg="1"/>
      <p:bldP spid="510" grpId="0" animBg="1"/>
      <p:bldP spid="511" grpId="0" animBg="1"/>
      <p:bldP spid="512" grpId="0" animBg="1"/>
      <p:bldP spid="513" grpId="0" animBg="1"/>
      <p:bldP spid="514" grpId="0" animBg="1"/>
      <p:bldP spid="515" grpId="0" animBg="1"/>
      <p:bldP spid="5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The image depicts two vectors, A and B, with an equal magnitude and opposite directions, demonstrating vector subtraction, resulting in a vector ￢ﾖﾳr that is equal in magnitude but opposite in direction to vector r'.&#10;&#10;AI 產生的內容可能不正確。">
            <a:extLst>
              <a:ext uri="{FF2B5EF4-FFF2-40B4-BE49-F238E27FC236}">
                <a16:creationId xmlns:a16="http://schemas.microsoft.com/office/drawing/2014/main" id="{18F5B149-DFCF-C66D-0661-660D1E57DD29}"/>
              </a:ext>
            </a:extLst>
          </p:cNvPr>
          <p:cNvPicPr>
            <a:picLocks noChangeAspect="1"/>
          </p:cNvPicPr>
          <p:nvPr/>
        </p:nvPicPr>
        <p:blipFill>
          <a:blip r:embed="rId2"/>
          <a:stretch>
            <a:fillRect/>
          </a:stretch>
        </p:blipFill>
        <p:spPr>
          <a:xfrm>
            <a:off x="0" y="7597"/>
            <a:ext cx="9144000" cy="5128306"/>
          </a:xfrm>
          <a:prstGeom prst="rect">
            <a:avLst/>
          </a:prstGeom>
        </p:spPr>
      </p:pic>
    </p:spTree>
    <p:extLst>
      <p:ext uri="{BB962C8B-B14F-4D97-AF65-F5344CB8AC3E}">
        <p14:creationId xmlns:p14="http://schemas.microsoft.com/office/powerpoint/2010/main" val="2678463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indent="0">
              <a:defRPr/>
            </a:pPr>
            <a:r>
              <a:rPr lang="zh-TW" altLang="zh-TW" dirty="0"/>
              <a:t>●位置：</a:t>
            </a:r>
            <a:endParaRPr lang="en-US" altLang="zh-TW" dirty="0"/>
          </a:p>
          <a:p>
            <a:pPr marL="355600" lvl="3" indent="0">
              <a:buNone/>
              <a:defRPr/>
            </a:pPr>
            <a:r>
              <a:rPr lang="en-US" altLang="zh-TW" i="1" dirty="0"/>
              <a:t>O</a:t>
            </a:r>
            <a:r>
              <a:rPr lang="zh-TW" altLang="zh-TW" dirty="0"/>
              <a:t>點為一個任意選定的固定座標系統的原點，一質點在</a:t>
            </a:r>
            <a:r>
              <a:rPr lang="zh-TW" altLang="zh-TW" dirty="0">
                <a:highlight>
                  <a:srgbClr val="FFFF00"/>
                </a:highlight>
              </a:rPr>
              <a:t>空間</a:t>
            </a:r>
            <a:r>
              <a:rPr lang="zh-TW" altLang="zh-TW" dirty="0"/>
              <a:t>曲線路徑上的位置，由位置向量決定，</a:t>
            </a:r>
            <a:r>
              <a:rPr lang="en-US" altLang="zh-TW" dirty="0"/>
              <a:t>   </a:t>
            </a:r>
            <a:r>
              <a:rPr lang="zh-TW" altLang="zh-TW" dirty="0"/>
              <a:t>的大小和方向若為已知，則</a:t>
            </a:r>
            <a:r>
              <a:rPr lang="en-US" altLang="zh-TW" i="1" dirty="0"/>
              <a:t>P</a:t>
            </a:r>
            <a:r>
              <a:rPr lang="zh-TW" altLang="zh-TW" dirty="0"/>
              <a:t>點的位置就被完全決定。在時間</a:t>
            </a:r>
            <a:r>
              <a:rPr lang="en-US" altLang="zh-TW" i="1" dirty="0"/>
              <a:t>t</a:t>
            </a:r>
            <a:r>
              <a:rPr lang="en-US" altLang="zh-TW" dirty="0"/>
              <a:t> + ∆</a:t>
            </a:r>
            <a:r>
              <a:rPr lang="en-US" altLang="zh-TW" i="1" dirty="0"/>
              <a:t>t</a:t>
            </a:r>
            <a:r>
              <a:rPr lang="zh-TW" altLang="zh-TW" dirty="0"/>
              <a:t>時，質點位於</a:t>
            </a:r>
            <a:r>
              <a:rPr lang="en-US" altLang="zh-TW" i="1" dirty="0"/>
              <a:t>P' </a:t>
            </a:r>
            <a:r>
              <a:rPr lang="zh-TW" altLang="zh-TW" dirty="0"/>
              <a:t>點，由位置向量</a:t>
            </a:r>
            <a:r>
              <a:rPr lang="en-US" altLang="zh-TW" dirty="0"/>
              <a:t>    </a:t>
            </a:r>
            <a:r>
              <a:rPr lang="zh-TW" altLang="zh-TW" dirty="0"/>
              <a:t>來定位。</a:t>
            </a:r>
          </a:p>
        </p:txBody>
      </p:sp>
      <p:graphicFrame>
        <p:nvGraphicFramePr>
          <p:cNvPr id="5" name="物件 4"/>
          <p:cNvGraphicFramePr>
            <a:graphicFrameLocks noChangeAspect="1"/>
          </p:cNvGraphicFramePr>
          <p:nvPr>
            <p:extLst>
              <p:ext uri="{D42A27DB-BD31-4B8C-83A1-F6EECF244321}">
                <p14:modId xmlns:p14="http://schemas.microsoft.com/office/powerpoint/2010/main" val="348507485"/>
              </p:ext>
            </p:extLst>
          </p:nvPr>
        </p:nvGraphicFramePr>
        <p:xfrm>
          <a:off x="1511934" y="3012486"/>
          <a:ext cx="276225" cy="390525"/>
        </p:xfrm>
        <a:graphic>
          <a:graphicData uri="http://schemas.openxmlformats.org/presentationml/2006/ole">
            <mc:AlternateContent xmlns:mc="http://schemas.openxmlformats.org/markup-compatibility/2006">
              <mc:Choice xmlns:v="urn:schemas-microsoft-com:vml" Requires="v">
                <p:oleObj name="Equation" r:id="rId2" imgW="279279" imgH="393529" progId="Equation.DSMT4">
                  <p:embed/>
                </p:oleObj>
              </mc:Choice>
              <mc:Fallback>
                <p:oleObj name="Equation" r:id="rId2" imgW="279279" imgH="393529" progId="Equation.DSMT4">
                  <p:embed/>
                  <p:pic>
                    <p:nvPicPr>
                      <p:cNvPr id="5" name="物件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1934" y="3012486"/>
                        <a:ext cx="2762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57393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標題 8"/>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indent="0">
              <a:defRPr/>
            </a:pPr>
            <a:r>
              <a:rPr lang="zh-TW" altLang="zh-TW" dirty="0"/>
              <a:t>●位移：</a:t>
            </a:r>
            <a:endParaRPr lang="en-US" altLang="zh-TW" dirty="0"/>
          </a:p>
          <a:p>
            <a:pPr marL="355600" lvl="3" indent="0">
              <a:buNone/>
              <a:defRPr/>
            </a:pPr>
            <a:r>
              <a:rPr lang="zh-TW" altLang="zh-TW" dirty="0">
                <a:highlight>
                  <a:srgbClr val="FFFF00"/>
                </a:highlight>
              </a:rPr>
              <a:t>位移等於在</a:t>
            </a:r>
            <a:r>
              <a:rPr lang="en-US" altLang="zh-TW" dirty="0">
                <a:highlight>
                  <a:srgbClr val="FFFF00"/>
                </a:highlight>
              </a:rPr>
              <a:t>∆</a:t>
            </a:r>
            <a:r>
              <a:rPr lang="en-US" altLang="zh-TW" i="1" dirty="0">
                <a:highlight>
                  <a:srgbClr val="FFFF00"/>
                </a:highlight>
              </a:rPr>
              <a:t>t</a:t>
            </a:r>
            <a:r>
              <a:rPr lang="zh-TW" altLang="zh-TW" dirty="0">
                <a:highlight>
                  <a:srgbClr val="FFFF00"/>
                </a:highlight>
              </a:rPr>
              <a:t>的時段內</a:t>
            </a:r>
            <a:r>
              <a:rPr lang="zh-TW" altLang="en-US" dirty="0">
                <a:highlight>
                  <a:srgbClr val="FFFF00"/>
                </a:highlight>
              </a:rPr>
              <a:t>的</a:t>
            </a:r>
            <a:r>
              <a:rPr lang="zh-TW" altLang="zh-TW" dirty="0">
                <a:highlight>
                  <a:srgbClr val="FFFF00"/>
                </a:highlight>
              </a:rPr>
              <a:t>位置變化量</a:t>
            </a:r>
            <a:r>
              <a:rPr lang="zh-TW" altLang="zh-TW" dirty="0"/>
              <a:t>，質點的位移</a:t>
            </a:r>
            <a:r>
              <a:rPr lang="en-US" altLang="zh-TW" dirty="0"/>
              <a:t>                </a:t>
            </a:r>
            <a:r>
              <a:rPr lang="zh-TW" altLang="zh-TW" dirty="0"/>
              <a:t>。須注意區分向量位移</a:t>
            </a:r>
            <a:r>
              <a:rPr lang="en-US" altLang="zh-TW" dirty="0"/>
              <a:t>      </a:t>
            </a:r>
            <a:r>
              <a:rPr lang="zh-TW" altLang="zh-TW" dirty="0"/>
              <a:t>與純量距離</a:t>
            </a:r>
            <a:r>
              <a:rPr lang="en-US" altLang="zh-TW" dirty="0"/>
              <a:t>∆</a:t>
            </a:r>
            <a:r>
              <a:rPr lang="en-US" altLang="zh-TW" i="1" dirty="0"/>
              <a:t>s</a:t>
            </a:r>
            <a:r>
              <a:rPr lang="zh-TW" altLang="zh-TW" dirty="0"/>
              <a:t>的差異。</a:t>
            </a:r>
          </a:p>
          <a:p>
            <a:pPr indent="0">
              <a:defRPr/>
            </a:pPr>
            <a:r>
              <a:rPr lang="zh-TW" altLang="zh-TW" dirty="0"/>
              <a:t>●</a:t>
            </a:r>
            <a:r>
              <a:rPr lang="en-US" altLang="zh-TW" dirty="0"/>
              <a:t> </a:t>
            </a:r>
            <a:r>
              <a:rPr lang="zh-TW" altLang="zh-TW" dirty="0"/>
              <a:t>速度：</a:t>
            </a:r>
            <a:endParaRPr lang="en-US" altLang="zh-TW" dirty="0"/>
          </a:p>
          <a:p>
            <a:pPr marL="355600" lvl="3" indent="0">
              <a:buNone/>
              <a:defRPr/>
            </a:pPr>
            <a:r>
              <a:rPr lang="zh-TW" altLang="zh-TW" dirty="0"/>
              <a:t>在</a:t>
            </a:r>
            <a:r>
              <a:rPr lang="en-US" altLang="zh-TW" dirty="0"/>
              <a:t>       </a:t>
            </a:r>
            <a:r>
              <a:rPr lang="zh-TW" altLang="zh-TW" dirty="0"/>
              <a:t>時段內的平均速度定義為</a:t>
            </a:r>
          </a:p>
          <a:p>
            <a:pPr marL="355600" lvl="3" indent="0">
              <a:buNone/>
              <a:defRPr/>
            </a:pPr>
            <a:r>
              <a:rPr lang="zh-TW" altLang="zh-TW" dirty="0"/>
              <a:t>　</a:t>
            </a:r>
            <a:r>
              <a:rPr lang="en-US" altLang="zh-TW" dirty="0"/>
              <a:t> </a:t>
            </a:r>
          </a:p>
          <a:p>
            <a:pPr marL="355600" lvl="3" indent="0">
              <a:buNone/>
              <a:defRPr/>
            </a:pPr>
            <a:endParaRPr lang="zh-TW" altLang="zh-TW" dirty="0"/>
          </a:p>
          <a:p>
            <a:pPr marL="355600" lvl="3" indent="0">
              <a:buNone/>
              <a:defRPr/>
            </a:pPr>
            <a:r>
              <a:rPr lang="zh-TW" altLang="zh-TW" dirty="0"/>
              <a:t>當</a:t>
            </a:r>
            <a:r>
              <a:rPr lang="en-US" altLang="zh-TW" dirty="0"/>
              <a:t>∆</a:t>
            </a:r>
            <a:r>
              <a:rPr lang="en-US" altLang="zh-TW" i="1" dirty="0"/>
              <a:t>t</a:t>
            </a:r>
            <a:r>
              <a:rPr lang="zh-TW" altLang="zh-TW" dirty="0"/>
              <a:t>趨近於零時，質點</a:t>
            </a:r>
            <a:r>
              <a:rPr lang="en-US" altLang="zh-TW" i="1" dirty="0"/>
              <a:t>P</a:t>
            </a:r>
            <a:r>
              <a:rPr lang="zh-TW" altLang="zh-TW" dirty="0"/>
              <a:t>的瞬時速度定義為</a:t>
            </a:r>
          </a:p>
        </p:txBody>
      </p:sp>
      <p:graphicFrame>
        <p:nvGraphicFramePr>
          <p:cNvPr id="4" name="物件 3"/>
          <p:cNvGraphicFramePr>
            <a:graphicFrameLocks noChangeAspect="1"/>
          </p:cNvGraphicFramePr>
          <p:nvPr>
            <p:extLst>
              <p:ext uri="{D42A27DB-BD31-4B8C-83A1-F6EECF244321}">
                <p14:modId xmlns:p14="http://schemas.microsoft.com/office/powerpoint/2010/main" val="1505028881"/>
              </p:ext>
            </p:extLst>
          </p:nvPr>
        </p:nvGraphicFramePr>
        <p:xfrm>
          <a:off x="1175755" y="1773891"/>
          <a:ext cx="1533525" cy="390525"/>
        </p:xfrm>
        <a:graphic>
          <a:graphicData uri="http://schemas.openxmlformats.org/presentationml/2006/ole">
            <mc:AlternateContent xmlns:mc="http://schemas.openxmlformats.org/markup-compatibility/2006">
              <mc:Choice xmlns:v="urn:schemas-microsoft-com:vml" Requires="v">
                <p:oleObj name="Equation" r:id="rId2" imgW="1536033" imgH="393529" progId="Equation.DSMT4">
                  <p:embed/>
                </p:oleObj>
              </mc:Choice>
              <mc:Fallback>
                <p:oleObj name="Equation" r:id="rId2" imgW="1536033" imgH="393529" progId="Equation.DSMT4">
                  <p:embed/>
                  <p:pic>
                    <p:nvPicPr>
                      <p:cNvPr id="4" name="物件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755" y="1773891"/>
                        <a:ext cx="15335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5" name="物件 4"/>
              <p:cNvSpPr txBox="1"/>
              <p:nvPr/>
            </p:nvSpPr>
            <p:spPr bwMode="auto">
              <a:xfrm>
                <a:off x="6316663" y="1689100"/>
                <a:ext cx="541337" cy="475316"/>
              </a:xfrm>
              <a:prstGeom prst="rect">
                <a:avLst/>
              </a:prstGeom>
              <a:noFill/>
              <a:ln>
                <a:noFill/>
              </a:ln>
            </p:spPr>
            <p:txBody>
              <a:bodyPr>
                <a:normAutofit/>
              </a:bodyPr>
              <a:lstStyle/>
              <a:p>
                <a:pPr/>
                <a14:m>
                  <m:oMathPara xmlns:m="http://schemas.openxmlformats.org/officeDocument/2006/math">
                    <m:oMathParaPr>
                      <m:jc m:val="left"/>
                    </m:oMathParaPr>
                    <m:oMath>
                      <m:r>
                        <m:rPr>
                          <m:sty m:val="p"/>
                        </m:rPr>
                        <a:rPr lang="zh-TW" altLang="en-US" sz="2200" i="1">
                          <a:solidFill>
                            <a:srgbClr val="000000"/>
                          </a:solidFill>
                          <a:latin typeface="Cambria Math" panose="02040503050406030204" pitchFamily="18" charset="0"/>
                        </a:rPr>
                        <m:t>Δ</m:t>
                      </m:r>
                      <m:acc>
                        <m:accPr>
                          <m:chr m:val="⃑"/>
                          <m:ctrlPr>
                            <a:rPr lang="zh-TW" altLang="en-US" sz="2200" i="1">
                              <a:solidFill>
                                <a:srgbClr val="000000"/>
                              </a:solidFill>
                              <a:latin typeface="Cambria Math" panose="02040503050406030204" pitchFamily="18" charset="0"/>
                            </a:rPr>
                          </m:ctrlPr>
                        </m:accPr>
                        <m:e>
                          <m:r>
                            <a:rPr lang="zh-TW" altLang="en-US" sz="2200" i="1">
                              <a:solidFill>
                                <a:srgbClr val="000000"/>
                              </a:solidFill>
                              <a:latin typeface="Cambria Math" panose="02040503050406030204" pitchFamily="18" charset="0"/>
                            </a:rPr>
                            <m:t>𝑟</m:t>
                          </m:r>
                        </m:e>
                      </m:acc>
                    </m:oMath>
                  </m:oMathPara>
                </a14:m>
                <a:endParaRPr lang="zh-TW" altLang="en-US" sz="2200" dirty="0"/>
              </a:p>
            </p:txBody>
          </p:sp>
        </mc:Choice>
        <mc:Fallback xmlns="">
          <p:sp>
            <p:nvSpPr>
              <p:cNvPr id="5" name="物件 4"/>
              <p:cNvSpPr txBox="1">
                <a:spLocks noRot="1" noChangeAspect="1" noMove="1" noResize="1" noEditPoints="1" noAdjustHandles="1" noChangeArrowheads="1" noChangeShapeType="1" noTextEdit="1"/>
              </p:cNvSpPr>
              <p:nvPr/>
            </p:nvSpPr>
            <p:spPr bwMode="auto">
              <a:xfrm>
                <a:off x="6316663" y="1689100"/>
                <a:ext cx="541337" cy="475316"/>
              </a:xfrm>
              <a:prstGeom prst="rect">
                <a:avLst/>
              </a:prstGeom>
              <a:blipFill>
                <a:blip r:embed="rId4"/>
                <a:stretch>
                  <a:fillRect l="-1124" r="-33708"/>
                </a:stretch>
              </a:blipFill>
              <a:ln>
                <a:noFill/>
              </a:ln>
            </p:spPr>
            <p:txBody>
              <a:bodyPr/>
              <a:lstStyle/>
              <a:p>
                <a:r>
                  <a:rPr lang="zh-TW" altLang="en-US">
                    <a:noFill/>
                  </a:rPr>
                  <a:t> </a:t>
                </a:r>
              </a:p>
            </p:txBody>
          </p:sp>
        </mc:Fallback>
      </mc:AlternateContent>
      <p:graphicFrame>
        <p:nvGraphicFramePr>
          <p:cNvPr id="6" name="物件 5"/>
          <p:cNvGraphicFramePr>
            <a:graphicFrameLocks noChangeAspect="1"/>
          </p:cNvGraphicFramePr>
          <p:nvPr>
            <p:extLst>
              <p:ext uri="{D42A27DB-BD31-4B8C-83A1-F6EECF244321}">
                <p14:modId xmlns:p14="http://schemas.microsoft.com/office/powerpoint/2010/main" val="493743391"/>
              </p:ext>
            </p:extLst>
          </p:nvPr>
        </p:nvGraphicFramePr>
        <p:xfrm>
          <a:off x="1231900" y="3125607"/>
          <a:ext cx="371475" cy="304800"/>
        </p:xfrm>
        <a:graphic>
          <a:graphicData uri="http://schemas.openxmlformats.org/presentationml/2006/ole">
            <mc:AlternateContent xmlns:mc="http://schemas.openxmlformats.org/markup-compatibility/2006">
              <mc:Choice xmlns:v="urn:schemas-microsoft-com:vml" Requires="v">
                <p:oleObj name="Equation" r:id="rId5" imgW="368140" imgH="304668" progId="Equation.DSMT4">
                  <p:embed/>
                </p:oleObj>
              </mc:Choice>
              <mc:Fallback>
                <p:oleObj name="Equation" r:id="rId5" imgW="368140" imgH="304668" progId="Equation.DSMT4">
                  <p:embed/>
                  <p:pic>
                    <p:nvPicPr>
                      <p:cNvPr id="6" name="物件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1900" y="3125607"/>
                        <a:ext cx="371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物件 6"/>
          <p:cNvGraphicFramePr>
            <a:graphicFrameLocks noChangeAspect="1"/>
          </p:cNvGraphicFramePr>
          <p:nvPr>
            <p:extLst>
              <p:ext uri="{D42A27DB-BD31-4B8C-83A1-F6EECF244321}">
                <p14:modId xmlns:p14="http://schemas.microsoft.com/office/powerpoint/2010/main" val="1829730440"/>
              </p:ext>
            </p:extLst>
          </p:nvPr>
        </p:nvGraphicFramePr>
        <p:xfrm>
          <a:off x="755650" y="3518218"/>
          <a:ext cx="1304925" cy="914400"/>
        </p:xfrm>
        <a:graphic>
          <a:graphicData uri="http://schemas.openxmlformats.org/presentationml/2006/ole">
            <mc:AlternateContent xmlns:mc="http://schemas.openxmlformats.org/markup-compatibility/2006">
              <mc:Choice xmlns:v="urn:schemas-microsoft-com:vml" Requires="v">
                <p:oleObj name="Equation" r:id="rId7" imgW="1308100" imgH="914400" progId="Equation.DSMT4">
                  <p:embed/>
                </p:oleObj>
              </mc:Choice>
              <mc:Fallback>
                <p:oleObj name="Equation" r:id="rId7" imgW="1308100" imgH="914400" progId="Equation.DSMT4">
                  <p:embed/>
                  <p:pic>
                    <p:nvPicPr>
                      <p:cNvPr id="7" name="物件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3518218"/>
                        <a:ext cx="13049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144518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速度</a:t>
            </a:r>
            <a:r>
              <a:rPr lang="zh-TW" altLang="en-US" sz="2800" b="0" i="0" dirty="0">
                <a:solidFill>
                  <a:srgbClr val="1F8899"/>
                </a:solidFill>
                <a:latin typeface="Arial"/>
                <a:ea typeface="微軟正黑體"/>
                <a:cs typeface="Times New Roman"/>
              </a:rPr>
              <a:t>　方向永遠與路徑相切</a:t>
            </a:r>
            <a:endParaRPr lang="zh-TW" sz="3200" dirty="0"/>
          </a:p>
        </p:txBody>
      </p:sp>
      <p:sp>
        <p:nvSpPr>
          <p:cNvPr id="250" name="Text"/>
          <p:cNvSpPr txBox="1"/>
          <p:nvPr/>
        </p:nvSpPr>
        <p:spPr>
          <a:xfrm>
            <a:off x="365760" y="1005840"/>
            <a:ext cx="3977640" cy="292608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平均速度沿 Δr 的方向</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Δt → 0 時 Δr 貼上曲線 → v 與路徑相切</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速率 = |v| = ds/dt，是純量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曲線上速度的大小可以不變，方向仍在變</a:t>
            </a:r>
            <a:endParaRPr lang="zh-TW" sz="2400" dirty="0"/>
          </a:p>
        </p:txBody>
      </p:sp>
      <p:sp>
        <p:nvSpPr>
          <p:cNvPr id="711" name="Curve"/>
          <p:cNvSpPr/>
          <p:nvPr/>
        </p:nvSpPr>
        <p:spPr>
          <a:xfrm>
            <a:off x="4846320" y="2512099"/>
            <a:ext cx="2642616" cy="1145501"/>
          </a:xfrm>
          <a:custGeom>
            <a:avLst/>
            <a:gdLst/>
            <a:ahLst/>
            <a:cxnLst/>
            <a:rect l="0" t="0" r="r" b="b"/>
            <a:pathLst>
              <a:path w="2642616" h="1145501">
                <a:moveTo>
                  <a:pt x="0" y="1145501"/>
                </a:moveTo>
                <a:lnTo>
                  <a:pt x="110109" y="1013521"/>
                </a:lnTo>
                <a:lnTo>
                  <a:pt x="220218" y="889616"/>
                </a:lnTo>
                <a:lnTo>
                  <a:pt x="330327" y="773786"/>
                </a:lnTo>
                <a:lnTo>
                  <a:pt x="440436" y="666030"/>
                </a:lnTo>
                <a:lnTo>
                  <a:pt x="550545" y="566349"/>
                </a:lnTo>
                <a:lnTo>
                  <a:pt x="660654" y="474743"/>
                </a:lnTo>
                <a:lnTo>
                  <a:pt x="770763" y="391211"/>
                </a:lnTo>
                <a:lnTo>
                  <a:pt x="880872" y="315754"/>
                </a:lnTo>
                <a:lnTo>
                  <a:pt x="990981" y="248371"/>
                </a:lnTo>
                <a:lnTo>
                  <a:pt x="1101090" y="189064"/>
                </a:lnTo>
                <a:lnTo>
                  <a:pt x="1211199" y="137831"/>
                </a:lnTo>
                <a:lnTo>
                  <a:pt x="1321308" y="94672"/>
                </a:lnTo>
                <a:lnTo>
                  <a:pt x="1431417" y="59588"/>
                </a:lnTo>
                <a:lnTo>
                  <a:pt x="1541526" y="32579"/>
                </a:lnTo>
                <a:lnTo>
                  <a:pt x="1651635" y="13645"/>
                </a:lnTo>
                <a:lnTo>
                  <a:pt x="1761744" y="2785"/>
                </a:lnTo>
                <a:lnTo>
                  <a:pt x="1871853" y="0"/>
                </a:lnTo>
                <a:lnTo>
                  <a:pt x="1981962" y="5290"/>
                </a:lnTo>
                <a:lnTo>
                  <a:pt x="2092071" y="18654"/>
                </a:lnTo>
                <a:lnTo>
                  <a:pt x="2202180" y="40093"/>
                </a:lnTo>
                <a:lnTo>
                  <a:pt x="2312289" y="69606"/>
                </a:lnTo>
                <a:lnTo>
                  <a:pt x="2422398" y="107194"/>
                </a:lnTo>
                <a:lnTo>
                  <a:pt x="2532507" y="152857"/>
                </a:lnTo>
                <a:lnTo>
                  <a:pt x="2642616" y="206595"/>
                </a:lnTo>
              </a:path>
            </a:pathLst>
          </a:custGeom>
          <a:noFill/>
          <a:ln w="19050">
            <a:solidFill>
              <a:srgbClr val="808080"/>
            </a:solidFill>
            <a:round/>
          </a:ln>
        </p:spPr>
        <p:txBody>
          <a:bodyPr/>
          <a:lstStyle/>
          <a:p>
            <a:endParaRPr lang="zh-TW"/>
          </a:p>
        </p:txBody>
      </p:sp>
      <p:cxnSp>
        <p:nvCxnSpPr>
          <p:cNvPr id="712" name="Line"/>
          <p:cNvCxnSpPr/>
          <p:nvPr/>
        </p:nvCxnSpPr>
        <p:spPr>
          <a:xfrm flipV="1">
            <a:off x="5468112" y="2524997"/>
            <a:ext cx="600668" cy="493254"/>
          </a:xfrm>
          <a:prstGeom prst="line">
            <a:avLst/>
          </a:prstGeom>
          <a:ln w="25400">
            <a:solidFill>
              <a:srgbClr val="1F8899"/>
            </a:solidFill>
            <a:tailEnd type="triangle" w="med" len="med"/>
          </a:ln>
        </p:spPr>
      </p:cxnSp>
      <p:sp>
        <p:nvSpPr>
          <p:cNvPr id="5" name="Shape"/>
          <p:cNvSpPr/>
          <p:nvPr/>
        </p:nvSpPr>
        <p:spPr>
          <a:xfrm>
            <a:off x="5422392" y="2972532"/>
            <a:ext cx="91440" cy="91440"/>
          </a:xfrm>
          <a:prstGeom prst="ellipse">
            <a:avLst/>
          </a:prstGeom>
          <a:solidFill>
            <a:srgbClr val="333333"/>
          </a:solidFill>
          <a:ln>
            <a:noFill/>
          </a:ln>
        </p:spPr>
        <p:txBody>
          <a:bodyPr/>
          <a:lstStyle/>
          <a:p>
            <a:endParaRPr lang="zh-TW"/>
          </a:p>
        </p:txBody>
      </p:sp>
      <p:sp>
        <p:nvSpPr>
          <p:cNvPr id="713" name="Text"/>
          <p:cNvSpPr txBox="1"/>
          <p:nvPr/>
        </p:nvSpPr>
        <p:spPr>
          <a:xfrm>
            <a:off x="6118247" y="2338072"/>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cxnSp>
        <p:nvCxnSpPr>
          <p:cNvPr id="714" name="Line"/>
          <p:cNvCxnSpPr/>
          <p:nvPr/>
        </p:nvCxnSpPr>
        <p:spPr>
          <a:xfrm flipV="1">
            <a:off x="6245352" y="2355423"/>
            <a:ext cx="743735" cy="225745"/>
          </a:xfrm>
          <a:prstGeom prst="line">
            <a:avLst/>
          </a:prstGeom>
          <a:ln w="25400">
            <a:solidFill>
              <a:srgbClr val="1F8899"/>
            </a:solidFill>
            <a:tailEnd type="triangle" w="med" len="med"/>
          </a:ln>
        </p:spPr>
      </p:cxnSp>
      <p:sp>
        <p:nvSpPr>
          <p:cNvPr id="3" name="Shape"/>
          <p:cNvSpPr/>
          <p:nvPr/>
        </p:nvSpPr>
        <p:spPr>
          <a:xfrm>
            <a:off x="6199632" y="2535448"/>
            <a:ext cx="91440" cy="91440"/>
          </a:xfrm>
          <a:prstGeom prst="ellipse">
            <a:avLst/>
          </a:prstGeom>
          <a:solidFill>
            <a:srgbClr val="333333"/>
          </a:solidFill>
          <a:ln>
            <a:noFill/>
          </a:ln>
        </p:spPr>
        <p:txBody>
          <a:bodyPr/>
          <a:lstStyle/>
          <a:p>
            <a:endParaRPr lang="zh-TW"/>
          </a:p>
        </p:txBody>
      </p:sp>
      <p:sp>
        <p:nvSpPr>
          <p:cNvPr id="715" name="Text"/>
          <p:cNvSpPr txBox="1"/>
          <p:nvPr/>
        </p:nvSpPr>
        <p:spPr>
          <a:xfrm>
            <a:off x="7050335" y="2190528"/>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cxnSp>
        <p:nvCxnSpPr>
          <p:cNvPr id="716" name="Line"/>
          <p:cNvCxnSpPr/>
          <p:nvPr/>
        </p:nvCxnSpPr>
        <p:spPr>
          <a:xfrm>
            <a:off x="7022592" y="2546421"/>
            <a:ext cx="760013" cy="162732"/>
          </a:xfrm>
          <a:prstGeom prst="line">
            <a:avLst/>
          </a:prstGeom>
          <a:ln w="25400">
            <a:solidFill>
              <a:srgbClr val="1F8899"/>
            </a:solidFill>
            <a:tailEnd type="triangle" w="med" len="med"/>
          </a:ln>
        </p:spPr>
      </p:cxnSp>
      <p:sp>
        <p:nvSpPr>
          <p:cNvPr id="4" name="Shape"/>
          <p:cNvSpPr/>
          <p:nvPr/>
        </p:nvSpPr>
        <p:spPr>
          <a:xfrm>
            <a:off x="6976872" y="2500701"/>
            <a:ext cx="91440" cy="91440"/>
          </a:xfrm>
          <a:prstGeom prst="ellipse">
            <a:avLst/>
          </a:prstGeom>
          <a:solidFill>
            <a:srgbClr val="333333"/>
          </a:solidFill>
          <a:ln>
            <a:noFill/>
          </a:ln>
        </p:spPr>
        <p:txBody>
          <a:bodyPr/>
          <a:lstStyle/>
          <a:p>
            <a:endParaRPr lang="zh-TW"/>
          </a:p>
        </p:txBody>
      </p:sp>
      <p:sp>
        <p:nvSpPr>
          <p:cNvPr id="717" name="Text"/>
          <p:cNvSpPr txBox="1"/>
          <p:nvPr/>
        </p:nvSpPr>
        <p:spPr>
          <a:xfrm>
            <a:off x="7845195" y="2576251"/>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11"/>
                                        </p:tgtEl>
                                        <p:attrNameLst>
                                          <p:attrName>style.visibility</p:attrName>
                                        </p:attrNameLst>
                                      </p:cBhvr>
                                      <p:to>
                                        <p:strVal val="visible"/>
                                      </p:to>
                                    </p:set>
                                    <p:animEffect transition="in" filter="wipe(right)">
                                      <p:cBhvr>
                                        <p:cTn id="27" dur="900"/>
                                        <p:tgtEl>
                                          <p:spTgt spid="7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2"/>
                                        </p:tgtEl>
                                        <p:attrNameLst>
                                          <p:attrName>style.visibility</p:attrName>
                                        </p:attrNameLst>
                                      </p:cBhvr>
                                      <p:to>
                                        <p:strVal val="visible"/>
                                      </p:to>
                                    </p:set>
                                    <p:animEffect transition="in" filter="fade">
                                      <p:cBhvr>
                                        <p:cTn id="32" dur="320"/>
                                        <p:tgtEl>
                                          <p:spTgt spid="712"/>
                                        </p:tgtEl>
                                      </p:cBhvr>
                                    </p:animEffect>
                                  </p:childTnLst>
                                </p:cTn>
                              </p:par>
                              <p:par>
                                <p:cTn id="33" presetID="10" presetClass="entr" presetSubtype="0" fill="hold" nodeType="withEffect">
                                  <p:stCondLst>
                                    <p:cond delay="0"/>
                                  </p:stCondLst>
                                  <p:childTnLst>
                                    <p:set>
                                      <p:cBhvr>
                                        <p:cTn id="34" dur="1" fill="hold">
                                          <p:stCondLst>
                                            <p:cond delay="0"/>
                                          </p:stCondLst>
                                        </p:cTn>
                                        <p:tgtEl>
                                          <p:spTgt spid="713"/>
                                        </p:tgtEl>
                                        <p:attrNameLst>
                                          <p:attrName>style.visibility</p:attrName>
                                        </p:attrNameLst>
                                      </p:cBhvr>
                                      <p:to>
                                        <p:strVal val="visible"/>
                                      </p:to>
                                    </p:set>
                                    <p:animEffect transition="in" filter="fade">
                                      <p:cBhvr>
                                        <p:cTn id="35" dur="320"/>
                                        <p:tgtEl>
                                          <p:spTgt spid="7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14"/>
                                        </p:tgtEl>
                                        <p:attrNameLst>
                                          <p:attrName>style.visibility</p:attrName>
                                        </p:attrNameLst>
                                      </p:cBhvr>
                                      <p:to>
                                        <p:strVal val="visible"/>
                                      </p:to>
                                    </p:set>
                                    <p:animEffect transition="in" filter="fade">
                                      <p:cBhvr>
                                        <p:cTn id="40" dur="320"/>
                                        <p:tgtEl>
                                          <p:spTgt spid="714"/>
                                        </p:tgtEl>
                                      </p:cBhvr>
                                    </p:animEffect>
                                  </p:childTnLst>
                                </p:cTn>
                              </p:par>
                              <p:par>
                                <p:cTn id="41" presetID="10" presetClass="entr" presetSubtype="0" fill="hold" nodeType="withEffect">
                                  <p:stCondLst>
                                    <p:cond delay="0"/>
                                  </p:stCondLst>
                                  <p:childTnLst>
                                    <p:set>
                                      <p:cBhvr>
                                        <p:cTn id="42" dur="1" fill="hold">
                                          <p:stCondLst>
                                            <p:cond delay="0"/>
                                          </p:stCondLst>
                                        </p:cTn>
                                        <p:tgtEl>
                                          <p:spTgt spid="715"/>
                                        </p:tgtEl>
                                        <p:attrNameLst>
                                          <p:attrName>style.visibility</p:attrName>
                                        </p:attrNameLst>
                                      </p:cBhvr>
                                      <p:to>
                                        <p:strVal val="visible"/>
                                      </p:to>
                                    </p:set>
                                    <p:animEffect transition="in" filter="fade">
                                      <p:cBhvr>
                                        <p:cTn id="43" dur="320"/>
                                        <p:tgtEl>
                                          <p:spTgt spid="71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16"/>
                                        </p:tgtEl>
                                        <p:attrNameLst>
                                          <p:attrName>style.visibility</p:attrName>
                                        </p:attrNameLst>
                                      </p:cBhvr>
                                      <p:to>
                                        <p:strVal val="visible"/>
                                      </p:to>
                                    </p:set>
                                    <p:animEffect transition="in" filter="fade">
                                      <p:cBhvr>
                                        <p:cTn id="48" dur="320"/>
                                        <p:tgtEl>
                                          <p:spTgt spid="716"/>
                                        </p:tgtEl>
                                      </p:cBhvr>
                                    </p:animEffect>
                                  </p:childTnLst>
                                </p:cTn>
                              </p:par>
                              <p:par>
                                <p:cTn id="49" presetID="10" presetClass="entr" presetSubtype="0" fill="hold" nodeType="withEffect">
                                  <p:stCondLst>
                                    <p:cond delay="0"/>
                                  </p:stCondLst>
                                  <p:childTnLst>
                                    <p:set>
                                      <p:cBhvr>
                                        <p:cTn id="50" dur="1" fill="hold">
                                          <p:stCondLst>
                                            <p:cond delay="0"/>
                                          </p:stCondLst>
                                        </p:cTn>
                                        <p:tgtEl>
                                          <p:spTgt spid="717"/>
                                        </p:tgtEl>
                                        <p:attrNameLst>
                                          <p:attrName>style.visibility</p:attrName>
                                        </p:attrNameLst>
                                      </p:cBhvr>
                                      <p:to>
                                        <p:strVal val="visible"/>
                                      </p:to>
                                    </p:set>
                                    <p:animEffect transition="in" filter="fade">
                                      <p:cBhvr>
                                        <p:cTn id="51" dur="320"/>
                                        <p:tgtEl>
                                          <p:spTgt spid="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The image illustrates the motion of a point on a circle with a constant speed, changing direction, and the relationship between velocity and acceleration.&#10;&#10;AI 產生的內容可能不正確。">
            <a:extLst>
              <a:ext uri="{FF2B5EF4-FFF2-40B4-BE49-F238E27FC236}">
                <a16:creationId xmlns:a16="http://schemas.microsoft.com/office/drawing/2014/main" id="{1E5714C3-F977-61A5-5E1C-F0D7FA973ECF}"/>
              </a:ext>
            </a:extLst>
          </p:cNvPr>
          <p:cNvPicPr>
            <a:picLocks noChangeAspect="1"/>
          </p:cNvPicPr>
          <p:nvPr/>
        </p:nvPicPr>
        <p:blipFill>
          <a:blip r:embed="rId2"/>
          <a:stretch>
            <a:fillRect/>
          </a:stretch>
        </p:blipFill>
        <p:spPr>
          <a:xfrm>
            <a:off x="138728" y="210006"/>
            <a:ext cx="9005272" cy="4933494"/>
          </a:xfrm>
          <a:prstGeom prst="rect">
            <a:avLst/>
          </a:prstGeom>
        </p:spPr>
      </p:pic>
      <p:sp>
        <p:nvSpPr>
          <p:cNvPr id="7" name="文字方塊 6">
            <a:extLst>
              <a:ext uri="{FF2B5EF4-FFF2-40B4-BE49-F238E27FC236}">
                <a16:creationId xmlns:a16="http://schemas.microsoft.com/office/drawing/2014/main" id="{4FD6DFAE-35E5-BEAA-D67C-AA9EF6C65D78}"/>
              </a:ext>
            </a:extLst>
          </p:cNvPr>
          <p:cNvSpPr txBox="1"/>
          <p:nvPr/>
        </p:nvSpPr>
        <p:spPr>
          <a:xfrm>
            <a:off x="5046889" y="4010164"/>
            <a:ext cx="4026354" cy="646331"/>
          </a:xfrm>
          <a:prstGeom prst="rect">
            <a:avLst/>
          </a:prstGeom>
          <a:noFill/>
        </p:spPr>
        <p:txBody>
          <a:bodyPr wrap="square">
            <a:spAutoFit/>
          </a:bodyPr>
          <a:lstStyle/>
          <a:p>
            <a:r>
              <a:rPr lang="zh-TW" altLang="zh-TW" dirty="0"/>
              <a:t>等速率繞圓：快慢不變，方向一直變；所以速度在變，加速度不為零。</a:t>
            </a:r>
            <a:endParaRPr lang="zh-TW" altLang="en-US" dirty="0"/>
          </a:p>
        </p:txBody>
      </p:sp>
      <p:sp>
        <p:nvSpPr>
          <p:cNvPr id="9" name="文字方塊 8">
            <a:extLst>
              <a:ext uri="{FF2B5EF4-FFF2-40B4-BE49-F238E27FC236}">
                <a16:creationId xmlns:a16="http://schemas.microsoft.com/office/drawing/2014/main" id="{86D0A6C8-0A80-AF1C-E394-FC5A3FFE5011}"/>
              </a:ext>
            </a:extLst>
          </p:cNvPr>
          <p:cNvSpPr txBox="1"/>
          <p:nvPr/>
        </p:nvSpPr>
        <p:spPr>
          <a:xfrm>
            <a:off x="200477" y="959042"/>
            <a:ext cx="4610100" cy="369332"/>
          </a:xfrm>
          <a:prstGeom prst="rect">
            <a:avLst/>
          </a:prstGeom>
          <a:noFill/>
        </p:spPr>
        <p:txBody>
          <a:bodyPr wrap="square">
            <a:spAutoFit/>
          </a:bodyPr>
          <a:lstStyle/>
          <a:p>
            <a:r>
              <a:rPr lang="zh-TW" altLang="zh-TW" dirty="0">
                <a:highlight>
                  <a:srgbClr val="FFFF00"/>
                </a:highlight>
              </a:rPr>
              <a:t>等速度</a:t>
            </a:r>
            <a:r>
              <a:rPr lang="en-US" altLang="zh-TW" dirty="0">
                <a:highlight>
                  <a:srgbClr val="FFFF00"/>
                </a:highlight>
              </a:rPr>
              <a:t>(</a:t>
            </a:r>
            <a:r>
              <a:rPr lang="zh-TW" altLang="en-US" dirty="0">
                <a:highlight>
                  <a:srgbClr val="FFFF00"/>
                </a:highlight>
              </a:rPr>
              <a:t>大小跟方向</a:t>
            </a:r>
            <a:r>
              <a:rPr lang="en-US" altLang="zh-TW" dirty="0">
                <a:highlight>
                  <a:srgbClr val="FFFF00"/>
                </a:highlight>
              </a:rPr>
              <a:t>)</a:t>
            </a:r>
            <a:r>
              <a:rPr lang="zh-TW" altLang="zh-TW" dirty="0">
                <a:highlight>
                  <a:srgbClr val="FFFF00"/>
                </a:highlight>
              </a:rPr>
              <a:t>圓周運動</a:t>
            </a:r>
            <a:r>
              <a:rPr lang="zh-TW" altLang="en-US" dirty="0">
                <a:highlight>
                  <a:srgbClr val="FFFF00"/>
                </a:highlight>
              </a:rPr>
              <a:t>存在嗎 </a:t>
            </a:r>
            <a:r>
              <a:rPr lang="en-US" altLang="zh-TW" dirty="0">
                <a:highlight>
                  <a:srgbClr val="FFFF00"/>
                </a:highlight>
              </a:rPr>
              <a:t>?</a:t>
            </a:r>
            <a:endParaRPr lang="zh-TW" altLang="en-US" dirty="0">
              <a:highlight>
                <a:srgbClr val="FFFF00"/>
              </a:highlight>
            </a:endParaRPr>
          </a:p>
        </p:txBody>
      </p:sp>
      <p:sp>
        <p:nvSpPr>
          <p:cNvPr id="11" name="文字方塊 10">
            <a:extLst>
              <a:ext uri="{FF2B5EF4-FFF2-40B4-BE49-F238E27FC236}">
                <a16:creationId xmlns:a16="http://schemas.microsoft.com/office/drawing/2014/main" id="{AE10B9A8-6BE9-1CF2-2629-211A454EA05A}"/>
              </a:ext>
            </a:extLst>
          </p:cNvPr>
          <p:cNvSpPr txBox="1"/>
          <p:nvPr/>
        </p:nvSpPr>
        <p:spPr>
          <a:xfrm>
            <a:off x="5974509" y="302339"/>
            <a:ext cx="4610100" cy="369332"/>
          </a:xfrm>
          <a:prstGeom prst="rect">
            <a:avLst/>
          </a:prstGeom>
          <a:noFill/>
        </p:spPr>
        <p:txBody>
          <a:bodyPr wrap="square">
            <a:spAutoFit/>
          </a:bodyPr>
          <a:lstStyle/>
          <a:p>
            <a:r>
              <a:rPr lang="zh-TW" altLang="en-US" sz="1800" dirty="0">
                <a:highlight>
                  <a:srgbClr val="FFFF00"/>
                </a:highlight>
              </a:rPr>
              <a:t>所以</a:t>
            </a:r>
            <a:r>
              <a:rPr lang="zh-TW" altLang="zh-TW" sz="1800" dirty="0">
                <a:highlight>
                  <a:srgbClr val="FFFF00"/>
                </a:highlight>
              </a:rPr>
              <a:t>等速度圓周運動</a:t>
            </a:r>
            <a:r>
              <a:rPr lang="zh-TW" altLang="en-US" sz="1800" dirty="0">
                <a:highlight>
                  <a:srgbClr val="FFFF00"/>
                </a:highlight>
              </a:rPr>
              <a:t>不存在</a:t>
            </a:r>
            <a:endParaRPr lang="zh-TW" altLang="en-US" dirty="0"/>
          </a:p>
        </p:txBody>
      </p:sp>
      <p:sp>
        <p:nvSpPr>
          <p:cNvPr id="12" name="箭號: 向右 11">
            <a:extLst>
              <a:ext uri="{FF2B5EF4-FFF2-40B4-BE49-F238E27FC236}">
                <a16:creationId xmlns:a16="http://schemas.microsoft.com/office/drawing/2014/main" id="{301D6D70-B9A9-114C-2D62-4359D1B221A7}"/>
              </a:ext>
            </a:extLst>
          </p:cNvPr>
          <p:cNvSpPr/>
          <p:nvPr/>
        </p:nvSpPr>
        <p:spPr>
          <a:xfrm rot="17883842">
            <a:off x="6882501" y="604253"/>
            <a:ext cx="718457" cy="6463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89628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marL="355600" lvl="3" indent="0">
              <a:buNone/>
              <a:defRPr/>
            </a:pPr>
            <a:r>
              <a:rPr lang="zh-TW" altLang="zh-TW" dirty="0"/>
              <a:t>　</a:t>
            </a:r>
            <a:r>
              <a:rPr lang="en-US" altLang="zh-TW" dirty="0"/>
              <a:t> 	</a:t>
            </a:r>
            <a:endParaRPr lang="zh-TW" altLang="zh-TW" dirty="0"/>
          </a:p>
          <a:p>
            <a:pPr marL="355600" lvl="3" indent="0">
              <a:buNone/>
              <a:defRPr/>
            </a:pPr>
            <a:endParaRPr lang="en-US" altLang="zh-TW" dirty="0"/>
          </a:p>
          <a:p>
            <a:pPr marL="355600" lvl="3" indent="0">
              <a:buNone/>
              <a:defRPr/>
            </a:pPr>
            <a:r>
              <a:rPr lang="zh-TW" altLang="zh-TW" dirty="0"/>
              <a:t>必要時，</a:t>
            </a:r>
            <a:r>
              <a:rPr lang="en-US" altLang="zh-TW" dirty="0"/>
              <a:t>   </a:t>
            </a:r>
            <a:r>
              <a:rPr lang="zh-TW" altLang="zh-TW" dirty="0"/>
              <a:t>亦可表為</a:t>
            </a:r>
            <a:r>
              <a:rPr lang="en-US" altLang="zh-TW" dirty="0"/>
              <a:t>    </a:t>
            </a:r>
            <a:r>
              <a:rPr lang="zh-TW" altLang="zh-TW" dirty="0"/>
              <a:t>。因為</a:t>
            </a:r>
            <a:r>
              <a:rPr lang="en-US" altLang="zh-TW" dirty="0"/>
              <a:t>    </a:t>
            </a:r>
            <a:r>
              <a:rPr lang="zh-TW" altLang="zh-TW" dirty="0"/>
              <a:t>的方向和</a:t>
            </a:r>
            <a:r>
              <a:rPr lang="en-US" altLang="zh-TW" dirty="0"/>
              <a:t>      </a:t>
            </a:r>
            <a:r>
              <a:rPr lang="zh-TW" altLang="zh-TW" dirty="0"/>
              <a:t>相同，故瞬時速度</a:t>
            </a:r>
            <a:r>
              <a:rPr lang="en-US" altLang="zh-TW" dirty="0"/>
              <a:t>    </a:t>
            </a:r>
            <a:r>
              <a:rPr lang="zh-TW" altLang="zh-TW" dirty="0"/>
              <a:t>必與路徑相切於</a:t>
            </a:r>
            <a:r>
              <a:rPr lang="en-US" altLang="zh-TW" i="1" dirty="0"/>
              <a:t>P</a:t>
            </a:r>
            <a:r>
              <a:rPr lang="zh-TW" altLang="zh-TW" dirty="0"/>
              <a:t>點，並且指向運動方向。</a:t>
            </a:r>
            <a:r>
              <a:rPr lang="en-US" altLang="zh-TW" dirty="0"/>
              <a:t>     </a:t>
            </a:r>
            <a:r>
              <a:rPr lang="zh-TW" altLang="zh-TW" dirty="0"/>
              <a:t>的大小稱為速率，以</a:t>
            </a:r>
            <a:r>
              <a:rPr lang="en-US" altLang="zh-TW" i="1" dirty="0"/>
              <a:t>v</a:t>
            </a:r>
            <a:r>
              <a:rPr lang="zh-TW" altLang="zh-TW" dirty="0"/>
              <a:t>表示，當</a:t>
            </a:r>
            <a:r>
              <a:rPr lang="en-US" altLang="zh-TW" dirty="0"/>
              <a:t>∆</a:t>
            </a:r>
            <a:r>
              <a:rPr lang="en-US" altLang="zh-TW" i="1" dirty="0"/>
              <a:t>t</a:t>
            </a:r>
            <a:r>
              <a:rPr lang="zh-TW" altLang="zh-TW" dirty="0"/>
              <a:t>趨近於零時，位移的大小</a:t>
            </a:r>
            <a:r>
              <a:rPr lang="en-US" altLang="zh-TW" dirty="0"/>
              <a:t>∆</a:t>
            </a:r>
            <a:r>
              <a:rPr lang="en-US" altLang="zh-TW" i="1" dirty="0"/>
              <a:t>r</a:t>
            </a:r>
            <a:r>
              <a:rPr lang="zh-TW" altLang="zh-TW" dirty="0"/>
              <a:t>與路徑長</a:t>
            </a:r>
            <a:r>
              <a:rPr lang="en-US" altLang="zh-TW" dirty="0"/>
              <a:t>∆</a:t>
            </a:r>
            <a:r>
              <a:rPr lang="en-US" altLang="zh-TW" i="1" dirty="0"/>
              <a:t>s</a:t>
            </a:r>
            <a:r>
              <a:rPr lang="zh-TW" altLang="zh-TW" dirty="0"/>
              <a:t>甚為接近，故速率為</a:t>
            </a:r>
          </a:p>
          <a:p>
            <a:pPr marL="355600" lvl="3" indent="0">
              <a:buNone/>
              <a:defRPr/>
            </a:pPr>
            <a:endParaRPr lang="zh-TW" altLang="en-US" dirty="0"/>
          </a:p>
          <a:p>
            <a:pPr indent="0">
              <a:defRPr/>
            </a:pPr>
            <a:endParaRPr lang="zh-TW" altLang="en-US" dirty="0"/>
          </a:p>
          <a:p>
            <a:pPr indent="0"/>
            <a:endParaRPr lang="zh-TW" altLang="en-US" dirty="0"/>
          </a:p>
        </p:txBody>
      </p:sp>
      <p:graphicFrame>
        <p:nvGraphicFramePr>
          <p:cNvPr id="8" name="Object 53">
            <a:extLst>
              <a:ext uri="{FF2B5EF4-FFF2-40B4-BE49-F238E27FC236}">
                <a16:creationId xmlns:a16="http://schemas.microsoft.com/office/drawing/2014/main" id="{E274C912-803A-02AF-97F6-56B7FB37582F}"/>
              </a:ext>
            </a:extLst>
          </p:cNvPr>
          <p:cNvGraphicFramePr>
            <a:graphicFrameLocks noChangeAspect="1"/>
          </p:cNvGraphicFramePr>
          <p:nvPr>
            <p:extLst>
              <p:ext uri="{D42A27DB-BD31-4B8C-83A1-F6EECF244321}">
                <p14:modId xmlns:p14="http://schemas.microsoft.com/office/powerpoint/2010/main" val="3784288054"/>
              </p:ext>
            </p:extLst>
          </p:nvPr>
        </p:nvGraphicFramePr>
        <p:xfrm>
          <a:off x="1258888" y="830988"/>
          <a:ext cx="1038225" cy="914400"/>
        </p:xfrm>
        <a:graphic>
          <a:graphicData uri="http://schemas.openxmlformats.org/presentationml/2006/ole">
            <mc:AlternateContent xmlns:mc="http://schemas.openxmlformats.org/markup-compatibility/2006">
              <mc:Choice xmlns:v="urn:schemas-microsoft-com:vml" Requires="v">
                <p:oleObj name="Equation" r:id="rId2" imgW="1041400" imgH="914400" progId="Equation.DSMT4">
                  <p:embed/>
                </p:oleObj>
              </mc:Choice>
              <mc:Fallback>
                <p:oleObj name="Equation" r:id="rId2" imgW="1041400" imgH="914400" progId="Equation.DSMT4">
                  <p:embed/>
                  <p:pic>
                    <p:nvPicPr>
                      <p:cNvPr id="8" name="Object 53">
                        <a:extLst>
                          <a:ext uri="{FF2B5EF4-FFF2-40B4-BE49-F238E27FC236}">
                            <a16:creationId xmlns:a16="http://schemas.microsoft.com/office/drawing/2014/main" id="{E274C912-803A-02AF-97F6-56B7FB3758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830988"/>
                        <a:ext cx="10382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4">
            <a:extLst>
              <a:ext uri="{FF2B5EF4-FFF2-40B4-BE49-F238E27FC236}">
                <a16:creationId xmlns:a16="http://schemas.microsoft.com/office/drawing/2014/main" id="{BFB2DB3C-5055-7186-7FA2-169599F04E65}"/>
              </a:ext>
            </a:extLst>
          </p:cNvPr>
          <p:cNvSpPr>
            <a:spLocks noChangeArrowheads="1"/>
          </p:cNvSpPr>
          <p:nvPr/>
        </p:nvSpPr>
        <p:spPr bwMode="auto">
          <a:xfrm>
            <a:off x="1258888" y="999263"/>
            <a:ext cx="68405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bg1"/>
                </a:solidFill>
                <a:latin typeface="Times New Roman" panose="02020603050405020304" pitchFamily="18" charset="0"/>
                <a:ea typeface="新細明體" panose="02020500000000000000" pitchFamily="18" charset="-120"/>
              </a:defRPr>
            </a:lvl1pPr>
            <a:lvl2pPr marL="742950" indent="-285750" eaLnBrk="0" hangingPunct="0">
              <a:defRPr kumimoji="1" sz="2000" b="1">
                <a:solidFill>
                  <a:schemeClr val="bg1"/>
                </a:solidFill>
                <a:latin typeface="Times New Roman" panose="02020603050405020304" pitchFamily="18" charset="0"/>
                <a:ea typeface="新細明體" panose="02020500000000000000" pitchFamily="18" charset="-120"/>
              </a:defRPr>
            </a:lvl2pPr>
            <a:lvl3pPr marL="1143000" indent="-228600" eaLnBrk="0" hangingPunct="0">
              <a:defRPr kumimoji="1" sz="2000" b="1">
                <a:solidFill>
                  <a:schemeClr val="bg1"/>
                </a:solidFill>
                <a:latin typeface="Times New Roman" panose="02020603050405020304" pitchFamily="18" charset="0"/>
                <a:ea typeface="新細明體" panose="02020500000000000000" pitchFamily="18" charset="-120"/>
              </a:defRPr>
            </a:lvl3pPr>
            <a:lvl4pPr marL="1600200" indent="-228600" eaLnBrk="0" hangingPunct="0">
              <a:defRPr kumimoji="1" sz="2000" b="1">
                <a:solidFill>
                  <a:schemeClr val="bg1"/>
                </a:solidFill>
                <a:latin typeface="Times New Roman" panose="02020603050405020304" pitchFamily="18" charset="0"/>
                <a:ea typeface="新細明體" panose="02020500000000000000" pitchFamily="18" charset="-120"/>
              </a:defRPr>
            </a:lvl4pPr>
            <a:lvl5pPr marL="2057400" indent="-228600" eaLnBrk="0" hangingPunct="0">
              <a:defRPr kumimoji="1" sz="2000" b="1">
                <a:solidFill>
                  <a:schemeClr val="bg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9pPr>
          </a:lstStyle>
          <a:p>
            <a:pPr algn="r" eaLnBrk="1" hangingPunct="1"/>
            <a:r>
              <a:rPr lang="en-US" altLang="zh-TW" sz="2800" dirty="0">
                <a:solidFill>
                  <a:srgbClr val="CC0066"/>
                </a:solidFill>
                <a:ea typeface="標楷體" panose="03000509000000000000" pitchFamily="65" charset="-120"/>
              </a:rPr>
              <a:t>(2-7)</a:t>
            </a:r>
            <a:endParaRPr lang="zh-TW" altLang="en-US" sz="2800" dirty="0">
              <a:solidFill>
                <a:srgbClr val="CC0066"/>
              </a:solidFill>
              <a:ea typeface="標楷體" panose="03000509000000000000" pitchFamily="65" charset="-120"/>
            </a:endParaRPr>
          </a:p>
        </p:txBody>
      </p:sp>
      <p:graphicFrame>
        <p:nvGraphicFramePr>
          <p:cNvPr id="10" name="物件 9"/>
          <p:cNvGraphicFramePr>
            <a:graphicFrameLocks noChangeAspect="1"/>
          </p:cNvGraphicFramePr>
          <p:nvPr>
            <p:extLst>
              <p:ext uri="{D42A27DB-BD31-4B8C-83A1-F6EECF244321}">
                <p14:modId xmlns:p14="http://schemas.microsoft.com/office/powerpoint/2010/main" val="3832336033"/>
              </p:ext>
            </p:extLst>
          </p:nvPr>
        </p:nvGraphicFramePr>
        <p:xfrm>
          <a:off x="2129064" y="1747610"/>
          <a:ext cx="276225" cy="409575"/>
        </p:xfrm>
        <a:graphic>
          <a:graphicData uri="http://schemas.openxmlformats.org/presentationml/2006/ole">
            <mc:AlternateContent xmlns:mc="http://schemas.openxmlformats.org/markup-compatibility/2006">
              <mc:Choice xmlns:v="urn:schemas-microsoft-com:vml" Requires="v">
                <p:oleObj name="Equation" r:id="rId4" imgW="279279" imgH="406224" progId="Equation.DSMT4">
                  <p:embed/>
                </p:oleObj>
              </mc:Choice>
              <mc:Fallback>
                <p:oleObj name="Equation" r:id="rId4" imgW="279279" imgH="406224" progId="Equation.DSMT4">
                  <p:embed/>
                  <p:pic>
                    <p:nvPicPr>
                      <p:cNvPr id="10" name="物件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9064" y="1747610"/>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物件 10"/>
          <p:cNvGraphicFramePr>
            <a:graphicFrameLocks noChangeAspect="1"/>
          </p:cNvGraphicFramePr>
          <p:nvPr>
            <p:extLst>
              <p:ext uri="{D42A27DB-BD31-4B8C-83A1-F6EECF244321}">
                <p14:modId xmlns:p14="http://schemas.microsoft.com/office/powerpoint/2010/main" val="2468541947"/>
              </p:ext>
            </p:extLst>
          </p:nvPr>
        </p:nvGraphicFramePr>
        <p:xfrm>
          <a:off x="4041866" y="1760673"/>
          <a:ext cx="219075" cy="371475"/>
        </p:xfrm>
        <a:graphic>
          <a:graphicData uri="http://schemas.openxmlformats.org/presentationml/2006/ole">
            <mc:AlternateContent xmlns:mc="http://schemas.openxmlformats.org/markup-compatibility/2006">
              <mc:Choice xmlns:v="urn:schemas-microsoft-com:vml" Requires="v">
                <p:oleObj name="Equation" r:id="rId6" imgW="215806" imgH="368140" progId="Equation.DSMT4">
                  <p:embed/>
                </p:oleObj>
              </mc:Choice>
              <mc:Fallback>
                <p:oleObj name="Equation" r:id="rId6" imgW="215806" imgH="368140" progId="Equation.DSMT4">
                  <p:embed/>
                  <p:pic>
                    <p:nvPicPr>
                      <p:cNvPr id="11" name="物件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41866" y="1760673"/>
                        <a:ext cx="2190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物件 11"/>
          <p:cNvGraphicFramePr>
            <a:graphicFrameLocks noChangeAspect="1"/>
          </p:cNvGraphicFramePr>
          <p:nvPr>
            <p:extLst>
              <p:ext uri="{D42A27DB-BD31-4B8C-83A1-F6EECF244321}">
                <p14:modId xmlns:p14="http://schemas.microsoft.com/office/powerpoint/2010/main" val="2827421813"/>
              </p:ext>
            </p:extLst>
          </p:nvPr>
        </p:nvGraphicFramePr>
        <p:xfrm>
          <a:off x="5455603" y="1747611"/>
          <a:ext cx="276225" cy="409575"/>
        </p:xfrm>
        <a:graphic>
          <a:graphicData uri="http://schemas.openxmlformats.org/presentationml/2006/ole">
            <mc:AlternateContent xmlns:mc="http://schemas.openxmlformats.org/markup-compatibility/2006">
              <mc:Choice xmlns:v="urn:schemas-microsoft-com:vml" Requires="v">
                <p:oleObj name="Equation" r:id="rId8" imgW="279279" imgH="406224" progId="Equation.DSMT4">
                  <p:embed/>
                </p:oleObj>
              </mc:Choice>
              <mc:Fallback>
                <p:oleObj name="Equation" r:id="rId8" imgW="279279" imgH="406224" progId="Equation.DSMT4">
                  <p:embed/>
                  <p:pic>
                    <p:nvPicPr>
                      <p:cNvPr id="12" name="物件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5603" y="1747611"/>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物件 12"/>
          <p:cNvGraphicFramePr>
            <a:graphicFrameLocks noChangeAspect="1"/>
          </p:cNvGraphicFramePr>
          <p:nvPr>
            <p:extLst>
              <p:ext uri="{D42A27DB-BD31-4B8C-83A1-F6EECF244321}">
                <p14:modId xmlns:p14="http://schemas.microsoft.com/office/powerpoint/2010/main" val="1602716237"/>
              </p:ext>
            </p:extLst>
          </p:nvPr>
        </p:nvGraphicFramePr>
        <p:xfrm>
          <a:off x="7347269" y="1747611"/>
          <a:ext cx="457200" cy="409575"/>
        </p:xfrm>
        <a:graphic>
          <a:graphicData uri="http://schemas.openxmlformats.org/presentationml/2006/ole">
            <mc:AlternateContent xmlns:mc="http://schemas.openxmlformats.org/markup-compatibility/2006">
              <mc:Choice xmlns:v="urn:schemas-microsoft-com:vml" Requires="v">
                <p:oleObj name="Equation" r:id="rId10" imgW="457002" imgH="406224" progId="Equation.DSMT4">
                  <p:embed/>
                </p:oleObj>
              </mc:Choice>
              <mc:Fallback>
                <p:oleObj name="Equation" r:id="rId10" imgW="457002" imgH="406224" progId="Equation.DSMT4">
                  <p:embed/>
                  <p:pic>
                    <p:nvPicPr>
                      <p:cNvPr id="13" name="物件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47269" y="1747611"/>
                        <a:ext cx="4572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物件 13"/>
          <p:cNvGraphicFramePr>
            <a:graphicFrameLocks noChangeAspect="1"/>
          </p:cNvGraphicFramePr>
          <p:nvPr>
            <p:extLst>
              <p:ext uri="{D42A27DB-BD31-4B8C-83A1-F6EECF244321}">
                <p14:modId xmlns:p14="http://schemas.microsoft.com/office/powerpoint/2010/main" val="1603042434"/>
              </p:ext>
            </p:extLst>
          </p:nvPr>
        </p:nvGraphicFramePr>
        <p:xfrm>
          <a:off x="3346496" y="2162175"/>
          <a:ext cx="276225" cy="409575"/>
        </p:xfrm>
        <a:graphic>
          <a:graphicData uri="http://schemas.openxmlformats.org/presentationml/2006/ole">
            <mc:AlternateContent xmlns:mc="http://schemas.openxmlformats.org/markup-compatibility/2006">
              <mc:Choice xmlns:v="urn:schemas-microsoft-com:vml" Requires="v">
                <p:oleObj name="Equation" r:id="rId12" imgW="279279" imgH="406224" progId="Equation.DSMT4">
                  <p:embed/>
                </p:oleObj>
              </mc:Choice>
              <mc:Fallback>
                <p:oleObj name="Equation" r:id="rId12" imgW="279279" imgH="406224" progId="Equation.DSMT4">
                  <p:embed/>
                  <p:pic>
                    <p:nvPicPr>
                      <p:cNvPr id="14" name="物件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6496" y="2162175"/>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物件 14"/>
          <p:cNvGraphicFramePr>
            <a:graphicFrameLocks noChangeAspect="1"/>
          </p:cNvGraphicFramePr>
          <p:nvPr>
            <p:extLst>
              <p:ext uri="{D42A27DB-BD31-4B8C-83A1-F6EECF244321}">
                <p14:modId xmlns:p14="http://schemas.microsoft.com/office/powerpoint/2010/main" val="2098266796"/>
              </p:ext>
            </p:extLst>
          </p:nvPr>
        </p:nvGraphicFramePr>
        <p:xfrm>
          <a:off x="2934698" y="2667000"/>
          <a:ext cx="276225" cy="409575"/>
        </p:xfrm>
        <a:graphic>
          <a:graphicData uri="http://schemas.openxmlformats.org/presentationml/2006/ole">
            <mc:AlternateContent xmlns:mc="http://schemas.openxmlformats.org/markup-compatibility/2006">
              <mc:Choice xmlns:v="urn:schemas-microsoft-com:vml" Requires="v">
                <p:oleObj name="Equation" r:id="rId14" imgW="279279" imgH="406224" progId="Equation.DSMT4">
                  <p:embed/>
                </p:oleObj>
              </mc:Choice>
              <mc:Fallback>
                <p:oleObj name="Equation" r:id="rId14" imgW="279279" imgH="406224" progId="Equation.DSMT4">
                  <p:embed/>
                  <p:pic>
                    <p:nvPicPr>
                      <p:cNvPr id="15" name="物件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34698" y="2667000"/>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22">
            <a:extLst>
              <a:ext uri="{FF2B5EF4-FFF2-40B4-BE49-F238E27FC236}">
                <a16:creationId xmlns:a16="http://schemas.microsoft.com/office/drawing/2014/main" id="{30288797-AAD2-49CB-C5FF-56785330A852}"/>
              </a:ext>
            </a:extLst>
          </p:cNvPr>
          <p:cNvGraphicFramePr>
            <a:graphicFrameLocks noChangeAspect="1"/>
          </p:cNvGraphicFramePr>
          <p:nvPr>
            <p:extLst>
              <p:ext uri="{D42A27DB-BD31-4B8C-83A1-F6EECF244321}">
                <p14:modId xmlns:p14="http://schemas.microsoft.com/office/powerpoint/2010/main" val="1930647598"/>
              </p:ext>
            </p:extLst>
          </p:nvPr>
        </p:nvGraphicFramePr>
        <p:xfrm>
          <a:off x="1258888" y="4007666"/>
          <a:ext cx="1457325" cy="838200"/>
        </p:xfrm>
        <a:graphic>
          <a:graphicData uri="http://schemas.openxmlformats.org/presentationml/2006/ole">
            <mc:AlternateContent xmlns:mc="http://schemas.openxmlformats.org/markup-compatibility/2006">
              <mc:Choice xmlns:v="urn:schemas-microsoft-com:vml" Requires="v">
                <p:oleObj name="Equation" r:id="rId16" imgW="1460500" imgH="838200" progId="Equation.DSMT4">
                  <p:embed/>
                </p:oleObj>
              </mc:Choice>
              <mc:Fallback>
                <p:oleObj name="Equation" r:id="rId16" imgW="1460500" imgH="838200" progId="Equation.DSMT4">
                  <p:embed/>
                  <p:pic>
                    <p:nvPicPr>
                      <p:cNvPr id="16" name="Object 22">
                        <a:extLst>
                          <a:ext uri="{FF2B5EF4-FFF2-40B4-BE49-F238E27FC236}">
                            <a16:creationId xmlns:a16="http://schemas.microsoft.com/office/drawing/2014/main" id="{30288797-AAD2-49CB-C5FF-56785330A85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58888" y="4007666"/>
                        <a:ext cx="14573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4">
            <a:extLst>
              <a:ext uri="{FF2B5EF4-FFF2-40B4-BE49-F238E27FC236}">
                <a16:creationId xmlns:a16="http://schemas.microsoft.com/office/drawing/2014/main" id="{2D56EF5C-56EF-D839-79F6-0222BD32E78A}"/>
              </a:ext>
            </a:extLst>
          </p:cNvPr>
          <p:cNvSpPr>
            <a:spLocks noChangeArrowheads="1"/>
          </p:cNvSpPr>
          <p:nvPr/>
        </p:nvSpPr>
        <p:spPr bwMode="auto">
          <a:xfrm>
            <a:off x="1258888" y="4139429"/>
            <a:ext cx="68405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000" b="1">
                <a:solidFill>
                  <a:schemeClr val="bg1"/>
                </a:solidFill>
                <a:latin typeface="Times New Roman" panose="02020603050405020304" pitchFamily="18" charset="0"/>
                <a:ea typeface="新細明體" panose="02020500000000000000" pitchFamily="18" charset="-120"/>
              </a:defRPr>
            </a:lvl1pPr>
            <a:lvl2pPr marL="742950" indent="-285750" eaLnBrk="0" hangingPunct="0">
              <a:defRPr kumimoji="1" sz="2000" b="1">
                <a:solidFill>
                  <a:schemeClr val="bg1"/>
                </a:solidFill>
                <a:latin typeface="Times New Roman" panose="02020603050405020304" pitchFamily="18" charset="0"/>
                <a:ea typeface="新細明體" panose="02020500000000000000" pitchFamily="18" charset="-120"/>
              </a:defRPr>
            </a:lvl2pPr>
            <a:lvl3pPr marL="1143000" indent="-228600" eaLnBrk="0" hangingPunct="0">
              <a:defRPr kumimoji="1" sz="2000" b="1">
                <a:solidFill>
                  <a:schemeClr val="bg1"/>
                </a:solidFill>
                <a:latin typeface="Times New Roman" panose="02020603050405020304" pitchFamily="18" charset="0"/>
                <a:ea typeface="新細明體" panose="02020500000000000000" pitchFamily="18" charset="-120"/>
              </a:defRPr>
            </a:lvl3pPr>
            <a:lvl4pPr marL="1600200" indent="-228600" eaLnBrk="0" hangingPunct="0">
              <a:defRPr kumimoji="1" sz="2000" b="1">
                <a:solidFill>
                  <a:schemeClr val="bg1"/>
                </a:solidFill>
                <a:latin typeface="Times New Roman" panose="02020603050405020304" pitchFamily="18" charset="0"/>
                <a:ea typeface="新細明體" panose="02020500000000000000" pitchFamily="18" charset="-120"/>
              </a:defRPr>
            </a:lvl4pPr>
            <a:lvl5pPr marL="2057400" indent="-228600" eaLnBrk="0" hangingPunct="0">
              <a:defRPr kumimoji="1" sz="2000" b="1">
                <a:solidFill>
                  <a:schemeClr val="bg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000" b="1">
                <a:solidFill>
                  <a:schemeClr val="bg1"/>
                </a:solidFill>
                <a:latin typeface="Times New Roman" panose="02020603050405020304" pitchFamily="18" charset="0"/>
                <a:ea typeface="新細明體" panose="02020500000000000000" pitchFamily="18" charset="-120"/>
              </a:defRPr>
            </a:lvl9pPr>
          </a:lstStyle>
          <a:p>
            <a:pPr algn="r" eaLnBrk="1" hangingPunct="1"/>
            <a:r>
              <a:rPr lang="en-US" altLang="zh-TW" sz="2800" dirty="0">
                <a:solidFill>
                  <a:srgbClr val="CC0066"/>
                </a:solidFill>
                <a:ea typeface="標楷體" panose="03000509000000000000" pitchFamily="65" charset="-120"/>
              </a:rPr>
              <a:t>(2-8)</a:t>
            </a:r>
            <a:endParaRPr lang="zh-TW" altLang="en-US" sz="2800" dirty="0">
              <a:solidFill>
                <a:srgbClr val="CC0066"/>
              </a:solidFill>
              <a:ea typeface="標楷體" panose="03000509000000000000" pitchFamily="65" charset="-120"/>
            </a:endParaRPr>
          </a:p>
        </p:txBody>
      </p:sp>
    </p:spTree>
    <p:extLst>
      <p:ext uri="{BB962C8B-B14F-4D97-AF65-F5344CB8AC3E}">
        <p14:creationId xmlns:p14="http://schemas.microsoft.com/office/powerpoint/2010/main" val="2726223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加速度</a:t>
            </a:r>
            <a:r>
              <a:rPr lang="zh-TW" altLang="en-US" sz="2800" b="0" i="0" dirty="0">
                <a:solidFill>
                  <a:srgbClr val="1F8899"/>
                </a:solidFill>
                <a:latin typeface="Arial"/>
                <a:ea typeface="微軟正黑體"/>
                <a:cs typeface="Times New Roman"/>
              </a:rPr>
              <a:t>　方向不與路徑相切</a:t>
            </a:r>
            <a:endParaRPr lang="zh-TW" sz="3200" dirty="0"/>
          </a:p>
        </p:txBody>
      </p:sp>
      <p:sp>
        <p:nvSpPr>
          <p:cNvPr id="250" name="Text"/>
          <p:cNvSpPr txBox="1"/>
          <p:nvPr/>
        </p:nvSpPr>
        <p:spPr>
          <a:xfrm>
            <a:off x="365760" y="1005840"/>
            <a:ext cx="3977640" cy="2926080"/>
          </a:xfrm>
          <a:prstGeom prst="rect">
            <a:avLst/>
          </a:prstGeom>
          <a:noFill/>
          <a:ln>
            <a:noFill/>
          </a:ln>
        </p:spPr>
        <p:txBody>
          <a:bodyPr wrap="square" lIns="0" tIns="0" rIns="0" bIns="0" rtlCol="0" anchor="t">
            <a:normAutofit lnSpcReduction="10000"/>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a = dv/dt，方向與 Δv 相同</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速度轉向時 Δv 指向曲線凹的那一側</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所以 a 通常指向曲線內側，不沿切線</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直線運動是特例，a 才會和 v 同線</a:t>
            </a:r>
            <a:endParaRPr lang="zh-TW" sz="2400" dirty="0"/>
          </a:p>
        </p:txBody>
      </p:sp>
      <p:sp>
        <p:nvSpPr>
          <p:cNvPr id="721" name="Curve"/>
          <p:cNvSpPr/>
          <p:nvPr/>
        </p:nvSpPr>
        <p:spPr>
          <a:xfrm>
            <a:off x="4892040" y="2640116"/>
            <a:ext cx="2655418" cy="1063204"/>
          </a:xfrm>
          <a:custGeom>
            <a:avLst/>
            <a:gdLst/>
            <a:ahLst/>
            <a:cxnLst/>
            <a:rect l="0" t="0" r="r" b="b"/>
            <a:pathLst>
              <a:path w="2655418" h="1063204">
                <a:moveTo>
                  <a:pt x="0" y="1063204"/>
                </a:moveTo>
                <a:lnTo>
                  <a:pt x="110642" y="929396"/>
                </a:lnTo>
                <a:lnTo>
                  <a:pt x="221285" y="804578"/>
                </a:lnTo>
                <a:lnTo>
                  <a:pt x="331927" y="688749"/>
                </a:lnTo>
                <a:lnTo>
                  <a:pt x="442570" y="581910"/>
                </a:lnTo>
                <a:lnTo>
                  <a:pt x="553212" y="484061"/>
                </a:lnTo>
                <a:lnTo>
                  <a:pt x="663854" y="395201"/>
                </a:lnTo>
                <a:lnTo>
                  <a:pt x="774497" y="315331"/>
                </a:lnTo>
                <a:lnTo>
                  <a:pt x="885139" y="244451"/>
                </a:lnTo>
                <a:lnTo>
                  <a:pt x="995782" y="182560"/>
                </a:lnTo>
                <a:lnTo>
                  <a:pt x="1106424" y="129659"/>
                </a:lnTo>
                <a:lnTo>
                  <a:pt x="1217066" y="85748"/>
                </a:lnTo>
                <a:lnTo>
                  <a:pt x="1327709" y="50826"/>
                </a:lnTo>
                <a:lnTo>
                  <a:pt x="1438351" y="24895"/>
                </a:lnTo>
                <a:lnTo>
                  <a:pt x="1548994" y="7952"/>
                </a:lnTo>
                <a:lnTo>
                  <a:pt x="1659636" y="0"/>
                </a:lnTo>
                <a:lnTo>
                  <a:pt x="1770278" y="1037"/>
                </a:lnTo>
                <a:lnTo>
                  <a:pt x="1880921" y="11064"/>
                </a:lnTo>
                <a:lnTo>
                  <a:pt x="1991563" y="30081"/>
                </a:lnTo>
                <a:lnTo>
                  <a:pt x="2102206" y="58087"/>
                </a:lnTo>
                <a:lnTo>
                  <a:pt x="2212848" y="95083"/>
                </a:lnTo>
                <a:lnTo>
                  <a:pt x="2323490" y="141069"/>
                </a:lnTo>
                <a:lnTo>
                  <a:pt x="2434133" y="196045"/>
                </a:lnTo>
                <a:lnTo>
                  <a:pt x="2544775" y="260010"/>
                </a:lnTo>
                <a:lnTo>
                  <a:pt x="2655418" y="332964"/>
                </a:lnTo>
              </a:path>
            </a:pathLst>
          </a:custGeom>
          <a:noFill/>
          <a:ln w="19050">
            <a:solidFill>
              <a:srgbClr val="808080"/>
            </a:solidFill>
            <a:round/>
          </a:ln>
        </p:spPr>
        <p:txBody>
          <a:bodyPr/>
          <a:lstStyle/>
          <a:p>
            <a:endParaRPr lang="zh-TW"/>
          </a:p>
        </p:txBody>
      </p:sp>
      <p:cxnSp>
        <p:nvCxnSpPr>
          <p:cNvPr id="722" name="Line"/>
          <p:cNvCxnSpPr/>
          <p:nvPr/>
        </p:nvCxnSpPr>
        <p:spPr>
          <a:xfrm flipV="1">
            <a:off x="6179515" y="2449524"/>
            <a:ext cx="830998" cy="253077"/>
          </a:xfrm>
          <a:prstGeom prst="line">
            <a:avLst/>
          </a:prstGeom>
          <a:ln w="25400">
            <a:solidFill>
              <a:srgbClr val="1F8899"/>
            </a:solidFill>
            <a:tailEnd type="triangle" w="med" len="med"/>
          </a:ln>
        </p:spPr>
      </p:cxnSp>
      <p:cxnSp>
        <p:nvCxnSpPr>
          <p:cNvPr id="723" name="Line"/>
          <p:cNvCxnSpPr/>
          <p:nvPr/>
        </p:nvCxnSpPr>
        <p:spPr>
          <a:xfrm>
            <a:off x="6179515" y="2702601"/>
            <a:ext cx="731520" cy="438912"/>
          </a:xfrm>
          <a:prstGeom prst="line">
            <a:avLst/>
          </a:prstGeom>
          <a:ln w="25400">
            <a:solidFill>
              <a:srgbClr val="D6006F"/>
            </a:solidFill>
            <a:tailEnd type="triangle" w="med" len="med"/>
          </a:ln>
        </p:spPr>
      </p:cxnSp>
      <p:sp>
        <p:nvSpPr>
          <p:cNvPr id="5" name="Shape"/>
          <p:cNvSpPr/>
          <p:nvPr/>
        </p:nvSpPr>
        <p:spPr>
          <a:xfrm>
            <a:off x="6129223" y="2652309"/>
            <a:ext cx="100584" cy="100584"/>
          </a:xfrm>
          <a:prstGeom prst="ellipse">
            <a:avLst/>
          </a:prstGeom>
          <a:solidFill>
            <a:srgbClr val="333333"/>
          </a:solidFill>
          <a:ln>
            <a:noFill/>
          </a:ln>
        </p:spPr>
        <p:txBody>
          <a:bodyPr/>
          <a:lstStyle/>
          <a:p>
            <a:endParaRPr lang="zh-TW"/>
          </a:p>
        </p:txBody>
      </p:sp>
      <p:sp>
        <p:nvSpPr>
          <p:cNvPr id="3" name="Text"/>
          <p:cNvSpPr txBox="1"/>
          <p:nvPr/>
        </p:nvSpPr>
        <p:spPr>
          <a:xfrm>
            <a:off x="7071744" y="2284572"/>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1F8899"/>
                </a:solidFill>
                <a:latin typeface="Times New Roman"/>
                <a:ea typeface="微軟正黑體"/>
                <a:cs typeface="Times New Roman"/>
              </a:rPr>
              <a:t>v</a:t>
            </a:r>
            <a:endParaRPr lang="zh-TW" sz="2200" dirty="0"/>
          </a:p>
        </p:txBody>
      </p:sp>
      <p:sp>
        <p:nvSpPr>
          <p:cNvPr id="4" name="Text"/>
          <p:cNvSpPr txBox="1"/>
          <p:nvPr/>
        </p:nvSpPr>
        <p:spPr>
          <a:xfrm>
            <a:off x="6984187" y="3104937"/>
            <a:ext cx="365760" cy="292608"/>
          </a:xfrm>
          <a:prstGeom prst="rect">
            <a:avLst/>
          </a:prstGeom>
          <a:noFill/>
          <a:ln>
            <a:noFill/>
          </a:ln>
        </p:spPr>
        <p:txBody>
          <a:bodyPr wrap="none" lIns="0" tIns="0" rIns="0" bIns="0" rtlCol="0" anchor="t">
            <a:normAutofit fontScale="92500" lnSpcReduction="10000"/>
          </a:bodyPr>
          <a:lstStyle/>
          <a:p>
            <a:pPr marL="0" indent="0" algn="l" fontAlgn="base">
              <a:lnSpc>
                <a:spcPct val="100000"/>
              </a:lnSpc>
              <a:buNone/>
            </a:pPr>
            <a:r>
              <a:rPr lang="zh-TW" altLang="en-US" sz="2200" b="1" i="1" dirty="0">
                <a:solidFill>
                  <a:srgbClr val="D6006F"/>
                </a:solidFill>
                <a:latin typeface="Times New Roman"/>
                <a:ea typeface="微軟正黑體"/>
                <a:cs typeface="Times New Roman"/>
              </a:rPr>
              <a:t>a</a:t>
            </a:r>
            <a:endParaRPr lang="zh-TW"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21"/>
                                        </p:tgtEl>
                                        <p:attrNameLst>
                                          <p:attrName>style.visibility</p:attrName>
                                        </p:attrNameLst>
                                      </p:cBhvr>
                                      <p:to>
                                        <p:strVal val="visible"/>
                                      </p:to>
                                    </p:set>
                                    <p:animEffect transition="in" filter="wipe(right)">
                                      <p:cBhvr>
                                        <p:cTn id="27" dur="900"/>
                                        <p:tgtEl>
                                          <p:spTgt spid="7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2"/>
                                        </p:tgtEl>
                                        <p:attrNameLst>
                                          <p:attrName>style.visibility</p:attrName>
                                        </p:attrNameLst>
                                      </p:cBhvr>
                                      <p:to>
                                        <p:strVal val="visible"/>
                                      </p:to>
                                    </p:set>
                                    <p:animEffect transition="in" filter="fade">
                                      <p:cBhvr>
                                        <p:cTn id="32" dur="350"/>
                                        <p:tgtEl>
                                          <p:spTgt spid="7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23"/>
                                        </p:tgtEl>
                                        <p:attrNameLst>
                                          <p:attrName>style.visibility</p:attrName>
                                        </p:attrNameLst>
                                      </p:cBhvr>
                                      <p:to>
                                        <p:strVal val="visible"/>
                                      </p:to>
                                    </p:set>
                                    <p:animEffect transition="in" filter="fade">
                                      <p:cBhvr>
                                        <p:cTn id="37" dur="400"/>
                                        <p:tgtEl>
                                          <p:spTgt spid="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endParaRPr lang="zh-TW" altLang="en-US"/>
          </a:p>
        </p:txBody>
      </p:sp>
      <p:sp>
        <p:nvSpPr>
          <p:cNvPr id="3" name="內容版面配置區 2"/>
          <p:cNvSpPr>
            <a:spLocks noGrp="1"/>
          </p:cNvSpPr>
          <p:nvPr>
            <p:ph sz="quarter" idx="10"/>
          </p:nvPr>
        </p:nvSpPr>
        <p:spPr/>
        <p:txBody>
          <a:bodyPr/>
          <a:lstStyle/>
          <a:p>
            <a:pPr indent="0">
              <a:defRPr/>
            </a:pPr>
            <a:r>
              <a:rPr lang="zh-TW" altLang="zh-TW" dirty="0"/>
              <a:t>●加速度：</a:t>
            </a:r>
            <a:endParaRPr lang="en-US" altLang="zh-TW" dirty="0"/>
          </a:p>
          <a:p>
            <a:pPr marL="355600" lvl="3" indent="0">
              <a:buNone/>
              <a:defRPr/>
            </a:pPr>
            <a:r>
              <a:rPr lang="zh-TW" altLang="zh-TW" dirty="0"/>
              <a:t>在</a:t>
            </a:r>
            <a:r>
              <a:rPr lang="en-US" altLang="zh-TW" dirty="0"/>
              <a:t>∆</a:t>
            </a:r>
            <a:r>
              <a:rPr lang="en-US" altLang="zh-TW" i="1" dirty="0"/>
              <a:t>t</a:t>
            </a:r>
            <a:r>
              <a:rPr lang="zh-TW" altLang="zh-TW" dirty="0"/>
              <a:t>時段內的平均加速度</a:t>
            </a:r>
            <a:endParaRPr lang="en-US" altLang="zh-TW" dirty="0"/>
          </a:p>
          <a:p>
            <a:pPr marL="355600" lvl="3" indent="0">
              <a:buNone/>
              <a:defRPr/>
            </a:pPr>
            <a:r>
              <a:rPr lang="zh-TW" altLang="zh-TW" dirty="0"/>
              <a:t>定義為</a:t>
            </a:r>
            <a:endParaRPr lang="en-US" altLang="zh-TW" dirty="0"/>
          </a:p>
          <a:p>
            <a:endParaRPr lang="zh-TW" altLang="en-US" dirty="0"/>
          </a:p>
        </p:txBody>
      </p:sp>
      <p:graphicFrame>
        <p:nvGraphicFramePr>
          <p:cNvPr id="4" name="Object 23">
            <a:extLst>
              <a:ext uri="{FF2B5EF4-FFF2-40B4-BE49-F238E27FC236}">
                <a16:creationId xmlns:a16="http://schemas.microsoft.com/office/drawing/2014/main" id="{B6BD2558-7FEB-8B2D-E17B-44296CC39DE5}"/>
              </a:ext>
            </a:extLst>
          </p:cNvPr>
          <p:cNvGraphicFramePr>
            <a:graphicFrameLocks noChangeAspect="1"/>
          </p:cNvGraphicFramePr>
          <p:nvPr>
            <p:extLst>
              <p:ext uri="{D42A27DB-BD31-4B8C-83A1-F6EECF244321}">
                <p14:modId xmlns:p14="http://schemas.microsoft.com/office/powerpoint/2010/main" val="2265959169"/>
              </p:ext>
            </p:extLst>
          </p:nvPr>
        </p:nvGraphicFramePr>
        <p:xfrm>
          <a:off x="827088" y="2349681"/>
          <a:ext cx="2495550" cy="914400"/>
        </p:xfrm>
        <a:graphic>
          <a:graphicData uri="http://schemas.openxmlformats.org/presentationml/2006/ole">
            <mc:AlternateContent xmlns:mc="http://schemas.openxmlformats.org/markup-compatibility/2006">
              <mc:Choice xmlns:v="urn:schemas-microsoft-com:vml" Requires="v">
                <p:oleObj name="Equation" r:id="rId2" imgW="2489200" imgH="914400" progId="Equation.DSMT4">
                  <p:embed/>
                </p:oleObj>
              </mc:Choice>
              <mc:Fallback>
                <p:oleObj name="Equation" r:id="rId2" imgW="2489200" imgH="914400" progId="Equation.DSMT4">
                  <p:embed/>
                  <p:pic>
                    <p:nvPicPr>
                      <p:cNvPr id="4" name="Object 23">
                        <a:extLst>
                          <a:ext uri="{FF2B5EF4-FFF2-40B4-BE49-F238E27FC236}">
                            <a16:creationId xmlns:a16="http://schemas.microsoft.com/office/drawing/2014/main" id="{B6BD2558-7FEB-8B2D-E17B-44296CC39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349681"/>
                        <a:ext cx="2495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24">
            <a:extLst>
              <a:ext uri="{FF2B5EF4-FFF2-40B4-BE49-F238E27FC236}">
                <a16:creationId xmlns:a16="http://schemas.microsoft.com/office/drawing/2014/main" id="{18175A34-CF10-DC91-85FF-2A15EA19DEE0}"/>
              </a:ext>
            </a:extLst>
          </p:cNvPr>
          <p:cNvGraphicFramePr>
            <a:graphicFrameLocks noChangeAspect="1"/>
          </p:cNvGraphicFramePr>
          <p:nvPr>
            <p:extLst>
              <p:ext uri="{D42A27DB-BD31-4B8C-83A1-F6EECF244321}">
                <p14:modId xmlns:p14="http://schemas.microsoft.com/office/powerpoint/2010/main" val="1760768445"/>
              </p:ext>
            </p:extLst>
          </p:nvPr>
        </p:nvGraphicFramePr>
        <p:xfrm>
          <a:off x="755650" y="3359331"/>
          <a:ext cx="1812925" cy="409575"/>
        </p:xfrm>
        <a:graphic>
          <a:graphicData uri="http://schemas.openxmlformats.org/presentationml/2006/ole">
            <mc:AlternateContent xmlns:mc="http://schemas.openxmlformats.org/markup-compatibility/2006">
              <mc:Choice xmlns:v="urn:schemas-microsoft-com:vml" Requires="v">
                <p:oleObj name="Equation" r:id="rId4" imgW="1815312" imgH="406224" progId="Equation.DSMT4">
                  <p:embed/>
                </p:oleObj>
              </mc:Choice>
              <mc:Fallback>
                <p:oleObj name="Equation" r:id="rId4" imgW="1815312" imgH="406224" progId="Equation.DSMT4">
                  <p:embed/>
                  <p:pic>
                    <p:nvPicPr>
                      <p:cNvPr id="5" name="Object 24">
                        <a:extLst>
                          <a:ext uri="{FF2B5EF4-FFF2-40B4-BE49-F238E27FC236}">
                            <a16:creationId xmlns:a16="http://schemas.microsoft.com/office/drawing/2014/main" id="{18175A34-CF10-DC91-85FF-2A15EA19DE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3359331"/>
                        <a:ext cx="18129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8134" name="Picture 6"/>
          <p:cNvPicPr>
            <a:picLocks noChangeAspect="1" noChangeArrowheads="1"/>
          </p:cNvPicPr>
          <p:nvPr/>
        </p:nvPicPr>
        <p:blipFill rotWithShape="1">
          <a:blip r:embed="rId6">
            <a:extLst>
              <a:ext uri="{28A0092B-C50C-407E-A947-70E740481C1C}">
                <a14:useLocalDpi xmlns:a14="http://schemas.microsoft.com/office/drawing/2010/main" val="0"/>
              </a:ext>
            </a:extLst>
          </a:blip>
          <a:srcRect t="8346" r="55606"/>
          <a:stretch/>
        </p:blipFill>
        <p:spPr bwMode="auto">
          <a:xfrm>
            <a:off x="4809173" y="1214844"/>
            <a:ext cx="3291840" cy="32995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圖片 5" descr="The image depicts a vector diagram with three vectors, where the first vector (ￎﾔￎﾽ) is labeled, and the other two (v and 0') are unlabeled, suggesting a vector transformation or operation.&#10;&#10;AI 產生的內容可能不正確。">
            <a:extLst>
              <a:ext uri="{FF2B5EF4-FFF2-40B4-BE49-F238E27FC236}">
                <a16:creationId xmlns:a16="http://schemas.microsoft.com/office/drawing/2014/main" id="{03CEF1F6-36EF-9DAE-4DD8-E0F109067A62}"/>
              </a:ext>
            </a:extLst>
          </p:cNvPr>
          <p:cNvPicPr>
            <a:picLocks noChangeAspect="1"/>
          </p:cNvPicPr>
          <p:nvPr/>
        </p:nvPicPr>
        <p:blipFill>
          <a:blip r:embed="rId7"/>
          <a:stretch>
            <a:fillRect/>
          </a:stretch>
        </p:blipFill>
        <p:spPr>
          <a:xfrm>
            <a:off x="6880695" y="207195"/>
            <a:ext cx="1624676" cy="1295985"/>
          </a:xfrm>
          <a:prstGeom prst="rect">
            <a:avLst/>
          </a:prstGeom>
        </p:spPr>
      </p:pic>
    </p:spTree>
    <p:extLst>
      <p:ext uri="{BB962C8B-B14F-4D97-AF65-F5344CB8AC3E}">
        <p14:creationId xmlns:p14="http://schemas.microsoft.com/office/powerpoint/2010/main" val="41745823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0"/>
          </p:nvPr>
        </p:nvSpPr>
        <p:spPr/>
        <p:txBody>
          <a:bodyPr/>
          <a:lstStyle/>
          <a:p>
            <a:pPr marL="0" lvl="2" indent="0">
              <a:lnSpc>
                <a:spcPct val="100000"/>
              </a:lnSpc>
              <a:buClr>
                <a:srgbClr val="1F8899"/>
              </a:buClr>
              <a:buSzTx/>
              <a:defRPr/>
            </a:pPr>
            <a:r>
              <a:rPr lang="zh-TW" altLang="zh-TW" b="0" dirty="0">
                <a:latin typeface="+mn-lt"/>
              </a:rPr>
              <a:t>必要時，</a:t>
            </a:r>
            <a:r>
              <a:rPr lang="en-US" altLang="zh-TW" b="0" dirty="0">
                <a:latin typeface="+mn-lt"/>
              </a:rPr>
              <a:t>   </a:t>
            </a:r>
            <a:r>
              <a:rPr lang="zh-TW" altLang="zh-TW" b="0" dirty="0">
                <a:latin typeface="+mn-lt"/>
              </a:rPr>
              <a:t>亦可用</a:t>
            </a:r>
            <a:r>
              <a:rPr lang="en-US" altLang="zh-TW" b="0" dirty="0">
                <a:latin typeface="+mn-lt"/>
              </a:rPr>
              <a:t>    </a:t>
            </a:r>
            <a:r>
              <a:rPr lang="zh-TW" altLang="zh-TW" b="0" dirty="0">
                <a:latin typeface="+mn-lt"/>
              </a:rPr>
              <a:t>或</a:t>
            </a:r>
            <a:r>
              <a:rPr lang="en-US" altLang="zh-TW" b="0" dirty="0">
                <a:latin typeface="+mn-lt"/>
              </a:rPr>
              <a:t>   </a:t>
            </a:r>
            <a:r>
              <a:rPr lang="zh-TW" altLang="zh-TW" b="0" dirty="0">
                <a:latin typeface="+mn-lt"/>
              </a:rPr>
              <a:t>來表示。加速度</a:t>
            </a:r>
            <a:r>
              <a:rPr lang="en-US" altLang="zh-TW" b="0" dirty="0">
                <a:latin typeface="+mn-lt"/>
              </a:rPr>
              <a:t>    </a:t>
            </a:r>
            <a:r>
              <a:rPr lang="zh-TW" altLang="zh-TW" b="0" dirty="0">
                <a:latin typeface="+mn-lt"/>
              </a:rPr>
              <a:t>的方向和</a:t>
            </a:r>
            <a:r>
              <a:rPr lang="en-US" altLang="zh-TW" b="0" dirty="0">
                <a:latin typeface="+mn-lt"/>
              </a:rPr>
              <a:t> </a:t>
            </a:r>
            <a:r>
              <a:rPr lang="zh-TW" altLang="en-US" b="0" dirty="0">
                <a:latin typeface="+mn-lt"/>
              </a:rPr>
              <a:t>　</a:t>
            </a:r>
            <a:r>
              <a:rPr lang="en-US" altLang="zh-TW" b="0" dirty="0">
                <a:latin typeface="+mn-lt"/>
              </a:rPr>
              <a:t> </a:t>
            </a:r>
            <a:r>
              <a:rPr lang="zh-TW" altLang="zh-TW" b="0" dirty="0">
                <a:latin typeface="+mn-lt"/>
              </a:rPr>
              <a:t>相同，一般而言，</a:t>
            </a:r>
            <a:r>
              <a:rPr lang="zh-TW" altLang="en-US" b="0" dirty="0">
                <a:latin typeface="+mn-lt"/>
              </a:rPr>
              <a:t>　</a:t>
            </a:r>
            <a:r>
              <a:rPr lang="en-US" altLang="zh-TW" b="0" dirty="0">
                <a:latin typeface="+mn-lt"/>
              </a:rPr>
              <a:t> </a:t>
            </a:r>
            <a:r>
              <a:rPr lang="zh-TW" altLang="zh-TW" b="0" dirty="0">
                <a:latin typeface="+mn-lt"/>
              </a:rPr>
              <a:t>的方向並不與路徑相切。</a:t>
            </a:r>
            <a:endParaRPr lang="zh-TW" altLang="en-US" b="0" dirty="0">
              <a:latin typeface="+mn-lt"/>
            </a:endParaRPr>
          </a:p>
          <a:p>
            <a:pPr marL="0" lvl="2" indent="0" algn="just">
              <a:lnSpc>
                <a:spcPct val="100000"/>
              </a:lnSpc>
              <a:buClr>
                <a:srgbClr val="1F8899"/>
              </a:buClr>
              <a:defRPr/>
            </a:pPr>
            <a:endParaRPr lang="zh-TW" altLang="en-US" b="0" dirty="0">
              <a:latin typeface="+mn-lt"/>
            </a:endParaRPr>
          </a:p>
        </p:txBody>
      </p:sp>
      <p:graphicFrame>
        <p:nvGraphicFramePr>
          <p:cNvPr id="5" name="Object 36">
            <a:extLst>
              <a:ext uri="{FF2B5EF4-FFF2-40B4-BE49-F238E27FC236}">
                <a16:creationId xmlns:a16="http://schemas.microsoft.com/office/drawing/2014/main" id="{B3C24FB0-A33A-3C11-25FD-C585552F8604}"/>
              </a:ext>
            </a:extLst>
          </p:cNvPr>
          <p:cNvGraphicFramePr>
            <a:graphicFrameLocks noChangeAspect="1"/>
          </p:cNvGraphicFramePr>
          <p:nvPr>
            <p:extLst>
              <p:ext uri="{D42A27DB-BD31-4B8C-83A1-F6EECF244321}">
                <p14:modId xmlns:p14="http://schemas.microsoft.com/office/powerpoint/2010/main" val="4220487128"/>
              </p:ext>
            </p:extLst>
          </p:nvPr>
        </p:nvGraphicFramePr>
        <p:xfrm>
          <a:off x="1779384" y="814656"/>
          <a:ext cx="276225" cy="409575"/>
        </p:xfrm>
        <a:graphic>
          <a:graphicData uri="http://schemas.openxmlformats.org/presentationml/2006/ole">
            <mc:AlternateContent xmlns:mc="http://schemas.openxmlformats.org/markup-compatibility/2006">
              <mc:Choice xmlns:v="urn:schemas-microsoft-com:vml" Requires="v">
                <p:oleObj name="Equation" r:id="rId2" imgW="279279" imgH="406224" progId="Equation.DSMT4">
                  <p:embed/>
                </p:oleObj>
              </mc:Choice>
              <mc:Fallback>
                <p:oleObj name="Equation" r:id="rId2" imgW="279279" imgH="406224" progId="Equation.DSMT4">
                  <p:embed/>
                  <p:pic>
                    <p:nvPicPr>
                      <p:cNvPr id="5" name="Object 36">
                        <a:extLst>
                          <a:ext uri="{FF2B5EF4-FFF2-40B4-BE49-F238E27FC236}">
                            <a16:creationId xmlns:a16="http://schemas.microsoft.com/office/drawing/2014/main" id="{B3C24FB0-A33A-3C11-25FD-C585552F86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384" y="814656"/>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37">
            <a:extLst>
              <a:ext uri="{FF2B5EF4-FFF2-40B4-BE49-F238E27FC236}">
                <a16:creationId xmlns:a16="http://schemas.microsoft.com/office/drawing/2014/main" id="{15B7BD4C-ACC7-147C-1D66-E2D3D025846B}"/>
              </a:ext>
            </a:extLst>
          </p:cNvPr>
          <p:cNvGraphicFramePr>
            <a:graphicFrameLocks noChangeAspect="1"/>
          </p:cNvGraphicFramePr>
          <p:nvPr>
            <p:extLst>
              <p:ext uri="{D42A27DB-BD31-4B8C-83A1-F6EECF244321}">
                <p14:modId xmlns:p14="http://schemas.microsoft.com/office/powerpoint/2010/main" val="2062060894"/>
              </p:ext>
            </p:extLst>
          </p:nvPr>
        </p:nvGraphicFramePr>
        <p:xfrm>
          <a:off x="3256393" y="843231"/>
          <a:ext cx="219075" cy="381000"/>
        </p:xfrm>
        <a:graphic>
          <a:graphicData uri="http://schemas.openxmlformats.org/presentationml/2006/ole">
            <mc:AlternateContent xmlns:mc="http://schemas.openxmlformats.org/markup-compatibility/2006">
              <mc:Choice xmlns:v="urn:schemas-microsoft-com:vml" Requires="v">
                <p:oleObj name="Equation" r:id="rId4" imgW="215806" imgH="380835" progId="Equation.DSMT4">
                  <p:embed/>
                </p:oleObj>
              </mc:Choice>
              <mc:Fallback>
                <p:oleObj name="Equation" r:id="rId4" imgW="215806" imgH="380835" progId="Equation.DSMT4">
                  <p:embed/>
                  <p:pic>
                    <p:nvPicPr>
                      <p:cNvPr id="6" name="Object 37">
                        <a:extLst>
                          <a:ext uri="{FF2B5EF4-FFF2-40B4-BE49-F238E27FC236}">
                            <a16:creationId xmlns:a16="http://schemas.microsoft.com/office/drawing/2014/main" id="{15B7BD4C-ACC7-147C-1D66-E2D3D02584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6393" y="843231"/>
                        <a:ext cx="2190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38">
            <a:extLst>
              <a:ext uri="{FF2B5EF4-FFF2-40B4-BE49-F238E27FC236}">
                <a16:creationId xmlns:a16="http://schemas.microsoft.com/office/drawing/2014/main" id="{42BBDC2F-8800-8974-E5C4-88609648069E}"/>
              </a:ext>
            </a:extLst>
          </p:cNvPr>
          <p:cNvGraphicFramePr>
            <a:graphicFrameLocks noChangeAspect="1"/>
          </p:cNvGraphicFramePr>
          <p:nvPr>
            <p:extLst>
              <p:ext uri="{D42A27DB-BD31-4B8C-83A1-F6EECF244321}">
                <p14:modId xmlns:p14="http://schemas.microsoft.com/office/powerpoint/2010/main" val="2433335895"/>
              </p:ext>
            </p:extLst>
          </p:nvPr>
        </p:nvGraphicFramePr>
        <p:xfrm>
          <a:off x="3928041" y="843231"/>
          <a:ext cx="219075" cy="371475"/>
        </p:xfrm>
        <a:graphic>
          <a:graphicData uri="http://schemas.openxmlformats.org/presentationml/2006/ole">
            <mc:AlternateContent xmlns:mc="http://schemas.openxmlformats.org/markup-compatibility/2006">
              <mc:Choice xmlns:v="urn:schemas-microsoft-com:vml" Requires="v">
                <p:oleObj name="Equation" r:id="rId6" imgW="215806" imgH="368140" progId="Equation.DSMT4">
                  <p:embed/>
                </p:oleObj>
              </mc:Choice>
              <mc:Fallback>
                <p:oleObj name="Equation" r:id="rId6" imgW="215806" imgH="368140" progId="Equation.DSMT4">
                  <p:embed/>
                  <p:pic>
                    <p:nvPicPr>
                      <p:cNvPr id="7" name="Object 38">
                        <a:extLst>
                          <a:ext uri="{FF2B5EF4-FFF2-40B4-BE49-F238E27FC236}">
                            <a16:creationId xmlns:a16="http://schemas.microsoft.com/office/drawing/2014/main" id="{42BBDC2F-8800-8974-E5C4-8860964806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8041" y="843231"/>
                        <a:ext cx="2190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39">
            <a:extLst>
              <a:ext uri="{FF2B5EF4-FFF2-40B4-BE49-F238E27FC236}">
                <a16:creationId xmlns:a16="http://schemas.microsoft.com/office/drawing/2014/main" id="{CD5AC1A2-A87A-618F-2A2A-D4C8BC67440A}"/>
              </a:ext>
            </a:extLst>
          </p:cNvPr>
          <p:cNvGraphicFramePr>
            <a:graphicFrameLocks noChangeAspect="1"/>
          </p:cNvGraphicFramePr>
          <p:nvPr>
            <p:extLst>
              <p:ext uri="{D42A27DB-BD31-4B8C-83A1-F6EECF244321}">
                <p14:modId xmlns:p14="http://schemas.microsoft.com/office/powerpoint/2010/main" val="1404377527"/>
              </p:ext>
            </p:extLst>
          </p:nvPr>
        </p:nvGraphicFramePr>
        <p:xfrm>
          <a:off x="6648450" y="841194"/>
          <a:ext cx="276225" cy="409575"/>
        </p:xfrm>
        <a:graphic>
          <a:graphicData uri="http://schemas.openxmlformats.org/presentationml/2006/ole">
            <mc:AlternateContent xmlns:mc="http://schemas.openxmlformats.org/markup-compatibility/2006">
              <mc:Choice xmlns:v="urn:schemas-microsoft-com:vml" Requires="v">
                <p:oleObj name="Equation" r:id="rId8" imgW="279279" imgH="406224" progId="Equation.DSMT4">
                  <p:embed/>
                </p:oleObj>
              </mc:Choice>
              <mc:Fallback>
                <p:oleObj name="Equation" r:id="rId8" imgW="279279" imgH="406224" progId="Equation.DSMT4">
                  <p:embed/>
                  <p:pic>
                    <p:nvPicPr>
                      <p:cNvPr id="8" name="Object 39">
                        <a:extLst>
                          <a:ext uri="{FF2B5EF4-FFF2-40B4-BE49-F238E27FC236}">
                            <a16:creationId xmlns:a16="http://schemas.microsoft.com/office/drawing/2014/main" id="{CD5AC1A2-A87A-618F-2A2A-D4C8BC67440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48450" y="841194"/>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0">
            <a:extLst>
              <a:ext uri="{FF2B5EF4-FFF2-40B4-BE49-F238E27FC236}">
                <a16:creationId xmlns:a16="http://schemas.microsoft.com/office/drawing/2014/main" id="{F8DDE2E9-AD0E-5BF5-296F-39BD5C8D03F9}"/>
              </a:ext>
            </a:extLst>
          </p:cNvPr>
          <p:cNvGraphicFramePr>
            <a:graphicFrameLocks noChangeAspect="1"/>
          </p:cNvGraphicFramePr>
          <p:nvPr>
            <p:extLst>
              <p:ext uri="{D42A27DB-BD31-4B8C-83A1-F6EECF244321}">
                <p14:modId xmlns:p14="http://schemas.microsoft.com/office/powerpoint/2010/main" val="3342245490"/>
              </p:ext>
            </p:extLst>
          </p:nvPr>
        </p:nvGraphicFramePr>
        <p:xfrm>
          <a:off x="833709" y="1248152"/>
          <a:ext cx="457200" cy="409575"/>
        </p:xfrm>
        <a:graphic>
          <a:graphicData uri="http://schemas.openxmlformats.org/presentationml/2006/ole">
            <mc:AlternateContent xmlns:mc="http://schemas.openxmlformats.org/markup-compatibility/2006">
              <mc:Choice xmlns:v="urn:schemas-microsoft-com:vml" Requires="v">
                <p:oleObj name="Equation" r:id="rId10" imgW="457002" imgH="406224" progId="Equation.DSMT4">
                  <p:embed/>
                </p:oleObj>
              </mc:Choice>
              <mc:Fallback>
                <p:oleObj name="Equation" r:id="rId10" imgW="457002" imgH="406224" progId="Equation.DSMT4">
                  <p:embed/>
                  <p:pic>
                    <p:nvPicPr>
                      <p:cNvPr id="9" name="Object 40">
                        <a:extLst>
                          <a:ext uri="{FF2B5EF4-FFF2-40B4-BE49-F238E27FC236}">
                            <a16:creationId xmlns:a16="http://schemas.microsoft.com/office/drawing/2014/main" id="{F8DDE2E9-AD0E-5BF5-296F-39BD5C8D03F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3709" y="1248152"/>
                        <a:ext cx="4572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1">
            <a:extLst>
              <a:ext uri="{FF2B5EF4-FFF2-40B4-BE49-F238E27FC236}">
                <a16:creationId xmlns:a16="http://schemas.microsoft.com/office/drawing/2014/main" id="{870997AF-36B2-45E6-61EB-78231A66E16B}"/>
              </a:ext>
            </a:extLst>
          </p:cNvPr>
          <p:cNvGraphicFramePr>
            <a:graphicFrameLocks noChangeAspect="1"/>
          </p:cNvGraphicFramePr>
          <p:nvPr>
            <p:extLst>
              <p:ext uri="{D42A27DB-BD31-4B8C-83A1-F6EECF244321}">
                <p14:modId xmlns:p14="http://schemas.microsoft.com/office/powerpoint/2010/main" val="211861485"/>
              </p:ext>
            </p:extLst>
          </p:nvPr>
        </p:nvGraphicFramePr>
        <p:xfrm>
          <a:off x="4144131" y="1309004"/>
          <a:ext cx="276225" cy="409575"/>
        </p:xfrm>
        <a:graphic>
          <a:graphicData uri="http://schemas.openxmlformats.org/presentationml/2006/ole">
            <mc:AlternateContent xmlns:mc="http://schemas.openxmlformats.org/markup-compatibility/2006">
              <mc:Choice xmlns:v="urn:schemas-microsoft-com:vml" Requires="v">
                <p:oleObj name="Equation" r:id="rId12" imgW="279279" imgH="406224" progId="Equation.DSMT4">
                  <p:embed/>
                </p:oleObj>
              </mc:Choice>
              <mc:Fallback>
                <p:oleObj name="Equation" r:id="rId12" imgW="279279" imgH="406224" progId="Equation.DSMT4">
                  <p:embed/>
                  <p:pic>
                    <p:nvPicPr>
                      <p:cNvPr id="10" name="Object 41">
                        <a:extLst>
                          <a:ext uri="{FF2B5EF4-FFF2-40B4-BE49-F238E27FC236}">
                            <a16:creationId xmlns:a16="http://schemas.microsoft.com/office/drawing/2014/main" id="{870997AF-36B2-45E6-61EB-78231A66E16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4131" y="1309004"/>
                        <a:ext cx="2762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Picture 6"/>
          <p:cNvPicPr>
            <a:picLocks noChangeAspect="1" noChangeArrowheads="1"/>
          </p:cNvPicPr>
          <p:nvPr/>
        </p:nvPicPr>
        <p:blipFill rotWithShape="1">
          <a:blip r:embed="rId14">
            <a:extLst>
              <a:ext uri="{28A0092B-C50C-407E-A947-70E740481C1C}">
                <a14:useLocalDpi xmlns:a14="http://schemas.microsoft.com/office/drawing/2010/main" val="0"/>
              </a:ext>
            </a:extLst>
          </a:blip>
          <a:srcRect l="55606" t="8346"/>
          <a:stretch/>
        </p:blipFill>
        <p:spPr bwMode="auto">
          <a:xfrm>
            <a:off x="4911635" y="1726379"/>
            <a:ext cx="3291840" cy="32995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圖片 3" descr="The image depicts a vector diagram showing how acceleration (a) must be directed towards the convex side of a curve to maintain alignment with the path, and the acceleration vector must adjust in both magnitude and direction.&#10;&#10;AI 產生的內容可能不正確。">
            <a:extLst>
              <a:ext uri="{FF2B5EF4-FFF2-40B4-BE49-F238E27FC236}">
                <a16:creationId xmlns:a16="http://schemas.microsoft.com/office/drawing/2014/main" id="{934E9A52-9146-B705-CB9A-C86C3ECDE95E}"/>
              </a:ext>
            </a:extLst>
          </p:cNvPr>
          <p:cNvPicPr>
            <a:picLocks noChangeAspect="1"/>
          </p:cNvPicPr>
          <p:nvPr/>
        </p:nvPicPr>
        <p:blipFill>
          <a:blip r:embed="rId15"/>
          <a:stretch>
            <a:fillRect/>
          </a:stretch>
        </p:blipFill>
        <p:spPr>
          <a:xfrm>
            <a:off x="-4552154" y="2012469"/>
            <a:ext cx="4218325" cy="2389477"/>
          </a:xfrm>
          <a:prstGeom prst="rect">
            <a:avLst/>
          </a:prstGeom>
        </p:spPr>
      </p:pic>
      <p:pic>
        <p:nvPicPr>
          <p:cNvPr id="16" name="圖片 15" descr="The image illustrates a vector diagram depicting velocity (v) along the tangent, acceleration (a) along the normal, and the relationship between positive and negative acceleration in a curve.&#10;&#10;AI 產生的內容可能不正確。">
            <a:extLst>
              <a:ext uri="{FF2B5EF4-FFF2-40B4-BE49-F238E27FC236}">
                <a16:creationId xmlns:a16="http://schemas.microsoft.com/office/drawing/2014/main" id="{B7264312-219E-8660-F94A-43EE22EB9FA2}"/>
              </a:ext>
            </a:extLst>
          </p:cNvPr>
          <p:cNvPicPr>
            <a:picLocks noChangeAspect="1"/>
          </p:cNvPicPr>
          <p:nvPr/>
        </p:nvPicPr>
        <p:blipFill>
          <a:blip r:embed="rId16"/>
          <a:srcRect t="10133"/>
          <a:stretch>
            <a:fillRect/>
          </a:stretch>
        </p:blipFill>
        <p:spPr>
          <a:xfrm>
            <a:off x="142076" y="2002272"/>
            <a:ext cx="4596419" cy="27477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13634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pic>
        <p:nvPicPr>
          <p:cNvPr id="71682" name="Picture 2"/>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1743574" y="812800"/>
            <a:ext cx="5191715" cy="4087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86320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口訣</a:t>
            </a:r>
            <a:r>
              <a:rPr lang="zh-TW" altLang="en-US" sz="2800" b="0" i="0" dirty="0">
                <a:solidFill>
                  <a:srgbClr val="1F8899"/>
                </a:solidFill>
                <a:latin typeface="Arial"/>
                <a:ea typeface="微軟正黑體"/>
                <a:cs typeface="Times New Roman"/>
              </a:rPr>
              <a:t>　直線靠正負號，曲線靠向量</a:t>
            </a:r>
            <a:endParaRPr lang="zh-TW" sz="3200" dirty="0"/>
          </a:p>
        </p:txBody>
      </p:sp>
      <p:sp>
        <p:nvSpPr>
          <p:cNvPr id="760" name="Shape"/>
          <p:cNvSpPr/>
          <p:nvPr/>
        </p:nvSpPr>
        <p:spPr>
          <a:xfrm>
            <a:off x="365760" y="1024128"/>
            <a:ext cx="1417320" cy="457200"/>
          </a:xfrm>
          <a:prstGeom prst="roundRect">
            <a:avLst>
              <a:gd name="adj" fmla="val 22000"/>
            </a:avLst>
          </a:prstGeom>
          <a:solidFill>
            <a:srgbClr val="333333"/>
          </a:solidFill>
          <a:ln>
            <a:noFill/>
          </a:ln>
        </p:spPr>
        <p:txBody>
          <a:bodyPr/>
          <a:lstStyle/>
          <a:p>
            <a:endParaRPr lang="zh-TW"/>
          </a:p>
        </p:txBody>
      </p:sp>
      <p:sp>
        <p:nvSpPr>
          <p:cNvPr id="761" name="Text"/>
          <p:cNvSpPr txBox="1"/>
          <p:nvPr/>
        </p:nvSpPr>
        <p:spPr>
          <a:xfrm>
            <a:off x="365760" y="1024128"/>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項目</a:t>
            </a:r>
            <a:endParaRPr lang="zh-TW" sz="2200" dirty="0"/>
          </a:p>
        </p:txBody>
      </p:sp>
      <p:sp>
        <p:nvSpPr>
          <p:cNvPr id="762" name="Text"/>
          <p:cNvSpPr txBox="1"/>
          <p:nvPr/>
        </p:nvSpPr>
        <p:spPr>
          <a:xfrm>
            <a:off x="2057400" y="1005840"/>
            <a:ext cx="278892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300" b="1" i="0" dirty="0">
                <a:solidFill>
                  <a:srgbClr val="1F8899"/>
                </a:solidFill>
                <a:latin typeface="Times New Roman"/>
                <a:ea typeface="微軟正黑體"/>
                <a:cs typeface="Times New Roman"/>
              </a:rPr>
              <a:t>直線運動</a:t>
            </a:r>
            <a:endParaRPr lang="zh-TW" sz="2300" dirty="0"/>
          </a:p>
        </p:txBody>
      </p:sp>
      <p:sp>
        <p:nvSpPr>
          <p:cNvPr id="763" name="Text"/>
          <p:cNvSpPr txBox="1"/>
          <p:nvPr/>
        </p:nvSpPr>
        <p:spPr>
          <a:xfrm>
            <a:off x="5074920" y="1005840"/>
            <a:ext cx="324612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300" b="1" i="0" dirty="0">
                <a:solidFill>
                  <a:srgbClr val="D6006F"/>
                </a:solidFill>
                <a:latin typeface="Times New Roman"/>
                <a:ea typeface="微軟正黑體"/>
                <a:cs typeface="Times New Roman"/>
              </a:rPr>
              <a:t>曲線運動</a:t>
            </a:r>
            <a:endParaRPr lang="zh-TW" sz="2300" dirty="0"/>
          </a:p>
        </p:txBody>
      </p:sp>
      <p:sp>
        <p:nvSpPr>
          <p:cNvPr id="770" name="Shape"/>
          <p:cNvSpPr/>
          <p:nvPr/>
        </p:nvSpPr>
        <p:spPr>
          <a:xfrm>
            <a:off x="365760" y="1627632"/>
            <a:ext cx="1417320" cy="457200"/>
          </a:xfrm>
          <a:prstGeom prst="roundRect">
            <a:avLst>
              <a:gd name="adj" fmla="val 22000"/>
            </a:avLst>
          </a:prstGeom>
          <a:solidFill>
            <a:srgbClr val="1F8899"/>
          </a:solidFill>
          <a:ln>
            <a:noFill/>
          </a:ln>
        </p:spPr>
        <p:txBody>
          <a:bodyPr/>
          <a:lstStyle/>
          <a:p>
            <a:endParaRPr lang="zh-TW"/>
          </a:p>
        </p:txBody>
      </p:sp>
      <p:sp>
        <p:nvSpPr>
          <p:cNvPr id="771" name="Text"/>
          <p:cNvSpPr txBox="1"/>
          <p:nvPr/>
        </p:nvSpPr>
        <p:spPr>
          <a:xfrm>
            <a:off x="365760" y="1627632"/>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位置</a:t>
            </a:r>
            <a:endParaRPr lang="zh-TW" sz="2200" dirty="0"/>
          </a:p>
        </p:txBody>
      </p:sp>
      <p:sp>
        <p:nvSpPr>
          <p:cNvPr id="772" name="Text"/>
          <p:cNvSpPr txBox="1"/>
          <p:nvPr/>
        </p:nvSpPr>
        <p:spPr>
          <a:xfrm>
            <a:off x="2057400" y="1609344"/>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座標 s（帶正負）</a:t>
            </a:r>
            <a:endParaRPr lang="zh-TW" sz="2300" dirty="0"/>
          </a:p>
        </p:txBody>
      </p:sp>
      <p:sp>
        <p:nvSpPr>
          <p:cNvPr id="773" name="Text"/>
          <p:cNvSpPr txBox="1"/>
          <p:nvPr/>
        </p:nvSpPr>
        <p:spPr>
          <a:xfrm>
            <a:off x="5074920" y="1609344"/>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位置向量 r</a:t>
            </a:r>
            <a:endParaRPr lang="zh-TW" sz="2300" dirty="0"/>
          </a:p>
        </p:txBody>
      </p:sp>
      <p:sp>
        <p:nvSpPr>
          <p:cNvPr id="774" name="Shape"/>
          <p:cNvSpPr/>
          <p:nvPr/>
        </p:nvSpPr>
        <p:spPr>
          <a:xfrm>
            <a:off x="365760" y="2231136"/>
            <a:ext cx="1417320" cy="457200"/>
          </a:xfrm>
          <a:prstGeom prst="roundRect">
            <a:avLst>
              <a:gd name="adj" fmla="val 22000"/>
            </a:avLst>
          </a:prstGeom>
          <a:solidFill>
            <a:srgbClr val="1F8899"/>
          </a:solidFill>
          <a:ln>
            <a:noFill/>
          </a:ln>
        </p:spPr>
        <p:txBody>
          <a:bodyPr/>
          <a:lstStyle/>
          <a:p>
            <a:endParaRPr lang="zh-TW"/>
          </a:p>
        </p:txBody>
      </p:sp>
      <p:sp>
        <p:nvSpPr>
          <p:cNvPr id="775" name="Text"/>
          <p:cNvSpPr txBox="1"/>
          <p:nvPr/>
        </p:nvSpPr>
        <p:spPr>
          <a:xfrm>
            <a:off x="365760" y="2231136"/>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位移</a:t>
            </a:r>
            <a:endParaRPr lang="zh-TW" sz="2200" dirty="0"/>
          </a:p>
        </p:txBody>
      </p:sp>
      <p:sp>
        <p:nvSpPr>
          <p:cNvPr id="776" name="Text"/>
          <p:cNvSpPr txBox="1"/>
          <p:nvPr/>
        </p:nvSpPr>
        <p:spPr>
          <a:xfrm>
            <a:off x="2057400" y="2212848"/>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Δs = s′ − s</a:t>
            </a:r>
            <a:endParaRPr lang="zh-TW" sz="2300" dirty="0"/>
          </a:p>
        </p:txBody>
      </p:sp>
      <p:sp>
        <p:nvSpPr>
          <p:cNvPr id="777" name="Text"/>
          <p:cNvSpPr txBox="1"/>
          <p:nvPr/>
        </p:nvSpPr>
        <p:spPr>
          <a:xfrm>
            <a:off x="5074920" y="2212848"/>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Δr = r′ − r（向量）</a:t>
            </a:r>
            <a:endParaRPr lang="zh-TW" sz="2300" dirty="0"/>
          </a:p>
        </p:txBody>
      </p:sp>
      <p:sp>
        <p:nvSpPr>
          <p:cNvPr id="778" name="Shape"/>
          <p:cNvSpPr/>
          <p:nvPr/>
        </p:nvSpPr>
        <p:spPr>
          <a:xfrm>
            <a:off x="365760" y="2834640"/>
            <a:ext cx="1417320" cy="457200"/>
          </a:xfrm>
          <a:prstGeom prst="roundRect">
            <a:avLst>
              <a:gd name="adj" fmla="val 22000"/>
            </a:avLst>
          </a:prstGeom>
          <a:solidFill>
            <a:srgbClr val="1F8899"/>
          </a:solidFill>
          <a:ln>
            <a:noFill/>
          </a:ln>
        </p:spPr>
        <p:txBody>
          <a:bodyPr/>
          <a:lstStyle/>
          <a:p>
            <a:endParaRPr lang="zh-TW"/>
          </a:p>
        </p:txBody>
      </p:sp>
      <p:sp>
        <p:nvSpPr>
          <p:cNvPr id="779" name="Text"/>
          <p:cNvSpPr txBox="1"/>
          <p:nvPr/>
        </p:nvSpPr>
        <p:spPr>
          <a:xfrm>
            <a:off x="365760" y="2834640"/>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速度</a:t>
            </a:r>
            <a:endParaRPr lang="zh-TW" sz="2200" dirty="0"/>
          </a:p>
        </p:txBody>
      </p:sp>
      <p:sp>
        <p:nvSpPr>
          <p:cNvPr id="780" name="Text"/>
          <p:cNvSpPr txBox="1"/>
          <p:nvPr/>
        </p:nvSpPr>
        <p:spPr>
          <a:xfrm>
            <a:off x="2057400" y="2816352"/>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v = ds/dt</a:t>
            </a:r>
            <a:endParaRPr lang="zh-TW" sz="2300" dirty="0"/>
          </a:p>
        </p:txBody>
      </p:sp>
      <p:sp>
        <p:nvSpPr>
          <p:cNvPr id="781" name="Text"/>
          <p:cNvSpPr txBox="1"/>
          <p:nvPr/>
        </p:nvSpPr>
        <p:spPr>
          <a:xfrm>
            <a:off x="5074920" y="2816352"/>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v = dr/dt，與路徑相切</a:t>
            </a:r>
            <a:endParaRPr lang="zh-TW" sz="2300" dirty="0"/>
          </a:p>
        </p:txBody>
      </p:sp>
      <p:sp>
        <p:nvSpPr>
          <p:cNvPr id="782" name="Shape"/>
          <p:cNvSpPr/>
          <p:nvPr/>
        </p:nvSpPr>
        <p:spPr>
          <a:xfrm>
            <a:off x="365760" y="3438144"/>
            <a:ext cx="1417320" cy="457200"/>
          </a:xfrm>
          <a:prstGeom prst="roundRect">
            <a:avLst>
              <a:gd name="adj" fmla="val 22000"/>
            </a:avLst>
          </a:prstGeom>
          <a:solidFill>
            <a:srgbClr val="1F8899"/>
          </a:solidFill>
          <a:ln>
            <a:noFill/>
          </a:ln>
        </p:spPr>
        <p:txBody>
          <a:bodyPr/>
          <a:lstStyle/>
          <a:p>
            <a:endParaRPr lang="zh-TW"/>
          </a:p>
        </p:txBody>
      </p:sp>
      <p:sp>
        <p:nvSpPr>
          <p:cNvPr id="783" name="Text"/>
          <p:cNvSpPr txBox="1"/>
          <p:nvPr/>
        </p:nvSpPr>
        <p:spPr>
          <a:xfrm>
            <a:off x="365760" y="3438144"/>
            <a:ext cx="141732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200" b="1" i="0" dirty="0">
                <a:solidFill>
                  <a:srgbClr val="FFFFFF"/>
                </a:solidFill>
                <a:latin typeface="Times New Roman"/>
                <a:ea typeface="微軟正黑體"/>
                <a:cs typeface="Times New Roman"/>
              </a:rPr>
              <a:t>加速度</a:t>
            </a:r>
            <a:endParaRPr lang="zh-TW" sz="2200" dirty="0"/>
          </a:p>
        </p:txBody>
      </p:sp>
      <p:sp>
        <p:nvSpPr>
          <p:cNvPr id="784" name="Text"/>
          <p:cNvSpPr txBox="1"/>
          <p:nvPr/>
        </p:nvSpPr>
        <p:spPr>
          <a:xfrm>
            <a:off x="2057400" y="3419856"/>
            <a:ext cx="27889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a = dv/dt</a:t>
            </a:r>
            <a:endParaRPr lang="zh-TW" sz="2300" dirty="0"/>
          </a:p>
        </p:txBody>
      </p:sp>
      <p:sp>
        <p:nvSpPr>
          <p:cNvPr id="785" name="Text"/>
          <p:cNvSpPr txBox="1"/>
          <p:nvPr/>
        </p:nvSpPr>
        <p:spPr>
          <a:xfrm>
            <a:off x="5074920" y="3419856"/>
            <a:ext cx="3246120" cy="49377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300" b="0" i="0" dirty="0">
                <a:solidFill>
                  <a:srgbClr val="333333"/>
                </a:solidFill>
                <a:latin typeface="Times New Roman"/>
                <a:ea typeface="微軟正黑體"/>
                <a:cs typeface="Times New Roman"/>
              </a:rPr>
              <a:t>a = dv/dt，不一定相切</a:t>
            </a:r>
            <a:endParaRPr lang="zh-TW" sz="2300" dirty="0"/>
          </a:p>
        </p:txBody>
      </p:sp>
      <p:sp>
        <p:nvSpPr>
          <p:cNvPr id="380" name="Shape"/>
          <p:cNvSpPr/>
          <p:nvPr/>
        </p:nvSpPr>
        <p:spPr>
          <a:xfrm>
            <a:off x="365760" y="4078224"/>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4078224"/>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定義一模一樣，只是把正負號換成向量</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0"/>
                                        </p:tgtEl>
                                        <p:attrNameLst>
                                          <p:attrName>style.visibility</p:attrName>
                                        </p:attrNameLst>
                                      </p:cBhvr>
                                      <p:to>
                                        <p:strVal val="visible"/>
                                      </p:to>
                                    </p:set>
                                    <p:animEffect transition="in" filter="fade">
                                      <p:cBhvr>
                                        <p:cTn id="7" dur="280"/>
                                        <p:tgtEl>
                                          <p:spTgt spid="770"/>
                                        </p:tgtEl>
                                      </p:cBhvr>
                                    </p:animEffect>
                                  </p:childTnLst>
                                </p:cTn>
                              </p:par>
                              <p:par>
                                <p:cTn id="8" presetID="10" presetClass="entr" presetSubtype="0" fill="hold" nodeType="withEffect">
                                  <p:stCondLst>
                                    <p:cond delay="0"/>
                                  </p:stCondLst>
                                  <p:childTnLst>
                                    <p:set>
                                      <p:cBhvr>
                                        <p:cTn id="9" dur="1" fill="hold">
                                          <p:stCondLst>
                                            <p:cond delay="0"/>
                                          </p:stCondLst>
                                        </p:cTn>
                                        <p:tgtEl>
                                          <p:spTgt spid="771"/>
                                        </p:tgtEl>
                                        <p:attrNameLst>
                                          <p:attrName>style.visibility</p:attrName>
                                        </p:attrNameLst>
                                      </p:cBhvr>
                                      <p:to>
                                        <p:strVal val="visible"/>
                                      </p:to>
                                    </p:set>
                                    <p:animEffect transition="in" filter="fade">
                                      <p:cBhvr>
                                        <p:cTn id="10" dur="280"/>
                                        <p:tgtEl>
                                          <p:spTgt spid="771"/>
                                        </p:tgtEl>
                                      </p:cBhvr>
                                    </p:animEffect>
                                  </p:childTnLst>
                                </p:cTn>
                              </p:par>
                              <p:par>
                                <p:cTn id="11" presetID="10" presetClass="entr" presetSubtype="0" fill="hold" nodeType="withEffect">
                                  <p:stCondLst>
                                    <p:cond delay="0"/>
                                  </p:stCondLst>
                                  <p:childTnLst>
                                    <p:set>
                                      <p:cBhvr>
                                        <p:cTn id="12" dur="1" fill="hold">
                                          <p:stCondLst>
                                            <p:cond delay="0"/>
                                          </p:stCondLst>
                                        </p:cTn>
                                        <p:tgtEl>
                                          <p:spTgt spid="772"/>
                                        </p:tgtEl>
                                        <p:attrNameLst>
                                          <p:attrName>style.visibility</p:attrName>
                                        </p:attrNameLst>
                                      </p:cBhvr>
                                      <p:to>
                                        <p:strVal val="visible"/>
                                      </p:to>
                                    </p:set>
                                    <p:animEffect transition="in" filter="fade">
                                      <p:cBhvr>
                                        <p:cTn id="13" dur="320"/>
                                        <p:tgtEl>
                                          <p:spTgt spid="772"/>
                                        </p:tgtEl>
                                      </p:cBhvr>
                                    </p:animEffect>
                                  </p:childTnLst>
                                </p:cTn>
                              </p:par>
                              <p:par>
                                <p:cTn id="14" presetID="10" presetClass="entr" presetSubtype="0" fill="hold" nodeType="afterEffect">
                                  <p:stCondLst>
                                    <p:cond delay="150"/>
                                  </p:stCondLst>
                                  <p:childTnLst>
                                    <p:set>
                                      <p:cBhvr>
                                        <p:cTn id="15" dur="1" fill="hold">
                                          <p:stCondLst>
                                            <p:cond delay="0"/>
                                          </p:stCondLst>
                                        </p:cTn>
                                        <p:tgtEl>
                                          <p:spTgt spid="773"/>
                                        </p:tgtEl>
                                        <p:attrNameLst>
                                          <p:attrName>style.visibility</p:attrName>
                                        </p:attrNameLst>
                                      </p:cBhvr>
                                      <p:to>
                                        <p:strVal val="visible"/>
                                      </p:to>
                                    </p:set>
                                    <p:animEffect transition="in" filter="fade">
                                      <p:cBhvr>
                                        <p:cTn id="16" dur="360"/>
                                        <p:tgtEl>
                                          <p:spTgt spid="77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74"/>
                                        </p:tgtEl>
                                        <p:attrNameLst>
                                          <p:attrName>style.visibility</p:attrName>
                                        </p:attrNameLst>
                                      </p:cBhvr>
                                      <p:to>
                                        <p:strVal val="visible"/>
                                      </p:to>
                                    </p:set>
                                    <p:animEffect transition="in" filter="fade">
                                      <p:cBhvr>
                                        <p:cTn id="21" dur="280"/>
                                        <p:tgtEl>
                                          <p:spTgt spid="774"/>
                                        </p:tgtEl>
                                      </p:cBhvr>
                                    </p:animEffect>
                                  </p:childTnLst>
                                </p:cTn>
                              </p:par>
                              <p:par>
                                <p:cTn id="22" presetID="10" presetClass="entr" presetSubtype="0" fill="hold" nodeType="withEffect">
                                  <p:stCondLst>
                                    <p:cond delay="0"/>
                                  </p:stCondLst>
                                  <p:childTnLst>
                                    <p:set>
                                      <p:cBhvr>
                                        <p:cTn id="23" dur="1" fill="hold">
                                          <p:stCondLst>
                                            <p:cond delay="0"/>
                                          </p:stCondLst>
                                        </p:cTn>
                                        <p:tgtEl>
                                          <p:spTgt spid="775"/>
                                        </p:tgtEl>
                                        <p:attrNameLst>
                                          <p:attrName>style.visibility</p:attrName>
                                        </p:attrNameLst>
                                      </p:cBhvr>
                                      <p:to>
                                        <p:strVal val="visible"/>
                                      </p:to>
                                    </p:set>
                                    <p:animEffect transition="in" filter="fade">
                                      <p:cBhvr>
                                        <p:cTn id="24" dur="280"/>
                                        <p:tgtEl>
                                          <p:spTgt spid="775"/>
                                        </p:tgtEl>
                                      </p:cBhvr>
                                    </p:animEffect>
                                  </p:childTnLst>
                                </p:cTn>
                              </p:par>
                              <p:par>
                                <p:cTn id="25" presetID="10" presetClass="entr" presetSubtype="0" fill="hold" nodeType="withEffect">
                                  <p:stCondLst>
                                    <p:cond delay="0"/>
                                  </p:stCondLst>
                                  <p:childTnLst>
                                    <p:set>
                                      <p:cBhvr>
                                        <p:cTn id="26" dur="1" fill="hold">
                                          <p:stCondLst>
                                            <p:cond delay="0"/>
                                          </p:stCondLst>
                                        </p:cTn>
                                        <p:tgtEl>
                                          <p:spTgt spid="776"/>
                                        </p:tgtEl>
                                        <p:attrNameLst>
                                          <p:attrName>style.visibility</p:attrName>
                                        </p:attrNameLst>
                                      </p:cBhvr>
                                      <p:to>
                                        <p:strVal val="visible"/>
                                      </p:to>
                                    </p:set>
                                    <p:animEffect transition="in" filter="fade">
                                      <p:cBhvr>
                                        <p:cTn id="27" dur="320"/>
                                        <p:tgtEl>
                                          <p:spTgt spid="776"/>
                                        </p:tgtEl>
                                      </p:cBhvr>
                                    </p:animEffect>
                                  </p:childTnLst>
                                </p:cTn>
                              </p:par>
                              <p:par>
                                <p:cTn id="28" presetID="10" presetClass="entr" presetSubtype="0" fill="hold" nodeType="afterEffect">
                                  <p:stCondLst>
                                    <p:cond delay="150"/>
                                  </p:stCondLst>
                                  <p:childTnLst>
                                    <p:set>
                                      <p:cBhvr>
                                        <p:cTn id="29" dur="1" fill="hold">
                                          <p:stCondLst>
                                            <p:cond delay="0"/>
                                          </p:stCondLst>
                                        </p:cTn>
                                        <p:tgtEl>
                                          <p:spTgt spid="777"/>
                                        </p:tgtEl>
                                        <p:attrNameLst>
                                          <p:attrName>style.visibility</p:attrName>
                                        </p:attrNameLst>
                                      </p:cBhvr>
                                      <p:to>
                                        <p:strVal val="visible"/>
                                      </p:to>
                                    </p:set>
                                    <p:animEffect transition="in" filter="fade">
                                      <p:cBhvr>
                                        <p:cTn id="30" dur="360"/>
                                        <p:tgtEl>
                                          <p:spTgt spid="77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78"/>
                                        </p:tgtEl>
                                        <p:attrNameLst>
                                          <p:attrName>style.visibility</p:attrName>
                                        </p:attrNameLst>
                                      </p:cBhvr>
                                      <p:to>
                                        <p:strVal val="visible"/>
                                      </p:to>
                                    </p:set>
                                    <p:animEffect transition="in" filter="fade">
                                      <p:cBhvr>
                                        <p:cTn id="35" dur="280"/>
                                        <p:tgtEl>
                                          <p:spTgt spid="778"/>
                                        </p:tgtEl>
                                      </p:cBhvr>
                                    </p:animEffect>
                                  </p:childTnLst>
                                </p:cTn>
                              </p:par>
                              <p:par>
                                <p:cTn id="36" presetID="10" presetClass="entr" presetSubtype="0" fill="hold" nodeType="withEffect">
                                  <p:stCondLst>
                                    <p:cond delay="0"/>
                                  </p:stCondLst>
                                  <p:childTnLst>
                                    <p:set>
                                      <p:cBhvr>
                                        <p:cTn id="37" dur="1" fill="hold">
                                          <p:stCondLst>
                                            <p:cond delay="0"/>
                                          </p:stCondLst>
                                        </p:cTn>
                                        <p:tgtEl>
                                          <p:spTgt spid="779"/>
                                        </p:tgtEl>
                                        <p:attrNameLst>
                                          <p:attrName>style.visibility</p:attrName>
                                        </p:attrNameLst>
                                      </p:cBhvr>
                                      <p:to>
                                        <p:strVal val="visible"/>
                                      </p:to>
                                    </p:set>
                                    <p:animEffect transition="in" filter="fade">
                                      <p:cBhvr>
                                        <p:cTn id="38" dur="280"/>
                                        <p:tgtEl>
                                          <p:spTgt spid="779"/>
                                        </p:tgtEl>
                                      </p:cBhvr>
                                    </p:animEffect>
                                  </p:childTnLst>
                                </p:cTn>
                              </p:par>
                              <p:par>
                                <p:cTn id="39" presetID="10" presetClass="entr" presetSubtype="0" fill="hold" nodeType="withEffect">
                                  <p:stCondLst>
                                    <p:cond delay="0"/>
                                  </p:stCondLst>
                                  <p:childTnLst>
                                    <p:set>
                                      <p:cBhvr>
                                        <p:cTn id="40" dur="1" fill="hold">
                                          <p:stCondLst>
                                            <p:cond delay="0"/>
                                          </p:stCondLst>
                                        </p:cTn>
                                        <p:tgtEl>
                                          <p:spTgt spid="780"/>
                                        </p:tgtEl>
                                        <p:attrNameLst>
                                          <p:attrName>style.visibility</p:attrName>
                                        </p:attrNameLst>
                                      </p:cBhvr>
                                      <p:to>
                                        <p:strVal val="visible"/>
                                      </p:to>
                                    </p:set>
                                    <p:animEffect transition="in" filter="fade">
                                      <p:cBhvr>
                                        <p:cTn id="41" dur="320"/>
                                        <p:tgtEl>
                                          <p:spTgt spid="780"/>
                                        </p:tgtEl>
                                      </p:cBhvr>
                                    </p:animEffect>
                                  </p:childTnLst>
                                </p:cTn>
                              </p:par>
                              <p:par>
                                <p:cTn id="42" presetID="10" presetClass="entr" presetSubtype="0" fill="hold" nodeType="afterEffect">
                                  <p:stCondLst>
                                    <p:cond delay="150"/>
                                  </p:stCondLst>
                                  <p:childTnLst>
                                    <p:set>
                                      <p:cBhvr>
                                        <p:cTn id="43" dur="1" fill="hold">
                                          <p:stCondLst>
                                            <p:cond delay="0"/>
                                          </p:stCondLst>
                                        </p:cTn>
                                        <p:tgtEl>
                                          <p:spTgt spid="781"/>
                                        </p:tgtEl>
                                        <p:attrNameLst>
                                          <p:attrName>style.visibility</p:attrName>
                                        </p:attrNameLst>
                                      </p:cBhvr>
                                      <p:to>
                                        <p:strVal val="visible"/>
                                      </p:to>
                                    </p:set>
                                    <p:animEffect transition="in" filter="fade">
                                      <p:cBhvr>
                                        <p:cTn id="44" dur="360"/>
                                        <p:tgtEl>
                                          <p:spTgt spid="78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782"/>
                                        </p:tgtEl>
                                        <p:attrNameLst>
                                          <p:attrName>style.visibility</p:attrName>
                                        </p:attrNameLst>
                                      </p:cBhvr>
                                      <p:to>
                                        <p:strVal val="visible"/>
                                      </p:to>
                                    </p:set>
                                    <p:animEffect transition="in" filter="fade">
                                      <p:cBhvr>
                                        <p:cTn id="49" dur="280"/>
                                        <p:tgtEl>
                                          <p:spTgt spid="782"/>
                                        </p:tgtEl>
                                      </p:cBhvr>
                                    </p:animEffect>
                                  </p:childTnLst>
                                </p:cTn>
                              </p:par>
                              <p:par>
                                <p:cTn id="50" presetID="10" presetClass="entr" presetSubtype="0" fill="hold" nodeType="withEffect">
                                  <p:stCondLst>
                                    <p:cond delay="0"/>
                                  </p:stCondLst>
                                  <p:childTnLst>
                                    <p:set>
                                      <p:cBhvr>
                                        <p:cTn id="51" dur="1" fill="hold">
                                          <p:stCondLst>
                                            <p:cond delay="0"/>
                                          </p:stCondLst>
                                        </p:cTn>
                                        <p:tgtEl>
                                          <p:spTgt spid="783"/>
                                        </p:tgtEl>
                                        <p:attrNameLst>
                                          <p:attrName>style.visibility</p:attrName>
                                        </p:attrNameLst>
                                      </p:cBhvr>
                                      <p:to>
                                        <p:strVal val="visible"/>
                                      </p:to>
                                    </p:set>
                                    <p:animEffect transition="in" filter="fade">
                                      <p:cBhvr>
                                        <p:cTn id="52" dur="280"/>
                                        <p:tgtEl>
                                          <p:spTgt spid="783"/>
                                        </p:tgtEl>
                                      </p:cBhvr>
                                    </p:animEffect>
                                  </p:childTnLst>
                                </p:cTn>
                              </p:par>
                              <p:par>
                                <p:cTn id="53" presetID="10" presetClass="entr" presetSubtype="0" fill="hold" nodeType="withEffect">
                                  <p:stCondLst>
                                    <p:cond delay="0"/>
                                  </p:stCondLst>
                                  <p:childTnLst>
                                    <p:set>
                                      <p:cBhvr>
                                        <p:cTn id="54" dur="1" fill="hold">
                                          <p:stCondLst>
                                            <p:cond delay="0"/>
                                          </p:stCondLst>
                                        </p:cTn>
                                        <p:tgtEl>
                                          <p:spTgt spid="784"/>
                                        </p:tgtEl>
                                        <p:attrNameLst>
                                          <p:attrName>style.visibility</p:attrName>
                                        </p:attrNameLst>
                                      </p:cBhvr>
                                      <p:to>
                                        <p:strVal val="visible"/>
                                      </p:to>
                                    </p:set>
                                    <p:animEffect transition="in" filter="fade">
                                      <p:cBhvr>
                                        <p:cTn id="55" dur="320"/>
                                        <p:tgtEl>
                                          <p:spTgt spid="784"/>
                                        </p:tgtEl>
                                      </p:cBhvr>
                                    </p:animEffect>
                                  </p:childTnLst>
                                </p:cTn>
                              </p:par>
                              <p:par>
                                <p:cTn id="56" presetID="10" presetClass="entr" presetSubtype="0" fill="hold" nodeType="afterEffect">
                                  <p:stCondLst>
                                    <p:cond delay="150"/>
                                  </p:stCondLst>
                                  <p:childTnLst>
                                    <p:set>
                                      <p:cBhvr>
                                        <p:cTn id="57" dur="1" fill="hold">
                                          <p:stCondLst>
                                            <p:cond delay="0"/>
                                          </p:stCondLst>
                                        </p:cTn>
                                        <p:tgtEl>
                                          <p:spTgt spid="785"/>
                                        </p:tgtEl>
                                        <p:attrNameLst>
                                          <p:attrName>style.visibility</p:attrName>
                                        </p:attrNameLst>
                                      </p:cBhvr>
                                      <p:to>
                                        <p:strVal val="visible"/>
                                      </p:to>
                                    </p:set>
                                    <p:animEffect transition="in" filter="fade">
                                      <p:cBhvr>
                                        <p:cTn id="58" dur="360"/>
                                        <p:tgtEl>
                                          <p:spTgt spid="78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80"/>
                                        </p:tgtEl>
                                        <p:attrNameLst>
                                          <p:attrName>style.visibility</p:attrName>
                                        </p:attrNameLst>
                                      </p:cBhvr>
                                      <p:to>
                                        <p:strVal val="visible"/>
                                      </p:to>
                                    </p:set>
                                    <p:animEffect transition="in" filter="fade">
                                      <p:cBhvr>
                                        <p:cTn id="63" dur="380"/>
                                        <p:tgtEl>
                                          <p:spTgt spid="380"/>
                                        </p:tgtEl>
                                      </p:cBhvr>
                                    </p:animEffect>
                                  </p:childTnLst>
                                </p:cTn>
                              </p:par>
                              <p:par>
                                <p:cTn id="64" presetID="10" presetClass="entr" presetSubtype="0" fill="hold" nodeType="withEffect">
                                  <p:stCondLst>
                                    <p:cond delay="0"/>
                                  </p:stCondLst>
                                  <p:childTnLst>
                                    <p:set>
                                      <p:cBhvr>
                                        <p:cTn id="65" dur="1" fill="hold">
                                          <p:stCondLst>
                                            <p:cond delay="0"/>
                                          </p:stCondLst>
                                        </p:cTn>
                                        <p:tgtEl>
                                          <p:spTgt spid="381"/>
                                        </p:tgtEl>
                                        <p:attrNameLst>
                                          <p:attrName>style.visibility</p:attrName>
                                        </p:attrNameLst>
                                      </p:cBhvr>
                                      <p:to>
                                        <p:strVal val="visible"/>
                                      </p:to>
                                    </p:set>
                                    <p:animEffect transition="in" filter="fade">
                                      <p:cBhvr>
                                        <p:cTn id="66"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a:t>
            </a:r>
            <a:r>
              <a:rPr lang="zh-TW" altLang="en-US" sz="2800" b="0" i="0" dirty="0">
                <a:solidFill>
                  <a:srgbClr val="1F8899"/>
                </a:solidFill>
                <a:latin typeface="Arial"/>
                <a:ea typeface="微軟正黑體"/>
                <a:cs typeface="Times New Roman"/>
              </a:rPr>
              <a:t>　軌跡</a:t>
            </a:r>
            <a:endParaRPr lang="zh-TW" sz="3200" dirty="0"/>
          </a:p>
        </p:txBody>
      </p:sp>
      <p:sp>
        <p:nvSpPr>
          <p:cNvPr id="14" name="Text"/>
          <p:cNvSpPr txBox="1"/>
          <p:nvPr/>
        </p:nvSpPr>
        <p:spPr>
          <a:xfrm>
            <a:off x="365760" y="932688"/>
            <a:ext cx="7955280" cy="713232"/>
          </a:xfrm>
          <a:prstGeom prst="rect">
            <a:avLst/>
          </a:prstGeom>
          <a:noFill/>
          <a:ln>
            <a:noFill/>
          </a:ln>
        </p:spPr>
        <p:txBody>
          <a:bodyPr wrap="square" lIns="0" tIns="0" rIns="0" bIns="0" rtlCol="0" anchor="ctr">
            <a:normAutofit fontScale="92500" lnSpcReduction="10000"/>
          </a:bodyPr>
          <a:lstStyle/>
          <a:p>
            <a:pPr marL="0" indent="0" algn="l" fontAlgn="base">
              <a:lnSpc>
                <a:spcPct val="115000"/>
              </a:lnSpc>
              <a:buNone/>
            </a:pPr>
            <a:r>
              <a:rPr lang="zh-TW" altLang="en-US" sz="2400" b="1" i="0" dirty="0">
                <a:solidFill>
                  <a:srgbClr val="1F8899"/>
                </a:solidFill>
                <a:latin typeface="Times New Roman"/>
                <a:ea typeface="微軟正黑體"/>
                <a:cs typeface="Times New Roman"/>
              </a:rPr>
              <a:t>物體運動的軌跡垂直方向為 y(t) = t²，水平方向為 x(t) = 3t² − 5t + 3。求離地 36 m 時物體的位置、速度與加速度。</a:t>
            </a:r>
            <a:endParaRPr lang="zh-TW" sz="2400" dirty="0"/>
          </a:p>
        </p:txBody>
      </p:sp>
      <p:sp>
        <p:nvSpPr>
          <p:cNvPr id="250" name="Text"/>
          <p:cNvSpPr txBox="1"/>
          <p:nvPr/>
        </p:nvSpPr>
        <p:spPr>
          <a:xfrm>
            <a:off x="365759" y="1783080"/>
            <a:ext cx="5037337" cy="2194560"/>
          </a:xfrm>
          <a:prstGeom prst="rect">
            <a:avLst/>
          </a:prstGeom>
          <a:noFill/>
          <a:ln>
            <a:noFill/>
          </a:ln>
        </p:spPr>
        <p:txBody>
          <a:bodyPr wrap="square" lIns="0" tIns="0" rIns="0" bIns="0" rtlCol="0" anchor="t">
            <a:normAutofit/>
          </a:bodyPr>
          <a:lstStyle/>
          <a:p>
            <a:pPr marL="250000" indent="-250000" algn="l" fontAlgn="base">
              <a:lnSpc>
                <a:spcPct val="115000"/>
              </a:lnSpc>
              <a:buClr>
                <a:srgbClr val="2399AD"/>
              </a:buClr>
              <a:buFont typeface="Arial"/>
              <a:buChar char="•"/>
            </a:pPr>
            <a:r>
              <a:rPr lang="zh-TW" altLang="en-US" sz="2400" b="0" i="0" dirty="0">
                <a:solidFill>
                  <a:srgbClr val="333333"/>
                </a:solidFill>
                <a:latin typeface="Times New Roman"/>
                <a:ea typeface="微軟正黑體"/>
                <a:cs typeface="Times New Roman"/>
              </a:rPr>
              <a:t>x 與 y 各自是 t 的函數，互不干涉</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各自微分就得到分量</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「離地 36 m」是指 y = 36，先用它求 t</a:t>
            </a:r>
            <a:endParaRPr lang="zh-TW" sz="2400" dirty="0"/>
          </a:p>
          <a:p>
            <a:pPr marL="250000" indent="-250000" algn="l" fontAlgn="base">
              <a:lnSpc>
                <a:spcPct val="115000"/>
              </a:lnSpc>
              <a:spcBef>
                <a:spcPts val="260"/>
              </a:spcBef>
              <a:buClr>
                <a:srgbClr val="2399AD"/>
              </a:buClr>
              <a:buFont typeface="Arial"/>
              <a:buChar char="•"/>
            </a:pPr>
            <a:r>
              <a:rPr lang="zh-TW" altLang="en-US" sz="2400" b="0" i="0" dirty="0">
                <a:solidFill>
                  <a:srgbClr val="333333"/>
                </a:solidFill>
                <a:latin typeface="Times New Roman"/>
                <a:ea typeface="微軟正黑體"/>
                <a:cs typeface="Times New Roman"/>
              </a:rPr>
              <a:t>最後合成向量寫成 i、j 型式</a:t>
            </a:r>
            <a:endParaRPr lang="zh-TW" sz="2400" dirty="0"/>
          </a:p>
        </p:txBody>
      </p:sp>
      <p:cxnSp>
        <p:nvCxnSpPr>
          <p:cNvPr id="3" name="Line"/>
          <p:cNvCxnSpPr/>
          <p:nvPr/>
        </p:nvCxnSpPr>
        <p:spPr>
          <a:xfrm>
            <a:off x="5521968" y="4270248"/>
            <a:ext cx="2377440" cy="1"/>
          </a:xfrm>
          <a:prstGeom prst="line">
            <a:avLst/>
          </a:prstGeom>
          <a:ln w="12700">
            <a:solidFill>
              <a:srgbClr val="333333"/>
            </a:solidFill>
            <a:tailEnd type="triangle" w="med" len="med"/>
          </a:ln>
        </p:spPr>
      </p:cxnSp>
      <p:cxnSp>
        <p:nvCxnSpPr>
          <p:cNvPr id="4" name="Line"/>
          <p:cNvCxnSpPr/>
          <p:nvPr/>
        </p:nvCxnSpPr>
        <p:spPr>
          <a:xfrm flipV="1">
            <a:off x="5521968" y="2112264"/>
            <a:ext cx="1" cy="2157984"/>
          </a:xfrm>
          <a:prstGeom prst="line">
            <a:avLst/>
          </a:prstGeom>
          <a:ln w="12700">
            <a:solidFill>
              <a:srgbClr val="333333"/>
            </a:solidFill>
            <a:tailEnd type="triangle" w="med" len="med"/>
          </a:ln>
        </p:spPr>
      </p:cxnSp>
      <p:sp>
        <p:nvSpPr>
          <p:cNvPr id="5" name="Text"/>
          <p:cNvSpPr txBox="1"/>
          <p:nvPr/>
        </p:nvSpPr>
        <p:spPr>
          <a:xfrm>
            <a:off x="7450966" y="4343399"/>
            <a:ext cx="11887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x (m)</a:t>
            </a:r>
            <a:endParaRPr lang="zh-TW" sz="2000" dirty="0"/>
          </a:p>
        </p:txBody>
      </p:sp>
      <p:sp>
        <p:nvSpPr>
          <p:cNvPr id="6" name="Text"/>
          <p:cNvSpPr txBox="1"/>
          <p:nvPr/>
        </p:nvSpPr>
        <p:spPr>
          <a:xfrm>
            <a:off x="5467104" y="1783080"/>
            <a:ext cx="16459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y (m)</a:t>
            </a:r>
            <a:endParaRPr lang="zh-TW" sz="2000" dirty="0"/>
          </a:p>
        </p:txBody>
      </p:sp>
      <p:cxnSp>
        <p:nvCxnSpPr>
          <p:cNvPr id="7" name="Line"/>
          <p:cNvCxnSpPr/>
          <p:nvPr/>
        </p:nvCxnSpPr>
        <p:spPr>
          <a:xfrm>
            <a:off x="7225495" y="4224528"/>
            <a:ext cx="1" cy="91440"/>
          </a:xfrm>
          <a:prstGeom prst="line">
            <a:avLst/>
          </a:prstGeom>
          <a:ln w="9525">
            <a:solidFill>
              <a:srgbClr val="333333"/>
            </a:solidFill>
          </a:ln>
        </p:spPr>
      </p:cxnSp>
      <p:sp>
        <p:nvSpPr>
          <p:cNvPr id="8" name="Text"/>
          <p:cNvSpPr txBox="1"/>
          <p:nvPr/>
        </p:nvSpPr>
        <p:spPr>
          <a:xfrm>
            <a:off x="6814015" y="4325112"/>
            <a:ext cx="822960" cy="274320"/>
          </a:xfrm>
          <a:prstGeom prst="rect">
            <a:avLst/>
          </a:prstGeom>
          <a:noFill/>
          <a:ln>
            <a:noFill/>
          </a:ln>
        </p:spPr>
        <p:txBody>
          <a:bodyPr wrap="square" lIns="0" tIns="0" rIns="0" bIns="0" rtlCol="0" anchor="t">
            <a:normAutofit lnSpcReduction="10000"/>
          </a:bodyPr>
          <a:lstStyle/>
          <a:p>
            <a:pPr marL="0" indent="0" algn="ctr" fontAlgn="base">
              <a:lnSpc>
                <a:spcPct val="100000"/>
              </a:lnSpc>
              <a:buNone/>
            </a:pPr>
            <a:r>
              <a:rPr lang="zh-TW" altLang="en-US" sz="2000" b="0" i="0" dirty="0">
                <a:solidFill>
                  <a:srgbClr val="333333"/>
                </a:solidFill>
                <a:latin typeface="Times New Roman"/>
                <a:ea typeface="微軟正黑體"/>
                <a:cs typeface="Times New Roman"/>
              </a:rPr>
              <a:t>81</a:t>
            </a:r>
            <a:endParaRPr lang="zh-TW" sz="2000" dirty="0"/>
          </a:p>
        </p:txBody>
      </p:sp>
      <p:cxnSp>
        <p:nvCxnSpPr>
          <p:cNvPr id="9" name="Line"/>
          <p:cNvCxnSpPr/>
          <p:nvPr/>
        </p:nvCxnSpPr>
        <p:spPr>
          <a:xfrm>
            <a:off x="5476248" y="2660904"/>
            <a:ext cx="91440" cy="1"/>
          </a:xfrm>
          <a:prstGeom prst="line">
            <a:avLst/>
          </a:prstGeom>
          <a:ln w="9525">
            <a:solidFill>
              <a:srgbClr val="333333"/>
            </a:solidFill>
          </a:ln>
        </p:spPr>
      </p:cxnSp>
      <p:sp>
        <p:nvSpPr>
          <p:cNvPr id="10" name="Text"/>
          <p:cNvSpPr txBox="1"/>
          <p:nvPr/>
        </p:nvSpPr>
        <p:spPr>
          <a:xfrm>
            <a:off x="4736592" y="2048256"/>
            <a:ext cx="804672" cy="274320"/>
          </a:xfrm>
          <a:prstGeom prst="rect">
            <a:avLst/>
          </a:prstGeom>
          <a:noFill/>
          <a:ln>
            <a:noFill/>
          </a:ln>
        </p:spPr>
        <p:txBody>
          <a:bodyPr wrap="square" lIns="0" tIns="0" rIns="0" bIns="0" rtlCol="0" anchor="t">
            <a:normAutofit lnSpcReduction="10000"/>
          </a:bodyPr>
          <a:lstStyle/>
          <a:p>
            <a:pPr marL="0" indent="0" algn="r" fontAlgn="base">
              <a:lnSpc>
                <a:spcPct val="100000"/>
              </a:lnSpc>
              <a:buNone/>
            </a:pPr>
            <a:r>
              <a:rPr lang="zh-TW" altLang="en-US" sz="2000" b="0" i="0" dirty="0">
                <a:solidFill>
                  <a:srgbClr val="333333"/>
                </a:solidFill>
                <a:latin typeface="Times New Roman"/>
                <a:ea typeface="微軟正黑體"/>
                <a:cs typeface="Times New Roman"/>
              </a:rPr>
              <a:t>36</a:t>
            </a:r>
            <a:endParaRPr lang="zh-TW" sz="2000" dirty="0"/>
          </a:p>
        </p:txBody>
      </p:sp>
      <p:cxnSp>
        <p:nvCxnSpPr>
          <p:cNvPr id="11" name="Line"/>
          <p:cNvCxnSpPr/>
          <p:nvPr/>
        </p:nvCxnSpPr>
        <p:spPr>
          <a:xfrm>
            <a:off x="5521968" y="2660904"/>
            <a:ext cx="1703527" cy="1"/>
          </a:xfrm>
          <a:prstGeom prst="line">
            <a:avLst/>
          </a:prstGeom>
          <a:ln w="9525">
            <a:solidFill>
              <a:srgbClr val="808080"/>
            </a:solidFill>
            <a:prstDash val="dash"/>
          </a:ln>
        </p:spPr>
      </p:cxnSp>
      <p:cxnSp>
        <p:nvCxnSpPr>
          <p:cNvPr id="12" name="Line"/>
          <p:cNvCxnSpPr/>
          <p:nvPr/>
        </p:nvCxnSpPr>
        <p:spPr>
          <a:xfrm flipV="1">
            <a:off x="7225495" y="2660904"/>
            <a:ext cx="1" cy="1609344"/>
          </a:xfrm>
          <a:prstGeom prst="line">
            <a:avLst/>
          </a:prstGeom>
          <a:ln w="9525">
            <a:solidFill>
              <a:srgbClr val="808080"/>
            </a:solidFill>
            <a:prstDash val="dash"/>
          </a:ln>
        </p:spPr>
      </p:cxnSp>
      <p:sp>
        <p:nvSpPr>
          <p:cNvPr id="731" name="Curve"/>
          <p:cNvSpPr/>
          <p:nvPr/>
        </p:nvSpPr>
        <p:spPr>
          <a:xfrm>
            <a:off x="5541264" y="2371806"/>
            <a:ext cx="2037923" cy="1898442"/>
          </a:xfrm>
          <a:custGeom>
            <a:avLst/>
            <a:gdLst/>
            <a:ahLst/>
            <a:cxnLst/>
            <a:rect l="0" t="0" r="r" b="b"/>
            <a:pathLst>
              <a:path w="2037923" h="1898442">
                <a:moveTo>
                  <a:pt x="43797" y="1898442"/>
                </a:moveTo>
                <a:lnTo>
                  <a:pt x="19068" y="1894854"/>
                </a:lnTo>
                <a:lnTo>
                  <a:pt x="4469" y="1884087"/>
                </a:lnTo>
                <a:lnTo>
                  <a:pt x="0" y="1866144"/>
                </a:lnTo>
                <a:lnTo>
                  <a:pt x="5661" y="1841022"/>
                </a:lnTo>
                <a:lnTo>
                  <a:pt x="21452" y="1808724"/>
                </a:lnTo>
                <a:lnTo>
                  <a:pt x="47373" y="1769248"/>
                </a:lnTo>
                <a:lnTo>
                  <a:pt x="83424" y="1722594"/>
                </a:lnTo>
                <a:lnTo>
                  <a:pt x="129605" y="1668763"/>
                </a:lnTo>
                <a:lnTo>
                  <a:pt x="185916" y="1607755"/>
                </a:lnTo>
                <a:lnTo>
                  <a:pt x="252357" y="1539569"/>
                </a:lnTo>
                <a:lnTo>
                  <a:pt x="328928" y="1464205"/>
                </a:lnTo>
                <a:lnTo>
                  <a:pt x="415629" y="1381664"/>
                </a:lnTo>
                <a:lnTo>
                  <a:pt x="512460" y="1291946"/>
                </a:lnTo>
                <a:lnTo>
                  <a:pt x="619421" y="1195050"/>
                </a:lnTo>
                <a:lnTo>
                  <a:pt x="736513" y="1090976"/>
                </a:lnTo>
                <a:lnTo>
                  <a:pt x="863734" y="979725"/>
                </a:lnTo>
                <a:lnTo>
                  <a:pt x="1001085" y="861297"/>
                </a:lnTo>
                <a:lnTo>
                  <a:pt x="1148566" y="735691"/>
                </a:lnTo>
                <a:lnTo>
                  <a:pt x="1306178" y="602908"/>
                </a:lnTo>
                <a:lnTo>
                  <a:pt x="1473919" y="462947"/>
                </a:lnTo>
                <a:lnTo>
                  <a:pt x="1651790" y="315809"/>
                </a:lnTo>
                <a:lnTo>
                  <a:pt x="1839792" y="161493"/>
                </a:lnTo>
                <a:lnTo>
                  <a:pt x="2037923" y="0"/>
                </a:lnTo>
              </a:path>
            </a:pathLst>
          </a:custGeom>
          <a:noFill/>
          <a:ln w="25400">
            <a:solidFill>
              <a:srgbClr val="1F8899"/>
            </a:solidFill>
            <a:round/>
          </a:ln>
        </p:spPr>
        <p:txBody>
          <a:bodyPr/>
          <a:lstStyle/>
          <a:p>
            <a:endParaRPr lang="zh-TW"/>
          </a:p>
        </p:txBody>
      </p:sp>
      <p:sp>
        <p:nvSpPr>
          <p:cNvPr id="13" name="Shape"/>
          <p:cNvSpPr/>
          <p:nvPr/>
        </p:nvSpPr>
        <p:spPr>
          <a:xfrm>
            <a:off x="7161487" y="2596896"/>
            <a:ext cx="128016" cy="128016"/>
          </a:xfrm>
          <a:prstGeom prst="ellipse">
            <a:avLst/>
          </a:prstGeom>
          <a:solidFill>
            <a:srgbClr val="D6006F"/>
          </a:solidFill>
          <a:ln>
            <a:noFill/>
          </a:ln>
        </p:spPr>
        <p:txBody>
          <a:bodyPr/>
          <a:lstStyle/>
          <a:p>
            <a:endParaRPr lang="zh-TW"/>
          </a:p>
        </p:txBody>
      </p:sp>
      <p:sp>
        <p:nvSpPr>
          <p:cNvPr id="16" name="文字方塊 15">
            <a:extLst>
              <a:ext uri="{FF2B5EF4-FFF2-40B4-BE49-F238E27FC236}">
                <a16:creationId xmlns:a16="http://schemas.microsoft.com/office/drawing/2014/main" id="{33FA8ADF-1979-BA38-0B6C-3063647B0263}"/>
              </a:ext>
            </a:extLst>
          </p:cNvPr>
          <p:cNvSpPr txBox="1"/>
          <p:nvPr/>
        </p:nvSpPr>
        <p:spPr>
          <a:xfrm>
            <a:off x="8321040" y="304539"/>
            <a:ext cx="646331" cy="369332"/>
          </a:xfrm>
          <a:prstGeom prst="rect">
            <a:avLst/>
          </a:prstGeom>
          <a:noFill/>
        </p:spPr>
        <p:txBody>
          <a:bodyPr wrap="none" rtlCol="0">
            <a:spAutoFit/>
          </a:bodyPr>
          <a:lstStyle/>
          <a:p>
            <a:r>
              <a:rPr lang="en-US" altLang="zh-TW" dirty="0"/>
              <a:t>1013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4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4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4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400"/>
                                        <p:tgtEl>
                                          <p:spTgt spid="2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31"/>
                                        </p:tgtEl>
                                        <p:attrNameLst>
                                          <p:attrName>style.visibility</p:attrName>
                                        </p:attrNameLst>
                                      </p:cBhvr>
                                      <p:to>
                                        <p:strVal val="visible"/>
                                      </p:to>
                                    </p:set>
                                    <p:animEffect transition="in" filter="wipe(right)">
                                      <p:cBhvr>
                                        <p:cTn id="27" dur="1000"/>
                                        <p:tgtEl>
                                          <p:spTgt spid="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 解（一）</a:t>
            </a:r>
            <a:r>
              <a:rPr lang="zh-TW" altLang="en-US" sz="2800" b="0" i="0" dirty="0">
                <a:solidFill>
                  <a:srgbClr val="1F8899"/>
                </a:solidFill>
                <a:latin typeface="Arial"/>
                <a:ea typeface="微軟正黑體"/>
                <a:cs typeface="Times New Roman"/>
              </a:rPr>
              <a:t>　兩個方向各自微分</a:t>
            </a:r>
            <a:endParaRPr lang="zh-TW" sz="3200" dirty="0"/>
          </a:p>
        </p:txBody>
      </p:sp>
      <p:sp>
        <p:nvSpPr>
          <p:cNvPr id="5" name="Text"/>
          <p:cNvSpPr txBox="1"/>
          <p:nvPr/>
        </p:nvSpPr>
        <p:spPr>
          <a:xfrm>
            <a:off x="365760" y="932688"/>
            <a:ext cx="7955280" cy="402336"/>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Times New Roman"/>
                <a:ea typeface="微軟正黑體"/>
                <a:cs typeface="Times New Roman"/>
              </a:rPr>
              <a:t>水平與垂直互不影響，各微分兩次，先把六條式子排好。</a:t>
            </a:r>
            <a:endParaRPr lang="zh-TW" sz="2400" dirty="0"/>
          </a:p>
        </p:txBody>
      </p:sp>
      <p:sp>
        <p:nvSpPr>
          <p:cNvPr id="3" name="Text"/>
          <p:cNvSpPr txBox="1"/>
          <p:nvPr/>
        </p:nvSpPr>
        <p:spPr>
          <a:xfrm>
            <a:off x="1874520" y="1481328"/>
            <a:ext cx="2834640" cy="40233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1F8899"/>
                </a:solidFill>
                <a:latin typeface="Times New Roman"/>
                <a:ea typeface="微軟正黑體"/>
                <a:cs typeface="Times New Roman"/>
              </a:rPr>
              <a:t>水平 x</a:t>
            </a:r>
            <a:endParaRPr lang="zh-TW" sz="2400" dirty="0"/>
          </a:p>
        </p:txBody>
      </p:sp>
      <p:sp>
        <p:nvSpPr>
          <p:cNvPr id="4" name="Text"/>
          <p:cNvSpPr txBox="1"/>
          <p:nvPr/>
        </p:nvSpPr>
        <p:spPr>
          <a:xfrm>
            <a:off x="5257800" y="1481328"/>
            <a:ext cx="2834640" cy="40233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垂直 y</a:t>
            </a:r>
            <a:endParaRPr lang="zh-TW" sz="2400" dirty="0"/>
          </a:p>
        </p:txBody>
      </p:sp>
      <p:sp>
        <p:nvSpPr>
          <p:cNvPr id="780" name="Shape"/>
          <p:cNvSpPr/>
          <p:nvPr/>
        </p:nvSpPr>
        <p:spPr>
          <a:xfrm>
            <a:off x="365760" y="2011680"/>
            <a:ext cx="1234440" cy="457200"/>
          </a:xfrm>
          <a:prstGeom prst="roundRect">
            <a:avLst>
              <a:gd name="adj" fmla="val 22000"/>
            </a:avLst>
          </a:prstGeom>
          <a:solidFill>
            <a:srgbClr val="333333"/>
          </a:solidFill>
          <a:ln>
            <a:noFill/>
          </a:ln>
        </p:spPr>
        <p:txBody>
          <a:bodyPr/>
          <a:lstStyle/>
          <a:p>
            <a:endParaRPr lang="zh-TW"/>
          </a:p>
        </p:txBody>
      </p:sp>
      <p:sp>
        <p:nvSpPr>
          <p:cNvPr id="781" name="Text"/>
          <p:cNvSpPr txBox="1"/>
          <p:nvPr/>
        </p:nvSpPr>
        <p:spPr>
          <a:xfrm>
            <a:off x="365760" y="2011680"/>
            <a:ext cx="123444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Times New Roman"/>
                <a:ea typeface="微軟正黑體"/>
                <a:cs typeface="Times New Roman"/>
              </a:rPr>
              <a:t>位置</a:t>
            </a:r>
            <a:endParaRPr lang="zh-TW" sz="2100" dirty="0"/>
          </a:p>
        </p:txBody>
      </p:sp>
      <p:sp>
        <p:nvSpPr>
          <p:cNvPr id="782" name="Text"/>
          <p:cNvSpPr txBox="1"/>
          <p:nvPr/>
        </p:nvSpPr>
        <p:spPr>
          <a:xfrm>
            <a:off x="1874520" y="1993392"/>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1F8899"/>
                </a:solidFill>
                <a:latin typeface="Times New Roman"/>
                <a:ea typeface="微軟正黑體"/>
                <a:cs typeface="Times New Roman"/>
              </a:rPr>
              <a:t>x = 3t² − 5t + 3</a:t>
            </a:r>
            <a:endParaRPr lang="zh-TW" sz="2400" dirty="0"/>
          </a:p>
        </p:txBody>
      </p:sp>
      <p:sp>
        <p:nvSpPr>
          <p:cNvPr id="783" name="Text"/>
          <p:cNvSpPr txBox="1"/>
          <p:nvPr/>
        </p:nvSpPr>
        <p:spPr>
          <a:xfrm>
            <a:off x="5257800" y="1993392"/>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D6006F"/>
                </a:solidFill>
                <a:latin typeface="Times New Roman"/>
                <a:ea typeface="微軟正黑體"/>
                <a:cs typeface="Times New Roman"/>
              </a:rPr>
              <a:t>y = t²</a:t>
            </a:r>
            <a:endParaRPr lang="zh-TW" sz="2400" dirty="0"/>
          </a:p>
        </p:txBody>
      </p:sp>
      <p:sp>
        <p:nvSpPr>
          <p:cNvPr id="784" name="Shape"/>
          <p:cNvSpPr/>
          <p:nvPr/>
        </p:nvSpPr>
        <p:spPr>
          <a:xfrm>
            <a:off x="365760" y="2615184"/>
            <a:ext cx="1234440" cy="457200"/>
          </a:xfrm>
          <a:prstGeom prst="roundRect">
            <a:avLst>
              <a:gd name="adj" fmla="val 22000"/>
            </a:avLst>
          </a:prstGeom>
          <a:solidFill>
            <a:srgbClr val="333333"/>
          </a:solidFill>
          <a:ln>
            <a:noFill/>
          </a:ln>
        </p:spPr>
        <p:txBody>
          <a:bodyPr/>
          <a:lstStyle/>
          <a:p>
            <a:endParaRPr lang="zh-TW"/>
          </a:p>
        </p:txBody>
      </p:sp>
      <p:sp>
        <p:nvSpPr>
          <p:cNvPr id="785" name="Text"/>
          <p:cNvSpPr txBox="1"/>
          <p:nvPr/>
        </p:nvSpPr>
        <p:spPr>
          <a:xfrm>
            <a:off x="365760" y="2615184"/>
            <a:ext cx="123444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Times New Roman"/>
                <a:ea typeface="微軟正黑體"/>
                <a:cs typeface="Times New Roman"/>
              </a:rPr>
              <a:t>速度</a:t>
            </a:r>
            <a:endParaRPr lang="zh-TW" sz="2100" dirty="0"/>
          </a:p>
        </p:txBody>
      </p:sp>
      <p:sp>
        <p:nvSpPr>
          <p:cNvPr id="786" name="Text"/>
          <p:cNvSpPr txBox="1"/>
          <p:nvPr/>
        </p:nvSpPr>
        <p:spPr>
          <a:xfrm>
            <a:off x="1874520" y="2596896"/>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1F8899"/>
                </a:solidFill>
                <a:latin typeface="Times New Roman"/>
                <a:ea typeface="微軟正黑體"/>
                <a:cs typeface="Times New Roman"/>
              </a:rPr>
              <a:t>vx = 6t − 5</a:t>
            </a:r>
            <a:endParaRPr lang="zh-TW" sz="2400" dirty="0"/>
          </a:p>
        </p:txBody>
      </p:sp>
      <p:sp>
        <p:nvSpPr>
          <p:cNvPr id="787" name="Text"/>
          <p:cNvSpPr txBox="1"/>
          <p:nvPr/>
        </p:nvSpPr>
        <p:spPr>
          <a:xfrm>
            <a:off x="5257800" y="2596896"/>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D6006F"/>
                </a:solidFill>
                <a:latin typeface="Times New Roman"/>
                <a:ea typeface="微軟正黑體"/>
                <a:cs typeface="Times New Roman"/>
              </a:rPr>
              <a:t>vy = 2t</a:t>
            </a:r>
            <a:endParaRPr lang="zh-TW" sz="2400" dirty="0"/>
          </a:p>
        </p:txBody>
      </p:sp>
      <p:sp>
        <p:nvSpPr>
          <p:cNvPr id="788" name="Shape"/>
          <p:cNvSpPr/>
          <p:nvPr/>
        </p:nvSpPr>
        <p:spPr>
          <a:xfrm>
            <a:off x="365760" y="3218688"/>
            <a:ext cx="1234440" cy="457200"/>
          </a:xfrm>
          <a:prstGeom prst="roundRect">
            <a:avLst>
              <a:gd name="adj" fmla="val 22000"/>
            </a:avLst>
          </a:prstGeom>
          <a:solidFill>
            <a:srgbClr val="333333"/>
          </a:solidFill>
          <a:ln>
            <a:noFill/>
          </a:ln>
        </p:spPr>
        <p:txBody>
          <a:bodyPr/>
          <a:lstStyle/>
          <a:p>
            <a:endParaRPr lang="zh-TW"/>
          </a:p>
        </p:txBody>
      </p:sp>
      <p:sp>
        <p:nvSpPr>
          <p:cNvPr id="789" name="Text"/>
          <p:cNvSpPr txBox="1"/>
          <p:nvPr/>
        </p:nvSpPr>
        <p:spPr>
          <a:xfrm>
            <a:off x="365760" y="3218688"/>
            <a:ext cx="123444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Times New Roman"/>
                <a:ea typeface="微軟正黑體"/>
                <a:cs typeface="Times New Roman"/>
              </a:rPr>
              <a:t>加速度</a:t>
            </a:r>
            <a:endParaRPr lang="zh-TW" sz="2100" dirty="0"/>
          </a:p>
        </p:txBody>
      </p:sp>
      <p:sp>
        <p:nvSpPr>
          <p:cNvPr id="790" name="Text"/>
          <p:cNvSpPr txBox="1"/>
          <p:nvPr/>
        </p:nvSpPr>
        <p:spPr>
          <a:xfrm>
            <a:off x="1874520" y="3200400"/>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1F8899"/>
                </a:solidFill>
                <a:latin typeface="Times New Roman"/>
                <a:ea typeface="微軟正黑體"/>
                <a:cs typeface="Times New Roman"/>
              </a:rPr>
              <a:t>ax = 6</a:t>
            </a:r>
            <a:endParaRPr lang="zh-TW" sz="2400" dirty="0"/>
          </a:p>
        </p:txBody>
      </p:sp>
      <p:sp>
        <p:nvSpPr>
          <p:cNvPr id="791" name="Text"/>
          <p:cNvSpPr txBox="1"/>
          <p:nvPr/>
        </p:nvSpPr>
        <p:spPr>
          <a:xfrm>
            <a:off x="5257800" y="3200400"/>
            <a:ext cx="283464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0" i="0" dirty="0">
                <a:solidFill>
                  <a:srgbClr val="D6006F"/>
                </a:solidFill>
                <a:latin typeface="Times New Roman"/>
                <a:ea typeface="微軟正黑體"/>
                <a:cs typeface="Times New Roman"/>
              </a:rPr>
              <a:t>ay = 2</a:t>
            </a:r>
            <a:endParaRPr lang="zh-TW" sz="2400" dirty="0"/>
          </a:p>
        </p:txBody>
      </p:sp>
      <p:sp>
        <p:nvSpPr>
          <p:cNvPr id="380" name="Shape"/>
          <p:cNvSpPr/>
          <p:nvPr/>
        </p:nvSpPr>
        <p:spPr>
          <a:xfrm>
            <a:off x="365760" y="3931920"/>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3931920"/>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六條式子先排好，後面只剩「代數字」</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0"/>
                                        </p:tgtEl>
                                        <p:attrNameLst>
                                          <p:attrName>style.visibility</p:attrName>
                                        </p:attrNameLst>
                                      </p:cBhvr>
                                      <p:to>
                                        <p:strVal val="visible"/>
                                      </p:to>
                                    </p:set>
                                    <p:animEffect transition="in" filter="fade">
                                      <p:cBhvr>
                                        <p:cTn id="7" dur="280"/>
                                        <p:tgtEl>
                                          <p:spTgt spid="780"/>
                                        </p:tgtEl>
                                      </p:cBhvr>
                                    </p:animEffect>
                                  </p:childTnLst>
                                </p:cTn>
                              </p:par>
                              <p:par>
                                <p:cTn id="8" presetID="10" presetClass="entr" presetSubtype="0" fill="hold" nodeType="withEffect">
                                  <p:stCondLst>
                                    <p:cond delay="0"/>
                                  </p:stCondLst>
                                  <p:childTnLst>
                                    <p:set>
                                      <p:cBhvr>
                                        <p:cTn id="9" dur="1" fill="hold">
                                          <p:stCondLst>
                                            <p:cond delay="0"/>
                                          </p:stCondLst>
                                        </p:cTn>
                                        <p:tgtEl>
                                          <p:spTgt spid="781"/>
                                        </p:tgtEl>
                                        <p:attrNameLst>
                                          <p:attrName>style.visibility</p:attrName>
                                        </p:attrNameLst>
                                      </p:cBhvr>
                                      <p:to>
                                        <p:strVal val="visible"/>
                                      </p:to>
                                    </p:set>
                                    <p:animEffect transition="in" filter="fade">
                                      <p:cBhvr>
                                        <p:cTn id="10" dur="280"/>
                                        <p:tgtEl>
                                          <p:spTgt spid="781"/>
                                        </p:tgtEl>
                                      </p:cBhvr>
                                    </p:animEffect>
                                  </p:childTnLst>
                                </p:cTn>
                              </p:par>
                              <p:par>
                                <p:cTn id="11" presetID="10" presetClass="entr" presetSubtype="0" fill="hold" nodeType="withEffect">
                                  <p:stCondLst>
                                    <p:cond delay="0"/>
                                  </p:stCondLst>
                                  <p:childTnLst>
                                    <p:set>
                                      <p:cBhvr>
                                        <p:cTn id="12" dur="1" fill="hold">
                                          <p:stCondLst>
                                            <p:cond delay="0"/>
                                          </p:stCondLst>
                                        </p:cTn>
                                        <p:tgtEl>
                                          <p:spTgt spid="782"/>
                                        </p:tgtEl>
                                        <p:attrNameLst>
                                          <p:attrName>style.visibility</p:attrName>
                                        </p:attrNameLst>
                                      </p:cBhvr>
                                      <p:to>
                                        <p:strVal val="visible"/>
                                      </p:to>
                                    </p:set>
                                    <p:animEffect transition="in" filter="fade">
                                      <p:cBhvr>
                                        <p:cTn id="13" dur="340"/>
                                        <p:tgtEl>
                                          <p:spTgt spid="782"/>
                                        </p:tgtEl>
                                      </p:cBhvr>
                                    </p:animEffect>
                                  </p:childTnLst>
                                </p:cTn>
                              </p:par>
                              <p:par>
                                <p:cTn id="14" presetID="10" presetClass="entr" presetSubtype="0" fill="hold" nodeType="withEffect">
                                  <p:stCondLst>
                                    <p:cond delay="0"/>
                                  </p:stCondLst>
                                  <p:childTnLst>
                                    <p:set>
                                      <p:cBhvr>
                                        <p:cTn id="15" dur="1" fill="hold">
                                          <p:stCondLst>
                                            <p:cond delay="0"/>
                                          </p:stCondLst>
                                        </p:cTn>
                                        <p:tgtEl>
                                          <p:spTgt spid="783"/>
                                        </p:tgtEl>
                                        <p:attrNameLst>
                                          <p:attrName>style.visibility</p:attrName>
                                        </p:attrNameLst>
                                      </p:cBhvr>
                                      <p:to>
                                        <p:strVal val="visible"/>
                                      </p:to>
                                    </p:set>
                                    <p:animEffect transition="in" filter="fade">
                                      <p:cBhvr>
                                        <p:cTn id="16" dur="340"/>
                                        <p:tgtEl>
                                          <p:spTgt spid="78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84"/>
                                        </p:tgtEl>
                                        <p:attrNameLst>
                                          <p:attrName>style.visibility</p:attrName>
                                        </p:attrNameLst>
                                      </p:cBhvr>
                                      <p:to>
                                        <p:strVal val="visible"/>
                                      </p:to>
                                    </p:set>
                                    <p:animEffect transition="in" filter="fade">
                                      <p:cBhvr>
                                        <p:cTn id="21" dur="280"/>
                                        <p:tgtEl>
                                          <p:spTgt spid="784"/>
                                        </p:tgtEl>
                                      </p:cBhvr>
                                    </p:animEffect>
                                  </p:childTnLst>
                                </p:cTn>
                              </p:par>
                              <p:par>
                                <p:cTn id="22" presetID="10" presetClass="entr" presetSubtype="0" fill="hold" nodeType="withEffect">
                                  <p:stCondLst>
                                    <p:cond delay="0"/>
                                  </p:stCondLst>
                                  <p:childTnLst>
                                    <p:set>
                                      <p:cBhvr>
                                        <p:cTn id="23" dur="1" fill="hold">
                                          <p:stCondLst>
                                            <p:cond delay="0"/>
                                          </p:stCondLst>
                                        </p:cTn>
                                        <p:tgtEl>
                                          <p:spTgt spid="785"/>
                                        </p:tgtEl>
                                        <p:attrNameLst>
                                          <p:attrName>style.visibility</p:attrName>
                                        </p:attrNameLst>
                                      </p:cBhvr>
                                      <p:to>
                                        <p:strVal val="visible"/>
                                      </p:to>
                                    </p:set>
                                    <p:animEffect transition="in" filter="fade">
                                      <p:cBhvr>
                                        <p:cTn id="24" dur="280"/>
                                        <p:tgtEl>
                                          <p:spTgt spid="785"/>
                                        </p:tgtEl>
                                      </p:cBhvr>
                                    </p:animEffect>
                                  </p:childTnLst>
                                </p:cTn>
                              </p:par>
                              <p:par>
                                <p:cTn id="25" presetID="10" presetClass="entr" presetSubtype="0" fill="hold" nodeType="withEffect">
                                  <p:stCondLst>
                                    <p:cond delay="0"/>
                                  </p:stCondLst>
                                  <p:childTnLst>
                                    <p:set>
                                      <p:cBhvr>
                                        <p:cTn id="26" dur="1" fill="hold">
                                          <p:stCondLst>
                                            <p:cond delay="0"/>
                                          </p:stCondLst>
                                        </p:cTn>
                                        <p:tgtEl>
                                          <p:spTgt spid="786"/>
                                        </p:tgtEl>
                                        <p:attrNameLst>
                                          <p:attrName>style.visibility</p:attrName>
                                        </p:attrNameLst>
                                      </p:cBhvr>
                                      <p:to>
                                        <p:strVal val="visible"/>
                                      </p:to>
                                    </p:set>
                                    <p:animEffect transition="in" filter="fade">
                                      <p:cBhvr>
                                        <p:cTn id="27" dur="340"/>
                                        <p:tgtEl>
                                          <p:spTgt spid="786"/>
                                        </p:tgtEl>
                                      </p:cBhvr>
                                    </p:animEffect>
                                  </p:childTnLst>
                                </p:cTn>
                              </p:par>
                              <p:par>
                                <p:cTn id="28" presetID="10" presetClass="entr" presetSubtype="0" fill="hold" nodeType="withEffect">
                                  <p:stCondLst>
                                    <p:cond delay="0"/>
                                  </p:stCondLst>
                                  <p:childTnLst>
                                    <p:set>
                                      <p:cBhvr>
                                        <p:cTn id="29" dur="1" fill="hold">
                                          <p:stCondLst>
                                            <p:cond delay="0"/>
                                          </p:stCondLst>
                                        </p:cTn>
                                        <p:tgtEl>
                                          <p:spTgt spid="787"/>
                                        </p:tgtEl>
                                        <p:attrNameLst>
                                          <p:attrName>style.visibility</p:attrName>
                                        </p:attrNameLst>
                                      </p:cBhvr>
                                      <p:to>
                                        <p:strVal val="visible"/>
                                      </p:to>
                                    </p:set>
                                    <p:animEffect transition="in" filter="fade">
                                      <p:cBhvr>
                                        <p:cTn id="30" dur="340"/>
                                        <p:tgtEl>
                                          <p:spTgt spid="78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788"/>
                                        </p:tgtEl>
                                        <p:attrNameLst>
                                          <p:attrName>style.visibility</p:attrName>
                                        </p:attrNameLst>
                                      </p:cBhvr>
                                      <p:to>
                                        <p:strVal val="visible"/>
                                      </p:to>
                                    </p:set>
                                    <p:animEffect transition="in" filter="fade">
                                      <p:cBhvr>
                                        <p:cTn id="35" dur="280"/>
                                        <p:tgtEl>
                                          <p:spTgt spid="788"/>
                                        </p:tgtEl>
                                      </p:cBhvr>
                                    </p:animEffect>
                                  </p:childTnLst>
                                </p:cTn>
                              </p:par>
                              <p:par>
                                <p:cTn id="36" presetID="10" presetClass="entr" presetSubtype="0" fill="hold" nodeType="withEffect">
                                  <p:stCondLst>
                                    <p:cond delay="0"/>
                                  </p:stCondLst>
                                  <p:childTnLst>
                                    <p:set>
                                      <p:cBhvr>
                                        <p:cTn id="37" dur="1" fill="hold">
                                          <p:stCondLst>
                                            <p:cond delay="0"/>
                                          </p:stCondLst>
                                        </p:cTn>
                                        <p:tgtEl>
                                          <p:spTgt spid="789"/>
                                        </p:tgtEl>
                                        <p:attrNameLst>
                                          <p:attrName>style.visibility</p:attrName>
                                        </p:attrNameLst>
                                      </p:cBhvr>
                                      <p:to>
                                        <p:strVal val="visible"/>
                                      </p:to>
                                    </p:set>
                                    <p:animEffect transition="in" filter="fade">
                                      <p:cBhvr>
                                        <p:cTn id="38" dur="280"/>
                                        <p:tgtEl>
                                          <p:spTgt spid="789"/>
                                        </p:tgtEl>
                                      </p:cBhvr>
                                    </p:animEffect>
                                  </p:childTnLst>
                                </p:cTn>
                              </p:par>
                              <p:par>
                                <p:cTn id="39" presetID="10" presetClass="entr" presetSubtype="0" fill="hold" nodeType="withEffect">
                                  <p:stCondLst>
                                    <p:cond delay="0"/>
                                  </p:stCondLst>
                                  <p:childTnLst>
                                    <p:set>
                                      <p:cBhvr>
                                        <p:cTn id="40" dur="1" fill="hold">
                                          <p:stCondLst>
                                            <p:cond delay="0"/>
                                          </p:stCondLst>
                                        </p:cTn>
                                        <p:tgtEl>
                                          <p:spTgt spid="790"/>
                                        </p:tgtEl>
                                        <p:attrNameLst>
                                          <p:attrName>style.visibility</p:attrName>
                                        </p:attrNameLst>
                                      </p:cBhvr>
                                      <p:to>
                                        <p:strVal val="visible"/>
                                      </p:to>
                                    </p:set>
                                    <p:animEffect transition="in" filter="fade">
                                      <p:cBhvr>
                                        <p:cTn id="41" dur="340"/>
                                        <p:tgtEl>
                                          <p:spTgt spid="790"/>
                                        </p:tgtEl>
                                      </p:cBhvr>
                                    </p:animEffect>
                                  </p:childTnLst>
                                </p:cTn>
                              </p:par>
                              <p:par>
                                <p:cTn id="42" presetID="10" presetClass="entr" presetSubtype="0" fill="hold" nodeType="withEffect">
                                  <p:stCondLst>
                                    <p:cond delay="0"/>
                                  </p:stCondLst>
                                  <p:childTnLst>
                                    <p:set>
                                      <p:cBhvr>
                                        <p:cTn id="43" dur="1" fill="hold">
                                          <p:stCondLst>
                                            <p:cond delay="0"/>
                                          </p:stCondLst>
                                        </p:cTn>
                                        <p:tgtEl>
                                          <p:spTgt spid="791"/>
                                        </p:tgtEl>
                                        <p:attrNameLst>
                                          <p:attrName>style.visibility</p:attrName>
                                        </p:attrNameLst>
                                      </p:cBhvr>
                                      <p:to>
                                        <p:strVal val="visible"/>
                                      </p:to>
                                    </p:set>
                                    <p:animEffect transition="in" filter="fade">
                                      <p:cBhvr>
                                        <p:cTn id="44" dur="340"/>
                                        <p:tgtEl>
                                          <p:spTgt spid="79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80"/>
                                        </p:tgtEl>
                                        <p:attrNameLst>
                                          <p:attrName>style.visibility</p:attrName>
                                        </p:attrNameLst>
                                      </p:cBhvr>
                                      <p:to>
                                        <p:strVal val="visible"/>
                                      </p:to>
                                    </p:set>
                                    <p:animEffect transition="in" filter="fade">
                                      <p:cBhvr>
                                        <p:cTn id="49" dur="380"/>
                                        <p:tgtEl>
                                          <p:spTgt spid="380"/>
                                        </p:tgtEl>
                                      </p:cBhvr>
                                    </p:animEffect>
                                  </p:childTnLst>
                                </p:cTn>
                              </p:par>
                              <p:par>
                                <p:cTn id="50" presetID="10" presetClass="entr" presetSubtype="0" fill="hold" nodeType="withEffect">
                                  <p:stCondLst>
                                    <p:cond delay="0"/>
                                  </p:stCondLst>
                                  <p:childTnLst>
                                    <p:set>
                                      <p:cBhvr>
                                        <p:cTn id="51" dur="1" fill="hold">
                                          <p:stCondLst>
                                            <p:cond delay="0"/>
                                          </p:stCondLst>
                                        </p:cTn>
                                        <p:tgtEl>
                                          <p:spTgt spid="381"/>
                                        </p:tgtEl>
                                        <p:attrNameLst>
                                          <p:attrName>style.visibility</p:attrName>
                                        </p:attrNameLst>
                                      </p:cBhvr>
                                      <p:to>
                                        <p:strVal val="visible"/>
                                      </p:to>
                                    </p:set>
                                    <p:animEffect transition="in" filter="fade">
                                      <p:cBhvr>
                                        <p:cTn id="52"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 解（二）</a:t>
            </a:r>
            <a:r>
              <a:rPr lang="zh-TW" altLang="en-US" sz="2800" b="0" i="0" dirty="0">
                <a:solidFill>
                  <a:srgbClr val="1F8899"/>
                </a:solidFill>
                <a:latin typeface="Arial"/>
                <a:ea typeface="微軟正黑體"/>
                <a:cs typeface="Times New Roman"/>
              </a:rPr>
              <a:t>　先用 y 定時間，再代回去</a:t>
            </a:r>
            <a:endParaRPr lang="zh-TW" sz="3200" dirty="0"/>
          </a:p>
        </p:txBody>
      </p:sp>
      <p:sp>
        <p:nvSpPr>
          <p:cNvPr id="400" name="Shape"/>
          <p:cNvSpPr/>
          <p:nvPr/>
        </p:nvSpPr>
        <p:spPr>
          <a:xfrm>
            <a:off x="365760" y="1115568"/>
            <a:ext cx="457200" cy="457200"/>
          </a:xfrm>
          <a:prstGeom prst="ellipse">
            <a:avLst/>
          </a:prstGeom>
          <a:solidFill>
            <a:srgbClr val="1F8899"/>
          </a:solidFill>
          <a:ln>
            <a:noFill/>
          </a:ln>
        </p:spPr>
        <p:txBody>
          <a:bodyPr/>
          <a:lstStyle/>
          <a:p>
            <a:endParaRPr lang="zh-TW"/>
          </a:p>
        </p:txBody>
      </p:sp>
      <p:sp>
        <p:nvSpPr>
          <p:cNvPr id="401" name="Text"/>
          <p:cNvSpPr txBox="1"/>
          <p:nvPr/>
        </p:nvSpPr>
        <p:spPr>
          <a:xfrm>
            <a:off x="365760" y="1115568"/>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1</a:t>
            </a:r>
            <a:endParaRPr lang="zh-TW" sz="2100" dirty="0"/>
          </a:p>
        </p:txBody>
      </p:sp>
      <p:sp>
        <p:nvSpPr>
          <p:cNvPr id="402" name="Text"/>
          <p:cNvSpPr txBox="1"/>
          <p:nvPr/>
        </p:nvSpPr>
        <p:spPr>
          <a:xfrm>
            <a:off x="1097280" y="1097280"/>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離地 36 m：y = t² = 36 → t = 6 s</a:t>
            </a:r>
            <a:endParaRPr lang="zh-TW" sz="2400" dirty="0"/>
          </a:p>
        </p:txBody>
      </p:sp>
      <p:sp>
        <p:nvSpPr>
          <p:cNvPr id="403" name="Text"/>
          <p:cNvSpPr txBox="1"/>
          <p:nvPr/>
        </p:nvSpPr>
        <p:spPr>
          <a:xfrm>
            <a:off x="8046720" y="1097280"/>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10" name="Shape"/>
          <p:cNvSpPr/>
          <p:nvPr/>
        </p:nvSpPr>
        <p:spPr>
          <a:xfrm>
            <a:off x="365760" y="1792224"/>
            <a:ext cx="457200" cy="457200"/>
          </a:xfrm>
          <a:prstGeom prst="ellipse">
            <a:avLst/>
          </a:prstGeom>
          <a:solidFill>
            <a:srgbClr val="1F8899"/>
          </a:solidFill>
          <a:ln>
            <a:noFill/>
          </a:ln>
        </p:spPr>
        <p:txBody>
          <a:bodyPr/>
          <a:lstStyle/>
          <a:p>
            <a:endParaRPr lang="zh-TW"/>
          </a:p>
        </p:txBody>
      </p:sp>
      <p:sp>
        <p:nvSpPr>
          <p:cNvPr id="411" name="Text"/>
          <p:cNvSpPr txBox="1"/>
          <p:nvPr/>
        </p:nvSpPr>
        <p:spPr>
          <a:xfrm>
            <a:off x="365760" y="1792224"/>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2</a:t>
            </a:r>
            <a:endParaRPr lang="zh-TW" sz="2100" dirty="0"/>
          </a:p>
        </p:txBody>
      </p:sp>
      <p:sp>
        <p:nvSpPr>
          <p:cNvPr id="412" name="Text"/>
          <p:cNvSpPr txBox="1"/>
          <p:nvPr/>
        </p:nvSpPr>
        <p:spPr>
          <a:xfrm>
            <a:off x="1097280" y="1773936"/>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位置：x(6) = 3(36) − 30 + 3 = 81 m</a:t>
            </a:r>
            <a:endParaRPr lang="zh-TW" sz="2400" dirty="0"/>
          </a:p>
        </p:txBody>
      </p:sp>
      <p:sp>
        <p:nvSpPr>
          <p:cNvPr id="413" name="Text"/>
          <p:cNvSpPr txBox="1"/>
          <p:nvPr/>
        </p:nvSpPr>
        <p:spPr>
          <a:xfrm>
            <a:off x="8046720" y="1773936"/>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20" name="Shape"/>
          <p:cNvSpPr/>
          <p:nvPr/>
        </p:nvSpPr>
        <p:spPr>
          <a:xfrm>
            <a:off x="365760" y="2468880"/>
            <a:ext cx="457200" cy="457200"/>
          </a:xfrm>
          <a:prstGeom prst="ellipse">
            <a:avLst/>
          </a:prstGeom>
          <a:solidFill>
            <a:srgbClr val="1F8899"/>
          </a:solidFill>
          <a:ln>
            <a:noFill/>
          </a:ln>
        </p:spPr>
        <p:txBody>
          <a:bodyPr/>
          <a:lstStyle/>
          <a:p>
            <a:endParaRPr lang="zh-TW"/>
          </a:p>
        </p:txBody>
      </p:sp>
      <p:sp>
        <p:nvSpPr>
          <p:cNvPr id="421" name="Text"/>
          <p:cNvSpPr txBox="1"/>
          <p:nvPr/>
        </p:nvSpPr>
        <p:spPr>
          <a:xfrm>
            <a:off x="365760" y="2468880"/>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3</a:t>
            </a:r>
            <a:endParaRPr lang="zh-TW" sz="2100" dirty="0"/>
          </a:p>
        </p:txBody>
      </p:sp>
      <p:sp>
        <p:nvSpPr>
          <p:cNvPr id="422" name="Text"/>
          <p:cNvSpPr txBox="1"/>
          <p:nvPr/>
        </p:nvSpPr>
        <p:spPr>
          <a:xfrm>
            <a:off x="1097280" y="2450592"/>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速度：vx = 6(6) − 5 = 31，vy = 2(6) = 12</a:t>
            </a:r>
            <a:endParaRPr lang="zh-TW" sz="2400" dirty="0"/>
          </a:p>
        </p:txBody>
      </p:sp>
      <p:sp>
        <p:nvSpPr>
          <p:cNvPr id="423" name="Text"/>
          <p:cNvSpPr txBox="1"/>
          <p:nvPr/>
        </p:nvSpPr>
        <p:spPr>
          <a:xfrm>
            <a:off x="8046720" y="2450592"/>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30" name="Shape"/>
          <p:cNvSpPr/>
          <p:nvPr/>
        </p:nvSpPr>
        <p:spPr>
          <a:xfrm>
            <a:off x="365760" y="3145536"/>
            <a:ext cx="457200" cy="457200"/>
          </a:xfrm>
          <a:prstGeom prst="ellipse">
            <a:avLst/>
          </a:prstGeom>
          <a:solidFill>
            <a:srgbClr val="1F8899"/>
          </a:solidFill>
          <a:ln>
            <a:noFill/>
          </a:ln>
        </p:spPr>
        <p:txBody>
          <a:bodyPr/>
          <a:lstStyle/>
          <a:p>
            <a:endParaRPr lang="zh-TW"/>
          </a:p>
        </p:txBody>
      </p:sp>
      <p:sp>
        <p:nvSpPr>
          <p:cNvPr id="431" name="Text"/>
          <p:cNvSpPr txBox="1"/>
          <p:nvPr/>
        </p:nvSpPr>
        <p:spPr>
          <a:xfrm>
            <a:off x="365760" y="3145536"/>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4</a:t>
            </a:r>
            <a:endParaRPr lang="zh-TW" sz="2100" dirty="0"/>
          </a:p>
        </p:txBody>
      </p:sp>
      <p:sp>
        <p:nvSpPr>
          <p:cNvPr id="432" name="Text"/>
          <p:cNvSpPr txBox="1"/>
          <p:nvPr/>
        </p:nvSpPr>
        <p:spPr>
          <a:xfrm>
            <a:off x="1097280" y="3127248"/>
            <a:ext cx="676656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加速度：ax = 6，ay = 2（與 t 無關）</a:t>
            </a:r>
            <a:endParaRPr lang="zh-TW" sz="2400" dirty="0"/>
          </a:p>
        </p:txBody>
      </p:sp>
      <p:sp>
        <p:nvSpPr>
          <p:cNvPr id="433" name="Text"/>
          <p:cNvSpPr txBox="1"/>
          <p:nvPr/>
        </p:nvSpPr>
        <p:spPr>
          <a:xfrm>
            <a:off x="8046720" y="3127248"/>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380" name="Shape"/>
          <p:cNvSpPr/>
          <p:nvPr/>
        </p:nvSpPr>
        <p:spPr>
          <a:xfrm>
            <a:off x="365760" y="3931920"/>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3931920"/>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答：位置 (81, 36) m，速度 (31, 12) m/s，加速度 (6, 2) m/s²</a:t>
            </a:r>
            <a:endParaRPr lang="zh-TW"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280"/>
                                        <p:tgtEl>
                                          <p:spTgt spid="400"/>
                                        </p:tgtEl>
                                      </p:cBhvr>
                                    </p:animEffect>
                                  </p:childTnLst>
                                </p:cTn>
                              </p:par>
                              <p:par>
                                <p:cTn id="8" presetID="10" presetClass="entr" presetSubtype="0"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Effect transition="in" filter="fade">
                                      <p:cBhvr>
                                        <p:cTn id="10" dur="280"/>
                                        <p:tgtEl>
                                          <p:spTgt spid="401"/>
                                        </p:tgtEl>
                                      </p:cBhvr>
                                    </p:animEffect>
                                  </p:childTnLst>
                                </p:cTn>
                              </p:par>
                              <p:par>
                                <p:cTn id="11" presetID="10" presetClass="entr" presetSubtype="0" fill="hold" nodeType="withEffect">
                                  <p:stCondLst>
                                    <p:cond delay="0"/>
                                  </p:stCondLst>
                                  <p:childTnLst>
                                    <p:set>
                                      <p:cBhvr>
                                        <p:cTn id="12" dur="1" fill="hold">
                                          <p:stCondLst>
                                            <p:cond delay="0"/>
                                          </p:stCondLst>
                                        </p:cTn>
                                        <p:tgtEl>
                                          <p:spTgt spid="402"/>
                                        </p:tgtEl>
                                        <p:attrNameLst>
                                          <p:attrName>style.visibility</p:attrName>
                                        </p:attrNameLst>
                                      </p:cBhvr>
                                      <p:to>
                                        <p:strVal val="visible"/>
                                      </p:to>
                                    </p:set>
                                    <p:animEffect transition="in" filter="fade">
                                      <p:cBhvr>
                                        <p:cTn id="13" dur="320"/>
                                        <p:tgtEl>
                                          <p:spTgt spid="402"/>
                                        </p:tgtEl>
                                      </p:cBhvr>
                                    </p:animEffect>
                                  </p:childTnLst>
                                </p:cTn>
                              </p:par>
                              <p:par>
                                <p:cTn id="14" presetID="10" presetClass="entr" presetSubtype="0" fill="hold" nodeType="afterEffect">
                                  <p:stCondLst>
                                    <p:cond delay="160"/>
                                  </p:stCondLst>
                                  <p:childTnLst>
                                    <p:set>
                                      <p:cBhvr>
                                        <p:cTn id="15" dur="1" fill="hold">
                                          <p:stCondLst>
                                            <p:cond delay="0"/>
                                          </p:stCondLst>
                                        </p:cTn>
                                        <p:tgtEl>
                                          <p:spTgt spid="403"/>
                                        </p:tgtEl>
                                        <p:attrNameLst>
                                          <p:attrName>style.visibility</p:attrName>
                                        </p:attrNameLst>
                                      </p:cBhvr>
                                      <p:to>
                                        <p:strVal val="visible"/>
                                      </p:to>
                                    </p:set>
                                    <p:animEffect transition="in" filter="fade">
                                      <p:cBhvr>
                                        <p:cTn id="16" dur="380"/>
                                        <p:tgtEl>
                                          <p:spTgt spid="40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0"/>
                                        </p:tgtEl>
                                        <p:attrNameLst>
                                          <p:attrName>style.visibility</p:attrName>
                                        </p:attrNameLst>
                                      </p:cBhvr>
                                      <p:to>
                                        <p:strVal val="visible"/>
                                      </p:to>
                                    </p:set>
                                    <p:animEffect transition="in" filter="fade">
                                      <p:cBhvr>
                                        <p:cTn id="21" dur="280"/>
                                        <p:tgtEl>
                                          <p:spTgt spid="410"/>
                                        </p:tgtEl>
                                      </p:cBhvr>
                                    </p:animEffect>
                                  </p:childTnLst>
                                </p:cTn>
                              </p:par>
                              <p:par>
                                <p:cTn id="22" presetID="10" presetClass="entr" presetSubtype="0" fill="hold" nodeType="withEffect">
                                  <p:stCondLst>
                                    <p:cond delay="0"/>
                                  </p:stCondLst>
                                  <p:childTnLst>
                                    <p:set>
                                      <p:cBhvr>
                                        <p:cTn id="23" dur="1" fill="hold">
                                          <p:stCondLst>
                                            <p:cond delay="0"/>
                                          </p:stCondLst>
                                        </p:cTn>
                                        <p:tgtEl>
                                          <p:spTgt spid="411"/>
                                        </p:tgtEl>
                                        <p:attrNameLst>
                                          <p:attrName>style.visibility</p:attrName>
                                        </p:attrNameLst>
                                      </p:cBhvr>
                                      <p:to>
                                        <p:strVal val="visible"/>
                                      </p:to>
                                    </p:set>
                                    <p:animEffect transition="in" filter="fade">
                                      <p:cBhvr>
                                        <p:cTn id="24" dur="280"/>
                                        <p:tgtEl>
                                          <p:spTgt spid="411"/>
                                        </p:tgtEl>
                                      </p:cBhvr>
                                    </p:animEffect>
                                  </p:childTnLst>
                                </p:cTn>
                              </p:par>
                              <p:par>
                                <p:cTn id="25" presetID="10" presetClass="entr" presetSubtype="0" fill="hold" nodeType="withEffect">
                                  <p:stCondLst>
                                    <p:cond delay="0"/>
                                  </p:stCondLst>
                                  <p:childTnLst>
                                    <p:set>
                                      <p:cBhvr>
                                        <p:cTn id="26" dur="1" fill="hold">
                                          <p:stCondLst>
                                            <p:cond delay="0"/>
                                          </p:stCondLst>
                                        </p:cTn>
                                        <p:tgtEl>
                                          <p:spTgt spid="412"/>
                                        </p:tgtEl>
                                        <p:attrNameLst>
                                          <p:attrName>style.visibility</p:attrName>
                                        </p:attrNameLst>
                                      </p:cBhvr>
                                      <p:to>
                                        <p:strVal val="visible"/>
                                      </p:to>
                                    </p:set>
                                    <p:animEffect transition="in" filter="fade">
                                      <p:cBhvr>
                                        <p:cTn id="27" dur="320"/>
                                        <p:tgtEl>
                                          <p:spTgt spid="412"/>
                                        </p:tgtEl>
                                      </p:cBhvr>
                                    </p:animEffect>
                                  </p:childTnLst>
                                </p:cTn>
                              </p:par>
                              <p:par>
                                <p:cTn id="28" presetID="10" presetClass="entr" presetSubtype="0" fill="hold" nodeType="afterEffect">
                                  <p:stCondLst>
                                    <p:cond delay="160"/>
                                  </p:stCondLst>
                                  <p:childTnLst>
                                    <p:set>
                                      <p:cBhvr>
                                        <p:cTn id="29" dur="1" fill="hold">
                                          <p:stCondLst>
                                            <p:cond delay="0"/>
                                          </p:stCondLst>
                                        </p:cTn>
                                        <p:tgtEl>
                                          <p:spTgt spid="413"/>
                                        </p:tgtEl>
                                        <p:attrNameLst>
                                          <p:attrName>style.visibility</p:attrName>
                                        </p:attrNameLst>
                                      </p:cBhvr>
                                      <p:to>
                                        <p:strVal val="visible"/>
                                      </p:to>
                                    </p:set>
                                    <p:animEffect transition="in" filter="fade">
                                      <p:cBhvr>
                                        <p:cTn id="30" dur="380"/>
                                        <p:tgtEl>
                                          <p:spTgt spid="4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20"/>
                                        </p:tgtEl>
                                        <p:attrNameLst>
                                          <p:attrName>style.visibility</p:attrName>
                                        </p:attrNameLst>
                                      </p:cBhvr>
                                      <p:to>
                                        <p:strVal val="visible"/>
                                      </p:to>
                                    </p:set>
                                    <p:animEffect transition="in" filter="fade">
                                      <p:cBhvr>
                                        <p:cTn id="35" dur="280"/>
                                        <p:tgtEl>
                                          <p:spTgt spid="420"/>
                                        </p:tgtEl>
                                      </p:cBhvr>
                                    </p:animEffect>
                                  </p:childTnLst>
                                </p:cTn>
                              </p:par>
                              <p:par>
                                <p:cTn id="36" presetID="10" presetClass="entr" presetSubtype="0" fill="hold" nodeType="withEffect">
                                  <p:stCondLst>
                                    <p:cond delay="0"/>
                                  </p:stCondLst>
                                  <p:childTnLst>
                                    <p:set>
                                      <p:cBhvr>
                                        <p:cTn id="37" dur="1" fill="hold">
                                          <p:stCondLst>
                                            <p:cond delay="0"/>
                                          </p:stCondLst>
                                        </p:cTn>
                                        <p:tgtEl>
                                          <p:spTgt spid="421"/>
                                        </p:tgtEl>
                                        <p:attrNameLst>
                                          <p:attrName>style.visibility</p:attrName>
                                        </p:attrNameLst>
                                      </p:cBhvr>
                                      <p:to>
                                        <p:strVal val="visible"/>
                                      </p:to>
                                    </p:set>
                                    <p:animEffect transition="in" filter="fade">
                                      <p:cBhvr>
                                        <p:cTn id="38" dur="280"/>
                                        <p:tgtEl>
                                          <p:spTgt spid="421"/>
                                        </p:tgtEl>
                                      </p:cBhvr>
                                    </p:animEffect>
                                  </p:childTnLst>
                                </p:cTn>
                              </p:par>
                              <p:par>
                                <p:cTn id="39" presetID="10" presetClass="entr" presetSubtype="0" fill="hold" nodeType="withEffect">
                                  <p:stCondLst>
                                    <p:cond delay="0"/>
                                  </p:stCondLst>
                                  <p:childTnLst>
                                    <p:set>
                                      <p:cBhvr>
                                        <p:cTn id="40" dur="1" fill="hold">
                                          <p:stCondLst>
                                            <p:cond delay="0"/>
                                          </p:stCondLst>
                                        </p:cTn>
                                        <p:tgtEl>
                                          <p:spTgt spid="422"/>
                                        </p:tgtEl>
                                        <p:attrNameLst>
                                          <p:attrName>style.visibility</p:attrName>
                                        </p:attrNameLst>
                                      </p:cBhvr>
                                      <p:to>
                                        <p:strVal val="visible"/>
                                      </p:to>
                                    </p:set>
                                    <p:animEffect transition="in" filter="fade">
                                      <p:cBhvr>
                                        <p:cTn id="41" dur="320"/>
                                        <p:tgtEl>
                                          <p:spTgt spid="422"/>
                                        </p:tgtEl>
                                      </p:cBhvr>
                                    </p:animEffect>
                                  </p:childTnLst>
                                </p:cTn>
                              </p:par>
                              <p:par>
                                <p:cTn id="42" presetID="10" presetClass="entr" presetSubtype="0" fill="hold" nodeType="afterEffect">
                                  <p:stCondLst>
                                    <p:cond delay="160"/>
                                  </p:stCondLst>
                                  <p:childTnLst>
                                    <p:set>
                                      <p:cBhvr>
                                        <p:cTn id="43" dur="1" fill="hold">
                                          <p:stCondLst>
                                            <p:cond delay="0"/>
                                          </p:stCondLst>
                                        </p:cTn>
                                        <p:tgtEl>
                                          <p:spTgt spid="423"/>
                                        </p:tgtEl>
                                        <p:attrNameLst>
                                          <p:attrName>style.visibility</p:attrName>
                                        </p:attrNameLst>
                                      </p:cBhvr>
                                      <p:to>
                                        <p:strVal val="visible"/>
                                      </p:to>
                                    </p:set>
                                    <p:animEffect transition="in" filter="fade">
                                      <p:cBhvr>
                                        <p:cTn id="44" dur="380"/>
                                        <p:tgtEl>
                                          <p:spTgt spid="4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30"/>
                                        </p:tgtEl>
                                        <p:attrNameLst>
                                          <p:attrName>style.visibility</p:attrName>
                                        </p:attrNameLst>
                                      </p:cBhvr>
                                      <p:to>
                                        <p:strVal val="visible"/>
                                      </p:to>
                                    </p:set>
                                    <p:animEffect transition="in" filter="fade">
                                      <p:cBhvr>
                                        <p:cTn id="49" dur="280"/>
                                        <p:tgtEl>
                                          <p:spTgt spid="430"/>
                                        </p:tgtEl>
                                      </p:cBhvr>
                                    </p:animEffect>
                                  </p:childTnLst>
                                </p:cTn>
                              </p:par>
                              <p:par>
                                <p:cTn id="50" presetID="10" presetClass="entr" presetSubtype="0" fill="hold" nodeType="withEffect">
                                  <p:stCondLst>
                                    <p:cond delay="0"/>
                                  </p:stCondLst>
                                  <p:childTnLst>
                                    <p:set>
                                      <p:cBhvr>
                                        <p:cTn id="51" dur="1" fill="hold">
                                          <p:stCondLst>
                                            <p:cond delay="0"/>
                                          </p:stCondLst>
                                        </p:cTn>
                                        <p:tgtEl>
                                          <p:spTgt spid="431"/>
                                        </p:tgtEl>
                                        <p:attrNameLst>
                                          <p:attrName>style.visibility</p:attrName>
                                        </p:attrNameLst>
                                      </p:cBhvr>
                                      <p:to>
                                        <p:strVal val="visible"/>
                                      </p:to>
                                    </p:set>
                                    <p:animEffect transition="in" filter="fade">
                                      <p:cBhvr>
                                        <p:cTn id="52" dur="280"/>
                                        <p:tgtEl>
                                          <p:spTgt spid="431"/>
                                        </p:tgtEl>
                                      </p:cBhvr>
                                    </p:animEffect>
                                  </p:childTnLst>
                                </p:cTn>
                              </p:par>
                              <p:par>
                                <p:cTn id="53" presetID="10" presetClass="entr" presetSubtype="0" fill="hold" nodeType="withEffect">
                                  <p:stCondLst>
                                    <p:cond delay="0"/>
                                  </p:stCondLst>
                                  <p:childTnLst>
                                    <p:set>
                                      <p:cBhvr>
                                        <p:cTn id="54" dur="1" fill="hold">
                                          <p:stCondLst>
                                            <p:cond delay="0"/>
                                          </p:stCondLst>
                                        </p:cTn>
                                        <p:tgtEl>
                                          <p:spTgt spid="432"/>
                                        </p:tgtEl>
                                        <p:attrNameLst>
                                          <p:attrName>style.visibility</p:attrName>
                                        </p:attrNameLst>
                                      </p:cBhvr>
                                      <p:to>
                                        <p:strVal val="visible"/>
                                      </p:to>
                                    </p:set>
                                    <p:animEffect transition="in" filter="fade">
                                      <p:cBhvr>
                                        <p:cTn id="55" dur="320"/>
                                        <p:tgtEl>
                                          <p:spTgt spid="432"/>
                                        </p:tgtEl>
                                      </p:cBhvr>
                                    </p:animEffect>
                                  </p:childTnLst>
                                </p:cTn>
                              </p:par>
                              <p:par>
                                <p:cTn id="56" presetID="10" presetClass="entr" presetSubtype="0" fill="hold" nodeType="afterEffect">
                                  <p:stCondLst>
                                    <p:cond delay="160"/>
                                  </p:stCondLst>
                                  <p:childTnLst>
                                    <p:set>
                                      <p:cBhvr>
                                        <p:cTn id="57" dur="1" fill="hold">
                                          <p:stCondLst>
                                            <p:cond delay="0"/>
                                          </p:stCondLst>
                                        </p:cTn>
                                        <p:tgtEl>
                                          <p:spTgt spid="433"/>
                                        </p:tgtEl>
                                        <p:attrNameLst>
                                          <p:attrName>style.visibility</p:attrName>
                                        </p:attrNameLst>
                                      </p:cBhvr>
                                      <p:to>
                                        <p:strVal val="visible"/>
                                      </p:to>
                                    </p:set>
                                    <p:animEffect transition="in" filter="fade">
                                      <p:cBhvr>
                                        <p:cTn id="58" dur="380"/>
                                        <p:tgtEl>
                                          <p:spTgt spid="43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80"/>
                                        </p:tgtEl>
                                        <p:attrNameLst>
                                          <p:attrName>style.visibility</p:attrName>
                                        </p:attrNameLst>
                                      </p:cBhvr>
                                      <p:to>
                                        <p:strVal val="visible"/>
                                      </p:to>
                                    </p:set>
                                    <p:animEffect transition="in" filter="fade">
                                      <p:cBhvr>
                                        <p:cTn id="63" dur="380"/>
                                        <p:tgtEl>
                                          <p:spTgt spid="380"/>
                                        </p:tgtEl>
                                      </p:cBhvr>
                                    </p:animEffect>
                                  </p:childTnLst>
                                </p:cTn>
                              </p:par>
                              <p:par>
                                <p:cTn id="64" presetID="10" presetClass="entr" presetSubtype="0" fill="hold" nodeType="withEffect">
                                  <p:stCondLst>
                                    <p:cond delay="0"/>
                                  </p:stCondLst>
                                  <p:childTnLst>
                                    <p:set>
                                      <p:cBhvr>
                                        <p:cTn id="65" dur="1" fill="hold">
                                          <p:stCondLst>
                                            <p:cond delay="0"/>
                                          </p:stCondLst>
                                        </p:cTn>
                                        <p:tgtEl>
                                          <p:spTgt spid="381"/>
                                        </p:tgtEl>
                                        <p:attrNameLst>
                                          <p:attrName>style.visibility</p:attrName>
                                        </p:attrNameLst>
                                      </p:cBhvr>
                                      <p:to>
                                        <p:strVal val="visible"/>
                                      </p:to>
                                    </p:set>
                                    <p:animEffect transition="in" filter="fade">
                                      <p:cBhvr>
                                        <p:cTn id="66"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0040" y="320040"/>
            <a:ext cx="7992566" cy="457200"/>
          </a:xfrm>
        </p:spPr>
        <p:txBody>
          <a:bodyPr>
            <a:normAutofit fontScale="90000"/>
          </a:bodyPr>
          <a:lstStyle/>
          <a:p>
            <a:pPr marL="0" indent="0">
              <a:lnSpc>
                <a:spcPct val="100000"/>
              </a:lnSpc>
              <a:buNone/>
            </a:pPr>
            <a:r>
              <a:rPr lang="zh-TW" altLang="en-US" sz="3200" b="1" i="0" dirty="0">
                <a:solidFill>
                  <a:srgbClr val="2399AD"/>
                </a:solidFill>
                <a:latin typeface="Arial"/>
                <a:ea typeface="微軟正黑體"/>
                <a:cs typeface="Times New Roman"/>
              </a:rPr>
              <a:t>例題 2-11 解（三）</a:t>
            </a:r>
            <a:r>
              <a:rPr lang="zh-TW" altLang="en-US" sz="2800" b="0" i="0" dirty="0">
                <a:solidFill>
                  <a:srgbClr val="1F8899"/>
                </a:solidFill>
                <a:latin typeface="Arial"/>
                <a:ea typeface="微軟正黑體"/>
                <a:cs typeface="Times New Roman"/>
              </a:rPr>
              <a:t>　合成向量與大小</a:t>
            </a:r>
            <a:endParaRPr lang="zh-TW" sz="3200" dirty="0"/>
          </a:p>
        </p:txBody>
      </p:sp>
      <p:sp>
        <p:nvSpPr>
          <p:cNvPr id="400" name="Shape"/>
          <p:cNvSpPr/>
          <p:nvPr/>
        </p:nvSpPr>
        <p:spPr>
          <a:xfrm>
            <a:off x="365760" y="1097280"/>
            <a:ext cx="457200" cy="457200"/>
          </a:xfrm>
          <a:prstGeom prst="ellipse">
            <a:avLst/>
          </a:prstGeom>
          <a:solidFill>
            <a:srgbClr val="1F8899"/>
          </a:solidFill>
          <a:ln>
            <a:noFill/>
          </a:ln>
        </p:spPr>
        <p:txBody>
          <a:bodyPr/>
          <a:lstStyle/>
          <a:p>
            <a:endParaRPr lang="zh-TW"/>
          </a:p>
        </p:txBody>
      </p:sp>
      <p:sp>
        <p:nvSpPr>
          <p:cNvPr id="401" name="Text"/>
          <p:cNvSpPr txBox="1"/>
          <p:nvPr/>
        </p:nvSpPr>
        <p:spPr>
          <a:xfrm>
            <a:off x="365760" y="1097280"/>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1</a:t>
            </a:r>
            <a:endParaRPr lang="zh-TW" sz="2100" dirty="0"/>
          </a:p>
        </p:txBody>
      </p:sp>
      <p:sp>
        <p:nvSpPr>
          <p:cNvPr id="402" name="Text"/>
          <p:cNvSpPr txBox="1"/>
          <p:nvPr/>
        </p:nvSpPr>
        <p:spPr>
          <a:xfrm>
            <a:off x="1097280" y="1078992"/>
            <a:ext cx="461772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位置　s = 81i + 36j (m)</a:t>
            </a:r>
            <a:endParaRPr lang="zh-TW" sz="2400" dirty="0"/>
          </a:p>
        </p:txBody>
      </p:sp>
      <p:sp>
        <p:nvSpPr>
          <p:cNvPr id="403" name="Text"/>
          <p:cNvSpPr txBox="1"/>
          <p:nvPr/>
        </p:nvSpPr>
        <p:spPr>
          <a:xfrm>
            <a:off x="5897880" y="1078992"/>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10" name="Shape"/>
          <p:cNvSpPr/>
          <p:nvPr/>
        </p:nvSpPr>
        <p:spPr>
          <a:xfrm>
            <a:off x="365760" y="1755648"/>
            <a:ext cx="457200" cy="457200"/>
          </a:xfrm>
          <a:prstGeom prst="ellipse">
            <a:avLst/>
          </a:prstGeom>
          <a:solidFill>
            <a:srgbClr val="1F8899"/>
          </a:solidFill>
          <a:ln>
            <a:noFill/>
          </a:ln>
        </p:spPr>
        <p:txBody>
          <a:bodyPr/>
          <a:lstStyle/>
          <a:p>
            <a:endParaRPr lang="zh-TW"/>
          </a:p>
        </p:txBody>
      </p:sp>
      <p:sp>
        <p:nvSpPr>
          <p:cNvPr id="411" name="Text"/>
          <p:cNvSpPr txBox="1"/>
          <p:nvPr/>
        </p:nvSpPr>
        <p:spPr>
          <a:xfrm>
            <a:off x="365760" y="1755648"/>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2</a:t>
            </a:r>
            <a:endParaRPr lang="zh-TW" sz="2100" dirty="0"/>
          </a:p>
        </p:txBody>
      </p:sp>
      <p:sp>
        <p:nvSpPr>
          <p:cNvPr id="412" name="Text"/>
          <p:cNvSpPr txBox="1"/>
          <p:nvPr/>
        </p:nvSpPr>
        <p:spPr>
          <a:xfrm>
            <a:off x="1097280" y="1737360"/>
            <a:ext cx="461772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速度　v = 31i + 12j (m/s)</a:t>
            </a:r>
            <a:endParaRPr lang="zh-TW" sz="2400" dirty="0"/>
          </a:p>
        </p:txBody>
      </p:sp>
      <p:sp>
        <p:nvSpPr>
          <p:cNvPr id="413" name="Text"/>
          <p:cNvSpPr txBox="1"/>
          <p:nvPr/>
        </p:nvSpPr>
        <p:spPr>
          <a:xfrm>
            <a:off x="5897880" y="1737360"/>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sp>
        <p:nvSpPr>
          <p:cNvPr id="420" name="Shape"/>
          <p:cNvSpPr/>
          <p:nvPr/>
        </p:nvSpPr>
        <p:spPr>
          <a:xfrm>
            <a:off x="365760" y="2414016"/>
            <a:ext cx="457200" cy="457200"/>
          </a:xfrm>
          <a:prstGeom prst="ellipse">
            <a:avLst/>
          </a:prstGeom>
          <a:solidFill>
            <a:srgbClr val="1F8899"/>
          </a:solidFill>
          <a:ln>
            <a:noFill/>
          </a:ln>
        </p:spPr>
        <p:txBody>
          <a:bodyPr/>
          <a:lstStyle/>
          <a:p>
            <a:endParaRPr lang="zh-TW"/>
          </a:p>
        </p:txBody>
      </p:sp>
      <p:sp>
        <p:nvSpPr>
          <p:cNvPr id="421" name="Text"/>
          <p:cNvSpPr txBox="1"/>
          <p:nvPr/>
        </p:nvSpPr>
        <p:spPr>
          <a:xfrm>
            <a:off x="365760" y="2414016"/>
            <a:ext cx="457200" cy="457200"/>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100" b="1" i="0" dirty="0">
                <a:solidFill>
                  <a:srgbClr val="FFFFFF"/>
                </a:solidFill>
                <a:latin typeface="Arial"/>
                <a:ea typeface="微軟正黑體"/>
                <a:cs typeface="Times New Roman"/>
              </a:rPr>
              <a:t>3</a:t>
            </a:r>
            <a:endParaRPr lang="zh-TW" sz="2100" dirty="0"/>
          </a:p>
        </p:txBody>
      </p:sp>
      <p:sp>
        <p:nvSpPr>
          <p:cNvPr id="422" name="Text"/>
          <p:cNvSpPr txBox="1"/>
          <p:nvPr/>
        </p:nvSpPr>
        <p:spPr>
          <a:xfrm>
            <a:off x="1097280" y="2395728"/>
            <a:ext cx="4617720" cy="512064"/>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400" b="1" i="0" dirty="0">
                <a:solidFill>
                  <a:srgbClr val="1F8899"/>
                </a:solidFill>
                <a:latin typeface="Arial"/>
                <a:ea typeface="微軟正黑體"/>
                <a:cs typeface="Times New Roman"/>
              </a:rPr>
              <a:t>加速度 a = 6i + 2j (m/s²)</a:t>
            </a:r>
            <a:endParaRPr lang="zh-TW" sz="2400" dirty="0"/>
          </a:p>
        </p:txBody>
      </p:sp>
      <p:sp>
        <p:nvSpPr>
          <p:cNvPr id="423" name="Text"/>
          <p:cNvSpPr txBox="1"/>
          <p:nvPr/>
        </p:nvSpPr>
        <p:spPr>
          <a:xfrm>
            <a:off x="5897880" y="2395728"/>
            <a:ext cx="45720" cy="512064"/>
          </a:xfrm>
          <a:prstGeom prst="rect">
            <a:avLst/>
          </a:prstGeom>
          <a:noFill/>
          <a:ln>
            <a:noFill/>
          </a:ln>
        </p:spPr>
        <p:txBody>
          <a:bodyPr wrap="square" lIns="0" tIns="0" rIns="0" bIns="0" rtlCol="0" anchor="ctr">
            <a:normAutofit/>
          </a:bodyPr>
          <a:lstStyle/>
          <a:p>
            <a:pPr marL="0" indent="0" algn="l" fontAlgn="base">
              <a:lnSpc>
                <a:spcPct val="100000"/>
              </a:lnSpc>
              <a:buNone/>
            </a:pPr>
            <a:endParaRPr lang="zh-TW" sz="2400" dirty="0"/>
          </a:p>
        </p:txBody>
      </p:sp>
      <p:cxnSp>
        <p:nvCxnSpPr>
          <p:cNvPr id="9" name="Line"/>
          <p:cNvCxnSpPr/>
          <p:nvPr/>
        </p:nvCxnSpPr>
        <p:spPr>
          <a:xfrm>
            <a:off x="5989320" y="3200400"/>
            <a:ext cx="2057400" cy="1"/>
          </a:xfrm>
          <a:prstGeom prst="line">
            <a:avLst/>
          </a:prstGeom>
          <a:ln w="12700">
            <a:solidFill>
              <a:srgbClr val="333333"/>
            </a:solidFill>
            <a:tailEnd type="triangle" w="med" len="med"/>
          </a:ln>
        </p:spPr>
      </p:cxnSp>
      <p:cxnSp>
        <p:nvCxnSpPr>
          <p:cNvPr id="3" name="Line"/>
          <p:cNvCxnSpPr/>
          <p:nvPr/>
        </p:nvCxnSpPr>
        <p:spPr>
          <a:xfrm flipV="1">
            <a:off x="5989320" y="996696"/>
            <a:ext cx="1" cy="2203704"/>
          </a:xfrm>
          <a:prstGeom prst="line">
            <a:avLst/>
          </a:prstGeom>
          <a:ln w="12700">
            <a:solidFill>
              <a:srgbClr val="333333"/>
            </a:solidFill>
            <a:tailEnd type="triangle" w="med" len="med"/>
          </a:ln>
        </p:spPr>
      </p:cxnSp>
      <p:sp>
        <p:nvSpPr>
          <p:cNvPr id="4" name="Text"/>
          <p:cNvSpPr txBox="1"/>
          <p:nvPr/>
        </p:nvSpPr>
        <p:spPr>
          <a:xfrm>
            <a:off x="7900416" y="2798064"/>
            <a:ext cx="11887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x</a:t>
            </a:r>
            <a:endParaRPr lang="zh-TW" sz="2000" dirty="0"/>
          </a:p>
        </p:txBody>
      </p:sp>
      <p:sp>
        <p:nvSpPr>
          <p:cNvPr id="5" name="Text"/>
          <p:cNvSpPr txBox="1"/>
          <p:nvPr/>
        </p:nvSpPr>
        <p:spPr>
          <a:xfrm>
            <a:off x="5934456" y="667512"/>
            <a:ext cx="1645920" cy="310896"/>
          </a:xfrm>
          <a:prstGeom prst="rect">
            <a:avLst/>
          </a:prstGeom>
          <a:noFill/>
          <a:ln>
            <a:noFill/>
          </a:ln>
        </p:spPr>
        <p:txBody>
          <a:bodyPr wrap="none" lIns="0" tIns="0" rIns="0" bIns="0" rtlCol="0" anchor="ctr">
            <a:normAutofit/>
          </a:bodyPr>
          <a:lstStyle/>
          <a:p>
            <a:pPr marL="0" indent="0" algn="l" fontAlgn="base">
              <a:lnSpc>
                <a:spcPct val="100000"/>
              </a:lnSpc>
              <a:buNone/>
            </a:pPr>
            <a:r>
              <a:rPr lang="zh-TW" altLang="en-US" sz="2000" b="0" i="0" dirty="0">
                <a:solidFill>
                  <a:srgbClr val="333333"/>
                </a:solidFill>
                <a:latin typeface="Times New Roman"/>
                <a:ea typeface="微軟正黑體"/>
                <a:cs typeface="Times New Roman"/>
              </a:rPr>
              <a:t>y</a:t>
            </a:r>
            <a:endParaRPr lang="zh-TW" sz="2000" dirty="0"/>
          </a:p>
        </p:txBody>
      </p:sp>
      <p:sp>
        <p:nvSpPr>
          <p:cNvPr id="741" name="Curve"/>
          <p:cNvSpPr/>
          <p:nvPr/>
        </p:nvSpPr>
        <p:spPr>
          <a:xfrm>
            <a:off x="5989320" y="1657350"/>
            <a:ext cx="1535430" cy="1543050"/>
          </a:xfrm>
          <a:custGeom>
            <a:avLst/>
            <a:gdLst/>
            <a:ahLst/>
            <a:cxnLst/>
            <a:rect l="0" t="0" r="r" b="b"/>
            <a:pathLst>
              <a:path w="1535430" h="1543050">
                <a:moveTo>
                  <a:pt x="0" y="1543050"/>
                </a:moveTo>
                <a:lnTo>
                  <a:pt x="1535430" y="0"/>
                </a:lnTo>
              </a:path>
            </a:pathLst>
          </a:custGeom>
          <a:noFill/>
          <a:ln w="28575">
            <a:solidFill>
              <a:srgbClr val="1F8899"/>
            </a:solidFill>
            <a:round/>
          </a:ln>
        </p:spPr>
        <p:txBody>
          <a:bodyPr/>
          <a:lstStyle/>
          <a:p>
            <a:endParaRPr lang="zh-TW"/>
          </a:p>
        </p:txBody>
      </p:sp>
      <p:sp>
        <p:nvSpPr>
          <p:cNvPr id="742" name="Curve"/>
          <p:cNvSpPr/>
          <p:nvPr/>
        </p:nvSpPr>
        <p:spPr>
          <a:xfrm>
            <a:off x="5989320" y="2428875"/>
            <a:ext cx="891540" cy="771525"/>
          </a:xfrm>
          <a:custGeom>
            <a:avLst/>
            <a:gdLst/>
            <a:ahLst/>
            <a:cxnLst/>
            <a:rect l="0" t="0" r="r" b="b"/>
            <a:pathLst>
              <a:path w="891540" h="771525">
                <a:moveTo>
                  <a:pt x="0" y="771525"/>
                </a:moveTo>
                <a:lnTo>
                  <a:pt x="891540" y="0"/>
                </a:lnTo>
              </a:path>
            </a:pathLst>
          </a:custGeom>
          <a:noFill/>
          <a:ln w="28575">
            <a:solidFill>
              <a:srgbClr val="D6006F"/>
            </a:solidFill>
            <a:round/>
          </a:ln>
        </p:spPr>
        <p:txBody>
          <a:bodyPr/>
          <a:lstStyle/>
          <a:p>
            <a:endParaRPr lang="zh-TW"/>
          </a:p>
        </p:txBody>
      </p:sp>
      <p:sp>
        <p:nvSpPr>
          <p:cNvPr id="6" name="Text"/>
          <p:cNvSpPr txBox="1"/>
          <p:nvPr/>
        </p:nvSpPr>
        <p:spPr>
          <a:xfrm>
            <a:off x="6903720" y="1219010"/>
            <a:ext cx="548640" cy="310896"/>
          </a:xfrm>
          <a:prstGeom prst="rect">
            <a:avLst/>
          </a:prstGeom>
          <a:noFill/>
          <a:ln>
            <a:noFill/>
          </a:ln>
        </p:spPr>
        <p:txBody>
          <a:bodyPr wrap="none" lIns="0" tIns="0" rIns="0" bIns="0" rtlCol="0" anchor="ctr">
            <a:normAutofit lnSpcReduction="10000"/>
          </a:bodyPr>
          <a:lstStyle/>
          <a:p>
            <a:pPr marL="0" indent="0" algn="ctr" fontAlgn="base">
              <a:lnSpc>
                <a:spcPct val="100000"/>
              </a:lnSpc>
              <a:buNone/>
            </a:pPr>
            <a:r>
              <a:rPr lang="zh-TW" altLang="en-US" sz="2200" b="1" i="0" dirty="0">
                <a:solidFill>
                  <a:srgbClr val="1F8899"/>
                </a:solidFill>
                <a:latin typeface="Times New Roman"/>
                <a:ea typeface="微軟正黑體"/>
                <a:cs typeface="Times New Roman"/>
              </a:rPr>
              <a:t>v</a:t>
            </a:r>
            <a:endParaRPr lang="zh-TW" sz="2200" dirty="0"/>
          </a:p>
        </p:txBody>
      </p:sp>
      <p:sp>
        <p:nvSpPr>
          <p:cNvPr id="7" name="Text"/>
          <p:cNvSpPr txBox="1"/>
          <p:nvPr/>
        </p:nvSpPr>
        <p:spPr>
          <a:xfrm>
            <a:off x="5932170" y="2350580"/>
            <a:ext cx="2194560" cy="310896"/>
          </a:xfrm>
          <a:prstGeom prst="rect">
            <a:avLst/>
          </a:prstGeom>
          <a:noFill/>
          <a:ln>
            <a:noFill/>
          </a:ln>
        </p:spPr>
        <p:txBody>
          <a:bodyPr wrap="none" lIns="0" tIns="0" rIns="0" bIns="0" rtlCol="0" anchor="ctr">
            <a:normAutofit/>
          </a:bodyPr>
          <a:lstStyle/>
          <a:p>
            <a:pPr marL="0" indent="0" algn="ctr" fontAlgn="base">
              <a:lnSpc>
                <a:spcPct val="100000"/>
              </a:lnSpc>
              <a:buNone/>
            </a:pPr>
            <a:r>
              <a:rPr lang="zh-TW" altLang="en-US" sz="2000" b="1" i="0" dirty="0">
                <a:solidFill>
                  <a:srgbClr val="D6006F"/>
                </a:solidFill>
                <a:latin typeface="Times New Roman"/>
                <a:ea typeface="微軟正黑體"/>
                <a:cs typeface="Times New Roman"/>
              </a:rPr>
              <a:t>a（放大 3 倍）</a:t>
            </a:r>
            <a:endParaRPr lang="zh-TW" sz="2000" dirty="0"/>
          </a:p>
        </p:txBody>
      </p:sp>
      <p:sp>
        <p:nvSpPr>
          <p:cNvPr id="380" name="Shape"/>
          <p:cNvSpPr/>
          <p:nvPr/>
        </p:nvSpPr>
        <p:spPr>
          <a:xfrm>
            <a:off x="365760" y="3566160"/>
            <a:ext cx="7955280" cy="493776"/>
          </a:xfrm>
          <a:prstGeom prst="roundRect">
            <a:avLst>
              <a:gd name="adj" fmla="val 18000"/>
            </a:avLst>
          </a:prstGeom>
          <a:solidFill>
            <a:srgbClr val="FDECF4"/>
          </a:solidFill>
          <a:ln>
            <a:noFill/>
          </a:ln>
        </p:spPr>
        <p:txBody>
          <a:bodyPr/>
          <a:lstStyle/>
          <a:p>
            <a:endParaRPr lang="zh-TW"/>
          </a:p>
        </p:txBody>
      </p:sp>
      <p:sp>
        <p:nvSpPr>
          <p:cNvPr id="381" name="Text"/>
          <p:cNvSpPr txBox="1"/>
          <p:nvPr/>
        </p:nvSpPr>
        <p:spPr>
          <a:xfrm>
            <a:off x="365760" y="3566160"/>
            <a:ext cx="7955280" cy="493776"/>
          </a:xfrm>
          <a:prstGeom prst="rect">
            <a:avLst/>
          </a:prstGeom>
          <a:noFill/>
          <a:ln>
            <a:noFill/>
          </a:ln>
        </p:spPr>
        <p:txBody>
          <a:bodyPr wrap="square" lIns="0" tIns="0" rIns="0" bIns="0" rtlCol="0" anchor="ctr">
            <a:normAutofit/>
          </a:bodyPr>
          <a:lstStyle/>
          <a:p>
            <a:pPr marL="0" indent="0" algn="ctr" fontAlgn="base">
              <a:lnSpc>
                <a:spcPct val="100000"/>
              </a:lnSpc>
              <a:buNone/>
            </a:pPr>
            <a:r>
              <a:rPr lang="zh-TW" altLang="en-US" sz="2400" b="1" i="0" dirty="0">
                <a:solidFill>
                  <a:srgbClr val="D6006F"/>
                </a:solidFill>
                <a:latin typeface="Times New Roman"/>
                <a:ea typeface="微軟正黑體"/>
                <a:cs typeface="Times New Roman"/>
              </a:rPr>
              <a:t>速率 |v| = √(31² + 12²) = 33.2 m/s　　|a| = √40 = 6.32 m/s²</a:t>
            </a:r>
            <a:endParaRPr lang="zh-TW" sz="2400" dirty="0"/>
          </a:p>
        </p:txBody>
      </p:sp>
      <p:sp>
        <p:nvSpPr>
          <p:cNvPr id="8" name="Text"/>
          <p:cNvSpPr txBox="1"/>
          <p:nvPr/>
        </p:nvSpPr>
        <p:spPr>
          <a:xfrm>
            <a:off x="365760" y="4133088"/>
            <a:ext cx="7955280" cy="365760"/>
          </a:xfrm>
          <a:prstGeom prst="rect">
            <a:avLst/>
          </a:prstGeom>
          <a:noFill/>
          <a:ln>
            <a:noFill/>
          </a:ln>
        </p:spPr>
        <p:txBody>
          <a:bodyPr wrap="square" lIns="0" tIns="0" rIns="0" bIns="0" rtlCol="0" anchor="ctr">
            <a:normAutofit/>
          </a:bodyPr>
          <a:lstStyle/>
          <a:p>
            <a:pPr marL="0" indent="0" algn="l" fontAlgn="base">
              <a:lnSpc>
                <a:spcPct val="100000"/>
              </a:lnSpc>
              <a:buNone/>
            </a:pPr>
            <a:r>
              <a:rPr lang="zh-TW" altLang="en-US" sz="2200" b="0" i="0" dirty="0">
                <a:solidFill>
                  <a:srgbClr val="808080"/>
                </a:solidFill>
                <a:latin typeface="Times New Roman"/>
                <a:ea typeface="微軟正黑體"/>
                <a:cs typeface="Times New Roman"/>
              </a:rPr>
              <a:t>加速度是定值，方向固定；速度的大小與方向都隨 t 改變。</a:t>
            </a:r>
            <a:endParaRPr lang="zh-TW"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animEffect transition="in" filter="fade">
                                      <p:cBhvr>
                                        <p:cTn id="7" dur="280"/>
                                        <p:tgtEl>
                                          <p:spTgt spid="400"/>
                                        </p:tgtEl>
                                      </p:cBhvr>
                                    </p:animEffect>
                                  </p:childTnLst>
                                </p:cTn>
                              </p:par>
                              <p:par>
                                <p:cTn id="8" presetID="10" presetClass="entr" presetSubtype="0" fill="hold" nodeType="withEffect">
                                  <p:stCondLst>
                                    <p:cond delay="0"/>
                                  </p:stCondLst>
                                  <p:childTnLst>
                                    <p:set>
                                      <p:cBhvr>
                                        <p:cTn id="9" dur="1" fill="hold">
                                          <p:stCondLst>
                                            <p:cond delay="0"/>
                                          </p:stCondLst>
                                        </p:cTn>
                                        <p:tgtEl>
                                          <p:spTgt spid="401"/>
                                        </p:tgtEl>
                                        <p:attrNameLst>
                                          <p:attrName>style.visibility</p:attrName>
                                        </p:attrNameLst>
                                      </p:cBhvr>
                                      <p:to>
                                        <p:strVal val="visible"/>
                                      </p:to>
                                    </p:set>
                                    <p:animEffect transition="in" filter="fade">
                                      <p:cBhvr>
                                        <p:cTn id="10" dur="280"/>
                                        <p:tgtEl>
                                          <p:spTgt spid="401"/>
                                        </p:tgtEl>
                                      </p:cBhvr>
                                    </p:animEffect>
                                  </p:childTnLst>
                                </p:cTn>
                              </p:par>
                              <p:par>
                                <p:cTn id="11" presetID="10" presetClass="entr" presetSubtype="0" fill="hold" nodeType="withEffect">
                                  <p:stCondLst>
                                    <p:cond delay="0"/>
                                  </p:stCondLst>
                                  <p:childTnLst>
                                    <p:set>
                                      <p:cBhvr>
                                        <p:cTn id="12" dur="1" fill="hold">
                                          <p:stCondLst>
                                            <p:cond delay="0"/>
                                          </p:stCondLst>
                                        </p:cTn>
                                        <p:tgtEl>
                                          <p:spTgt spid="402"/>
                                        </p:tgtEl>
                                        <p:attrNameLst>
                                          <p:attrName>style.visibility</p:attrName>
                                        </p:attrNameLst>
                                      </p:cBhvr>
                                      <p:to>
                                        <p:strVal val="visible"/>
                                      </p:to>
                                    </p:set>
                                    <p:animEffect transition="in" filter="fade">
                                      <p:cBhvr>
                                        <p:cTn id="13" dur="320"/>
                                        <p:tgtEl>
                                          <p:spTgt spid="402"/>
                                        </p:tgtEl>
                                      </p:cBhvr>
                                    </p:animEffect>
                                  </p:childTnLst>
                                </p:cTn>
                              </p:par>
                              <p:par>
                                <p:cTn id="14" presetID="10" presetClass="entr" presetSubtype="0" fill="hold" nodeType="afterEffect">
                                  <p:stCondLst>
                                    <p:cond delay="160"/>
                                  </p:stCondLst>
                                  <p:childTnLst>
                                    <p:set>
                                      <p:cBhvr>
                                        <p:cTn id="15" dur="1" fill="hold">
                                          <p:stCondLst>
                                            <p:cond delay="0"/>
                                          </p:stCondLst>
                                        </p:cTn>
                                        <p:tgtEl>
                                          <p:spTgt spid="403"/>
                                        </p:tgtEl>
                                        <p:attrNameLst>
                                          <p:attrName>style.visibility</p:attrName>
                                        </p:attrNameLst>
                                      </p:cBhvr>
                                      <p:to>
                                        <p:strVal val="visible"/>
                                      </p:to>
                                    </p:set>
                                    <p:animEffect transition="in" filter="fade">
                                      <p:cBhvr>
                                        <p:cTn id="16" dur="380"/>
                                        <p:tgtEl>
                                          <p:spTgt spid="40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10"/>
                                        </p:tgtEl>
                                        <p:attrNameLst>
                                          <p:attrName>style.visibility</p:attrName>
                                        </p:attrNameLst>
                                      </p:cBhvr>
                                      <p:to>
                                        <p:strVal val="visible"/>
                                      </p:to>
                                    </p:set>
                                    <p:animEffect transition="in" filter="fade">
                                      <p:cBhvr>
                                        <p:cTn id="21" dur="280"/>
                                        <p:tgtEl>
                                          <p:spTgt spid="410"/>
                                        </p:tgtEl>
                                      </p:cBhvr>
                                    </p:animEffect>
                                  </p:childTnLst>
                                </p:cTn>
                              </p:par>
                              <p:par>
                                <p:cTn id="22" presetID="10" presetClass="entr" presetSubtype="0" fill="hold" nodeType="withEffect">
                                  <p:stCondLst>
                                    <p:cond delay="0"/>
                                  </p:stCondLst>
                                  <p:childTnLst>
                                    <p:set>
                                      <p:cBhvr>
                                        <p:cTn id="23" dur="1" fill="hold">
                                          <p:stCondLst>
                                            <p:cond delay="0"/>
                                          </p:stCondLst>
                                        </p:cTn>
                                        <p:tgtEl>
                                          <p:spTgt spid="411"/>
                                        </p:tgtEl>
                                        <p:attrNameLst>
                                          <p:attrName>style.visibility</p:attrName>
                                        </p:attrNameLst>
                                      </p:cBhvr>
                                      <p:to>
                                        <p:strVal val="visible"/>
                                      </p:to>
                                    </p:set>
                                    <p:animEffect transition="in" filter="fade">
                                      <p:cBhvr>
                                        <p:cTn id="24" dur="280"/>
                                        <p:tgtEl>
                                          <p:spTgt spid="411"/>
                                        </p:tgtEl>
                                      </p:cBhvr>
                                    </p:animEffect>
                                  </p:childTnLst>
                                </p:cTn>
                              </p:par>
                              <p:par>
                                <p:cTn id="25" presetID="10" presetClass="entr" presetSubtype="0" fill="hold" nodeType="withEffect">
                                  <p:stCondLst>
                                    <p:cond delay="0"/>
                                  </p:stCondLst>
                                  <p:childTnLst>
                                    <p:set>
                                      <p:cBhvr>
                                        <p:cTn id="26" dur="1" fill="hold">
                                          <p:stCondLst>
                                            <p:cond delay="0"/>
                                          </p:stCondLst>
                                        </p:cTn>
                                        <p:tgtEl>
                                          <p:spTgt spid="412"/>
                                        </p:tgtEl>
                                        <p:attrNameLst>
                                          <p:attrName>style.visibility</p:attrName>
                                        </p:attrNameLst>
                                      </p:cBhvr>
                                      <p:to>
                                        <p:strVal val="visible"/>
                                      </p:to>
                                    </p:set>
                                    <p:animEffect transition="in" filter="fade">
                                      <p:cBhvr>
                                        <p:cTn id="27" dur="320"/>
                                        <p:tgtEl>
                                          <p:spTgt spid="412"/>
                                        </p:tgtEl>
                                      </p:cBhvr>
                                    </p:animEffect>
                                  </p:childTnLst>
                                </p:cTn>
                              </p:par>
                              <p:par>
                                <p:cTn id="28" presetID="10" presetClass="entr" presetSubtype="0" fill="hold" nodeType="afterEffect">
                                  <p:stCondLst>
                                    <p:cond delay="160"/>
                                  </p:stCondLst>
                                  <p:childTnLst>
                                    <p:set>
                                      <p:cBhvr>
                                        <p:cTn id="29" dur="1" fill="hold">
                                          <p:stCondLst>
                                            <p:cond delay="0"/>
                                          </p:stCondLst>
                                        </p:cTn>
                                        <p:tgtEl>
                                          <p:spTgt spid="413"/>
                                        </p:tgtEl>
                                        <p:attrNameLst>
                                          <p:attrName>style.visibility</p:attrName>
                                        </p:attrNameLst>
                                      </p:cBhvr>
                                      <p:to>
                                        <p:strVal val="visible"/>
                                      </p:to>
                                    </p:set>
                                    <p:animEffect transition="in" filter="fade">
                                      <p:cBhvr>
                                        <p:cTn id="30" dur="380"/>
                                        <p:tgtEl>
                                          <p:spTgt spid="4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20"/>
                                        </p:tgtEl>
                                        <p:attrNameLst>
                                          <p:attrName>style.visibility</p:attrName>
                                        </p:attrNameLst>
                                      </p:cBhvr>
                                      <p:to>
                                        <p:strVal val="visible"/>
                                      </p:to>
                                    </p:set>
                                    <p:animEffect transition="in" filter="fade">
                                      <p:cBhvr>
                                        <p:cTn id="35" dur="280"/>
                                        <p:tgtEl>
                                          <p:spTgt spid="420"/>
                                        </p:tgtEl>
                                      </p:cBhvr>
                                    </p:animEffect>
                                  </p:childTnLst>
                                </p:cTn>
                              </p:par>
                              <p:par>
                                <p:cTn id="36" presetID="10" presetClass="entr" presetSubtype="0" fill="hold" nodeType="withEffect">
                                  <p:stCondLst>
                                    <p:cond delay="0"/>
                                  </p:stCondLst>
                                  <p:childTnLst>
                                    <p:set>
                                      <p:cBhvr>
                                        <p:cTn id="37" dur="1" fill="hold">
                                          <p:stCondLst>
                                            <p:cond delay="0"/>
                                          </p:stCondLst>
                                        </p:cTn>
                                        <p:tgtEl>
                                          <p:spTgt spid="421"/>
                                        </p:tgtEl>
                                        <p:attrNameLst>
                                          <p:attrName>style.visibility</p:attrName>
                                        </p:attrNameLst>
                                      </p:cBhvr>
                                      <p:to>
                                        <p:strVal val="visible"/>
                                      </p:to>
                                    </p:set>
                                    <p:animEffect transition="in" filter="fade">
                                      <p:cBhvr>
                                        <p:cTn id="38" dur="280"/>
                                        <p:tgtEl>
                                          <p:spTgt spid="421"/>
                                        </p:tgtEl>
                                      </p:cBhvr>
                                    </p:animEffect>
                                  </p:childTnLst>
                                </p:cTn>
                              </p:par>
                              <p:par>
                                <p:cTn id="39" presetID="10" presetClass="entr" presetSubtype="0" fill="hold" nodeType="withEffect">
                                  <p:stCondLst>
                                    <p:cond delay="0"/>
                                  </p:stCondLst>
                                  <p:childTnLst>
                                    <p:set>
                                      <p:cBhvr>
                                        <p:cTn id="40" dur="1" fill="hold">
                                          <p:stCondLst>
                                            <p:cond delay="0"/>
                                          </p:stCondLst>
                                        </p:cTn>
                                        <p:tgtEl>
                                          <p:spTgt spid="422"/>
                                        </p:tgtEl>
                                        <p:attrNameLst>
                                          <p:attrName>style.visibility</p:attrName>
                                        </p:attrNameLst>
                                      </p:cBhvr>
                                      <p:to>
                                        <p:strVal val="visible"/>
                                      </p:to>
                                    </p:set>
                                    <p:animEffect transition="in" filter="fade">
                                      <p:cBhvr>
                                        <p:cTn id="41" dur="320"/>
                                        <p:tgtEl>
                                          <p:spTgt spid="422"/>
                                        </p:tgtEl>
                                      </p:cBhvr>
                                    </p:animEffect>
                                  </p:childTnLst>
                                </p:cTn>
                              </p:par>
                              <p:par>
                                <p:cTn id="42" presetID="10" presetClass="entr" presetSubtype="0" fill="hold" nodeType="afterEffect">
                                  <p:stCondLst>
                                    <p:cond delay="160"/>
                                  </p:stCondLst>
                                  <p:childTnLst>
                                    <p:set>
                                      <p:cBhvr>
                                        <p:cTn id="43" dur="1" fill="hold">
                                          <p:stCondLst>
                                            <p:cond delay="0"/>
                                          </p:stCondLst>
                                        </p:cTn>
                                        <p:tgtEl>
                                          <p:spTgt spid="423"/>
                                        </p:tgtEl>
                                        <p:attrNameLst>
                                          <p:attrName>style.visibility</p:attrName>
                                        </p:attrNameLst>
                                      </p:cBhvr>
                                      <p:to>
                                        <p:strVal val="visible"/>
                                      </p:to>
                                    </p:set>
                                    <p:animEffect transition="in" filter="fade">
                                      <p:cBhvr>
                                        <p:cTn id="44" dur="380"/>
                                        <p:tgtEl>
                                          <p:spTgt spid="4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741"/>
                                        </p:tgtEl>
                                        <p:attrNameLst>
                                          <p:attrName>style.visibility</p:attrName>
                                        </p:attrNameLst>
                                      </p:cBhvr>
                                      <p:to>
                                        <p:strVal val="visible"/>
                                      </p:to>
                                    </p:set>
                                    <p:animEffect transition="in" filter="fade">
                                      <p:cBhvr>
                                        <p:cTn id="49" dur="400"/>
                                        <p:tgtEl>
                                          <p:spTgt spid="741"/>
                                        </p:tgtEl>
                                      </p:cBhvr>
                                    </p:animEffect>
                                  </p:childTnLst>
                                </p:cTn>
                              </p:par>
                              <p:par>
                                <p:cTn id="50" presetID="10" presetClass="entr" presetSubtype="0" fill="hold" nodeType="afterEffect">
                                  <p:stCondLst>
                                    <p:cond delay="200"/>
                                  </p:stCondLst>
                                  <p:childTnLst>
                                    <p:set>
                                      <p:cBhvr>
                                        <p:cTn id="51" dur="1" fill="hold">
                                          <p:stCondLst>
                                            <p:cond delay="0"/>
                                          </p:stCondLst>
                                        </p:cTn>
                                        <p:tgtEl>
                                          <p:spTgt spid="742"/>
                                        </p:tgtEl>
                                        <p:attrNameLst>
                                          <p:attrName>style.visibility</p:attrName>
                                        </p:attrNameLst>
                                      </p:cBhvr>
                                      <p:to>
                                        <p:strVal val="visible"/>
                                      </p:to>
                                    </p:set>
                                    <p:animEffect transition="in" filter="fade">
                                      <p:cBhvr>
                                        <p:cTn id="52" dur="400"/>
                                        <p:tgtEl>
                                          <p:spTgt spid="74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0"/>
                                        </p:tgtEl>
                                        <p:attrNameLst>
                                          <p:attrName>style.visibility</p:attrName>
                                        </p:attrNameLst>
                                      </p:cBhvr>
                                      <p:to>
                                        <p:strVal val="visible"/>
                                      </p:to>
                                    </p:set>
                                    <p:animEffect transition="in" filter="fade">
                                      <p:cBhvr>
                                        <p:cTn id="57" dur="380"/>
                                        <p:tgtEl>
                                          <p:spTgt spid="380"/>
                                        </p:tgtEl>
                                      </p:cBhvr>
                                    </p:animEffect>
                                  </p:childTnLst>
                                </p:cTn>
                              </p:par>
                              <p:par>
                                <p:cTn id="58" presetID="10" presetClass="entr" presetSubtype="0" fill="hold" nodeType="withEffect">
                                  <p:stCondLst>
                                    <p:cond delay="0"/>
                                  </p:stCondLst>
                                  <p:childTnLst>
                                    <p:set>
                                      <p:cBhvr>
                                        <p:cTn id="59" dur="1" fill="hold">
                                          <p:stCondLst>
                                            <p:cond delay="0"/>
                                          </p:stCondLst>
                                        </p:cTn>
                                        <p:tgtEl>
                                          <p:spTgt spid="381"/>
                                        </p:tgtEl>
                                        <p:attrNameLst>
                                          <p:attrName>style.visibility</p:attrName>
                                        </p:attrNameLst>
                                      </p:cBhvr>
                                      <p:to>
                                        <p:strVal val="visible"/>
                                      </p:to>
                                    </p:set>
                                    <p:animEffect transition="in" filter="fade">
                                      <p:cBhvr>
                                        <p:cTn id="60" dur="38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1" name="文字 20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a:t>
            </a:r>
            <a:r>
              <a:rPr lang="zh-TW" altLang="en-US" sz="2800" b="0" dirty="0">
                <a:solidFill>
                  <a:srgbClr val="1F8899"/>
                </a:solidFill>
                <a:latin typeface="Microsoft JhengHei"/>
                <a:ea typeface="Microsoft JhengHei"/>
                <a:cs typeface="Microsoft JhengHei"/>
              </a:rPr>
              <a:t>　離原點距離與平均速率</a:t>
            </a:r>
          </a:p>
        </p:txBody>
      </p:sp>
      <p:sp>
        <p:nvSpPr>
          <p:cNvPr id="2002" name="文字 2002"/>
          <p:cNvSpPr txBox="1"/>
          <p:nvPr/>
        </p:nvSpPr>
        <p:spPr>
          <a:xfrm>
            <a:off x="365760" y="868680"/>
            <a:ext cx="731520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承例題 2-11，物體離地 36 m 時，</a:t>
            </a:r>
          </a:p>
        </p:txBody>
      </p:sp>
      <p:sp>
        <p:nvSpPr>
          <p:cNvPr id="2003" name="文字 2003"/>
          <p:cNvSpPr txBox="1"/>
          <p:nvPr/>
        </p:nvSpPr>
        <p:spPr>
          <a:xfrm>
            <a:off x="365760" y="1280160"/>
            <a:ext cx="566928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離原點距離為多少？平均速率為多少？</a:t>
            </a:r>
          </a:p>
        </p:txBody>
      </p:sp>
      <p:sp>
        <p:nvSpPr>
          <p:cNvPr id="2004" name="文字 2004"/>
          <p:cNvSpPr txBox="1"/>
          <p:nvPr/>
        </p:nvSpPr>
        <p:spPr>
          <a:xfrm>
            <a:off x="365760" y="1828800"/>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x = 3t² − 5t + 3，y = t²</a:t>
            </a:r>
          </a:p>
        </p:txBody>
      </p:sp>
      <p:sp>
        <p:nvSpPr>
          <p:cNvPr id="2005" name="文字 2005"/>
          <p:cNvSpPr txBox="1"/>
          <p:nvPr/>
        </p:nvSpPr>
        <p:spPr>
          <a:xfrm>
            <a:off x="365760" y="2395728"/>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離地 36 m → t = 6 s</a:t>
            </a:r>
          </a:p>
        </p:txBody>
      </p:sp>
      <p:sp>
        <p:nvSpPr>
          <p:cNvPr id="2006" name="文字 2006"/>
          <p:cNvSpPr txBox="1"/>
          <p:nvPr/>
        </p:nvSpPr>
        <p:spPr>
          <a:xfrm>
            <a:off x="365760" y="2962656"/>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終點在 (81, 36)</a:t>
            </a:r>
          </a:p>
        </p:txBody>
      </p:sp>
      <p:sp>
        <p:nvSpPr>
          <p:cNvPr id="2007" name="文字 2007"/>
          <p:cNvSpPr txBox="1"/>
          <p:nvPr/>
        </p:nvSpPr>
        <p:spPr>
          <a:xfrm>
            <a:off x="365760" y="3529584"/>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起點 t = 0：(3, 0)</a:t>
            </a:r>
          </a:p>
        </p:txBody>
      </p:sp>
      <p:sp>
        <p:nvSpPr>
          <p:cNvPr id="2008" name="文字 2008"/>
          <p:cNvSpPr txBox="1"/>
          <p:nvPr/>
        </p:nvSpPr>
        <p:spPr>
          <a:xfrm>
            <a:off x="365760" y="4114800"/>
            <a:ext cx="4572000" cy="457200"/>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起點不在原點！</a:t>
            </a:r>
          </a:p>
        </p:txBody>
      </p:sp>
      <p:sp>
        <p:nvSpPr>
          <p:cNvPr id="2009" name="線 2009"/>
          <p:cNvSpPr/>
          <p:nvPr/>
        </p:nvSpPr>
        <p:spPr>
          <a:xfrm flipV="1">
            <a:off x="5257800" y="1783080"/>
            <a:ext cx="0" cy="2377440"/>
          </a:xfrm>
          <a:prstGeom prst="line">
            <a:avLst/>
          </a:prstGeom>
          <a:ln w="18288" cap="rnd">
            <a:solidFill>
              <a:srgbClr val="333333"/>
            </a:solidFill>
            <a:tailEnd type="triangle" w="med" len="med"/>
          </a:ln>
        </p:spPr>
        <p:txBody>
          <a:bodyPr/>
          <a:lstStyle/>
          <a:p>
            <a:endParaRPr lang="zh-TW" altLang="en-US"/>
          </a:p>
        </p:txBody>
      </p:sp>
      <p:sp>
        <p:nvSpPr>
          <p:cNvPr id="2010" name="線 2010"/>
          <p:cNvSpPr/>
          <p:nvPr/>
        </p:nvSpPr>
        <p:spPr>
          <a:xfrm>
            <a:off x="5257800" y="4160520"/>
            <a:ext cx="3057754" cy="0"/>
          </a:xfrm>
          <a:prstGeom prst="line">
            <a:avLst/>
          </a:prstGeom>
          <a:ln w="18288" cap="rnd">
            <a:solidFill>
              <a:srgbClr val="333333"/>
            </a:solidFill>
            <a:tailEnd type="triangle" w="med" len="med"/>
          </a:ln>
        </p:spPr>
        <p:txBody>
          <a:bodyPr/>
          <a:lstStyle/>
          <a:p>
            <a:endParaRPr lang="zh-TW" altLang="en-US"/>
          </a:p>
        </p:txBody>
      </p:sp>
      <p:sp>
        <p:nvSpPr>
          <p:cNvPr id="2011" name="文字 2011"/>
          <p:cNvSpPr txBox="1"/>
          <p:nvPr/>
        </p:nvSpPr>
        <p:spPr>
          <a:xfrm>
            <a:off x="4937760" y="411480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O</a:t>
            </a:r>
          </a:p>
        </p:txBody>
      </p:sp>
      <p:sp>
        <p:nvSpPr>
          <p:cNvPr id="2012" name="圖形 2012"/>
          <p:cNvSpPr/>
          <p:nvPr/>
        </p:nvSpPr>
        <p:spPr>
          <a:xfrm>
            <a:off x="5289767" y="2020824"/>
            <a:ext cx="2782556" cy="2139696"/>
          </a:xfrm>
          <a:custGeom>
            <a:avLst/>
            <a:gdLst/>
            <a:ahLst/>
            <a:cxnLst/>
            <a:rect l="0" t="0" r="r" b="b"/>
            <a:pathLst>
              <a:path w="2782556" h="2139696" fill="none">
                <a:moveTo>
                  <a:pt x="72274" y="2139696"/>
                </a:moveTo>
                <a:lnTo>
                  <a:pt x="55943" y="2139102"/>
                </a:lnTo>
                <a:lnTo>
                  <a:pt x="41697" y="2137319"/>
                </a:lnTo>
                <a:lnTo>
                  <a:pt x="29535" y="2134347"/>
                </a:lnTo>
                <a:lnTo>
                  <a:pt x="19458" y="2130186"/>
                </a:lnTo>
                <a:lnTo>
                  <a:pt x="11467" y="2124837"/>
                </a:lnTo>
                <a:lnTo>
                  <a:pt x="5560" y="2118299"/>
                </a:lnTo>
                <a:lnTo>
                  <a:pt x="1737" y="2110572"/>
                </a:lnTo>
                <a:lnTo>
                  <a:pt x="0" y="2101657"/>
                </a:lnTo>
                <a:lnTo>
                  <a:pt x="347" y="2091553"/>
                </a:lnTo>
                <a:lnTo>
                  <a:pt x="2780" y="2080260"/>
                </a:lnTo>
                <a:lnTo>
                  <a:pt x="7297" y="2067778"/>
                </a:lnTo>
                <a:lnTo>
                  <a:pt x="13899" y="2054108"/>
                </a:lnTo>
                <a:lnTo>
                  <a:pt x="22586" y="2039249"/>
                </a:lnTo>
                <a:lnTo>
                  <a:pt x="33357" y="2023201"/>
                </a:lnTo>
                <a:lnTo>
                  <a:pt x="46214" y="2005965"/>
                </a:lnTo>
                <a:lnTo>
                  <a:pt x="61155" y="1987540"/>
                </a:lnTo>
                <a:lnTo>
                  <a:pt x="78181" y="1967926"/>
                </a:lnTo>
                <a:lnTo>
                  <a:pt x="97292" y="1947123"/>
                </a:lnTo>
                <a:lnTo>
                  <a:pt x="118488" y="1925132"/>
                </a:lnTo>
                <a:lnTo>
                  <a:pt x="141769" y="1901952"/>
                </a:lnTo>
                <a:lnTo>
                  <a:pt x="167134" y="1877583"/>
                </a:lnTo>
                <a:lnTo>
                  <a:pt x="194584" y="1852026"/>
                </a:lnTo>
                <a:lnTo>
                  <a:pt x="224119" y="1825280"/>
                </a:lnTo>
                <a:lnTo>
                  <a:pt x="255739" y="1797345"/>
                </a:lnTo>
                <a:lnTo>
                  <a:pt x="289444" y="1768221"/>
                </a:lnTo>
                <a:lnTo>
                  <a:pt x="325234" y="1737909"/>
                </a:lnTo>
                <a:lnTo>
                  <a:pt x="363108" y="1706408"/>
                </a:lnTo>
                <a:lnTo>
                  <a:pt x="403068" y="1673718"/>
                </a:lnTo>
                <a:lnTo>
                  <a:pt x="445112" y="1639839"/>
                </a:lnTo>
                <a:lnTo>
                  <a:pt x="489241" y="1604772"/>
                </a:lnTo>
                <a:lnTo>
                  <a:pt x="535454" y="1568516"/>
                </a:lnTo>
                <a:lnTo>
                  <a:pt x="583753" y="1531071"/>
                </a:lnTo>
                <a:lnTo>
                  <a:pt x="634136" y="1492438"/>
                </a:lnTo>
                <a:lnTo>
                  <a:pt x="686605" y="1452616"/>
                </a:lnTo>
                <a:lnTo>
                  <a:pt x="741158" y="1411605"/>
                </a:lnTo>
                <a:lnTo>
                  <a:pt x="797796" y="1369405"/>
                </a:lnTo>
                <a:lnTo>
                  <a:pt x="856518" y="1326017"/>
                </a:lnTo>
                <a:lnTo>
                  <a:pt x="917326" y="1281440"/>
                </a:lnTo>
                <a:lnTo>
                  <a:pt x="980219" y="1235674"/>
                </a:lnTo>
                <a:lnTo>
                  <a:pt x="1045196" y="1188720"/>
                </a:lnTo>
                <a:lnTo>
                  <a:pt x="1112258" y="1140577"/>
                </a:lnTo>
                <a:lnTo>
                  <a:pt x="1181405" y="1091245"/>
                </a:lnTo>
                <a:lnTo>
                  <a:pt x="1252637" y="1040724"/>
                </a:lnTo>
                <a:lnTo>
                  <a:pt x="1325953" y="989015"/>
                </a:lnTo>
                <a:lnTo>
                  <a:pt x="1401355" y="936117"/>
                </a:lnTo>
                <a:lnTo>
                  <a:pt x="1478841" y="882030"/>
                </a:lnTo>
                <a:lnTo>
                  <a:pt x="1558412" y="826755"/>
                </a:lnTo>
                <a:lnTo>
                  <a:pt x="1640068" y="770291"/>
                </a:lnTo>
                <a:lnTo>
                  <a:pt x="1723809" y="712638"/>
                </a:lnTo>
                <a:lnTo>
                  <a:pt x="1809634" y="653796"/>
                </a:lnTo>
                <a:lnTo>
                  <a:pt x="1897545" y="593766"/>
                </a:lnTo>
                <a:lnTo>
                  <a:pt x="1987540" y="532547"/>
                </a:lnTo>
                <a:lnTo>
                  <a:pt x="2079620" y="470139"/>
                </a:lnTo>
                <a:lnTo>
                  <a:pt x="2173785" y="406542"/>
                </a:lnTo>
                <a:lnTo>
                  <a:pt x="2270035" y="341757"/>
                </a:lnTo>
                <a:lnTo>
                  <a:pt x="2368369" y="275783"/>
                </a:lnTo>
                <a:lnTo>
                  <a:pt x="2468789" y="208620"/>
                </a:lnTo>
                <a:lnTo>
                  <a:pt x="2571293" y="140269"/>
                </a:lnTo>
                <a:lnTo>
                  <a:pt x="2675882" y="70729"/>
                </a:lnTo>
                <a:lnTo>
                  <a:pt x="2782556" y="0"/>
                </a:lnTo>
              </a:path>
            </a:pathLst>
          </a:custGeom>
          <a:noFill/>
          <a:ln w="36576" cap="rnd">
            <a:solidFill>
              <a:srgbClr val="1F8899"/>
            </a:solidFill>
          </a:ln>
        </p:spPr>
        <p:txBody>
          <a:bodyPr/>
          <a:lstStyle/>
          <a:p>
            <a:endParaRPr lang="zh-TW" altLang="en-US"/>
          </a:p>
        </p:txBody>
      </p:sp>
      <p:sp>
        <p:nvSpPr>
          <p:cNvPr id="2013" name="圓 2013"/>
          <p:cNvSpPr/>
          <p:nvPr/>
        </p:nvSpPr>
        <p:spPr>
          <a:xfrm>
            <a:off x="5307178" y="4105656"/>
            <a:ext cx="109728" cy="109728"/>
          </a:xfrm>
          <a:prstGeom prst="ellipse">
            <a:avLst/>
          </a:prstGeom>
          <a:solidFill>
            <a:srgbClr val="1E2761"/>
          </a:solidFill>
          <a:ln>
            <a:noFill/>
          </a:ln>
        </p:spPr>
        <p:txBody>
          <a:bodyPr/>
          <a:lstStyle/>
          <a:p>
            <a:endParaRPr lang="zh-TW" altLang="en-US"/>
          </a:p>
        </p:txBody>
      </p:sp>
      <p:sp>
        <p:nvSpPr>
          <p:cNvPr id="2014" name="圓 2014"/>
          <p:cNvSpPr/>
          <p:nvPr/>
        </p:nvSpPr>
        <p:spPr>
          <a:xfrm>
            <a:off x="8017459" y="1965960"/>
            <a:ext cx="109728" cy="109728"/>
          </a:xfrm>
          <a:prstGeom prst="ellipse">
            <a:avLst/>
          </a:prstGeom>
          <a:solidFill>
            <a:srgbClr val="D6006F"/>
          </a:solidFill>
          <a:ln>
            <a:noFill/>
          </a:ln>
        </p:spPr>
        <p:txBody>
          <a:bodyPr/>
          <a:lstStyle/>
          <a:p>
            <a:endParaRPr lang="zh-TW" altLang="en-US"/>
          </a:p>
        </p:txBody>
      </p:sp>
      <p:sp>
        <p:nvSpPr>
          <p:cNvPr id="2015" name="文字 2015"/>
          <p:cNvSpPr txBox="1"/>
          <p:nvPr/>
        </p:nvSpPr>
        <p:spPr>
          <a:xfrm>
            <a:off x="5270602" y="4178808"/>
            <a:ext cx="1737360" cy="384048"/>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起點 (3, 0)</a:t>
            </a:r>
          </a:p>
        </p:txBody>
      </p:sp>
      <p:sp>
        <p:nvSpPr>
          <p:cNvPr id="2016" name="文字 2016"/>
          <p:cNvSpPr txBox="1"/>
          <p:nvPr/>
        </p:nvSpPr>
        <p:spPr>
          <a:xfrm>
            <a:off x="6655003" y="1609344"/>
            <a:ext cx="1463040" cy="384048"/>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(81, 36)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animEffect transition="in" filter="fade">
                                      <p:cBhvr>
                                        <p:cTn id="7" dur="500"/>
                                        <p:tgtEl>
                                          <p:spTgt spid="2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05"/>
                                        </p:tgtEl>
                                        <p:attrNameLst>
                                          <p:attrName>style.visibility</p:attrName>
                                        </p:attrNameLst>
                                      </p:cBhvr>
                                      <p:to>
                                        <p:strVal val="visible"/>
                                      </p:to>
                                    </p:set>
                                    <p:animEffect transition="in" filter="fade">
                                      <p:cBhvr>
                                        <p:cTn id="12" dur="500"/>
                                        <p:tgtEl>
                                          <p:spTgt spid="200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06"/>
                                        </p:tgtEl>
                                        <p:attrNameLst>
                                          <p:attrName>style.visibility</p:attrName>
                                        </p:attrNameLst>
                                      </p:cBhvr>
                                      <p:to>
                                        <p:strVal val="visible"/>
                                      </p:to>
                                    </p:set>
                                    <p:animEffect transition="in" filter="fade">
                                      <p:cBhvr>
                                        <p:cTn id="15" dur="500"/>
                                        <p:tgtEl>
                                          <p:spTgt spid="200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07"/>
                                        </p:tgtEl>
                                        <p:attrNameLst>
                                          <p:attrName>style.visibility</p:attrName>
                                        </p:attrNameLst>
                                      </p:cBhvr>
                                      <p:to>
                                        <p:strVal val="visible"/>
                                      </p:to>
                                    </p:set>
                                    <p:animEffect transition="in" filter="fade">
                                      <p:cBhvr>
                                        <p:cTn id="20" dur="500"/>
                                        <p:tgtEl>
                                          <p:spTgt spid="200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008"/>
                                        </p:tgtEl>
                                        <p:attrNameLst>
                                          <p:attrName>style.visibility</p:attrName>
                                        </p:attrNameLst>
                                      </p:cBhvr>
                                      <p:to>
                                        <p:strVal val="visible"/>
                                      </p:to>
                                    </p:set>
                                    <p:animEffect transition="in" filter="fade">
                                      <p:cBhvr>
                                        <p:cTn id="23" dur="500"/>
                                        <p:tgtEl>
                                          <p:spTgt spid="2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animBg="1"/>
      <p:bldP spid="2005" grpId="0" animBg="1"/>
      <p:bldP spid="2006" grpId="0" animBg="1"/>
      <p:bldP spid="2007" grpId="0" animBg="1"/>
      <p:bldP spid="200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1" name="文字 21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 解（一）</a:t>
            </a:r>
            <a:r>
              <a:rPr lang="zh-TW" altLang="en-US" sz="2800" b="0" dirty="0">
                <a:solidFill>
                  <a:srgbClr val="1F8899"/>
                </a:solidFill>
                <a:latin typeface="Microsoft JhengHei"/>
                <a:ea typeface="Microsoft JhengHei"/>
                <a:cs typeface="Microsoft JhengHei"/>
              </a:rPr>
              <a:t>　課本的做法</a:t>
            </a:r>
          </a:p>
        </p:txBody>
      </p:sp>
      <p:sp>
        <p:nvSpPr>
          <p:cNvPr id="2102" name="圓 21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103" name="文字 2103"/>
          <p:cNvSpPr txBox="1"/>
          <p:nvPr/>
        </p:nvSpPr>
        <p:spPr>
          <a:xfrm>
            <a:off x="1097280" y="1097280"/>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離原點距離：s = √(x² + y²)</a:t>
            </a:r>
          </a:p>
        </p:txBody>
      </p:sp>
      <p:sp>
        <p:nvSpPr>
          <p:cNvPr id="2104" name="圓 21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105" name="文字 2105"/>
          <p:cNvSpPr txBox="1"/>
          <p:nvPr/>
        </p:nvSpPr>
        <p:spPr>
          <a:xfrm>
            <a:off x="1097280" y="1755648"/>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代入 (81, 36)：√(81² + 36²) = 88.64 m</a:t>
            </a:r>
          </a:p>
        </p:txBody>
      </p:sp>
      <p:sp>
        <p:nvSpPr>
          <p:cNvPr id="2106" name="圓 21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107" name="文字 2107"/>
          <p:cNvSpPr txBox="1"/>
          <p:nvPr/>
        </p:nvSpPr>
        <p:spPr>
          <a:xfrm>
            <a:off x="1097280" y="2414016"/>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課本平均：88.64 ÷ 6 = 14.77 m/s</a:t>
            </a:r>
          </a:p>
        </p:txBody>
      </p:sp>
      <p:sp>
        <p:nvSpPr>
          <p:cNvPr id="2108" name="文字 2108"/>
          <p:cNvSpPr txBox="1"/>
          <p:nvPr/>
        </p:nvSpPr>
        <p:spPr>
          <a:xfrm>
            <a:off x="365760" y="324612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答（課本）：離原點 88.64 m，平均 14.77 m/s</a:t>
            </a:r>
          </a:p>
        </p:txBody>
      </p:sp>
      <p:sp>
        <p:nvSpPr>
          <p:cNvPr id="2109" name="文字 2109"/>
          <p:cNvSpPr txBox="1"/>
          <p:nvPr/>
        </p:nvSpPr>
        <p:spPr>
          <a:xfrm>
            <a:off x="365760" y="3931920"/>
            <a:ext cx="7955280" cy="457200"/>
          </a:xfrm>
          <a:prstGeom prst="rect">
            <a:avLst/>
          </a:prstGeom>
          <a:noFill/>
          <a:ln>
            <a:noFill/>
          </a:ln>
        </p:spPr>
        <p:txBody>
          <a:bodyPr wrap="none" lIns="45720" tIns="0" rIns="45720" bIns="0" anchor="ctr">
            <a:noAutofit/>
          </a:bodyPr>
          <a:lstStyle/>
          <a:p>
            <a:pPr algn="l">
              <a:buNone/>
            </a:pPr>
            <a:r>
              <a:rPr lang="zh-TW" altLang="en-US" sz="2400" b="0" dirty="0">
                <a:solidFill>
                  <a:srgbClr val="666666"/>
                </a:solidFill>
                <a:latin typeface="Microsoft JhengHei"/>
                <a:ea typeface="Microsoft JhengHei"/>
                <a:cs typeface="Microsoft JhengHei"/>
              </a:rPr>
              <a:t>第 3 步的 14.77 是什麼？看下一頁。</a:t>
            </a:r>
          </a:p>
        </p:txBody>
      </p:sp>
      <p:sp>
        <p:nvSpPr>
          <p:cNvPr id="3" name="文字 2004">
            <a:extLst>
              <a:ext uri="{FF2B5EF4-FFF2-40B4-BE49-F238E27FC236}">
                <a16:creationId xmlns:a16="http://schemas.microsoft.com/office/drawing/2014/main" id="{3B716DF4-6A37-4B37-18C7-3E6C8EC75682}"/>
              </a:ext>
            </a:extLst>
          </p:cNvPr>
          <p:cNvSpPr txBox="1"/>
          <p:nvPr/>
        </p:nvSpPr>
        <p:spPr>
          <a:xfrm>
            <a:off x="4343400" y="722376"/>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x = 3t² − 5t + 3，y = t²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02"/>
                                        </p:tgtEl>
                                        <p:attrNameLst>
                                          <p:attrName>style.visibility</p:attrName>
                                        </p:attrNameLst>
                                      </p:cBhvr>
                                      <p:to>
                                        <p:strVal val="visible"/>
                                      </p:to>
                                    </p:set>
                                    <p:animEffect transition="in" filter="fade">
                                      <p:cBhvr>
                                        <p:cTn id="7" dur="500"/>
                                        <p:tgtEl>
                                          <p:spTgt spid="21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03"/>
                                        </p:tgtEl>
                                        <p:attrNameLst>
                                          <p:attrName>style.visibility</p:attrName>
                                        </p:attrNameLst>
                                      </p:cBhvr>
                                      <p:to>
                                        <p:strVal val="visible"/>
                                      </p:to>
                                    </p:set>
                                    <p:animEffect transition="in" filter="fade">
                                      <p:cBhvr>
                                        <p:cTn id="10" dur="500"/>
                                        <p:tgtEl>
                                          <p:spTgt spid="21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04"/>
                                        </p:tgtEl>
                                        <p:attrNameLst>
                                          <p:attrName>style.visibility</p:attrName>
                                        </p:attrNameLst>
                                      </p:cBhvr>
                                      <p:to>
                                        <p:strVal val="visible"/>
                                      </p:to>
                                    </p:set>
                                    <p:animEffect transition="in" filter="fade">
                                      <p:cBhvr>
                                        <p:cTn id="15" dur="500"/>
                                        <p:tgtEl>
                                          <p:spTgt spid="21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05"/>
                                        </p:tgtEl>
                                        <p:attrNameLst>
                                          <p:attrName>style.visibility</p:attrName>
                                        </p:attrNameLst>
                                      </p:cBhvr>
                                      <p:to>
                                        <p:strVal val="visible"/>
                                      </p:to>
                                    </p:set>
                                    <p:animEffect transition="in" filter="fade">
                                      <p:cBhvr>
                                        <p:cTn id="18" dur="500"/>
                                        <p:tgtEl>
                                          <p:spTgt spid="21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06"/>
                                        </p:tgtEl>
                                        <p:attrNameLst>
                                          <p:attrName>style.visibility</p:attrName>
                                        </p:attrNameLst>
                                      </p:cBhvr>
                                      <p:to>
                                        <p:strVal val="visible"/>
                                      </p:to>
                                    </p:set>
                                    <p:animEffect transition="in" filter="fade">
                                      <p:cBhvr>
                                        <p:cTn id="23" dur="500"/>
                                        <p:tgtEl>
                                          <p:spTgt spid="21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07"/>
                                        </p:tgtEl>
                                        <p:attrNameLst>
                                          <p:attrName>style.visibility</p:attrName>
                                        </p:attrNameLst>
                                      </p:cBhvr>
                                      <p:to>
                                        <p:strVal val="visible"/>
                                      </p:to>
                                    </p:set>
                                    <p:animEffect transition="in" filter="fade">
                                      <p:cBhvr>
                                        <p:cTn id="26" dur="500"/>
                                        <p:tgtEl>
                                          <p:spTgt spid="21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108"/>
                                        </p:tgtEl>
                                        <p:attrNameLst>
                                          <p:attrName>style.visibility</p:attrName>
                                        </p:attrNameLst>
                                      </p:cBhvr>
                                      <p:to>
                                        <p:strVal val="visible"/>
                                      </p:to>
                                    </p:set>
                                    <p:animEffect transition="in" filter="fade">
                                      <p:cBhvr>
                                        <p:cTn id="31" dur="500"/>
                                        <p:tgtEl>
                                          <p:spTgt spid="210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109"/>
                                        </p:tgtEl>
                                        <p:attrNameLst>
                                          <p:attrName>style.visibility</p:attrName>
                                        </p:attrNameLst>
                                      </p:cBhvr>
                                      <p:to>
                                        <p:strVal val="visible"/>
                                      </p:to>
                                    </p:set>
                                    <p:animEffect transition="in" filter="fade">
                                      <p:cBhvr>
                                        <p:cTn id="36" dur="500"/>
                                        <p:tgtEl>
                                          <p:spTgt spid="210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2" grpId="0" animBg="1"/>
      <p:bldP spid="2103" grpId="0" animBg="1"/>
      <p:bldP spid="2104" grpId="0" animBg="1"/>
      <p:bldP spid="2105" grpId="0" animBg="1"/>
      <p:bldP spid="2106" grpId="0" animBg="1"/>
      <p:bldP spid="2107" grpId="0" animBg="1"/>
      <p:bldP spid="2108" grpId="0" animBg="1"/>
      <p:bldP spid="2109" grpId="0" animBg="1"/>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 name="文字 22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 解（二）</a:t>
            </a:r>
            <a:r>
              <a:rPr lang="zh-TW" altLang="en-US" sz="2800" b="0" dirty="0">
                <a:solidFill>
                  <a:srgbClr val="1F8899"/>
                </a:solidFill>
                <a:latin typeface="Microsoft JhengHei"/>
                <a:ea typeface="Microsoft JhengHei"/>
                <a:cs typeface="Microsoft JhengHei"/>
              </a:rPr>
              <a:t>　三個「長度」不一樣</a:t>
            </a:r>
          </a:p>
        </p:txBody>
      </p:sp>
      <p:sp>
        <p:nvSpPr>
          <p:cNvPr id="2202" name="圓 22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203" name="文字 2203"/>
          <p:cNvSpPr txBox="1"/>
          <p:nvPr/>
        </p:nvSpPr>
        <p:spPr>
          <a:xfrm>
            <a:off x="1097280" y="1097280"/>
            <a:ext cx="4572000" cy="512064"/>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離原點：</a:t>
            </a:r>
            <a:r>
              <a:rPr lang="zh-TW" altLang="en-US" sz="2400" b="0" dirty="0">
                <a:solidFill>
                  <a:srgbClr val="333333"/>
                </a:solidFill>
                <a:latin typeface="Microsoft JhengHei"/>
                <a:ea typeface="Microsoft JhengHei"/>
                <a:cs typeface="Microsoft JhengHei"/>
              </a:rPr>
              <a:t>√(81² + 36²) = 88.64 m</a:t>
            </a:r>
          </a:p>
        </p:txBody>
      </p:sp>
      <p:sp>
        <p:nvSpPr>
          <p:cNvPr id="2204" name="圓 22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205" name="文字 2205"/>
          <p:cNvSpPr txBox="1"/>
          <p:nvPr/>
        </p:nvSpPr>
        <p:spPr>
          <a:xfrm>
            <a:off x="1097280" y="1755648"/>
            <a:ext cx="4572000" cy="512064"/>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位移：</a:t>
            </a:r>
            <a:r>
              <a:rPr lang="zh-TW" altLang="en-US" sz="2400" b="0" dirty="0">
                <a:solidFill>
                  <a:srgbClr val="333333"/>
                </a:solidFill>
                <a:latin typeface="Microsoft JhengHei"/>
                <a:ea typeface="Microsoft JhengHei"/>
                <a:cs typeface="Microsoft JhengHei"/>
              </a:rPr>
              <a:t>√(78² + 36²) = 85.91 m</a:t>
            </a:r>
          </a:p>
        </p:txBody>
      </p:sp>
      <p:sp>
        <p:nvSpPr>
          <p:cNvPr id="2206" name="圓 22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207" name="文字 2207"/>
          <p:cNvSpPr txBox="1"/>
          <p:nvPr/>
        </p:nvSpPr>
        <p:spPr>
          <a:xfrm>
            <a:off x="1097280" y="2414016"/>
            <a:ext cx="457200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速率 |v| = √(40t² − 60t + 25)</a:t>
            </a:r>
          </a:p>
        </p:txBody>
      </p:sp>
      <p:sp>
        <p:nvSpPr>
          <p:cNvPr id="2208" name="圓 2208"/>
          <p:cNvSpPr/>
          <p:nvPr/>
        </p:nvSpPr>
        <p:spPr>
          <a:xfrm>
            <a:off x="365760" y="3099816"/>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4</a:t>
            </a:r>
          </a:p>
        </p:txBody>
      </p:sp>
      <p:sp>
        <p:nvSpPr>
          <p:cNvPr id="2209" name="文字 2209"/>
          <p:cNvSpPr txBox="1"/>
          <p:nvPr/>
        </p:nvSpPr>
        <p:spPr>
          <a:xfrm>
            <a:off x="1097280" y="3072384"/>
            <a:ext cx="4572000" cy="512064"/>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路徑長：</a:t>
            </a:r>
            <a:r>
              <a:rPr lang="zh-TW" altLang="en-US" sz="2400" b="0" dirty="0">
                <a:solidFill>
                  <a:srgbClr val="333333"/>
                </a:solidFill>
                <a:latin typeface="Microsoft JhengHei"/>
                <a:ea typeface="Microsoft JhengHei"/>
                <a:cs typeface="Microsoft JhengHei"/>
              </a:rPr>
              <a:t>∫₀⁶ |v| dt = 90.23 m</a:t>
            </a:r>
          </a:p>
        </p:txBody>
      </p:sp>
      <p:sp>
        <p:nvSpPr>
          <p:cNvPr id="2210" name="線 2210"/>
          <p:cNvSpPr/>
          <p:nvPr/>
        </p:nvSpPr>
        <p:spPr>
          <a:xfrm flipV="1">
            <a:off x="6263640" y="1234440"/>
            <a:ext cx="0" cy="2377440"/>
          </a:xfrm>
          <a:prstGeom prst="line">
            <a:avLst/>
          </a:prstGeom>
          <a:ln w="18288" cap="rnd">
            <a:solidFill>
              <a:srgbClr val="333333"/>
            </a:solidFill>
            <a:tailEnd type="triangle" w="med" len="med"/>
          </a:ln>
        </p:spPr>
        <p:txBody>
          <a:bodyPr/>
          <a:lstStyle/>
          <a:p>
            <a:endParaRPr lang="zh-TW" altLang="en-US"/>
          </a:p>
        </p:txBody>
      </p:sp>
      <p:sp>
        <p:nvSpPr>
          <p:cNvPr id="2211" name="線 2211"/>
          <p:cNvSpPr/>
          <p:nvPr/>
        </p:nvSpPr>
        <p:spPr>
          <a:xfrm>
            <a:off x="6263640" y="3611880"/>
            <a:ext cx="2092147" cy="0"/>
          </a:xfrm>
          <a:prstGeom prst="line">
            <a:avLst/>
          </a:prstGeom>
          <a:ln w="18288" cap="rnd">
            <a:solidFill>
              <a:srgbClr val="333333"/>
            </a:solidFill>
            <a:tailEnd type="triangle" w="med" len="med"/>
          </a:ln>
        </p:spPr>
        <p:txBody>
          <a:bodyPr/>
          <a:lstStyle/>
          <a:p>
            <a:endParaRPr lang="zh-TW" altLang="en-US"/>
          </a:p>
        </p:txBody>
      </p:sp>
      <p:sp>
        <p:nvSpPr>
          <p:cNvPr id="2212" name="文字 2212"/>
          <p:cNvSpPr txBox="1"/>
          <p:nvPr/>
        </p:nvSpPr>
        <p:spPr>
          <a:xfrm>
            <a:off x="5943600" y="356616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O</a:t>
            </a:r>
          </a:p>
        </p:txBody>
      </p:sp>
      <p:sp>
        <p:nvSpPr>
          <p:cNvPr id="2213" name="圖形 2213"/>
          <p:cNvSpPr/>
          <p:nvPr/>
        </p:nvSpPr>
        <p:spPr>
          <a:xfrm>
            <a:off x="6285512" y="1472184"/>
            <a:ext cx="1903854" cy="2139696"/>
          </a:xfrm>
          <a:custGeom>
            <a:avLst/>
            <a:gdLst/>
            <a:ahLst/>
            <a:cxnLst/>
            <a:rect l="0" t="0" r="r" b="b"/>
            <a:pathLst>
              <a:path w="1903854" h="2139696" fill="none">
                <a:moveTo>
                  <a:pt x="49451" y="2139696"/>
                </a:moveTo>
                <a:lnTo>
                  <a:pt x="38277" y="2139102"/>
                </a:lnTo>
                <a:lnTo>
                  <a:pt x="28529" y="2137319"/>
                </a:lnTo>
                <a:lnTo>
                  <a:pt x="20208" y="2134347"/>
                </a:lnTo>
                <a:lnTo>
                  <a:pt x="13314" y="2130186"/>
                </a:lnTo>
                <a:lnTo>
                  <a:pt x="7846" y="2124837"/>
                </a:lnTo>
                <a:lnTo>
                  <a:pt x="3804" y="2118299"/>
                </a:lnTo>
                <a:lnTo>
                  <a:pt x="1189" y="2110572"/>
                </a:lnTo>
                <a:lnTo>
                  <a:pt x="0" y="2101657"/>
                </a:lnTo>
                <a:lnTo>
                  <a:pt x="238" y="2091553"/>
                </a:lnTo>
                <a:lnTo>
                  <a:pt x="1902" y="2080260"/>
                </a:lnTo>
                <a:lnTo>
                  <a:pt x="4993" y="2067778"/>
                </a:lnTo>
                <a:lnTo>
                  <a:pt x="9510" y="2054108"/>
                </a:lnTo>
                <a:lnTo>
                  <a:pt x="15453" y="2039249"/>
                </a:lnTo>
                <a:lnTo>
                  <a:pt x="22823" y="2023201"/>
                </a:lnTo>
                <a:lnTo>
                  <a:pt x="31620" y="2005965"/>
                </a:lnTo>
                <a:lnTo>
                  <a:pt x="41843" y="1987540"/>
                </a:lnTo>
                <a:lnTo>
                  <a:pt x="53492" y="1967926"/>
                </a:lnTo>
                <a:lnTo>
                  <a:pt x="66568" y="1947123"/>
                </a:lnTo>
                <a:lnTo>
                  <a:pt x="81071" y="1925132"/>
                </a:lnTo>
                <a:lnTo>
                  <a:pt x="97000" y="1901952"/>
                </a:lnTo>
                <a:lnTo>
                  <a:pt x="114355" y="1877583"/>
                </a:lnTo>
                <a:lnTo>
                  <a:pt x="133137" y="1852026"/>
                </a:lnTo>
                <a:lnTo>
                  <a:pt x="153345" y="1825280"/>
                </a:lnTo>
                <a:lnTo>
                  <a:pt x="174980" y="1797345"/>
                </a:lnTo>
                <a:lnTo>
                  <a:pt x="198041" y="1768221"/>
                </a:lnTo>
                <a:lnTo>
                  <a:pt x="222528" y="1737909"/>
                </a:lnTo>
                <a:lnTo>
                  <a:pt x="248442" y="1706408"/>
                </a:lnTo>
                <a:lnTo>
                  <a:pt x="275783" y="1673718"/>
                </a:lnTo>
                <a:lnTo>
                  <a:pt x="304550" y="1639839"/>
                </a:lnTo>
                <a:lnTo>
                  <a:pt x="334744" y="1604772"/>
                </a:lnTo>
                <a:lnTo>
                  <a:pt x="366364" y="1568516"/>
                </a:lnTo>
                <a:lnTo>
                  <a:pt x="399410" y="1531071"/>
                </a:lnTo>
                <a:lnTo>
                  <a:pt x="433883" y="1492438"/>
                </a:lnTo>
                <a:lnTo>
                  <a:pt x="469782" y="1452616"/>
                </a:lnTo>
                <a:lnTo>
                  <a:pt x="507108" y="1411605"/>
                </a:lnTo>
                <a:lnTo>
                  <a:pt x="545860" y="1369405"/>
                </a:lnTo>
                <a:lnTo>
                  <a:pt x="586039" y="1326017"/>
                </a:lnTo>
                <a:lnTo>
                  <a:pt x="627644" y="1281440"/>
                </a:lnTo>
                <a:lnTo>
                  <a:pt x="670676" y="1235674"/>
                </a:lnTo>
                <a:lnTo>
                  <a:pt x="715134" y="1188720"/>
                </a:lnTo>
                <a:lnTo>
                  <a:pt x="761019" y="1140577"/>
                </a:lnTo>
                <a:lnTo>
                  <a:pt x="808330" y="1091245"/>
                </a:lnTo>
                <a:lnTo>
                  <a:pt x="857067" y="1040724"/>
                </a:lnTo>
                <a:lnTo>
                  <a:pt x="907231" y="989015"/>
                </a:lnTo>
                <a:lnTo>
                  <a:pt x="958822" y="936117"/>
                </a:lnTo>
                <a:lnTo>
                  <a:pt x="1011838" y="882030"/>
                </a:lnTo>
                <a:lnTo>
                  <a:pt x="1066282" y="826755"/>
                </a:lnTo>
                <a:lnTo>
                  <a:pt x="1122152" y="770291"/>
                </a:lnTo>
                <a:lnTo>
                  <a:pt x="1179448" y="712638"/>
                </a:lnTo>
                <a:lnTo>
                  <a:pt x="1238171" y="653796"/>
                </a:lnTo>
                <a:lnTo>
                  <a:pt x="1298320" y="593766"/>
                </a:lnTo>
                <a:lnTo>
                  <a:pt x="1359896" y="532547"/>
                </a:lnTo>
                <a:lnTo>
                  <a:pt x="1422898" y="470139"/>
                </a:lnTo>
                <a:lnTo>
                  <a:pt x="1487326" y="406542"/>
                </a:lnTo>
                <a:lnTo>
                  <a:pt x="1553182" y="341757"/>
                </a:lnTo>
                <a:lnTo>
                  <a:pt x="1620463" y="275783"/>
                </a:lnTo>
                <a:lnTo>
                  <a:pt x="1689171" y="208620"/>
                </a:lnTo>
                <a:lnTo>
                  <a:pt x="1759306" y="140269"/>
                </a:lnTo>
                <a:lnTo>
                  <a:pt x="1830867" y="70729"/>
                </a:lnTo>
                <a:lnTo>
                  <a:pt x="1903854" y="0"/>
                </a:lnTo>
              </a:path>
            </a:pathLst>
          </a:custGeom>
          <a:noFill/>
          <a:ln w="36576" cap="rnd">
            <a:solidFill>
              <a:srgbClr val="1F8899"/>
            </a:solidFill>
          </a:ln>
        </p:spPr>
        <p:txBody>
          <a:bodyPr/>
          <a:lstStyle/>
          <a:p>
            <a:endParaRPr lang="zh-TW" altLang="en-US"/>
          </a:p>
        </p:txBody>
      </p:sp>
      <p:sp>
        <p:nvSpPr>
          <p:cNvPr id="2214" name="圓 2214"/>
          <p:cNvSpPr/>
          <p:nvPr/>
        </p:nvSpPr>
        <p:spPr>
          <a:xfrm>
            <a:off x="6280099" y="3557016"/>
            <a:ext cx="109728" cy="109728"/>
          </a:xfrm>
          <a:prstGeom prst="ellipse">
            <a:avLst/>
          </a:prstGeom>
          <a:solidFill>
            <a:srgbClr val="1E2761"/>
          </a:solidFill>
          <a:ln>
            <a:noFill/>
          </a:ln>
        </p:spPr>
        <p:txBody>
          <a:bodyPr/>
          <a:lstStyle/>
          <a:p>
            <a:endParaRPr lang="zh-TW" altLang="en-US"/>
          </a:p>
        </p:txBody>
      </p:sp>
      <p:sp>
        <p:nvSpPr>
          <p:cNvPr id="2215" name="圓 2215"/>
          <p:cNvSpPr/>
          <p:nvPr/>
        </p:nvSpPr>
        <p:spPr>
          <a:xfrm>
            <a:off x="8134502" y="1417320"/>
            <a:ext cx="109728" cy="109728"/>
          </a:xfrm>
          <a:prstGeom prst="ellipse">
            <a:avLst/>
          </a:prstGeom>
          <a:solidFill>
            <a:srgbClr val="D6006F"/>
          </a:solidFill>
          <a:ln>
            <a:noFill/>
          </a:ln>
        </p:spPr>
        <p:txBody>
          <a:bodyPr/>
          <a:lstStyle/>
          <a:p>
            <a:endParaRPr lang="zh-TW" altLang="en-US"/>
          </a:p>
        </p:txBody>
      </p:sp>
      <p:sp>
        <p:nvSpPr>
          <p:cNvPr id="2216" name="線 2216"/>
          <p:cNvSpPr/>
          <p:nvPr/>
        </p:nvSpPr>
        <p:spPr>
          <a:xfrm flipV="1">
            <a:off x="6263640" y="1472184"/>
            <a:ext cx="1925726" cy="2139696"/>
          </a:xfrm>
          <a:prstGeom prst="line">
            <a:avLst/>
          </a:prstGeom>
          <a:ln w="32004" cap="rnd">
            <a:solidFill>
              <a:srgbClr val="D6006F"/>
            </a:solidFill>
            <a:prstDash val="dash"/>
          </a:ln>
        </p:spPr>
        <p:txBody>
          <a:bodyPr/>
          <a:lstStyle/>
          <a:p>
            <a:endParaRPr lang="zh-TW" altLang="en-US"/>
          </a:p>
        </p:txBody>
      </p:sp>
      <p:sp>
        <p:nvSpPr>
          <p:cNvPr id="2217" name="線 2217"/>
          <p:cNvSpPr/>
          <p:nvPr/>
        </p:nvSpPr>
        <p:spPr>
          <a:xfrm flipV="1">
            <a:off x="6334963" y="1472184"/>
            <a:ext cx="1854403" cy="2139696"/>
          </a:xfrm>
          <a:prstGeom prst="line">
            <a:avLst/>
          </a:prstGeom>
          <a:ln w="32004" cap="rnd">
            <a:solidFill>
              <a:srgbClr val="1E2761"/>
            </a:solidFill>
            <a:tailEnd type="triangle" w="med" len="med"/>
          </a:ln>
        </p:spPr>
        <p:txBody>
          <a:bodyPr/>
          <a:lstStyle/>
          <a:p>
            <a:endParaRPr lang="zh-TW" altLang="en-US"/>
          </a:p>
        </p:txBody>
      </p:sp>
      <p:sp>
        <p:nvSpPr>
          <p:cNvPr id="2218" name="文字 2218"/>
          <p:cNvSpPr txBox="1"/>
          <p:nvPr/>
        </p:nvSpPr>
        <p:spPr>
          <a:xfrm>
            <a:off x="365760" y="397764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路徑是彎的：路徑長 90.23 &gt; 位移 85.91</a:t>
            </a:r>
          </a:p>
        </p:txBody>
      </p:sp>
      <p:sp>
        <p:nvSpPr>
          <p:cNvPr id="2" name="文字 2004">
            <a:extLst>
              <a:ext uri="{FF2B5EF4-FFF2-40B4-BE49-F238E27FC236}">
                <a16:creationId xmlns:a16="http://schemas.microsoft.com/office/drawing/2014/main" id="{7BB7CADB-1F60-315A-2C07-019FFA770C7A}"/>
              </a:ext>
            </a:extLst>
          </p:cNvPr>
          <p:cNvSpPr txBox="1"/>
          <p:nvPr/>
        </p:nvSpPr>
        <p:spPr>
          <a:xfrm>
            <a:off x="3974374" y="754380"/>
            <a:ext cx="457200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x = 3t² − 5t + 3，y = t²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16"/>
                                        </p:tgtEl>
                                        <p:attrNameLst>
                                          <p:attrName>style.visibility</p:attrName>
                                        </p:attrNameLst>
                                      </p:cBhvr>
                                      <p:to>
                                        <p:strVal val="visible"/>
                                      </p:to>
                                    </p:set>
                                    <p:animEffect transition="in" filter="fade">
                                      <p:cBhvr>
                                        <p:cTn id="7" dur="500"/>
                                        <p:tgtEl>
                                          <p:spTgt spid="22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02"/>
                                        </p:tgtEl>
                                        <p:attrNameLst>
                                          <p:attrName>style.visibility</p:attrName>
                                        </p:attrNameLst>
                                      </p:cBhvr>
                                      <p:to>
                                        <p:strVal val="visible"/>
                                      </p:to>
                                    </p:set>
                                    <p:animEffect transition="in" filter="fade">
                                      <p:cBhvr>
                                        <p:cTn id="10" dur="500"/>
                                        <p:tgtEl>
                                          <p:spTgt spid="220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03"/>
                                        </p:tgtEl>
                                        <p:attrNameLst>
                                          <p:attrName>style.visibility</p:attrName>
                                        </p:attrNameLst>
                                      </p:cBhvr>
                                      <p:to>
                                        <p:strVal val="visible"/>
                                      </p:to>
                                    </p:set>
                                    <p:animEffect transition="in" filter="fade">
                                      <p:cBhvr>
                                        <p:cTn id="13" dur="500"/>
                                        <p:tgtEl>
                                          <p:spTgt spid="220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17"/>
                                        </p:tgtEl>
                                        <p:attrNameLst>
                                          <p:attrName>style.visibility</p:attrName>
                                        </p:attrNameLst>
                                      </p:cBhvr>
                                      <p:to>
                                        <p:strVal val="visible"/>
                                      </p:to>
                                    </p:set>
                                    <p:animEffect transition="in" filter="fade">
                                      <p:cBhvr>
                                        <p:cTn id="18" dur="500"/>
                                        <p:tgtEl>
                                          <p:spTgt spid="22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04"/>
                                        </p:tgtEl>
                                        <p:attrNameLst>
                                          <p:attrName>style.visibility</p:attrName>
                                        </p:attrNameLst>
                                      </p:cBhvr>
                                      <p:to>
                                        <p:strVal val="visible"/>
                                      </p:to>
                                    </p:set>
                                    <p:animEffect transition="in" filter="fade">
                                      <p:cBhvr>
                                        <p:cTn id="21" dur="500"/>
                                        <p:tgtEl>
                                          <p:spTgt spid="220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05"/>
                                        </p:tgtEl>
                                        <p:attrNameLst>
                                          <p:attrName>style.visibility</p:attrName>
                                        </p:attrNameLst>
                                      </p:cBhvr>
                                      <p:to>
                                        <p:strVal val="visible"/>
                                      </p:to>
                                    </p:set>
                                    <p:animEffect transition="in" filter="fade">
                                      <p:cBhvr>
                                        <p:cTn id="24" dur="500"/>
                                        <p:tgtEl>
                                          <p:spTgt spid="220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206"/>
                                        </p:tgtEl>
                                        <p:attrNameLst>
                                          <p:attrName>style.visibility</p:attrName>
                                        </p:attrNameLst>
                                      </p:cBhvr>
                                      <p:to>
                                        <p:strVal val="visible"/>
                                      </p:to>
                                    </p:set>
                                    <p:animEffect transition="in" filter="fade">
                                      <p:cBhvr>
                                        <p:cTn id="29" dur="500"/>
                                        <p:tgtEl>
                                          <p:spTgt spid="220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07"/>
                                        </p:tgtEl>
                                        <p:attrNameLst>
                                          <p:attrName>style.visibility</p:attrName>
                                        </p:attrNameLst>
                                      </p:cBhvr>
                                      <p:to>
                                        <p:strVal val="visible"/>
                                      </p:to>
                                    </p:set>
                                    <p:animEffect transition="in" filter="fade">
                                      <p:cBhvr>
                                        <p:cTn id="32" dur="500"/>
                                        <p:tgtEl>
                                          <p:spTgt spid="220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13"/>
                                        </p:tgtEl>
                                        <p:attrNameLst>
                                          <p:attrName>style.visibility</p:attrName>
                                        </p:attrNameLst>
                                      </p:cBhvr>
                                      <p:to>
                                        <p:strVal val="visible"/>
                                      </p:to>
                                    </p:set>
                                    <p:animEffect transition="in" filter="fade">
                                      <p:cBhvr>
                                        <p:cTn id="37" dur="500"/>
                                        <p:tgtEl>
                                          <p:spTgt spid="22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08"/>
                                        </p:tgtEl>
                                        <p:attrNameLst>
                                          <p:attrName>style.visibility</p:attrName>
                                        </p:attrNameLst>
                                      </p:cBhvr>
                                      <p:to>
                                        <p:strVal val="visible"/>
                                      </p:to>
                                    </p:set>
                                    <p:animEffect transition="in" filter="fade">
                                      <p:cBhvr>
                                        <p:cTn id="40" dur="500"/>
                                        <p:tgtEl>
                                          <p:spTgt spid="220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09"/>
                                        </p:tgtEl>
                                        <p:attrNameLst>
                                          <p:attrName>style.visibility</p:attrName>
                                        </p:attrNameLst>
                                      </p:cBhvr>
                                      <p:to>
                                        <p:strVal val="visible"/>
                                      </p:to>
                                    </p:set>
                                    <p:animEffect transition="in" filter="fade">
                                      <p:cBhvr>
                                        <p:cTn id="43" dur="500"/>
                                        <p:tgtEl>
                                          <p:spTgt spid="220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218"/>
                                        </p:tgtEl>
                                        <p:attrNameLst>
                                          <p:attrName>style.visibility</p:attrName>
                                        </p:attrNameLst>
                                      </p:cBhvr>
                                      <p:to>
                                        <p:strVal val="visible"/>
                                      </p:to>
                                    </p:set>
                                    <p:animEffect transition="in" filter="fade">
                                      <p:cBhvr>
                                        <p:cTn id="48" dur="500"/>
                                        <p:tgtEl>
                                          <p:spTgt spid="221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fade">
                                      <p:cBhvr>
                                        <p:cTn id="5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2" grpId="0" animBg="1"/>
      <p:bldP spid="2203" grpId="0" animBg="1"/>
      <p:bldP spid="2204" grpId="0" animBg="1"/>
      <p:bldP spid="2205" grpId="0" animBg="1"/>
      <p:bldP spid="2206" grpId="0" animBg="1"/>
      <p:bldP spid="2207" grpId="0" animBg="1"/>
      <p:bldP spid="2208" grpId="0" animBg="1"/>
      <p:bldP spid="2209" grpId="0" animBg="1"/>
      <p:bldP spid="2213" grpId="0" animBg="1"/>
      <p:bldP spid="2216" grpId="0" animBg="1"/>
      <p:bldP spid="2217" grpId="0" animBg="1"/>
      <p:bldP spid="2218" grpId="0" animBg="1"/>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1" name="文字 23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例題 2-12 解（三）</a:t>
            </a:r>
            <a:r>
              <a:rPr lang="zh-TW" altLang="en-US" sz="2800" b="0" dirty="0">
                <a:solidFill>
                  <a:srgbClr val="1F8899"/>
                </a:solidFill>
                <a:latin typeface="Microsoft JhengHei"/>
                <a:ea typeface="Microsoft JhengHei"/>
                <a:cs typeface="Microsoft JhengHei"/>
              </a:rPr>
              <a:t>　平均速度 vs 平均速率</a:t>
            </a:r>
          </a:p>
        </p:txBody>
      </p:sp>
      <p:sp>
        <p:nvSpPr>
          <p:cNvPr id="2302" name="圓 23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303" name="文字 2303"/>
          <p:cNvSpPr txBox="1"/>
          <p:nvPr/>
        </p:nvSpPr>
        <p:spPr>
          <a:xfrm>
            <a:off x="1097280" y="1097280"/>
            <a:ext cx="6766560" cy="512064"/>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平均速度 </a:t>
            </a:r>
            <a:r>
              <a:rPr lang="zh-TW" altLang="en-US" sz="2400" b="0" dirty="0">
                <a:solidFill>
                  <a:srgbClr val="333333"/>
                </a:solidFill>
                <a:latin typeface="Microsoft JhengHei"/>
                <a:ea typeface="Microsoft JhengHei"/>
                <a:cs typeface="Microsoft JhengHei"/>
              </a:rPr>
              <a:t>= Δr ÷ Δt = (78i + 36j) ÷ 6 = 13i + 6j</a:t>
            </a:r>
          </a:p>
        </p:txBody>
      </p:sp>
      <p:sp>
        <p:nvSpPr>
          <p:cNvPr id="2304" name="圓 23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305" name="文字 2305"/>
          <p:cNvSpPr txBox="1"/>
          <p:nvPr/>
        </p:nvSpPr>
        <p:spPr>
          <a:xfrm>
            <a:off x="1097280" y="1755648"/>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大小：√(13² + 6²) = 14.32 m/s</a:t>
            </a:r>
          </a:p>
        </p:txBody>
      </p:sp>
      <p:sp>
        <p:nvSpPr>
          <p:cNvPr id="2306" name="圓 23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307" name="文字 2307"/>
          <p:cNvSpPr txBox="1"/>
          <p:nvPr/>
        </p:nvSpPr>
        <p:spPr>
          <a:xfrm>
            <a:off x="1097280" y="2414016"/>
            <a:ext cx="6766560" cy="512064"/>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平均速率 </a:t>
            </a:r>
            <a:r>
              <a:rPr lang="zh-TW" altLang="en-US" sz="2400" b="0" dirty="0">
                <a:solidFill>
                  <a:srgbClr val="333333"/>
                </a:solidFill>
                <a:latin typeface="Microsoft JhengHei"/>
                <a:ea typeface="Microsoft JhengHei"/>
                <a:cs typeface="Microsoft JhengHei"/>
              </a:rPr>
              <a:t>= 路徑長 ÷ Δt = 15.04 m/s</a:t>
            </a:r>
          </a:p>
        </p:txBody>
      </p:sp>
      <p:sp>
        <p:nvSpPr>
          <p:cNvPr id="2308" name="圓 2308"/>
          <p:cNvSpPr/>
          <p:nvPr/>
        </p:nvSpPr>
        <p:spPr>
          <a:xfrm>
            <a:off x="365760" y="3099816"/>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4</a:t>
            </a:r>
          </a:p>
        </p:txBody>
      </p:sp>
      <p:sp>
        <p:nvSpPr>
          <p:cNvPr id="2309" name="文字 2309"/>
          <p:cNvSpPr txBox="1"/>
          <p:nvPr/>
        </p:nvSpPr>
        <p:spPr>
          <a:xfrm>
            <a:off x="1097280" y="3072384"/>
            <a:ext cx="6766560" cy="512064"/>
          </a:xfrm>
          <a:prstGeom prst="rect">
            <a:avLst/>
          </a:prstGeom>
          <a:noFill/>
          <a:ln>
            <a:noFill/>
          </a:ln>
        </p:spPr>
        <p:txBody>
          <a:bodyPr wrap="none" lIns="45720" tIns="0" rIns="45720" bIns="0" anchor="ctr">
            <a:noAutofit/>
          </a:bodyPr>
          <a:lstStyle/>
          <a:p>
            <a:pPr algn="l">
              <a:buNone/>
            </a:pPr>
            <a:r>
              <a:rPr lang="zh-TW" altLang="en-US" sz="2400" b="1" dirty="0">
                <a:solidFill>
                  <a:srgbClr val="D6006F"/>
                </a:solidFill>
                <a:latin typeface="Microsoft JhengHei"/>
                <a:ea typeface="Microsoft JhengHei"/>
                <a:cs typeface="Microsoft JhengHei"/>
              </a:rPr>
              <a:t>課本 88.64 ÷ 6 = 14.77：</a:t>
            </a:r>
            <a:r>
              <a:rPr lang="zh-TW" altLang="en-US" sz="2400" b="0" dirty="0">
                <a:solidFill>
                  <a:srgbClr val="333333"/>
                </a:solidFill>
                <a:latin typeface="Microsoft JhengHei"/>
                <a:ea typeface="Microsoft JhengHei"/>
                <a:cs typeface="Microsoft JhengHei"/>
              </a:rPr>
              <a:t>把起點當成原點了</a:t>
            </a:r>
          </a:p>
        </p:txBody>
      </p:sp>
      <p:sp>
        <p:nvSpPr>
          <p:cNvPr id="2310" name="文字 2310"/>
          <p:cNvSpPr txBox="1"/>
          <p:nvPr/>
        </p:nvSpPr>
        <p:spPr>
          <a:xfrm>
            <a:off x="365760" y="393192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答：平均速率 15.04 m/s（平均速度大小 14.32 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02"/>
                                        </p:tgtEl>
                                        <p:attrNameLst>
                                          <p:attrName>style.visibility</p:attrName>
                                        </p:attrNameLst>
                                      </p:cBhvr>
                                      <p:to>
                                        <p:strVal val="visible"/>
                                      </p:to>
                                    </p:set>
                                    <p:animEffect transition="in" filter="fade">
                                      <p:cBhvr>
                                        <p:cTn id="7" dur="500"/>
                                        <p:tgtEl>
                                          <p:spTgt spid="2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03"/>
                                        </p:tgtEl>
                                        <p:attrNameLst>
                                          <p:attrName>style.visibility</p:attrName>
                                        </p:attrNameLst>
                                      </p:cBhvr>
                                      <p:to>
                                        <p:strVal val="visible"/>
                                      </p:to>
                                    </p:set>
                                    <p:animEffect transition="in" filter="fade">
                                      <p:cBhvr>
                                        <p:cTn id="10" dur="500"/>
                                        <p:tgtEl>
                                          <p:spTgt spid="2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04"/>
                                        </p:tgtEl>
                                        <p:attrNameLst>
                                          <p:attrName>style.visibility</p:attrName>
                                        </p:attrNameLst>
                                      </p:cBhvr>
                                      <p:to>
                                        <p:strVal val="visible"/>
                                      </p:to>
                                    </p:set>
                                    <p:animEffect transition="in" filter="fade">
                                      <p:cBhvr>
                                        <p:cTn id="15" dur="500"/>
                                        <p:tgtEl>
                                          <p:spTgt spid="2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05"/>
                                        </p:tgtEl>
                                        <p:attrNameLst>
                                          <p:attrName>style.visibility</p:attrName>
                                        </p:attrNameLst>
                                      </p:cBhvr>
                                      <p:to>
                                        <p:strVal val="visible"/>
                                      </p:to>
                                    </p:set>
                                    <p:animEffect transition="in" filter="fade">
                                      <p:cBhvr>
                                        <p:cTn id="18" dur="500"/>
                                        <p:tgtEl>
                                          <p:spTgt spid="23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06"/>
                                        </p:tgtEl>
                                        <p:attrNameLst>
                                          <p:attrName>style.visibility</p:attrName>
                                        </p:attrNameLst>
                                      </p:cBhvr>
                                      <p:to>
                                        <p:strVal val="visible"/>
                                      </p:to>
                                    </p:set>
                                    <p:animEffect transition="in" filter="fade">
                                      <p:cBhvr>
                                        <p:cTn id="23" dur="500"/>
                                        <p:tgtEl>
                                          <p:spTgt spid="23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07"/>
                                        </p:tgtEl>
                                        <p:attrNameLst>
                                          <p:attrName>style.visibility</p:attrName>
                                        </p:attrNameLst>
                                      </p:cBhvr>
                                      <p:to>
                                        <p:strVal val="visible"/>
                                      </p:to>
                                    </p:set>
                                    <p:animEffect transition="in" filter="fade">
                                      <p:cBhvr>
                                        <p:cTn id="26" dur="500"/>
                                        <p:tgtEl>
                                          <p:spTgt spid="23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08"/>
                                        </p:tgtEl>
                                        <p:attrNameLst>
                                          <p:attrName>style.visibility</p:attrName>
                                        </p:attrNameLst>
                                      </p:cBhvr>
                                      <p:to>
                                        <p:strVal val="visible"/>
                                      </p:to>
                                    </p:set>
                                    <p:animEffect transition="in" filter="fade">
                                      <p:cBhvr>
                                        <p:cTn id="31" dur="500"/>
                                        <p:tgtEl>
                                          <p:spTgt spid="230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09"/>
                                        </p:tgtEl>
                                        <p:attrNameLst>
                                          <p:attrName>style.visibility</p:attrName>
                                        </p:attrNameLst>
                                      </p:cBhvr>
                                      <p:to>
                                        <p:strVal val="visible"/>
                                      </p:to>
                                    </p:set>
                                    <p:animEffect transition="in" filter="fade">
                                      <p:cBhvr>
                                        <p:cTn id="34" dur="500"/>
                                        <p:tgtEl>
                                          <p:spTgt spid="230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10"/>
                                        </p:tgtEl>
                                        <p:attrNameLst>
                                          <p:attrName>style.visibility</p:attrName>
                                        </p:attrNameLst>
                                      </p:cBhvr>
                                      <p:to>
                                        <p:strVal val="visible"/>
                                      </p:to>
                                    </p:set>
                                    <p:animEffect transition="in" filter="fade">
                                      <p:cBhvr>
                                        <p:cTn id="39" dur="500"/>
                                        <p:tgtEl>
                                          <p:spTgt spid="2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2" grpId="0" animBg="1"/>
      <p:bldP spid="2303" grpId="0" animBg="1"/>
      <p:bldP spid="2304" grpId="0" animBg="1"/>
      <p:bldP spid="2305" grpId="0" animBg="1"/>
      <p:bldP spid="2306" grpId="0" animBg="1"/>
      <p:bldP spid="2307" grpId="0" animBg="1"/>
      <p:bldP spid="2308" grpId="0" animBg="1"/>
      <p:bldP spid="2309" grpId="0" animBg="1"/>
      <p:bldP spid="231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1" name="文字 24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習題 9</a:t>
            </a:r>
            <a:r>
              <a:rPr lang="zh-TW" altLang="en-US" sz="2800" b="0" dirty="0">
                <a:solidFill>
                  <a:srgbClr val="1F8899"/>
                </a:solidFill>
                <a:latin typeface="Microsoft JhengHei"/>
                <a:ea typeface="Microsoft JhengHei"/>
                <a:cs typeface="Microsoft JhengHei"/>
              </a:rPr>
              <a:t>　由位置向量求平均速度</a:t>
            </a:r>
          </a:p>
        </p:txBody>
      </p:sp>
      <p:sp>
        <p:nvSpPr>
          <p:cNvPr id="2402" name="文字 2402"/>
          <p:cNvSpPr txBox="1"/>
          <p:nvPr/>
        </p:nvSpPr>
        <p:spPr>
          <a:xfrm>
            <a:off x="365760" y="868680"/>
            <a:ext cx="493776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質點由原點 O 出發，</a:t>
            </a:r>
          </a:p>
        </p:txBody>
      </p:sp>
      <p:sp>
        <p:nvSpPr>
          <p:cNvPr id="2403" name="文字 2403"/>
          <p:cNvSpPr txBox="1"/>
          <p:nvPr/>
        </p:nvSpPr>
        <p:spPr>
          <a:xfrm>
            <a:off x="365760" y="1280160"/>
            <a:ext cx="493776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t = 2 s 到 A、t = 4 s 到 B。</a:t>
            </a:r>
          </a:p>
        </p:txBody>
      </p:sp>
      <p:sp>
        <p:nvSpPr>
          <p:cNvPr id="2404" name="文字 2404"/>
          <p:cNvSpPr txBox="1"/>
          <p:nvPr/>
        </p:nvSpPr>
        <p:spPr>
          <a:xfrm>
            <a:off x="365760" y="1691640"/>
            <a:ext cx="4937760" cy="411480"/>
          </a:xfrm>
          <a:prstGeom prst="rect">
            <a:avLst/>
          </a:prstGeom>
          <a:noFill/>
          <a:ln>
            <a:noFill/>
          </a:ln>
        </p:spPr>
        <p:txBody>
          <a:bodyPr wrap="none" lIns="45720" tIns="0" rIns="45720" bIns="0" anchor="ctr">
            <a:noAutofit/>
          </a:bodyPr>
          <a:lstStyle/>
          <a:p>
            <a:pPr algn="l">
              <a:buNone/>
            </a:pPr>
            <a:r>
              <a:rPr lang="zh-TW" altLang="en-US" sz="2400" b="1" dirty="0">
                <a:solidFill>
                  <a:srgbClr val="1F8899"/>
                </a:solidFill>
                <a:latin typeface="Microsoft JhengHei"/>
                <a:ea typeface="Microsoft JhengHei"/>
                <a:cs typeface="Microsoft JhengHei"/>
              </a:rPr>
              <a:t>求 A 到 B 的平均速度。</a:t>
            </a:r>
          </a:p>
        </p:txBody>
      </p:sp>
      <p:sp>
        <p:nvSpPr>
          <p:cNvPr id="2405" name="文字 2405"/>
          <p:cNvSpPr txBox="1"/>
          <p:nvPr/>
        </p:nvSpPr>
        <p:spPr>
          <a:xfrm>
            <a:off x="365760" y="2514600"/>
            <a:ext cx="484632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提示：先寫出 r_A、r_B</a:t>
            </a:r>
          </a:p>
        </p:txBody>
      </p:sp>
      <p:sp>
        <p:nvSpPr>
          <p:cNvPr id="2406" name="文字 2406"/>
          <p:cNvSpPr txBox="1"/>
          <p:nvPr/>
        </p:nvSpPr>
        <p:spPr>
          <a:xfrm>
            <a:off x="365760" y="3017520"/>
            <a:ext cx="4846320" cy="45720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再相減得位移 Δr</a:t>
            </a:r>
          </a:p>
        </p:txBody>
      </p:sp>
      <p:sp>
        <p:nvSpPr>
          <p:cNvPr id="2407" name="線 2407"/>
          <p:cNvSpPr/>
          <p:nvPr/>
        </p:nvSpPr>
        <p:spPr>
          <a:xfrm flipV="1">
            <a:off x="5669280" y="1309421"/>
            <a:ext cx="0" cy="2896819"/>
          </a:xfrm>
          <a:prstGeom prst="line">
            <a:avLst/>
          </a:prstGeom>
          <a:ln w="18288" cap="rnd">
            <a:solidFill>
              <a:srgbClr val="333333"/>
            </a:solidFill>
            <a:tailEnd type="triangle" w="med" len="med"/>
          </a:ln>
        </p:spPr>
        <p:txBody>
          <a:bodyPr/>
          <a:lstStyle/>
          <a:p>
            <a:endParaRPr lang="zh-TW" altLang="en-US"/>
          </a:p>
        </p:txBody>
      </p:sp>
      <p:sp>
        <p:nvSpPr>
          <p:cNvPr id="2408" name="線 2408"/>
          <p:cNvSpPr/>
          <p:nvPr/>
        </p:nvSpPr>
        <p:spPr>
          <a:xfrm>
            <a:off x="5669280" y="4206240"/>
            <a:ext cx="2655418" cy="0"/>
          </a:xfrm>
          <a:prstGeom prst="line">
            <a:avLst/>
          </a:prstGeom>
          <a:ln w="18288" cap="rnd">
            <a:solidFill>
              <a:srgbClr val="333333"/>
            </a:solidFill>
            <a:tailEnd type="triangle" w="med" len="med"/>
          </a:ln>
        </p:spPr>
        <p:txBody>
          <a:bodyPr/>
          <a:lstStyle/>
          <a:p>
            <a:endParaRPr lang="zh-TW" altLang="en-US"/>
          </a:p>
        </p:txBody>
      </p:sp>
      <p:sp>
        <p:nvSpPr>
          <p:cNvPr id="2409" name="文字 2409"/>
          <p:cNvSpPr txBox="1"/>
          <p:nvPr/>
        </p:nvSpPr>
        <p:spPr>
          <a:xfrm>
            <a:off x="5349240" y="416052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O</a:t>
            </a:r>
          </a:p>
        </p:txBody>
      </p:sp>
      <p:sp>
        <p:nvSpPr>
          <p:cNvPr id="2410" name="文字 2410"/>
          <p:cNvSpPr txBox="1"/>
          <p:nvPr/>
        </p:nvSpPr>
        <p:spPr>
          <a:xfrm>
            <a:off x="8233258" y="3794760"/>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x</a:t>
            </a:r>
          </a:p>
        </p:txBody>
      </p:sp>
      <p:sp>
        <p:nvSpPr>
          <p:cNvPr id="2411" name="文字 2411"/>
          <p:cNvSpPr txBox="1"/>
          <p:nvPr/>
        </p:nvSpPr>
        <p:spPr>
          <a:xfrm>
            <a:off x="5715000" y="1217981"/>
            <a:ext cx="320040" cy="365760"/>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y</a:t>
            </a:r>
          </a:p>
        </p:txBody>
      </p:sp>
      <p:sp>
        <p:nvSpPr>
          <p:cNvPr id="2412" name="線 2412"/>
          <p:cNvSpPr/>
          <p:nvPr/>
        </p:nvSpPr>
        <p:spPr>
          <a:xfrm flipV="1">
            <a:off x="5669280" y="3602736"/>
            <a:ext cx="1508760" cy="603504"/>
          </a:xfrm>
          <a:prstGeom prst="line">
            <a:avLst/>
          </a:prstGeom>
          <a:ln w="22860" cap="rnd">
            <a:solidFill>
              <a:srgbClr val="888888"/>
            </a:solidFill>
            <a:tailEnd type="triangle" w="med" len="med"/>
          </a:ln>
        </p:spPr>
        <p:txBody>
          <a:bodyPr/>
          <a:lstStyle/>
          <a:p>
            <a:endParaRPr lang="zh-TW" altLang="en-US"/>
          </a:p>
        </p:txBody>
      </p:sp>
      <p:sp>
        <p:nvSpPr>
          <p:cNvPr id="2413" name="線 2413"/>
          <p:cNvSpPr/>
          <p:nvPr/>
        </p:nvSpPr>
        <p:spPr>
          <a:xfrm flipV="1">
            <a:off x="5669280" y="1792224"/>
            <a:ext cx="2112264" cy="2414016"/>
          </a:xfrm>
          <a:prstGeom prst="line">
            <a:avLst/>
          </a:prstGeom>
          <a:ln w="22860" cap="rnd">
            <a:solidFill>
              <a:srgbClr val="888888"/>
            </a:solidFill>
            <a:tailEnd type="triangle" w="med" len="med"/>
          </a:ln>
        </p:spPr>
        <p:txBody>
          <a:bodyPr/>
          <a:lstStyle/>
          <a:p>
            <a:endParaRPr lang="zh-TW" altLang="en-US"/>
          </a:p>
        </p:txBody>
      </p:sp>
      <p:sp>
        <p:nvSpPr>
          <p:cNvPr id="2414" name="線 2414"/>
          <p:cNvSpPr/>
          <p:nvPr/>
        </p:nvSpPr>
        <p:spPr>
          <a:xfrm flipV="1">
            <a:off x="7178040" y="1792224"/>
            <a:ext cx="603504" cy="1810512"/>
          </a:xfrm>
          <a:prstGeom prst="line">
            <a:avLst/>
          </a:prstGeom>
          <a:ln w="36576" cap="rnd">
            <a:solidFill>
              <a:srgbClr val="D6006F"/>
            </a:solidFill>
            <a:tailEnd type="triangle" w="med" len="med"/>
          </a:ln>
        </p:spPr>
        <p:txBody>
          <a:bodyPr/>
          <a:lstStyle/>
          <a:p>
            <a:endParaRPr lang="zh-TW" altLang="en-US"/>
          </a:p>
        </p:txBody>
      </p:sp>
      <p:sp>
        <p:nvSpPr>
          <p:cNvPr id="2415" name="圓 2415"/>
          <p:cNvSpPr/>
          <p:nvPr/>
        </p:nvSpPr>
        <p:spPr>
          <a:xfrm>
            <a:off x="7123176" y="3547872"/>
            <a:ext cx="109728" cy="109728"/>
          </a:xfrm>
          <a:prstGeom prst="ellipse">
            <a:avLst/>
          </a:prstGeom>
          <a:solidFill>
            <a:srgbClr val="1E2761"/>
          </a:solidFill>
          <a:ln>
            <a:noFill/>
          </a:ln>
        </p:spPr>
        <p:txBody>
          <a:bodyPr/>
          <a:lstStyle/>
          <a:p>
            <a:endParaRPr lang="zh-TW" altLang="en-US"/>
          </a:p>
        </p:txBody>
      </p:sp>
      <p:sp>
        <p:nvSpPr>
          <p:cNvPr id="2416" name="圓 2416"/>
          <p:cNvSpPr/>
          <p:nvPr/>
        </p:nvSpPr>
        <p:spPr>
          <a:xfrm>
            <a:off x="7726680" y="1737360"/>
            <a:ext cx="109728" cy="109728"/>
          </a:xfrm>
          <a:prstGeom prst="ellipse">
            <a:avLst/>
          </a:prstGeom>
          <a:solidFill>
            <a:srgbClr val="1E2761"/>
          </a:solidFill>
          <a:ln>
            <a:noFill/>
          </a:ln>
        </p:spPr>
        <p:txBody>
          <a:bodyPr/>
          <a:lstStyle/>
          <a:p>
            <a:endParaRPr lang="zh-TW" altLang="en-US"/>
          </a:p>
        </p:txBody>
      </p:sp>
      <p:sp>
        <p:nvSpPr>
          <p:cNvPr id="2417" name="文字 2417"/>
          <p:cNvSpPr txBox="1"/>
          <p:nvPr/>
        </p:nvSpPr>
        <p:spPr>
          <a:xfrm>
            <a:off x="7269480" y="3419856"/>
            <a:ext cx="1463040" cy="384048"/>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A (5, 2)</a:t>
            </a:r>
          </a:p>
        </p:txBody>
      </p:sp>
      <p:sp>
        <p:nvSpPr>
          <p:cNvPr id="2418" name="文字 2418"/>
          <p:cNvSpPr txBox="1"/>
          <p:nvPr/>
        </p:nvSpPr>
        <p:spPr>
          <a:xfrm>
            <a:off x="5907024" y="1563624"/>
            <a:ext cx="1737360" cy="384048"/>
          </a:xfrm>
          <a:prstGeom prst="rect">
            <a:avLst/>
          </a:prstGeom>
          <a:noFill/>
          <a:ln>
            <a:noFill/>
          </a:ln>
        </p:spPr>
        <p:txBody>
          <a:bodyPr wrap="none" lIns="45720" tIns="0" rIns="45720" bIns="0" anchor="ctr">
            <a:noAutofit/>
          </a:bodyPr>
          <a:lstStyle/>
          <a:p>
            <a:pPr algn="l">
              <a:buNone/>
            </a:pPr>
            <a:r>
              <a:rPr lang="zh-TW" altLang="en-US" sz="2400" b="1" dirty="0">
                <a:solidFill>
                  <a:srgbClr val="1E2761"/>
                </a:solidFill>
                <a:latin typeface="Microsoft JhengHei"/>
                <a:ea typeface="Microsoft JhengHei"/>
                <a:cs typeface="Microsoft JhengHei"/>
              </a:rPr>
              <a:t>B (7, 8)</a:t>
            </a:r>
          </a:p>
        </p:txBody>
      </p:sp>
      <p:sp>
        <p:nvSpPr>
          <p:cNvPr id="2419" name="文字 2419"/>
          <p:cNvSpPr txBox="1"/>
          <p:nvPr/>
        </p:nvSpPr>
        <p:spPr>
          <a:xfrm>
            <a:off x="365760" y="4069080"/>
            <a:ext cx="4846320" cy="411480"/>
          </a:xfrm>
          <a:prstGeom prst="rect">
            <a:avLst/>
          </a:prstGeom>
          <a:noFill/>
          <a:ln>
            <a:noFill/>
          </a:ln>
        </p:spPr>
        <p:txBody>
          <a:bodyPr wrap="none" lIns="45720" tIns="0" rIns="45720" bIns="0" anchor="ctr">
            <a:noAutofit/>
          </a:bodyPr>
          <a:lstStyle/>
          <a:p>
            <a:pPr algn="l">
              <a:buNone/>
            </a:pPr>
            <a:r>
              <a:rPr lang="zh-TW" altLang="en-US" sz="2400" b="0" dirty="0">
                <a:solidFill>
                  <a:srgbClr val="666666"/>
                </a:solidFill>
                <a:latin typeface="Microsoft JhengHei"/>
                <a:ea typeface="Microsoft JhengHei"/>
                <a:cs typeface="Microsoft JhengHei"/>
              </a:rPr>
              <a:t>單位：m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05"/>
                                        </p:tgtEl>
                                        <p:attrNameLst>
                                          <p:attrName>style.visibility</p:attrName>
                                        </p:attrNameLst>
                                      </p:cBhvr>
                                      <p:to>
                                        <p:strVal val="visible"/>
                                      </p:to>
                                    </p:set>
                                    <p:animEffect transition="in" filter="fade">
                                      <p:cBhvr>
                                        <p:cTn id="7" dur="500"/>
                                        <p:tgtEl>
                                          <p:spTgt spid="24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06"/>
                                        </p:tgtEl>
                                        <p:attrNameLst>
                                          <p:attrName>style.visibility</p:attrName>
                                        </p:attrNameLst>
                                      </p:cBhvr>
                                      <p:to>
                                        <p:strVal val="visible"/>
                                      </p:to>
                                    </p:set>
                                    <p:animEffect transition="in" filter="fade">
                                      <p:cBhvr>
                                        <p:cTn id="12" dur="500"/>
                                        <p:tgtEl>
                                          <p:spTgt spid="2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5" grpId="0" animBg="1"/>
      <p:bldP spid="240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1" name="文字 2501"/>
          <p:cNvSpPr txBox="1"/>
          <p:nvPr/>
        </p:nvSpPr>
        <p:spPr>
          <a:xfrm>
            <a:off x="320040" y="274320"/>
            <a:ext cx="7991856" cy="502920"/>
          </a:xfrm>
          <a:prstGeom prst="rect">
            <a:avLst/>
          </a:prstGeom>
          <a:noFill/>
          <a:ln>
            <a:noFill/>
          </a:ln>
        </p:spPr>
        <p:txBody>
          <a:bodyPr wrap="none" lIns="45720" tIns="0" rIns="45720" bIns="0" anchor="ctr">
            <a:noAutofit/>
          </a:bodyPr>
          <a:lstStyle/>
          <a:p>
            <a:pPr algn="l">
              <a:buNone/>
            </a:pPr>
            <a:r>
              <a:rPr lang="zh-TW" altLang="en-US" sz="2800" b="1" dirty="0">
                <a:solidFill>
                  <a:srgbClr val="1F8899"/>
                </a:solidFill>
                <a:latin typeface="Microsoft JhengHei"/>
                <a:ea typeface="Microsoft JhengHei"/>
                <a:cs typeface="Microsoft JhengHei"/>
              </a:rPr>
              <a:t>習題 9 詳解</a:t>
            </a:r>
            <a:r>
              <a:rPr lang="zh-TW" altLang="en-US" sz="2800" b="0" dirty="0">
                <a:solidFill>
                  <a:srgbClr val="1F8899"/>
                </a:solidFill>
                <a:latin typeface="Microsoft JhengHei"/>
                <a:ea typeface="Microsoft JhengHei"/>
                <a:cs typeface="Microsoft JhengHei"/>
              </a:rPr>
              <a:t>　只看頭尾：位移 ÷ 時間</a:t>
            </a:r>
          </a:p>
        </p:txBody>
      </p:sp>
      <p:sp>
        <p:nvSpPr>
          <p:cNvPr id="2502" name="圓 2502"/>
          <p:cNvSpPr/>
          <p:nvPr/>
        </p:nvSpPr>
        <p:spPr>
          <a:xfrm>
            <a:off x="365760" y="1124712"/>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1</a:t>
            </a:r>
          </a:p>
        </p:txBody>
      </p:sp>
      <p:sp>
        <p:nvSpPr>
          <p:cNvPr id="2503" name="文字 2503"/>
          <p:cNvSpPr txBox="1"/>
          <p:nvPr/>
        </p:nvSpPr>
        <p:spPr>
          <a:xfrm>
            <a:off x="1097280" y="1097280"/>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讀座標：r_A = 5i + 2j，r_B = 7i + 8j (m)</a:t>
            </a:r>
          </a:p>
        </p:txBody>
      </p:sp>
      <p:sp>
        <p:nvSpPr>
          <p:cNvPr id="2504" name="圓 2504"/>
          <p:cNvSpPr/>
          <p:nvPr/>
        </p:nvSpPr>
        <p:spPr>
          <a:xfrm>
            <a:off x="365760" y="1783080"/>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2</a:t>
            </a:r>
          </a:p>
        </p:txBody>
      </p:sp>
      <p:sp>
        <p:nvSpPr>
          <p:cNvPr id="2505" name="文字 2505"/>
          <p:cNvSpPr txBox="1"/>
          <p:nvPr/>
        </p:nvSpPr>
        <p:spPr>
          <a:xfrm>
            <a:off x="1097280" y="1755648"/>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位移：Δr = r_B − r_A = 2i + 6j (m)</a:t>
            </a:r>
          </a:p>
        </p:txBody>
      </p:sp>
      <p:sp>
        <p:nvSpPr>
          <p:cNvPr id="2506" name="圓 2506"/>
          <p:cNvSpPr/>
          <p:nvPr/>
        </p:nvSpPr>
        <p:spPr>
          <a:xfrm>
            <a:off x="365760" y="2441448"/>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3</a:t>
            </a:r>
          </a:p>
        </p:txBody>
      </p:sp>
      <p:sp>
        <p:nvSpPr>
          <p:cNvPr id="2507" name="文字 2507"/>
          <p:cNvSpPr txBox="1"/>
          <p:nvPr/>
        </p:nvSpPr>
        <p:spPr>
          <a:xfrm>
            <a:off x="1097280" y="2414016"/>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時間：Δt = 4 − 2 = 2 s</a:t>
            </a:r>
          </a:p>
        </p:txBody>
      </p:sp>
      <p:sp>
        <p:nvSpPr>
          <p:cNvPr id="2508" name="圓 2508"/>
          <p:cNvSpPr/>
          <p:nvPr/>
        </p:nvSpPr>
        <p:spPr>
          <a:xfrm>
            <a:off x="365760" y="3099816"/>
            <a:ext cx="457200" cy="457200"/>
          </a:xfrm>
          <a:prstGeom prst="ellipse">
            <a:avLst/>
          </a:prstGeom>
          <a:solidFill>
            <a:srgbClr val="1F8899"/>
          </a:solidFill>
          <a:ln>
            <a:noFill/>
          </a:ln>
        </p:spPr>
        <p:txBody>
          <a:bodyPr lIns="0" tIns="0" rIns="0" bIns="0" anchor="ctr"/>
          <a:lstStyle/>
          <a:p>
            <a:pPr algn="ctr"/>
            <a:r>
              <a:rPr lang="en-US" sz="2100" b="1" i="1">
                <a:solidFill>
                  <a:srgbClr val="FFFFFF"/>
                </a:solidFill>
                <a:latin typeface="Cambria"/>
              </a:rPr>
              <a:t>4</a:t>
            </a:r>
          </a:p>
        </p:txBody>
      </p:sp>
      <p:sp>
        <p:nvSpPr>
          <p:cNvPr id="2509" name="文字 2509"/>
          <p:cNvSpPr txBox="1"/>
          <p:nvPr/>
        </p:nvSpPr>
        <p:spPr>
          <a:xfrm>
            <a:off x="1097280" y="3072384"/>
            <a:ext cx="6766560" cy="512064"/>
          </a:xfrm>
          <a:prstGeom prst="rect">
            <a:avLst/>
          </a:prstGeom>
          <a:noFill/>
          <a:ln>
            <a:noFill/>
          </a:ln>
        </p:spPr>
        <p:txBody>
          <a:bodyPr wrap="none" lIns="45720" tIns="0" rIns="45720" bIns="0" anchor="ctr">
            <a:noAutofit/>
          </a:bodyPr>
          <a:lstStyle/>
          <a:p>
            <a:pPr algn="l">
              <a:buNone/>
            </a:pPr>
            <a:r>
              <a:rPr lang="zh-TW" altLang="en-US" sz="2400" b="0" dirty="0">
                <a:solidFill>
                  <a:srgbClr val="333333"/>
                </a:solidFill>
                <a:latin typeface="Microsoft JhengHei"/>
                <a:ea typeface="Microsoft JhengHei"/>
                <a:cs typeface="Microsoft JhengHei"/>
              </a:rPr>
              <a:t>平均速度：v_av = Δr ÷ Δt = i + 3j (m/s)</a:t>
            </a:r>
          </a:p>
        </p:txBody>
      </p:sp>
      <p:sp>
        <p:nvSpPr>
          <p:cNvPr id="2510" name="文字 2510"/>
          <p:cNvSpPr txBox="1"/>
          <p:nvPr/>
        </p:nvSpPr>
        <p:spPr>
          <a:xfrm>
            <a:off x="365760" y="3931920"/>
            <a:ext cx="7955280" cy="493776"/>
          </a:xfrm>
          <a:prstGeom prst="roundRect">
            <a:avLst/>
          </a:prstGeom>
          <a:solidFill>
            <a:srgbClr val="FDECF4"/>
          </a:solidFill>
          <a:ln>
            <a:noFill/>
          </a:ln>
        </p:spPr>
        <p:txBody>
          <a:bodyPr wrap="none" lIns="45720" tIns="0" rIns="45720" bIns="0" anchor="ctr">
            <a:noAutofit/>
          </a:bodyPr>
          <a:lstStyle/>
          <a:p>
            <a:pPr algn="ctr">
              <a:buNone/>
            </a:pPr>
            <a:r>
              <a:rPr lang="zh-TW" altLang="en-US" sz="2400" b="1" dirty="0">
                <a:solidFill>
                  <a:srgbClr val="D6006F"/>
                </a:solidFill>
                <a:latin typeface="Microsoft JhengHei"/>
                <a:ea typeface="Microsoft JhengHei"/>
                <a:cs typeface="Microsoft JhengHei"/>
              </a:rPr>
              <a:t>答：v_av = i + 3j m/s，大小 √10 ≈ 3.16 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02"/>
                                        </p:tgtEl>
                                        <p:attrNameLst>
                                          <p:attrName>style.visibility</p:attrName>
                                        </p:attrNameLst>
                                      </p:cBhvr>
                                      <p:to>
                                        <p:strVal val="visible"/>
                                      </p:to>
                                    </p:set>
                                    <p:animEffect transition="in" filter="fade">
                                      <p:cBhvr>
                                        <p:cTn id="7" dur="500"/>
                                        <p:tgtEl>
                                          <p:spTgt spid="25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03"/>
                                        </p:tgtEl>
                                        <p:attrNameLst>
                                          <p:attrName>style.visibility</p:attrName>
                                        </p:attrNameLst>
                                      </p:cBhvr>
                                      <p:to>
                                        <p:strVal val="visible"/>
                                      </p:to>
                                    </p:set>
                                    <p:animEffect transition="in" filter="fade">
                                      <p:cBhvr>
                                        <p:cTn id="10" dur="500"/>
                                        <p:tgtEl>
                                          <p:spTgt spid="25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04"/>
                                        </p:tgtEl>
                                        <p:attrNameLst>
                                          <p:attrName>style.visibility</p:attrName>
                                        </p:attrNameLst>
                                      </p:cBhvr>
                                      <p:to>
                                        <p:strVal val="visible"/>
                                      </p:to>
                                    </p:set>
                                    <p:animEffect transition="in" filter="fade">
                                      <p:cBhvr>
                                        <p:cTn id="15" dur="500"/>
                                        <p:tgtEl>
                                          <p:spTgt spid="25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505"/>
                                        </p:tgtEl>
                                        <p:attrNameLst>
                                          <p:attrName>style.visibility</p:attrName>
                                        </p:attrNameLst>
                                      </p:cBhvr>
                                      <p:to>
                                        <p:strVal val="visible"/>
                                      </p:to>
                                    </p:set>
                                    <p:animEffect transition="in" filter="fade">
                                      <p:cBhvr>
                                        <p:cTn id="18" dur="500"/>
                                        <p:tgtEl>
                                          <p:spTgt spid="25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06"/>
                                        </p:tgtEl>
                                        <p:attrNameLst>
                                          <p:attrName>style.visibility</p:attrName>
                                        </p:attrNameLst>
                                      </p:cBhvr>
                                      <p:to>
                                        <p:strVal val="visible"/>
                                      </p:to>
                                    </p:set>
                                    <p:animEffect transition="in" filter="fade">
                                      <p:cBhvr>
                                        <p:cTn id="23" dur="500"/>
                                        <p:tgtEl>
                                          <p:spTgt spid="25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07"/>
                                        </p:tgtEl>
                                        <p:attrNameLst>
                                          <p:attrName>style.visibility</p:attrName>
                                        </p:attrNameLst>
                                      </p:cBhvr>
                                      <p:to>
                                        <p:strVal val="visible"/>
                                      </p:to>
                                    </p:set>
                                    <p:animEffect transition="in" filter="fade">
                                      <p:cBhvr>
                                        <p:cTn id="26" dur="500"/>
                                        <p:tgtEl>
                                          <p:spTgt spid="250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508"/>
                                        </p:tgtEl>
                                        <p:attrNameLst>
                                          <p:attrName>style.visibility</p:attrName>
                                        </p:attrNameLst>
                                      </p:cBhvr>
                                      <p:to>
                                        <p:strVal val="visible"/>
                                      </p:to>
                                    </p:set>
                                    <p:animEffect transition="in" filter="fade">
                                      <p:cBhvr>
                                        <p:cTn id="31" dur="500"/>
                                        <p:tgtEl>
                                          <p:spTgt spid="250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09"/>
                                        </p:tgtEl>
                                        <p:attrNameLst>
                                          <p:attrName>style.visibility</p:attrName>
                                        </p:attrNameLst>
                                      </p:cBhvr>
                                      <p:to>
                                        <p:strVal val="visible"/>
                                      </p:to>
                                    </p:set>
                                    <p:animEffect transition="in" filter="fade">
                                      <p:cBhvr>
                                        <p:cTn id="34" dur="500"/>
                                        <p:tgtEl>
                                          <p:spTgt spid="250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10"/>
                                        </p:tgtEl>
                                        <p:attrNameLst>
                                          <p:attrName>style.visibility</p:attrName>
                                        </p:attrNameLst>
                                      </p:cBhvr>
                                      <p:to>
                                        <p:strVal val="visible"/>
                                      </p:to>
                                    </p:set>
                                    <p:animEffect transition="in" filter="fade">
                                      <p:cBhvr>
                                        <p:cTn id="39" dur="500"/>
                                        <p:tgtEl>
                                          <p:spTgt spid="2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2" grpId="0" animBg="1"/>
      <p:bldP spid="2503" grpId="0" animBg="1"/>
      <p:bldP spid="2504" grpId="0" animBg="1"/>
      <p:bldP spid="2505" grpId="0" animBg="1"/>
      <p:bldP spid="2506" grpId="0" animBg="1"/>
      <p:bldP spid="2507" grpId="0" animBg="1"/>
      <p:bldP spid="2508" grpId="0" animBg="1"/>
      <p:bldP spid="2509" grpId="0" animBg="1"/>
      <p:bldP spid="251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pic>
        <p:nvPicPr>
          <p:cNvPr id="145410" name="Picture 2"/>
          <p:cNvPicPr>
            <a:picLocks noGrp="1" noChangeAspect="1" noChangeArrowheads="1"/>
          </p:cNvPicPr>
          <p:nvPr>
            <p:ph sz="quarter" idx="10"/>
          </p:nvPr>
        </p:nvPicPr>
        <p:blipFill>
          <a:blip r:embed="rId2" cstate="print">
            <a:extLst>
              <a:ext uri="{28A0092B-C50C-407E-A947-70E740481C1C}">
                <a14:useLocalDpi xmlns:a14="http://schemas.microsoft.com/office/drawing/2010/main" val="0"/>
              </a:ext>
            </a:extLst>
          </a:blip>
          <a:stretch>
            <a:fillRect/>
          </a:stretch>
        </p:blipFill>
        <p:spPr bwMode="auto">
          <a:xfrm>
            <a:off x="2084495" y="813755"/>
            <a:ext cx="4509872" cy="4085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2464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2-4</a:t>
            </a:r>
            <a:r>
              <a:rPr lang="zh-TW" altLang="en-US" sz="2700" b="1" dirty="0">
                <a:solidFill>
                  <a:srgbClr val="1B2838"/>
                </a:solidFill>
                <a:latin typeface="Microsoft JhengHei" pitchFamily="34" charset="0"/>
                <a:ea typeface="Microsoft JhengHei" pitchFamily="34" charset="-122"/>
                <a:cs typeface="Microsoft JhengHei" pitchFamily="34" charset="-120"/>
              </a:rPr>
              <a:t> 整理</a:t>
            </a:r>
            <a:r>
              <a:rPr lang="en-US" sz="2700" b="1" dirty="0">
                <a:solidFill>
                  <a:srgbClr val="1B2838"/>
                </a:solidFill>
                <a:latin typeface="Microsoft JhengHei" pitchFamily="34" charset="0"/>
                <a:ea typeface="Microsoft JhengHei" pitchFamily="34" charset="-122"/>
                <a:cs typeface="Microsoft JhengHei" pitchFamily="34" charset="-120"/>
              </a:rPr>
              <a:t> 質點的曲線運動（一）位置、位移與速度</a:t>
            </a:r>
            <a:endParaRPr lang="en-US" sz="2700" dirty="0"/>
          </a:p>
        </p:txBody>
      </p:sp>
      <p:sp>
        <p:nvSpPr>
          <p:cNvPr id="3" name="grid_x0"/>
          <p:cNvSpPr/>
          <p:nvPr/>
        </p:nvSpPr>
        <p:spPr>
          <a:xfrm flipV="1">
            <a:off x="524637" y="1294448"/>
            <a:ext cx="686" cy="3240405"/>
          </a:xfrm>
          <a:prstGeom prst="line">
            <a:avLst/>
          </a:prstGeom>
          <a:noFill/>
          <a:ln w="12700">
            <a:solidFill>
              <a:srgbClr val="DCE6EF"/>
            </a:solidFill>
            <a:prstDash val="solid"/>
          </a:ln>
        </p:spPr>
        <p:txBody>
          <a:bodyPr/>
          <a:lstStyle/>
          <a:p>
            <a:endParaRPr lang="zh-TW" altLang="en-US" sz="1350"/>
          </a:p>
        </p:txBody>
      </p:sp>
      <p:sp>
        <p:nvSpPr>
          <p:cNvPr id="4" name="grid_x1"/>
          <p:cNvSpPr/>
          <p:nvPr/>
        </p:nvSpPr>
        <p:spPr>
          <a:xfrm flipV="1">
            <a:off x="1388745" y="1294448"/>
            <a:ext cx="686" cy="3240405"/>
          </a:xfrm>
          <a:prstGeom prst="line">
            <a:avLst/>
          </a:prstGeom>
          <a:noFill/>
          <a:ln w="12700">
            <a:solidFill>
              <a:srgbClr val="DCE6EF"/>
            </a:solidFill>
            <a:prstDash val="solid"/>
          </a:ln>
        </p:spPr>
        <p:txBody>
          <a:bodyPr/>
          <a:lstStyle/>
          <a:p>
            <a:endParaRPr lang="zh-TW" altLang="en-US" sz="1350"/>
          </a:p>
        </p:txBody>
      </p:sp>
      <p:sp>
        <p:nvSpPr>
          <p:cNvPr id="5" name="grid_x2"/>
          <p:cNvSpPr/>
          <p:nvPr/>
        </p:nvSpPr>
        <p:spPr>
          <a:xfrm flipV="1">
            <a:off x="2252853" y="1294448"/>
            <a:ext cx="686" cy="3240405"/>
          </a:xfrm>
          <a:prstGeom prst="line">
            <a:avLst/>
          </a:prstGeom>
          <a:noFill/>
          <a:ln w="12700">
            <a:solidFill>
              <a:srgbClr val="DCE6EF"/>
            </a:solidFill>
            <a:prstDash val="solid"/>
          </a:ln>
        </p:spPr>
        <p:txBody>
          <a:bodyPr/>
          <a:lstStyle/>
          <a:p>
            <a:endParaRPr lang="zh-TW" altLang="en-US" sz="1350"/>
          </a:p>
        </p:txBody>
      </p:sp>
      <p:sp>
        <p:nvSpPr>
          <p:cNvPr id="6" name="grid_x3"/>
          <p:cNvSpPr/>
          <p:nvPr/>
        </p:nvSpPr>
        <p:spPr>
          <a:xfrm flipV="1">
            <a:off x="3116961" y="1294448"/>
            <a:ext cx="686" cy="3240405"/>
          </a:xfrm>
          <a:prstGeom prst="line">
            <a:avLst/>
          </a:prstGeom>
          <a:noFill/>
          <a:ln w="12700">
            <a:solidFill>
              <a:srgbClr val="DCE6EF"/>
            </a:solidFill>
            <a:prstDash val="solid"/>
          </a:ln>
        </p:spPr>
        <p:txBody>
          <a:bodyPr/>
          <a:lstStyle/>
          <a:p>
            <a:endParaRPr lang="zh-TW" altLang="en-US" sz="1350"/>
          </a:p>
        </p:txBody>
      </p:sp>
      <p:sp>
        <p:nvSpPr>
          <p:cNvPr id="7" name="grid_x4"/>
          <p:cNvSpPr/>
          <p:nvPr/>
        </p:nvSpPr>
        <p:spPr>
          <a:xfrm flipV="1">
            <a:off x="3981069" y="1294448"/>
            <a:ext cx="686" cy="3240405"/>
          </a:xfrm>
          <a:prstGeom prst="line">
            <a:avLst/>
          </a:prstGeom>
          <a:noFill/>
          <a:ln w="12700">
            <a:solidFill>
              <a:srgbClr val="DCE6EF"/>
            </a:solidFill>
            <a:prstDash val="solid"/>
          </a:ln>
        </p:spPr>
        <p:txBody>
          <a:bodyPr/>
          <a:lstStyle/>
          <a:p>
            <a:endParaRPr lang="zh-TW" altLang="en-US" sz="1350"/>
          </a:p>
        </p:txBody>
      </p:sp>
      <p:sp>
        <p:nvSpPr>
          <p:cNvPr id="8" name="grid_y0"/>
          <p:cNvSpPr/>
          <p:nvPr/>
        </p:nvSpPr>
        <p:spPr>
          <a:xfrm>
            <a:off x="308610" y="4318825"/>
            <a:ext cx="4320540" cy="686"/>
          </a:xfrm>
          <a:prstGeom prst="line">
            <a:avLst/>
          </a:prstGeom>
          <a:noFill/>
          <a:ln w="12700">
            <a:solidFill>
              <a:srgbClr val="DCE6EF"/>
            </a:solidFill>
            <a:prstDash val="solid"/>
          </a:ln>
        </p:spPr>
        <p:txBody>
          <a:bodyPr/>
          <a:lstStyle/>
          <a:p>
            <a:endParaRPr lang="zh-TW" altLang="en-US" sz="1350"/>
          </a:p>
        </p:txBody>
      </p:sp>
      <p:sp>
        <p:nvSpPr>
          <p:cNvPr id="9" name="grid_y1"/>
          <p:cNvSpPr/>
          <p:nvPr/>
        </p:nvSpPr>
        <p:spPr>
          <a:xfrm>
            <a:off x="308610" y="3454717"/>
            <a:ext cx="4320540" cy="686"/>
          </a:xfrm>
          <a:prstGeom prst="line">
            <a:avLst/>
          </a:prstGeom>
          <a:noFill/>
          <a:ln w="12700">
            <a:solidFill>
              <a:srgbClr val="DCE6EF"/>
            </a:solidFill>
            <a:prstDash val="solid"/>
          </a:ln>
        </p:spPr>
        <p:txBody>
          <a:bodyPr/>
          <a:lstStyle/>
          <a:p>
            <a:endParaRPr lang="zh-TW" altLang="en-US" sz="1350"/>
          </a:p>
        </p:txBody>
      </p:sp>
      <p:sp>
        <p:nvSpPr>
          <p:cNvPr id="10" name="grid_y2"/>
          <p:cNvSpPr/>
          <p:nvPr/>
        </p:nvSpPr>
        <p:spPr>
          <a:xfrm>
            <a:off x="308610" y="2590609"/>
            <a:ext cx="4320540" cy="686"/>
          </a:xfrm>
          <a:prstGeom prst="line">
            <a:avLst/>
          </a:prstGeom>
          <a:noFill/>
          <a:ln w="12700">
            <a:solidFill>
              <a:srgbClr val="DCE6EF"/>
            </a:solidFill>
            <a:prstDash val="solid"/>
          </a:ln>
        </p:spPr>
        <p:txBody>
          <a:bodyPr/>
          <a:lstStyle/>
          <a:p>
            <a:endParaRPr lang="zh-TW" altLang="en-US" sz="1350"/>
          </a:p>
        </p:txBody>
      </p:sp>
      <p:sp>
        <p:nvSpPr>
          <p:cNvPr id="11" name="grid_y3"/>
          <p:cNvSpPr/>
          <p:nvPr/>
        </p:nvSpPr>
        <p:spPr>
          <a:xfrm>
            <a:off x="308610" y="1726501"/>
            <a:ext cx="4320540" cy="686"/>
          </a:xfrm>
          <a:prstGeom prst="line">
            <a:avLst/>
          </a:prstGeom>
          <a:noFill/>
          <a:ln w="12700">
            <a:solidFill>
              <a:srgbClr val="DCE6EF"/>
            </a:solidFill>
            <a:prstDash val="solid"/>
          </a:ln>
        </p:spPr>
        <p:txBody>
          <a:bodyPr/>
          <a:lstStyle/>
          <a:p>
            <a:endParaRPr lang="zh-TW" altLang="en-US" sz="1350"/>
          </a:p>
        </p:txBody>
      </p:sp>
      <p:sp>
        <p:nvSpPr>
          <p:cNvPr id="12" name="path"/>
          <p:cNvSpPr/>
          <p:nvPr/>
        </p:nvSpPr>
        <p:spPr>
          <a:xfrm>
            <a:off x="1388745" y="1530652"/>
            <a:ext cx="3169980" cy="2356120"/>
          </a:xfrm>
          <a:custGeom>
            <a:avLst/>
            <a:gdLst/>
            <a:ahLst/>
            <a:cxnLst/>
            <a:rect l="l" t="t" r="r" b="b"/>
            <a:pathLst>
              <a:path w="4226640" h="3141493">
                <a:moveTo>
                  <a:pt x="0" y="3141493"/>
                </a:moveTo>
                <a:lnTo>
                  <a:pt x="79165" y="3131081"/>
                </a:lnTo>
                <a:lnTo>
                  <a:pt x="157663" y="3119725"/>
                </a:lnTo>
                <a:lnTo>
                  <a:pt x="235494" y="3107433"/>
                </a:lnTo>
                <a:lnTo>
                  <a:pt x="312659" y="3094214"/>
                </a:lnTo>
                <a:lnTo>
                  <a:pt x="389157" y="3080074"/>
                </a:lnTo>
                <a:lnTo>
                  <a:pt x="464988" y="3065024"/>
                </a:lnTo>
                <a:lnTo>
                  <a:pt x="540153" y="3049070"/>
                </a:lnTo>
                <a:lnTo>
                  <a:pt x="614652" y="3032222"/>
                </a:lnTo>
                <a:lnTo>
                  <a:pt x="688483" y="3014487"/>
                </a:lnTo>
                <a:lnTo>
                  <a:pt x="761648" y="2995874"/>
                </a:lnTo>
                <a:lnTo>
                  <a:pt x="834147" y="2976391"/>
                </a:lnTo>
                <a:lnTo>
                  <a:pt x="905978" y="2956045"/>
                </a:lnTo>
                <a:lnTo>
                  <a:pt x="977143" y="2934846"/>
                </a:lnTo>
                <a:lnTo>
                  <a:pt x="1047642" y="2912801"/>
                </a:lnTo>
                <a:lnTo>
                  <a:pt x="1117474" y="2889919"/>
                </a:lnTo>
                <a:lnTo>
                  <a:pt x="1186639" y="2866208"/>
                </a:lnTo>
                <a:lnTo>
                  <a:pt x="1255138" y="2841676"/>
                </a:lnTo>
                <a:lnTo>
                  <a:pt x="1322970" y="2816331"/>
                </a:lnTo>
                <a:lnTo>
                  <a:pt x="1390135" y="2790182"/>
                </a:lnTo>
                <a:lnTo>
                  <a:pt x="1456634" y="2763236"/>
                </a:lnTo>
                <a:lnTo>
                  <a:pt x="1522466" y="2735503"/>
                </a:lnTo>
                <a:lnTo>
                  <a:pt x="1587632" y="2706990"/>
                </a:lnTo>
                <a:lnTo>
                  <a:pt x="1652131" y="2677705"/>
                </a:lnTo>
                <a:lnTo>
                  <a:pt x="1715963" y="2647656"/>
                </a:lnTo>
                <a:lnTo>
                  <a:pt x="1779129" y="2616853"/>
                </a:lnTo>
                <a:lnTo>
                  <a:pt x="1841628" y="2585302"/>
                </a:lnTo>
                <a:lnTo>
                  <a:pt x="1903460" y="2553013"/>
                </a:lnTo>
                <a:lnTo>
                  <a:pt x="1964626" y="2519993"/>
                </a:lnTo>
                <a:lnTo>
                  <a:pt x="2025125" y="2486251"/>
                </a:lnTo>
                <a:lnTo>
                  <a:pt x="2084958" y="2451794"/>
                </a:lnTo>
                <a:lnTo>
                  <a:pt x="2144124" y="2416632"/>
                </a:lnTo>
                <a:lnTo>
                  <a:pt x="2202623" y="2380772"/>
                </a:lnTo>
                <a:lnTo>
                  <a:pt x="2260455" y="2344223"/>
                </a:lnTo>
                <a:lnTo>
                  <a:pt x="2317622" y="2306992"/>
                </a:lnTo>
                <a:lnTo>
                  <a:pt x="2374121" y="2269089"/>
                </a:lnTo>
                <a:lnTo>
                  <a:pt x="2429954" y="2230520"/>
                </a:lnTo>
                <a:lnTo>
                  <a:pt x="2485120" y="2191295"/>
                </a:lnTo>
                <a:lnTo>
                  <a:pt x="2539620" y="2151421"/>
                </a:lnTo>
                <a:lnTo>
                  <a:pt x="2593452" y="2110908"/>
                </a:lnTo>
                <a:lnTo>
                  <a:pt x="2646619" y="2069762"/>
                </a:lnTo>
                <a:lnTo>
                  <a:pt x="2699118" y="2027992"/>
                </a:lnTo>
                <a:lnTo>
                  <a:pt x="2750952" y="1985607"/>
                </a:lnTo>
                <a:lnTo>
                  <a:pt x="2802118" y="1942615"/>
                </a:lnTo>
                <a:lnTo>
                  <a:pt x="2852618" y="1899023"/>
                </a:lnTo>
                <a:lnTo>
                  <a:pt x="2902451" y="1854841"/>
                </a:lnTo>
                <a:lnTo>
                  <a:pt x="2951618" y="1810076"/>
                </a:lnTo>
                <a:lnTo>
                  <a:pt x="3000118" y="1764736"/>
                </a:lnTo>
                <a:lnTo>
                  <a:pt x="3047951" y="1718830"/>
                </a:lnTo>
                <a:lnTo>
                  <a:pt x="3095118" y="1672366"/>
                </a:lnTo>
                <a:lnTo>
                  <a:pt x="3141618" y="1625352"/>
                </a:lnTo>
                <a:lnTo>
                  <a:pt x="3187451" y="1577797"/>
                </a:lnTo>
                <a:lnTo>
                  <a:pt x="3232618" y="1529708"/>
                </a:lnTo>
                <a:lnTo>
                  <a:pt x="3277118" y="1481094"/>
                </a:lnTo>
                <a:lnTo>
                  <a:pt x="3320952" y="1431963"/>
                </a:lnTo>
                <a:lnTo>
                  <a:pt x="3364119" y="1382323"/>
                </a:lnTo>
                <a:lnTo>
                  <a:pt x="3406619" y="1332183"/>
                </a:lnTo>
                <a:lnTo>
                  <a:pt x="3448453" y="1281550"/>
                </a:lnTo>
                <a:lnTo>
                  <a:pt x="3489620" y="1230433"/>
                </a:lnTo>
                <a:lnTo>
                  <a:pt x="3530120" y="1178840"/>
                </a:lnTo>
                <a:lnTo>
                  <a:pt x="3569954" y="1126780"/>
                </a:lnTo>
                <a:lnTo>
                  <a:pt x="3609121" y="1074260"/>
                </a:lnTo>
                <a:lnTo>
                  <a:pt x="3647622" y="1021288"/>
                </a:lnTo>
                <a:lnTo>
                  <a:pt x="3685456" y="967874"/>
                </a:lnTo>
                <a:lnTo>
                  <a:pt x="3722623" y="914025"/>
                </a:lnTo>
                <a:lnTo>
                  <a:pt x="3759124" y="859749"/>
                </a:lnTo>
                <a:lnTo>
                  <a:pt x="3794958" y="805055"/>
                </a:lnTo>
                <a:lnTo>
                  <a:pt x="3830126" y="749950"/>
                </a:lnTo>
                <a:lnTo>
                  <a:pt x="3864627" y="694444"/>
                </a:lnTo>
                <a:lnTo>
                  <a:pt x="3898461" y="638544"/>
                </a:lnTo>
                <a:lnTo>
                  <a:pt x="3931628" y="582258"/>
                </a:lnTo>
                <a:lnTo>
                  <a:pt x="3964129" y="525594"/>
                </a:lnTo>
                <a:lnTo>
                  <a:pt x="3995964" y="468562"/>
                </a:lnTo>
                <a:lnTo>
                  <a:pt x="4027131" y="411169"/>
                </a:lnTo>
                <a:lnTo>
                  <a:pt x="4057633" y="353423"/>
                </a:lnTo>
                <a:lnTo>
                  <a:pt x="4087467" y="295332"/>
                </a:lnTo>
                <a:lnTo>
                  <a:pt x="4116635" y="236906"/>
                </a:lnTo>
                <a:lnTo>
                  <a:pt x="4145136" y="178151"/>
                </a:lnTo>
                <a:lnTo>
                  <a:pt x="4172971" y="119076"/>
                </a:lnTo>
                <a:lnTo>
                  <a:pt x="4200139" y="59690"/>
                </a:lnTo>
                <a:lnTo>
                  <a:pt x="4226640"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13" name="O_dot"/>
          <p:cNvSpPr/>
          <p:nvPr/>
        </p:nvSpPr>
        <p:spPr>
          <a:xfrm>
            <a:off x="469773" y="4263962"/>
            <a:ext cx="109728" cy="109728"/>
          </a:xfrm>
          <a:prstGeom prst="ellipse">
            <a:avLst/>
          </a:prstGeom>
          <a:solidFill>
            <a:srgbClr val="1B2838"/>
          </a:solidFill>
          <a:ln w="12700">
            <a:solidFill>
              <a:srgbClr val="1B2838"/>
            </a:solidFill>
            <a:prstDash val="solid"/>
          </a:ln>
        </p:spPr>
        <p:txBody>
          <a:bodyPr/>
          <a:lstStyle/>
          <a:p>
            <a:endParaRPr lang="zh-TW" altLang="en-US" sz="1350"/>
          </a:p>
        </p:txBody>
      </p:sp>
      <p:sp>
        <p:nvSpPr>
          <p:cNvPr id="14" name="O_lab"/>
          <p:cNvSpPr txBox="1"/>
          <p:nvPr/>
        </p:nvSpPr>
        <p:spPr>
          <a:xfrm>
            <a:off x="181737" y="4181666"/>
            <a:ext cx="274320" cy="308610"/>
          </a:xfrm>
          <a:prstGeom prst="rect">
            <a:avLst/>
          </a:prstGeom>
          <a:noFill/>
          <a:ln/>
        </p:spPr>
        <p:txBody>
          <a:bodyPr wrap="square" lIns="191" tIns="191" rIns="191" bIns="191" rtlCol="0" anchor="ctr"/>
          <a:lstStyle/>
          <a:p>
            <a:pPr algn="r"/>
            <a:r>
              <a:rPr lang="en-US" b="1" i="1" dirty="0">
                <a:solidFill>
                  <a:srgbClr val="1B2838"/>
                </a:solidFill>
                <a:latin typeface="Times New Roman" pitchFamily="34" charset="0"/>
                <a:ea typeface="Times New Roman" pitchFamily="34" charset="-122"/>
                <a:cs typeface="Times New Roman" pitchFamily="34" charset="-120"/>
              </a:rPr>
              <a:t>O</a:t>
            </a:r>
            <a:endParaRPr lang="en-US" dirty="0"/>
          </a:p>
        </p:txBody>
      </p:sp>
      <p:sp>
        <p:nvSpPr>
          <p:cNvPr id="15" name="s1_r"/>
          <p:cNvSpPr/>
          <p:nvPr/>
        </p:nvSpPr>
        <p:spPr>
          <a:xfrm flipV="1">
            <a:off x="524637" y="3585025"/>
            <a:ext cx="1999546" cy="733801"/>
          </a:xfrm>
          <a:prstGeom prst="line">
            <a:avLst/>
          </a:prstGeom>
          <a:noFill/>
          <a:ln w="38100">
            <a:solidFill>
              <a:srgbClr val="2459C4"/>
            </a:solidFill>
            <a:prstDash val="solid"/>
            <a:tailEnd type="triangle"/>
          </a:ln>
        </p:spPr>
        <p:txBody>
          <a:bodyPr/>
          <a:lstStyle/>
          <a:p>
            <a:endParaRPr lang="zh-TW" altLang="en-US" sz="1350"/>
          </a:p>
        </p:txBody>
      </p:sp>
      <p:sp>
        <p:nvSpPr>
          <p:cNvPr id="16" name="s1_P"/>
          <p:cNvSpPr/>
          <p:nvPr/>
        </p:nvSpPr>
        <p:spPr>
          <a:xfrm>
            <a:off x="2476177" y="3537019"/>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7" name="LB_r"/>
              <p:cNvSpPr txBox="1"/>
              <p:nvPr/>
            </p:nvSpPr>
            <p:spPr>
              <a:xfrm>
                <a:off x="1558700" y="3965642"/>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m:oMathPara>
                </a14:m>
                <a:endParaRPr lang="zh-TW" altLang="en-US"/>
              </a:p>
            </p:txBody>
          </p:sp>
        </mc:Choice>
        <mc:Fallback xmlns="">
          <p:sp>
            <p:nvSpPr>
              <p:cNvPr id="17" name="LB_r"/>
              <p:cNvSpPr txBox="1">
                <a:spLocks noRot="1" noChangeAspect="1" noMove="1" noResize="1" noEditPoints="1" noAdjustHandles="1" noChangeArrowheads="1" noChangeShapeType="1" noTextEdit="1"/>
              </p:cNvSpPr>
              <p:nvPr/>
            </p:nvSpPr>
            <p:spPr>
              <a:xfrm>
                <a:off x="1558700" y="3965642"/>
                <a:ext cx="308610" cy="342900"/>
              </a:xfrm>
              <a:prstGeom prst="rect">
                <a:avLst/>
              </a:prstGeom>
              <a:blipFill>
                <a:blip r:embed="rId3"/>
                <a:stretch>
                  <a:fillRect/>
                </a:stretch>
              </a:blipFill>
              <a:ln/>
            </p:spPr>
            <p:txBody>
              <a:bodyPr/>
              <a:lstStyle/>
              <a:p>
                <a:r>
                  <a:rPr lang="zh-TW" altLang="en-US">
                    <a:noFill/>
                  </a:rPr>
                  <a:t> </a:t>
                </a:r>
              </a:p>
            </p:txBody>
          </p:sp>
        </mc:Fallback>
      </mc:AlternateContent>
      <p:sp>
        <p:nvSpPr>
          <p:cNvPr id="18" name="s1_Plab"/>
          <p:cNvSpPr txBox="1"/>
          <p:nvPr/>
        </p:nvSpPr>
        <p:spPr>
          <a:xfrm>
            <a:off x="2558473" y="3667321"/>
            <a:ext cx="1371600" cy="308610"/>
          </a:xfrm>
          <a:prstGeom prst="rect">
            <a:avLst/>
          </a:prstGeom>
          <a:noFill/>
          <a:ln/>
        </p:spPr>
        <p:txBody>
          <a:bodyPr wrap="square" lIns="191" tIns="191" rIns="191" bIns="191" rtlCol="0" anchor="ctr"/>
          <a:lstStyle/>
          <a:p>
            <a:r>
              <a:rPr lang="en-US" dirty="0">
                <a:solidFill>
                  <a:srgbClr val="1B2838"/>
                </a:solidFill>
                <a:latin typeface="Microsoft JhengHei" pitchFamily="34" charset="0"/>
                <a:ea typeface="Microsoft JhengHei" pitchFamily="34" charset="-122"/>
                <a:cs typeface="Microsoft JhengHei" pitchFamily="34" charset="-120"/>
              </a:rPr>
              <a:t>P（時間 t）</a:t>
            </a:r>
            <a:endParaRPr lang="en-US" dirty="0"/>
          </a:p>
        </p:txBody>
      </p:sp>
      <p:sp>
        <p:nvSpPr>
          <p:cNvPr id="19" name="s1_r2"/>
          <p:cNvSpPr/>
          <p:nvPr/>
        </p:nvSpPr>
        <p:spPr>
          <a:xfrm flipV="1">
            <a:off x="524637" y="2542911"/>
            <a:ext cx="3408042" cy="1775915"/>
          </a:xfrm>
          <a:prstGeom prst="line">
            <a:avLst/>
          </a:prstGeom>
          <a:noFill/>
          <a:ln w="31750">
            <a:solidFill>
              <a:srgbClr val="7A9FE6"/>
            </a:solidFill>
            <a:prstDash val="solid"/>
            <a:tailEnd type="triangle"/>
          </a:ln>
        </p:spPr>
        <p:txBody>
          <a:bodyPr/>
          <a:lstStyle/>
          <a:p>
            <a:endParaRPr lang="zh-TW" altLang="en-US" sz="1350"/>
          </a:p>
        </p:txBody>
      </p:sp>
      <p:sp>
        <p:nvSpPr>
          <p:cNvPr id="20" name="s1_arc"/>
          <p:cNvSpPr/>
          <p:nvPr/>
        </p:nvSpPr>
        <p:spPr>
          <a:xfrm>
            <a:off x="2524183" y="2542911"/>
            <a:ext cx="1408496" cy="1042115"/>
          </a:xfrm>
          <a:custGeom>
            <a:avLst/>
            <a:gdLst/>
            <a:ahLst/>
            <a:cxnLst/>
            <a:rect l="l" t="t" r="r" b="b"/>
            <a:pathLst>
              <a:path w="1877995" h="1389486">
                <a:moveTo>
                  <a:pt x="0" y="1389486"/>
                </a:moveTo>
                <a:lnTo>
                  <a:pt x="56779" y="1364823"/>
                </a:lnTo>
                <a:lnTo>
                  <a:pt x="113054" y="1339576"/>
                </a:lnTo>
                <a:lnTo>
                  <a:pt x="168825" y="1313749"/>
                </a:lnTo>
                <a:lnTo>
                  <a:pt x="224092" y="1287348"/>
                </a:lnTo>
                <a:lnTo>
                  <a:pt x="278855" y="1260378"/>
                </a:lnTo>
                <a:lnTo>
                  <a:pt x="333114" y="1232844"/>
                </a:lnTo>
                <a:lnTo>
                  <a:pt x="386868" y="1204753"/>
                </a:lnTo>
                <a:lnTo>
                  <a:pt x="440119" y="1176109"/>
                </a:lnTo>
                <a:lnTo>
                  <a:pt x="492866" y="1146917"/>
                </a:lnTo>
                <a:lnTo>
                  <a:pt x="545108" y="1117184"/>
                </a:lnTo>
                <a:lnTo>
                  <a:pt x="596847" y="1086914"/>
                </a:lnTo>
                <a:lnTo>
                  <a:pt x="648081" y="1056113"/>
                </a:lnTo>
                <a:lnTo>
                  <a:pt x="698811" y="1024786"/>
                </a:lnTo>
                <a:lnTo>
                  <a:pt x="749038" y="992939"/>
                </a:lnTo>
                <a:lnTo>
                  <a:pt x="798760" y="960578"/>
                </a:lnTo>
                <a:lnTo>
                  <a:pt x="847978" y="927706"/>
                </a:lnTo>
                <a:lnTo>
                  <a:pt x="896692" y="894331"/>
                </a:lnTo>
                <a:lnTo>
                  <a:pt x="944902" y="860457"/>
                </a:lnTo>
                <a:lnTo>
                  <a:pt x="992608" y="826090"/>
                </a:lnTo>
                <a:lnTo>
                  <a:pt x="1039810" y="791235"/>
                </a:lnTo>
                <a:lnTo>
                  <a:pt x="1086508" y="755897"/>
                </a:lnTo>
                <a:lnTo>
                  <a:pt x="1132702" y="720083"/>
                </a:lnTo>
                <a:lnTo>
                  <a:pt x="1178391" y="683797"/>
                </a:lnTo>
                <a:lnTo>
                  <a:pt x="1223577" y="647044"/>
                </a:lnTo>
                <a:lnTo>
                  <a:pt x="1268259" y="609831"/>
                </a:lnTo>
                <a:lnTo>
                  <a:pt x="1312436" y="572162"/>
                </a:lnTo>
                <a:lnTo>
                  <a:pt x="1356109" y="534043"/>
                </a:lnTo>
                <a:lnTo>
                  <a:pt x="1399279" y="495480"/>
                </a:lnTo>
                <a:lnTo>
                  <a:pt x="1441944" y="456477"/>
                </a:lnTo>
                <a:lnTo>
                  <a:pt x="1484105" y="417040"/>
                </a:lnTo>
                <a:lnTo>
                  <a:pt x="1525763" y="377175"/>
                </a:lnTo>
                <a:lnTo>
                  <a:pt x="1566916" y="336887"/>
                </a:lnTo>
                <a:lnTo>
                  <a:pt x="1607565" y="296181"/>
                </a:lnTo>
                <a:lnTo>
                  <a:pt x="1647710" y="255063"/>
                </a:lnTo>
                <a:lnTo>
                  <a:pt x="1687351" y="213538"/>
                </a:lnTo>
                <a:lnTo>
                  <a:pt x="1726488" y="171612"/>
                </a:lnTo>
                <a:lnTo>
                  <a:pt x="1765121" y="129289"/>
                </a:lnTo>
                <a:lnTo>
                  <a:pt x="1803249" y="86576"/>
                </a:lnTo>
                <a:lnTo>
                  <a:pt x="1840874" y="43478"/>
                </a:lnTo>
                <a:lnTo>
                  <a:pt x="1877995" y="0"/>
                </a:lnTo>
              </a:path>
            </a:pathLst>
          </a:custGeom>
          <a:solidFill>
            <a:srgbClr val="FFFFFF">
              <a:alpha val="0"/>
            </a:srgbClr>
          </a:solidFill>
          <a:ln w="114300">
            <a:solidFill>
              <a:srgbClr val="8A3CC4">
                <a:alpha val="55000"/>
              </a:srgbClr>
            </a:solidFill>
            <a:prstDash val="solid"/>
          </a:ln>
        </p:spPr>
        <p:txBody>
          <a:bodyPr/>
          <a:lstStyle/>
          <a:p>
            <a:endParaRPr lang="zh-TW" altLang="en-US" sz="1350"/>
          </a:p>
        </p:txBody>
      </p:sp>
      <p:sp>
        <p:nvSpPr>
          <p:cNvPr id="21" name="s1_dr"/>
          <p:cNvSpPr/>
          <p:nvPr/>
        </p:nvSpPr>
        <p:spPr>
          <a:xfrm flipV="1">
            <a:off x="2524183" y="2542911"/>
            <a:ext cx="1408496" cy="1042115"/>
          </a:xfrm>
          <a:prstGeom prst="line">
            <a:avLst/>
          </a:prstGeom>
          <a:noFill/>
          <a:ln w="38100">
            <a:solidFill>
              <a:srgbClr val="E07B00"/>
            </a:solidFill>
            <a:prstDash val="solid"/>
            <a:tailEnd type="triangle"/>
          </a:ln>
        </p:spPr>
        <p:txBody>
          <a:bodyPr/>
          <a:lstStyle/>
          <a:p>
            <a:endParaRPr lang="zh-TW" altLang="en-US" sz="1350"/>
          </a:p>
        </p:txBody>
      </p:sp>
      <p:sp>
        <p:nvSpPr>
          <p:cNvPr id="22" name="s1_Q"/>
          <p:cNvSpPr/>
          <p:nvPr/>
        </p:nvSpPr>
        <p:spPr>
          <a:xfrm>
            <a:off x="3884673" y="2494905"/>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3" name="LB_r2"/>
              <p:cNvSpPr txBox="1"/>
              <p:nvPr/>
            </p:nvSpPr>
            <p:spPr>
              <a:xfrm>
                <a:off x="1851468" y="3122258"/>
                <a:ext cx="37719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r>
                            <a:rPr lang="en-US" sz="1950" i="1">
                              <a:solidFill>
                                <a:srgbClr val="2459C4"/>
                              </a:solidFill>
                              <a:latin typeface="Cambria Math" panose="02040503050406030204" pitchFamily="18" charset="0"/>
                              <a:ea typeface="Microsoft JhengHei"/>
                            </a:rPr>
                            <m:t>′</m:t>
                          </m:r>
                        </m:e>
                      </m:acc>
                    </m:oMath>
                  </m:oMathPara>
                </a14:m>
                <a:endParaRPr lang="zh-TW" altLang="en-US"/>
              </a:p>
            </p:txBody>
          </p:sp>
        </mc:Choice>
        <mc:Fallback xmlns="">
          <p:sp>
            <p:nvSpPr>
              <p:cNvPr id="23" name="LB_r2"/>
              <p:cNvSpPr txBox="1">
                <a:spLocks noRot="1" noChangeAspect="1" noMove="1" noResize="1" noEditPoints="1" noAdjustHandles="1" noChangeArrowheads="1" noChangeShapeType="1" noTextEdit="1"/>
              </p:cNvSpPr>
              <p:nvPr/>
            </p:nvSpPr>
            <p:spPr>
              <a:xfrm>
                <a:off x="1851468" y="3122258"/>
                <a:ext cx="377190" cy="342900"/>
              </a:xfrm>
              <a:prstGeom prst="rect">
                <a:avLst/>
              </a:prstGeom>
              <a:blipFill>
                <a:blip r:embed="rId4"/>
                <a:stretch>
                  <a:fillRect r="-1613"/>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LB_dr"/>
              <p:cNvSpPr txBox="1"/>
              <p:nvPr/>
            </p:nvSpPr>
            <p:spPr>
              <a:xfrm>
                <a:off x="2679791" y="2721068"/>
                <a:ext cx="44577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m:oMathPara>
                </a14:m>
                <a:endParaRPr lang="zh-TW" altLang="en-US"/>
              </a:p>
            </p:txBody>
          </p:sp>
        </mc:Choice>
        <mc:Fallback xmlns="">
          <p:sp>
            <p:nvSpPr>
              <p:cNvPr id="24" name="LB_dr"/>
              <p:cNvSpPr txBox="1">
                <a:spLocks noRot="1" noChangeAspect="1" noMove="1" noResize="1" noEditPoints="1" noAdjustHandles="1" noChangeArrowheads="1" noChangeShapeType="1" noTextEdit="1"/>
              </p:cNvSpPr>
              <p:nvPr/>
            </p:nvSpPr>
            <p:spPr>
              <a:xfrm>
                <a:off x="2679791" y="2721068"/>
                <a:ext cx="445770" cy="342900"/>
              </a:xfrm>
              <a:prstGeom prst="rect">
                <a:avLst/>
              </a:prstGeom>
              <a:blipFill>
                <a:blip r:embed="rId5"/>
                <a:stretch>
                  <a:fillRect l="-1370"/>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LB_ds"/>
              <p:cNvSpPr txBox="1"/>
              <p:nvPr/>
            </p:nvSpPr>
            <p:spPr>
              <a:xfrm>
                <a:off x="3406910" y="3204917"/>
                <a:ext cx="44577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m:oMathPara>
                </a14:m>
                <a:endParaRPr lang="zh-TW" altLang="en-US"/>
              </a:p>
            </p:txBody>
          </p:sp>
        </mc:Choice>
        <mc:Fallback xmlns="">
          <p:sp>
            <p:nvSpPr>
              <p:cNvPr id="25" name="LB_ds"/>
              <p:cNvSpPr txBox="1">
                <a:spLocks noRot="1" noChangeAspect="1" noMove="1" noResize="1" noEditPoints="1" noAdjustHandles="1" noChangeArrowheads="1" noChangeShapeType="1" noTextEdit="1"/>
              </p:cNvSpPr>
              <p:nvPr/>
            </p:nvSpPr>
            <p:spPr>
              <a:xfrm>
                <a:off x="3406910" y="3204917"/>
                <a:ext cx="445770" cy="342900"/>
              </a:xfrm>
              <a:prstGeom prst="rect">
                <a:avLst/>
              </a:prstGeom>
              <a:blipFill>
                <a:blip r:embed="rId6"/>
                <a:stretch>
                  <a:fillRect/>
                </a:stretch>
              </a:blipFill>
              <a:ln/>
            </p:spPr>
            <p:txBody>
              <a:bodyPr/>
              <a:lstStyle/>
              <a:p>
                <a:r>
                  <a:rPr lang="zh-TW" altLang="en-US">
                    <a:noFill/>
                  </a:rPr>
                  <a:t> </a:t>
                </a:r>
              </a:p>
            </p:txBody>
          </p:sp>
        </mc:Fallback>
      </mc:AlternateContent>
      <p:sp>
        <p:nvSpPr>
          <p:cNvPr id="26" name="s1_Qlab"/>
          <p:cNvSpPr txBox="1"/>
          <p:nvPr/>
        </p:nvSpPr>
        <p:spPr>
          <a:xfrm>
            <a:off x="2252469" y="2165721"/>
            <a:ext cx="1577340" cy="308610"/>
          </a:xfrm>
          <a:prstGeom prst="rect">
            <a:avLst/>
          </a:prstGeom>
          <a:noFill/>
          <a:ln/>
        </p:spPr>
        <p:txBody>
          <a:bodyPr wrap="square" lIns="191" tIns="191" rIns="191" bIns="191" rtlCol="0" anchor="ctr"/>
          <a:lstStyle/>
          <a:p>
            <a:pPr algn="r"/>
            <a:r>
              <a:rPr lang="en-US" dirty="0">
                <a:solidFill>
                  <a:srgbClr val="1B2838"/>
                </a:solidFill>
                <a:latin typeface="Microsoft JhengHei" pitchFamily="34" charset="0"/>
                <a:ea typeface="Microsoft JhengHei" pitchFamily="34" charset="-122"/>
                <a:cs typeface="Microsoft JhengHei" pitchFamily="34" charset="-120"/>
              </a:rPr>
              <a:t>P′（t + Δt）</a:t>
            </a:r>
            <a:endParaRPr lang="en-US" dirty="0"/>
          </a:p>
        </p:txBody>
      </p:sp>
      <p:sp>
        <p:nvSpPr>
          <p:cNvPr id="27" name="s1_c1"/>
          <p:cNvSpPr/>
          <p:nvPr/>
        </p:nvSpPr>
        <p:spPr>
          <a:xfrm flipV="1">
            <a:off x="2524183" y="2764211"/>
            <a:ext cx="1426645" cy="820815"/>
          </a:xfrm>
          <a:prstGeom prst="line">
            <a:avLst/>
          </a:prstGeom>
          <a:noFill/>
          <a:ln w="22225">
            <a:solidFill>
              <a:srgbClr val="E07B00"/>
            </a:solidFill>
            <a:prstDash val="sysDash"/>
            <a:tailEnd type="triangle"/>
          </a:ln>
        </p:spPr>
        <p:txBody>
          <a:bodyPr/>
          <a:lstStyle/>
          <a:p>
            <a:endParaRPr lang="zh-TW" altLang="en-US" sz="1350"/>
          </a:p>
        </p:txBody>
      </p:sp>
      <p:sp>
        <p:nvSpPr>
          <p:cNvPr id="28" name="s1_c2"/>
          <p:cNvSpPr/>
          <p:nvPr/>
        </p:nvSpPr>
        <p:spPr>
          <a:xfrm flipV="1">
            <a:off x="2524183" y="2759263"/>
            <a:ext cx="1441415" cy="825763"/>
          </a:xfrm>
          <a:prstGeom prst="line">
            <a:avLst/>
          </a:prstGeom>
          <a:noFill/>
          <a:ln w="22225">
            <a:solidFill>
              <a:srgbClr val="E07B00"/>
            </a:solidFill>
            <a:prstDash val="sysDash"/>
            <a:tailEnd type="triangle"/>
          </a:ln>
        </p:spPr>
        <p:txBody>
          <a:bodyPr/>
          <a:lstStyle/>
          <a:p>
            <a:endParaRPr lang="zh-TW" altLang="en-US" sz="1350"/>
          </a:p>
        </p:txBody>
      </p:sp>
      <p:sp>
        <p:nvSpPr>
          <p:cNvPr id="29" name="s1_shr"/>
          <p:cNvSpPr txBox="1"/>
          <p:nvPr/>
        </p:nvSpPr>
        <p:spPr>
          <a:xfrm>
            <a:off x="438227" y="1640091"/>
            <a:ext cx="2606040" cy="342900"/>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Δt 變小，割線靠向切線</a:t>
            </a:r>
            <a:endParaRPr lang="en-US" dirty="0"/>
          </a:p>
        </p:txBody>
      </p:sp>
      <p:sp>
        <p:nvSpPr>
          <p:cNvPr id="30" name="s1_v"/>
          <p:cNvSpPr/>
          <p:nvPr/>
        </p:nvSpPr>
        <p:spPr>
          <a:xfrm flipV="1">
            <a:off x="2524183" y="3000197"/>
            <a:ext cx="1368747" cy="584828"/>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1" name="LB_v"/>
              <p:cNvSpPr txBox="1"/>
              <p:nvPr/>
            </p:nvSpPr>
            <p:spPr>
              <a:xfrm>
                <a:off x="3927220" y="2931617"/>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31" name="LB_v"/>
              <p:cNvSpPr txBox="1">
                <a:spLocks noRot="1" noChangeAspect="1" noMove="1" noResize="1" noEditPoints="1" noAdjustHandles="1" noChangeArrowheads="1" noChangeShapeType="1" noTextEdit="1"/>
              </p:cNvSpPr>
              <p:nvPr/>
            </p:nvSpPr>
            <p:spPr>
              <a:xfrm>
                <a:off x="3927220" y="2931617"/>
                <a:ext cx="308610" cy="342900"/>
              </a:xfrm>
              <a:prstGeom prst="rect">
                <a:avLst/>
              </a:prstGeom>
              <a:blipFill>
                <a:blip r:embed="rId7"/>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EQ1_1"/>
              <p:cNvSpPr txBox="1"/>
              <p:nvPr/>
            </p:nvSpPr>
            <p:spPr>
              <a:xfrm>
                <a:off x="4869180" y="891540"/>
                <a:ext cx="4011930" cy="68580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① 位置：</a:t>
                </a:r>
                <a:r>
                  <a:rPr lang="zh-TW" altLang="en-US">
                    <a:solidFill>
                      <a:srgbClr val="1B2838"/>
                    </a:solidFill>
                    <a:latin typeface="Microsoft JhengHei"/>
                    <a:ea typeface="Microsoft JhengHei"/>
                  </a:rPr>
                  <a:t>O 為固定原點，</a:t>
                </a:r>
                <a:endParaRPr lang="zh-TW" altLang="en-US"/>
              </a:p>
              <a:p>
                <a:pPr>
                  <a:lnSpc>
                    <a:spcPct val="105000"/>
                  </a:lnSpc>
                </a:pPr>
                <a:r>
                  <a:rPr lang="zh-TW" altLang="en-US">
                    <a:solidFill>
                      <a:srgbClr val="1B2838"/>
                    </a:solidFill>
                    <a:latin typeface="Microsoft JhengHei"/>
                    <a:ea typeface="Microsoft JhengHei"/>
                  </a:rPr>
                  <a:t>位置向量 </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決定 P 點。</a:t>
                </a:r>
                <a:endParaRPr lang="zh-TW" altLang="en-US"/>
              </a:p>
            </p:txBody>
          </p:sp>
        </mc:Choice>
        <mc:Fallback xmlns="">
          <p:sp>
            <p:nvSpPr>
              <p:cNvPr id="32" name="EQ1_1"/>
              <p:cNvSpPr txBox="1">
                <a:spLocks noRot="1" noChangeAspect="1" noMove="1" noResize="1" noEditPoints="1" noAdjustHandles="1" noChangeArrowheads="1" noChangeShapeType="1" noTextEdit="1"/>
              </p:cNvSpPr>
              <p:nvPr/>
            </p:nvSpPr>
            <p:spPr>
              <a:xfrm>
                <a:off x="4869180" y="891540"/>
                <a:ext cx="4011930" cy="685800"/>
              </a:xfrm>
              <a:prstGeom prst="rect">
                <a:avLst/>
              </a:prstGeom>
              <a:blipFill>
                <a:blip r:embed="rId8"/>
                <a:stretch>
                  <a:fillRect l="-3647" t="-12389" b="-2655"/>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EQ1_2"/>
              <p:cNvSpPr txBox="1"/>
              <p:nvPr/>
            </p:nvSpPr>
            <p:spPr>
              <a:xfrm>
                <a:off x="4869180" y="1611630"/>
                <a:ext cx="4011930" cy="72009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② 位移：</a:t>
                </a:r>
                <a14:m>
                  <m:oMath xmlns:m="http://schemas.openxmlformats.org/officeDocument/2006/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r>
                          <a:rPr lang="en-US" sz="1950" i="1">
                            <a:solidFill>
                              <a:srgbClr val="1B2838"/>
                            </a:solidFill>
                            <a:latin typeface="Cambria Math" panose="02040503050406030204" pitchFamily="18" charset="0"/>
                            <a:ea typeface="Microsoft JhengHei"/>
                          </a:rPr>
                          <m:t>′</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oMath>
                </a14:m>
                <a:endParaRPr lang="zh-TW" altLang="en-US"/>
              </a:p>
              <a:p>
                <a:pPr>
                  <a:lnSpc>
                    <a:spcPct val="105000"/>
                  </a:lnSpc>
                </a:pPr>
                <a:r>
                  <a:rPr lang="zh-TW" altLang="en-US">
                    <a:solidFill>
                      <a:srgbClr val="1B2838"/>
                    </a:solidFill>
                    <a:latin typeface="Microsoft JhengHei"/>
                    <a:ea typeface="Microsoft JhengHei"/>
                  </a:rPr>
                  <a:t>是向量，不是路徑長 </a:t>
                </a:r>
                <a14:m>
                  <m:oMath xmlns:m="http://schemas.openxmlformats.org/officeDocument/2006/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a:t>
                </a:r>
                <a:endParaRPr lang="zh-TW" altLang="en-US"/>
              </a:p>
            </p:txBody>
          </p:sp>
        </mc:Choice>
        <mc:Fallback xmlns="">
          <p:sp>
            <p:nvSpPr>
              <p:cNvPr id="33" name="EQ1_2"/>
              <p:cNvSpPr txBox="1">
                <a:spLocks noRot="1" noChangeAspect="1" noMove="1" noResize="1" noEditPoints="1" noAdjustHandles="1" noChangeArrowheads="1" noChangeShapeType="1" noTextEdit="1"/>
              </p:cNvSpPr>
              <p:nvPr/>
            </p:nvSpPr>
            <p:spPr>
              <a:xfrm>
                <a:off x="4869180" y="1611630"/>
                <a:ext cx="4011930" cy="720090"/>
              </a:xfrm>
              <a:prstGeom prst="rect">
                <a:avLst/>
              </a:prstGeom>
              <a:blipFill>
                <a:blip r:embed="rId9"/>
                <a:stretch>
                  <a:fillRect l="-3647" t="-7563" b="-3361"/>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EQ1_3"/>
              <p:cNvSpPr txBox="1"/>
              <p:nvPr/>
            </p:nvSpPr>
            <p:spPr>
              <a:xfrm>
                <a:off x="4869180" y="2366010"/>
                <a:ext cx="4011930" cy="85725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③ 平均速度：</a:t>
                </a:r>
                <a14:m>
                  <m:oMath xmlns:m="http://schemas.openxmlformats.org/officeDocument/2006/math">
                    <m:sSub>
                      <m:sSubPr>
                        <m:ctrlPr>
                          <a:rPr lang="en-US" sz="1950" i="1">
                            <a:solidFill>
                              <a:srgbClr val="1B2838"/>
                            </a:solidFill>
                            <a:latin typeface="Cambria Math" panose="02040503050406030204" pitchFamily="18" charset="0"/>
                            <a:ea typeface="Microsoft JhengHei"/>
                          </a:rPr>
                        </m:ctrlPr>
                      </m:sSub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e>
                      <m:sub>
                        <m:r>
                          <a:rPr lang="en-US" sz="1950" i="1">
                            <a:solidFill>
                              <a:srgbClr val="1B2838"/>
                            </a:solidFill>
                            <a:latin typeface="Cambria Math" panose="02040503050406030204" pitchFamily="18" charset="0"/>
                            <a:ea typeface="Microsoft JhengHei"/>
                          </a:rPr>
                          <m:t>𝑎𝑣</m:t>
                        </m:r>
                      </m:sub>
                    </m:sSub>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endParaRPr lang="zh-TW" altLang="en-US"/>
              </a:p>
              <a:p>
                <a:pPr>
                  <a:lnSpc>
                    <a:spcPct val="105000"/>
                  </a:lnSpc>
                </a:pPr>
                <a:r>
                  <a:rPr lang="zh-TW" altLang="en-US">
                    <a:solidFill>
                      <a:srgbClr val="1B2838"/>
                    </a:solidFill>
                    <a:latin typeface="Microsoft JhengHei"/>
                    <a:ea typeface="Microsoft JhengHei"/>
                  </a:rPr>
                  <a:t>方向和 </a:t>
                </a:r>
                <a14:m>
                  <m:oMath xmlns:m="http://schemas.openxmlformats.org/officeDocument/2006/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相同。</a:t>
                </a:r>
                <a:endParaRPr lang="zh-TW" altLang="en-US"/>
              </a:p>
            </p:txBody>
          </p:sp>
        </mc:Choice>
        <mc:Fallback xmlns="">
          <p:sp>
            <p:nvSpPr>
              <p:cNvPr id="34" name="EQ1_3"/>
              <p:cNvSpPr txBox="1">
                <a:spLocks noRot="1" noChangeAspect="1" noMove="1" noResize="1" noEditPoints="1" noAdjustHandles="1" noChangeArrowheads="1" noChangeShapeType="1" noTextEdit="1"/>
              </p:cNvSpPr>
              <p:nvPr/>
            </p:nvSpPr>
            <p:spPr>
              <a:xfrm>
                <a:off x="4869180" y="2366010"/>
                <a:ext cx="4011930" cy="857250"/>
              </a:xfrm>
              <a:prstGeom prst="rect">
                <a:avLst/>
              </a:prstGeom>
              <a:blipFill>
                <a:blip r:embed="rId10"/>
                <a:stretch>
                  <a:fillRect l="-3647"/>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EQ1_4"/>
              <p:cNvSpPr txBox="1"/>
              <p:nvPr/>
            </p:nvSpPr>
            <p:spPr>
              <a:xfrm>
                <a:off x="4869180" y="3257550"/>
                <a:ext cx="4011930" cy="102870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④ </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r>
                      <a:rPr lang="en-US" sz="1950">
                        <a:solidFill>
                          <a:srgbClr val="1B2838"/>
                        </a:solidFill>
                        <a:latin typeface="Cambria Math" panose="02040503050406030204" pitchFamily="18" charset="0"/>
                        <a:ea typeface="Microsoft JhengHei"/>
                      </a:rPr>
                      <m:t>→0</m:t>
                    </m:r>
                  </m:oMath>
                </a14:m>
                <a:r>
                  <a:rPr lang="zh-TW" altLang="en-US" b="1">
                    <a:solidFill>
                      <a:srgbClr val="1B2838"/>
                    </a:solidFill>
                    <a:latin typeface="Microsoft JhengHei"/>
                    <a:ea typeface="Microsoft JhengHei"/>
                  </a:rPr>
                  <a:t>：瞬時速度與速率</a:t>
                </a:r>
                <a:endParaRPr lang="zh-TW" altLang="en-US"/>
              </a:p>
              <a:p>
                <a:pPr>
                  <a:lnSpc>
                    <a:spcPct val="105000"/>
                  </a:lnSpc>
                </a:pP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𝑑𝑟</m:t>
                            </m:r>
                          </m:e>
                        </m:acc>
                      </m:num>
                      <m:den>
                        <m:r>
                          <a:rPr lang="en-US" sz="1950" i="1">
                            <a:solidFill>
                              <a:srgbClr val="1B2838"/>
                            </a:solidFill>
                            <a:latin typeface="Cambria Math" panose="02040503050406030204" pitchFamily="18" charset="0"/>
                            <a:ea typeface="Microsoft JhengHei"/>
                          </a:rPr>
                          <m:t>𝑑𝑡</m:t>
                        </m:r>
                      </m:den>
                    </m:f>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e>
                    </m:acc>
                  </m:oMath>
                </a14:m>
                <a:r>
                  <a:rPr lang="zh-TW" altLang="en-US">
                    <a:solidFill>
                      <a:srgbClr val="5B6B7E"/>
                    </a:solidFill>
                    <a:latin typeface="Microsoft JhengHei"/>
                    <a:ea typeface="Microsoft JhengHei"/>
                  </a:rPr>
                  <a:t>　(2-7)</a:t>
                </a:r>
                <a:endParaRPr lang="zh-TW" altLang="en-US"/>
              </a:p>
              <a:p>
                <a:pPr>
                  <a:lnSpc>
                    <a:spcPct val="105000"/>
                  </a:lnSpc>
                </a:pPr>
                <a14:m>
                  <m:oMath xmlns:m="http://schemas.openxmlformats.org/officeDocument/2006/math">
                    <m:r>
                      <a:rPr lang="en-US" sz="1950" i="1">
                        <a:solidFill>
                          <a:srgbClr val="1B2838"/>
                        </a:solidFill>
                        <a:latin typeface="Cambria Math" panose="02040503050406030204" pitchFamily="18" charset="0"/>
                        <a:ea typeface="Microsoft JhengHei"/>
                      </a:rPr>
                      <m:t>𝑣</m:t>
                    </m:r>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𝑑𝑠</m:t>
                        </m:r>
                      </m:num>
                      <m:den>
                        <m:r>
                          <a:rPr lang="en-US" sz="1950" i="1">
                            <a:solidFill>
                              <a:srgbClr val="1B2838"/>
                            </a:solidFill>
                            <a:latin typeface="Cambria Math" panose="02040503050406030204" pitchFamily="18" charset="0"/>
                            <a:ea typeface="Microsoft JhengHei"/>
                          </a:rPr>
                          <m:t>𝑑𝑡</m:t>
                        </m:r>
                      </m:den>
                    </m:f>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𝑠</m:t>
                        </m:r>
                      </m:e>
                    </m:acc>
                  </m:oMath>
                </a14:m>
                <a:r>
                  <a:rPr lang="zh-TW" altLang="en-US">
                    <a:solidFill>
                      <a:srgbClr val="5B6B7E"/>
                    </a:solidFill>
                    <a:latin typeface="Microsoft JhengHei"/>
                    <a:ea typeface="Microsoft JhengHei"/>
                  </a:rPr>
                  <a:t>　(2-8)</a:t>
                </a:r>
                <a:endParaRPr lang="zh-TW" altLang="en-US"/>
              </a:p>
            </p:txBody>
          </p:sp>
        </mc:Choice>
        <mc:Fallback xmlns="">
          <p:sp>
            <p:nvSpPr>
              <p:cNvPr id="35" name="EQ1_4"/>
              <p:cNvSpPr txBox="1">
                <a:spLocks noRot="1" noChangeAspect="1" noMove="1" noResize="1" noEditPoints="1" noAdjustHandles="1" noChangeArrowheads="1" noChangeShapeType="1" noTextEdit="1"/>
              </p:cNvSpPr>
              <p:nvPr/>
            </p:nvSpPr>
            <p:spPr>
              <a:xfrm>
                <a:off x="4869180" y="3257550"/>
                <a:ext cx="4011930" cy="1028700"/>
              </a:xfrm>
              <a:prstGeom prst="rect">
                <a:avLst/>
              </a:prstGeom>
              <a:blipFill>
                <a:blip r:embed="rId11"/>
                <a:stretch>
                  <a:fillRect l="-3647" t="-6509" b="-18935"/>
                </a:stretch>
              </a:blipFill>
              <a:ln/>
            </p:spPr>
            <p:txBody>
              <a:bodyPr/>
              <a:lstStyle/>
              <a:p>
                <a:r>
                  <a:rPr lang="zh-TW" altLang="en-US">
                    <a:noFill/>
                  </a:rPr>
                  <a:t> </a:t>
                </a:r>
              </a:p>
            </p:txBody>
          </p:sp>
        </mc:Fallback>
      </mc:AlternateContent>
      <p:sp>
        <p:nvSpPr>
          <p:cNvPr id="36" name="s1_box"/>
          <p:cNvSpPr/>
          <p:nvPr/>
        </p:nvSpPr>
        <p:spPr>
          <a:xfrm>
            <a:off x="4005224" y="4539743"/>
            <a:ext cx="4011930" cy="548640"/>
          </a:xfrm>
          <a:prstGeom prst="roundRect">
            <a:avLst>
              <a:gd name="adj" fmla="val 15000"/>
            </a:avLst>
          </a:prstGeom>
          <a:solidFill>
            <a:srgbClr val="E3F4EA"/>
          </a:solidFill>
          <a:ln w="19050">
            <a:solidFill>
              <a:srgbClr val="138A52"/>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37" name="EQ1_5"/>
              <p:cNvSpPr txBox="1"/>
              <p:nvPr/>
            </p:nvSpPr>
            <p:spPr>
              <a:xfrm>
                <a:off x="4416704" y="4580891"/>
                <a:ext cx="3840480" cy="507492"/>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a14:m>
                <a:r>
                  <a:rPr lang="zh-TW" altLang="en-US" b="1">
                    <a:solidFill>
                      <a:srgbClr val="138A52"/>
                    </a:solidFill>
                    <a:latin typeface="Microsoft JhengHei"/>
                    <a:ea typeface="Microsoft JhengHei"/>
                  </a:rPr>
                  <a:t> 與路徑相切，指向運動方向</a:t>
                </a:r>
                <a:endParaRPr lang="zh-TW" altLang="en-US"/>
              </a:p>
            </p:txBody>
          </p:sp>
        </mc:Choice>
        <mc:Fallback xmlns="">
          <p:sp>
            <p:nvSpPr>
              <p:cNvPr id="37" name="EQ1_5"/>
              <p:cNvSpPr txBox="1">
                <a:spLocks noRot="1" noChangeAspect="1" noMove="1" noResize="1" noEditPoints="1" noAdjustHandles="1" noChangeArrowheads="1" noChangeShapeType="1" noTextEdit="1"/>
              </p:cNvSpPr>
              <p:nvPr/>
            </p:nvSpPr>
            <p:spPr>
              <a:xfrm>
                <a:off x="4416704" y="4580891"/>
                <a:ext cx="3840480" cy="507492"/>
              </a:xfrm>
              <a:prstGeom prst="rect">
                <a:avLst/>
              </a:prstGeom>
              <a:blipFill>
                <a:blip r:embed="rId12"/>
                <a:stretch>
                  <a:fillRect l="-2222" t="-1190" b="-5952"/>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6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6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600"/>
                                        <p:tgtEl>
                                          <p:spTgt spid="19"/>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6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600"/>
                                        <p:tgtEl>
                                          <p:spTgt spid="21"/>
                                        </p:tgtEl>
                                      </p:cBhvr>
                                    </p:animEffect>
                                  </p:childTnLst>
                                </p:cTn>
                              </p:par>
                              <p:par>
                                <p:cTn id="31" presetID="10"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6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600"/>
                                        <p:tgtEl>
                                          <p:spTgt spid="23"/>
                                        </p:tgtEl>
                                      </p:cBhvr>
                                    </p:animEffect>
                                  </p:childTnLst>
                                </p:cTn>
                              </p:par>
                              <p:par>
                                <p:cTn id="37" presetID="10"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600"/>
                                        <p:tgtEl>
                                          <p:spTgt spid="24"/>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600"/>
                                        <p:tgtEl>
                                          <p:spTgt spid="25"/>
                                        </p:tgtEl>
                                      </p:cBhvr>
                                    </p:animEffect>
                                  </p:childTnLst>
                                </p:cTn>
                              </p:par>
                              <p:par>
                                <p:cTn id="43" presetID="10"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600"/>
                                        <p:tgtEl>
                                          <p:spTgt spid="26"/>
                                        </p:tgtEl>
                                      </p:cBhvr>
                                    </p:animEffect>
                                  </p:childTnLst>
                                </p:cTn>
                              </p:par>
                              <p:par>
                                <p:cTn id="46" presetID="10" presetClass="entr" presetSubtype="0"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600"/>
                                        <p:tgtEl>
                                          <p:spTgt spid="3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6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600"/>
                                        <p:tgtEl>
                                          <p:spTgt spid="27"/>
                                        </p:tgtEl>
                                      </p:cBhvr>
                                    </p:animEffect>
                                  </p:childTnLst>
                                </p:cTn>
                              </p:par>
                              <p:par>
                                <p:cTn id="59" presetID="10" presetClass="entr" presetSubtype="0" fill="hold" nodeType="withEffect">
                                  <p:stCondLst>
                                    <p:cond delay="60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600"/>
                                        <p:tgtEl>
                                          <p:spTgt spid="28"/>
                                        </p:tgtEl>
                                      </p:cBhvr>
                                    </p:animEffect>
                                  </p:childTnLst>
                                </p:cTn>
                              </p:par>
                              <p:par>
                                <p:cTn id="62" presetID="10" presetClass="entr" presetSubtype="0" fill="hold" nodeType="withEffect">
                                  <p:stCondLst>
                                    <p:cond delay="11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6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600"/>
                                        <p:tgtEl>
                                          <p:spTgt spid="30"/>
                                        </p:tgtEl>
                                      </p:cBhvr>
                                    </p:animEffect>
                                  </p:childTnLst>
                                </p:cTn>
                              </p:par>
                              <p:par>
                                <p:cTn id="70" presetID="10" presetClass="entr" presetSubtype="0" fill="hold"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600"/>
                                        <p:tgtEl>
                                          <p:spTgt spid="31"/>
                                        </p:tgtEl>
                                      </p:cBhvr>
                                    </p:animEffect>
                                  </p:childTnLst>
                                </p:cTn>
                              </p:par>
                              <p:par>
                                <p:cTn id="73" presetID="10" presetClass="entr" presetSubtype="0" fill="hold"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600"/>
                                        <p:tgtEl>
                                          <p:spTgt spid="3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600"/>
                                        <p:tgtEl>
                                          <p:spTgt spid="36"/>
                                        </p:tgtEl>
                                      </p:cBhvr>
                                    </p:animEffect>
                                  </p:childTnLst>
                                </p:cTn>
                              </p:par>
                              <p:par>
                                <p:cTn id="81" presetID="10" presetClass="entr" presetSubtype="0" fill="hold"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2-4 質點的曲線運動（二）加速度</a:t>
            </a:r>
            <a:endParaRPr lang="en-US" sz="2700" dirty="0"/>
          </a:p>
        </p:txBody>
      </p:sp>
      <p:sp>
        <p:nvSpPr>
          <p:cNvPr id="3" name="grid_x0"/>
          <p:cNvSpPr/>
          <p:nvPr/>
        </p:nvSpPr>
        <p:spPr>
          <a:xfrm flipV="1">
            <a:off x="524637" y="1294448"/>
            <a:ext cx="686" cy="3240405"/>
          </a:xfrm>
          <a:prstGeom prst="line">
            <a:avLst/>
          </a:prstGeom>
          <a:noFill/>
          <a:ln w="12700">
            <a:solidFill>
              <a:srgbClr val="DCE6EF"/>
            </a:solidFill>
            <a:prstDash val="solid"/>
          </a:ln>
        </p:spPr>
        <p:txBody>
          <a:bodyPr/>
          <a:lstStyle/>
          <a:p>
            <a:endParaRPr lang="zh-TW" altLang="en-US" sz="1350"/>
          </a:p>
        </p:txBody>
      </p:sp>
      <p:sp>
        <p:nvSpPr>
          <p:cNvPr id="4" name="grid_x1"/>
          <p:cNvSpPr/>
          <p:nvPr/>
        </p:nvSpPr>
        <p:spPr>
          <a:xfrm flipV="1">
            <a:off x="1388745" y="1294448"/>
            <a:ext cx="686" cy="3240405"/>
          </a:xfrm>
          <a:prstGeom prst="line">
            <a:avLst/>
          </a:prstGeom>
          <a:noFill/>
          <a:ln w="12700">
            <a:solidFill>
              <a:srgbClr val="DCE6EF"/>
            </a:solidFill>
            <a:prstDash val="solid"/>
          </a:ln>
        </p:spPr>
        <p:txBody>
          <a:bodyPr/>
          <a:lstStyle/>
          <a:p>
            <a:endParaRPr lang="zh-TW" altLang="en-US" sz="1350"/>
          </a:p>
        </p:txBody>
      </p:sp>
      <p:sp>
        <p:nvSpPr>
          <p:cNvPr id="5" name="grid_x2"/>
          <p:cNvSpPr/>
          <p:nvPr/>
        </p:nvSpPr>
        <p:spPr>
          <a:xfrm flipV="1">
            <a:off x="2252853" y="1294448"/>
            <a:ext cx="686" cy="3240405"/>
          </a:xfrm>
          <a:prstGeom prst="line">
            <a:avLst/>
          </a:prstGeom>
          <a:noFill/>
          <a:ln w="12700">
            <a:solidFill>
              <a:srgbClr val="DCE6EF"/>
            </a:solidFill>
            <a:prstDash val="solid"/>
          </a:ln>
        </p:spPr>
        <p:txBody>
          <a:bodyPr/>
          <a:lstStyle/>
          <a:p>
            <a:endParaRPr lang="zh-TW" altLang="en-US" sz="1350"/>
          </a:p>
        </p:txBody>
      </p:sp>
      <p:sp>
        <p:nvSpPr>
          <p:cNvPr id="6" name="grid_x3"/>
          <p:cNvSpPr/>
          <p:nvPr/>
        </p:nvSpPr>
        <p:spPr>
          <a:xfrm flipV="1">
            <a:off x="3116961" y="1294448"/>
            <a:ext cx="686" cy="3240405"/>
          </a:xfrm>
          <a:prstGeom prst="line">
            <a:avLst/>
          </a:prstGeom>
          <a:noFill/>
          <a:ln w="12700">
            <a:solidFill>
              <a:srgbClr val="DCE6EF"/>
            </a:solidFill>
            <a:prstDash val="solid"/>
          </a:ln>
        </p:spPr>
        <p:txBody>
          <a:bodyPr/>
          <a:lstStyle/>
          <a:p>
            <a:endParaRPr lang="zh-TW" altLang="en-US" sz="1350"/>
          </a:p>
        </p:txBody>
      </p:sp>
      <p:sp>
        <p:nvSpPr>
          <p:cNvPr id="7" name="grid_x4"/>
          <p:cNvSpPr/>
          <p:nvPr/>
        </p:nvSpPr>
        <p:spPr>
          <a:xfrm flipV="1">
            <a:off x="3981069" y="1294448"/>
            <a:ext cx="686" cy="3240405"/>
          </a:xfrm>
          <a:prstGeom prst="line">
            <a:avLst/>
          </a:prstGeom>
          <a:noFill/>
          <a:ln w="12700">
            <a:solidFill>
              <a:srgbClr val="DCE6EF"/>
            </a:solidFill>
            <a:prstDash val="solid"/>
          </a:ln>
        </p:spPr>
        <p:txBody>
          <a:bodyPr/>
          <a:lstStyle/>
          <a:p>
            <a:endParaRPr lang="zh-TW" altLang="en-US" sz="1350"/>
          </a:p>
        </p:txBody>
      </p:sp>
      <p:sp>
        <p:nvSpPr>
          <p:cNvPr id="8" name="grid_y0"/>
          <p:cNvSpPr/>
          <p:nvPr/>
        </p:nvSpPr>
        <p:spPr>
          <a:xfrm>
            <a:off x="308610" y="4318825"/>
            <a:ext cx="4320540" cy="686"/>
          </a:xfrm>
          <a:prstGeom prst="line">
            <a:avLst/>
          </a:prstGeom>
          <a:noFill/>
          <a:ln w="12700">
            <a:solidFill>
              <a:srgbClr val="DCE6EF"/>
            </a:solidFill>
            <a:prstDash val="solid"/>
          </a:ln>
        </p:spPr>
        <p:txBody>
          <a:bodyPr/>
          <a:lstStyle/>
          <a:p>
            <a:endParaRPr lang="zh-TW" altLang="en-US" sz="1350"/>
          </a:p>
        </p:txBody>
      </p:sp>
      <p:sp>
        <p:nvSpPr>
          <p:cNvPr id="9" name="grid_y1"/>
          <p:cNvSpPr/>
          <p:nvPr/>
        </p:nvSpPr>
        <p:spPr>
          <a:xfrm>
            <a:off x="308610" y="3454717"/>
            <a:ext cx="4320540" cy="686"/>
          </a:xfrm>
          <a:prstGeom prst="line">
            <a:avLst/>
          </a:prstGeom>
          <a:noFill/>
          <a:ln w="12700">
            <a:solidFill>
              <a:srgbClr val="DCE6EF"/>
            </a:solidFill>
            <a:prstDash val="solid"/>
          </a:ln>
        </p:spPr>
        <p:txBody>
          <a:bodyPr/>
          <a:lstStyle/>
          <a:p>
            <a:endParaRPr lang="zh-TW" altLang="en-US" sz="1350"/>
          </a:p>
        </p:txBody>
      </p:sp>
      <p:sp>
        <p:nvSpPr>
          <p:cNvPr id="10" name="grid_y2"/>
          <p:cNvSpPr/>
          <p:nvPr/>
        </p:nvSpPr>
        <p:spPr>
          <a:xfrm>
            <a:off x="308610" y="2590609"/>
            <a:ext cx="4320540" cy="686"/>
          </a:xfrm>
          <a:prstGeom prst="line">
            <a:avLst/>
          </a:prstGeom>
          <a:noFill/>
          <a:ln w="12700">
            <a:solidFill>
              <a:srgbClr val="DCE6EF"/>
            </a:solidFill>
            <a:prstDash val="solid"/>
          </a:ln>
        </p:spPr>
        <p:txBody>
          <a:bodyPr/>
          <a:lstStyle/>
          <a:p>
            <a:endParaRPr lang="zh-TW" altLang="en-US" sz="1350"/>
          </a:p>
        </p:txBody>
      </p:sp>
      <p:sp>
        <p:nvSpPr>
          <p:cNvPr id="11" name="grid_y3"/>
          <p:cNvSpPr/>
          <p:nvPr/>
        </p:nvSpPr>
        <p:spPr>
          <a:xfrm>
            <a:off x="308610" y="1726501"/>
            <a:ext cx="4320540" cy="686"/>
          </a:xfrm>
          <a:prstGeom prst="line">
            <a:avLst/>
          </a:prstGeom>
          <a:noFill/>
          <a:ln w="12700">
            <a:solidFill>
              <a:srgbClr val="DCE6EF"/>
            </a:solidFill>
            <a:prstDash val="solid"/>
          </a:ln>
        </p:spPr>
        <p:txBody>
          <a:bodyPr/>
          <a:lstStyle/>
          <a:p>
            <a:endParaRPr lang="zh-TW" altLang="en-US" sz="1350"/>
          </a:p>
        </p:txBody>
      </p:sp>
      <p:sp>
        <p:nvSpPr>
          <p:cNvPr id="12" name="path"/>
          <p:cNvSpPr/>
          <p:nvPr/>
        </p:nvSpPr>
        <p:spPr>
          <a:xfrm>
            <a:off x="1388745" y="1530652"/>
            <a:ext cx="3169980" cy="2356120"/>
          </a:xfrm>
          <a:custGeom>
            <a:avLst/>
            <a:gdLst/>
            <a:ahLst/>
            <a:cxnLst/>
            <a:rect l="l" t="t" r="r" b="b"/>
            <a:pathLst>
              <a:path w="4226640" h="3141493">
                <a:moveTo>
                  <a:pt x="0" y="3141493"/>
                </a:moveTo>
                <a:lnTo>
                  <a:pt x="79165" y="3131081"/>
                </a:lnTo>
                <a:lnTo>
                  <a:pt x="157663" y="3119725"/>
                </a:lnTo>
                <a:lnTo>
                  <a:pt x="235494" y="3107433"/>
                </a:lnTo>
                <a:lnTo>
                  <a:pt x="312659" y="3094214"/>
                </a:lnTo>
                <a:lnTo>
                  <a:pt x="389157" y="3080074"/>
                </a:lnTo>
                <a:lnTo>
                  <a:pt x="464988" y="3065024"/>
                </a:lnTo>
                <a:lnTo>
                  <a:pt x="540153" y="3049070"/>
                </a:lnTo>
                <a:lnTo>
                  <a:pt x="614652" y="3032222"/>
                </a:lnTo>
                <a:lnTo>
                  <a:pt x="688483" y="3014487"/>
                </a:lnTo>
                <a:lnTo>
                  <a:pt x="761648" y="2995874"/>
                </a:lnTo>
                <a:lnTo>
                  <a:pt x="834147" y="2976391"/>
                </a:lnTo>
                <a:lnTo>
                  <a:pt x="905978" y="2956045"/>
                </a:lnTo>
                <a:lnTo>
                  <a:pt x="977143" y="2934846"/>
                </a:lnTo>
                <a:lnTo>
                  <a:pt x="1047642" y="2912801"/>
                </a:lnTo>
                <a:lnTo>
                  <a:pt x="1117474" y="2889919"/>
                </a:lnTo>
                <a:lnTo>
                  <a:pt x="1186639" y="2866208"/>
                </a:lnTo>
                <a:lnTo>
                  <a:pt x="1255138" y="2841676"/>
                </a:lnTo>
                <a:lnTo>
                  <a:pt x="1322970" y="2816331"/>
                </a:lnTo>
                <a:lnTo>
                  <a:pt x="1390135" y="2790182"/>
                </a:lnTo>
                <a:lnTo>
                  <a:pt x="1456634" y="2763236"/>
                </a:lnTo>
                <a:lnTo>
                  <a:pt x="1522466" y="2735503"/>
                </a:lnTo>
                <a:lnTo>
                  <a:pt x="1587632" y="2706990"/>
                </a:lnTo>
                <a:lnTo>
                  <a:pt x="1652131" y="2677705"/>
                </a:lnTo>
                <a:lnTo>
                  <a:pt x="1715963" y="2647656"/>
                </a:lnTo>
                <a:lnTo>
                  <a:pt x="1779129" y="2616853"/>
                </a:lnTo>
                <a:lnTo>
                  <a:pt x="1841628" y="2585302"/>
                </a:lnTo>
                <a:lnTo>
                  <a:pt x="1903460" y="2553013"/>
                </a:lnTo>
                <a:lnTo>
                  <a:pt x="1964626" y="2519993"/>
                </a:lnTo>
                <a:lnTo>
                  <a:pt x="2025125" y="2486251"/>
                </a:lnTo>
                <a:lnTo>
                  <a:pt x="2084958" y="2451794"/>
                </a:lnTo>
                <a:lnTo>
                  <a:pt x="2144124" y="2416632"/>
                </a:lnTo>
                <a:lnTo>
                  <a:pt x="2202623" y="2380772"/>
                </a:lnTo>
                <a:lnTo>
                  <a:pt x="2260455" y="2344223"/>
                </a:lnTo>
                <a:lnTo>
                  <a:pt x="2317622" y="2306992"/>
                </a:lnTo>
                <a:lnTo>
                  <a:pt x="2374121" y="2269089"/>
                </a:lnTo>
                <a:lnTo>
                  <a:pt x="2429954" y="2230520"/>
                </a:lnTo>
                <a:lnTo>
                  <a:pt x="2485120" y="2191295"/>
                </a:lnTo>
                <a:lnTo>
                  <a:pt x="2539620" y="2151421"/>
                </a:lnTo>
                <a:lnTo>
                  <a:pt x="2593452" y="2110908"/>
                </a:lnTo>
                <a:lnTo>
                  <a:pt x="2646619" y="2069762"/>
                </a:lnTo>
                <a:lnTo>
                  <a:pt x="2699118" y="2027992"/>
                </a:lnTo>
                <a:lnTo>
                  <a:pt x="2750952" y="1985607"/>
                </a:lnTo>
                <a:lnTo>
                  <a:pt x="2802118" y="1942615"/>
                </a:lnTo>
                <a:lnTo>
                  <a:pt x="2852618" y="1899023"/>
                </a:lnTo>
                <a:lnTo>
                  <a:pt x="2902451" y="1854841"/>
                </a:lnTo>
                <a:lnTo>
                  <a:pt x="2951618" y="1810076"/>
                </a:lnTo>
                <a:lnTo>
                  <a:pt x="3000118" y="1764736"/>
                </a:lnTo>
                <a:lnTo>
                  <a:pt x="3047951" y="1718830"/>
                </a:lnTo>
                <a:lnTo>
                  <a:pt x="3095118" y="1672366"/>
                </a:lnTo>
                <a:lnTo>
                  <a:pt x="3141618" y="1625352"/>
                </a:lnTo>
                <a:lnTo>
                  <a:pt x="3187451" y="1577797"/>
                </a:lnTo>
                <a:lnTo>
                  <a:pt x="3232618" y="1529708"/>
                </a:lnTo>
                <a:lnTo>
                  <a:pt x="3277118" y="1481094"/>
                </a:lnTo>
                <a:lnTo>
                  <a:pt x="3320952" y="1431963"/>
                </a:lnTo>
                <a:lnTo>
                  <a:pt x="3364119" y="1382323"/>
                </a:lnTo>
                <a:lnTo>
                  <a:pt x="3406619" y="1332183"/>
                </a:lnTo>
                <a:lnTo>
                  <a:pt x="3448453" y="1281550"/>
                </a:lnTo>
                <a:lnTo>
                  <a:pt x="3489620" y="1230433"/>
                </a:lnTo>
                <a:lnTo>
                  <a:pt x="3530120" y="1178840"/>
                </a:lnTo>
                <a:lnTo>
                  <a:pt x="3569954" y="1126780"/>
                </a:lnTo>
                <a:lnTo>
                  <a:pt x="3609121" y="1074260"/>
                </a:lnTo>
                <a:lnTo>
                  <a:pt x="3647622" y="1021288"/>
                </a:lnTo>
                <a:lnTo>
                  <a:pt x="3685456" y="967874"/>
                </a:lnTo>
                <a:lnTo>
                  <a:pt x="3722623" y="914025"/>
                </a:lnTo>
                <a:lnTo>
                  <a:pt x="3759124" y="859749"/>
                </a:lnTo>
                <a:lnTo>
                  <a:pt x="3794958" y="805055"/>
                </a:lnTo>
                <a:lnTo>
                  <a:pt x="3830126" y="749950"/>
                </a:lnTo>
                <a:lnTo>
                  <a:pt x="3864627" y="694444"/>
                </a:lnTo>
                <a:lnTo>
                  <a:pt x="3898461" y="638544"/>
                </a:lnTo>
                <a:lnTo>
                  <a:pt x="3931628" y="582258"/>
                </a:lnTo>
                <a:lnTo>
                  <a:pt x="3964129" y="525594"/>
                </a:lnTo>
                <a:lnTo>
                  <a:pt x="3995964" y="468562"/>
                </a:lnTo>
                <a:lnTo>
                  <a:pt x="4027131" y="411169"/>
                </a:lnTo>
                <a:lnTo>
                  <a:pt x="4057633" y="353423"/>
                </a:lnTo>
                <a:lnTo>
                  <a:pt x="4087467" y="295332"/>
                </a:lnTo>
                <a:lnTo>
                  <a:pt x="4116635" y="236906"/>
                </a:lnTo>
                <a:lnTo>
                  <a:pt x="4145136" y="178151"/>
                </a:lnTo>
                <a:lnTo>
                  <a:pt x="4172971" y="119076"/>
                </a:lnTo>
                <a:lnTo>
                  <a:pt x="4200139" y="59690"/>
                </a:lnTo>
                <a:lnTo>
                  <a:pt x="4226640"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13" name="O_dot"/>
          <p:cNvSpPr/>
          <p:nvPr/>
        </p:nvSpPr>
        <p:spPr>
          <a:xfrm>
            <a:off x="469773" y="4263962"/>
            <a:ext cx="109728" cy="109728"/>
          </a:xfrm>
          <a:prstGeom prst="ellipse">
            <a:avLst/>
          </a:prstGeom>
          <a:solidFill>
            <a:srgbClr val="1B2838"/>
          </a:solidFill>
          <a:ln w="12700">
            <a:solidFill>
              <a:srgbClr val="1B2838"/>
            </a:solidFill>
            <a:prstDash val="solid"/>
          </a:ln>
        </p:spPr>
        <p:txBody>
          <a:bodyPr/>
          <a:lstStyle/>
          <a:p>
            <a:endParaRPr lang="zh-TW" altLang="en-US" sz="1350"/>
          </a:p>
        </p:txBody>
      </p:sp>
      <p:sp>
        <p:nvSpPr>
          <p:cNvPr id="14" name="O_lab"/>
          <p:cNvSpPr txBox="1"/>
          <p:nvPr/>
        </p:nvSpPr>
        <p:spPr>
          <a:xfrm>
            <a:off x="181737" y="4181666"/>
            <a:ext cx="274320" cy="308610"/>
          </a:xfrm>
          <a:prstGeom prst="rect">
            <a:avLst/>
          </a:prstGeom>
          <a:noFill/>
          <a:ln/>
        </p:spPr>
        <p:txBody>
          <a:bodyPr wrap="square" lIns="191" tIns="191" rIns="191" bIns="191" rtlCol="0" anchor="ctr"/>
          <a:lstStyle/>
          <a:p>
            <a:pPr algn="r"/>
            <a:r>
              <a:rPr lang="en-US" b="1" i="1" dirty="0">
                <a:solidFill>
                  <a:srgbClr val="1B2838"/>
                </a:solidFill>
                <a:latin typeface="Times New Roman" pitchFamily="34" charset="0"/>
                <a:ea typeface="Times New Roman" pitchFamily="34" charset="-122"/>
                <a:cs typeface="Times New Roman" pitchFamily="34" charset="-120"/>
              </a:rPr>
              <a:t>O</a:t>
            </a:r>
            <a:endParaRPr lang="en-US" dirty="0"/>
          </a:p>
        </p:txBody>
      </p:sp>
      <p:sp>
        <p:nvSpPr>
          <p:cNvPr id="15" name="s2_r"/>
          <p:cNvSpPr/>
          <p:nvPr/>
        </p:nvSpPr>
        <p:spPr>
          <a:xfrm flipV="1">
            <a:off x="524637" y="3585025"/>
            <a:ext cx="1999546" cy="733801"/>
          </a:xfrm>
          <a:prstGeom prst="line">
            <a:avLst/>
          </a:prstGeom>
          <a:noFill/>
          <a:ln w="19050">
            <a:solidFill>
              <a:srgbClr val="7A9FE6"/>
            </a:solidFill>
            <a:prstDash val="solid"/>
            <a:tailEnd type="triangle"/>
          </a:ln>
        </p:spPr>
        <p:txBody>
          <a:bodyPr/>
          <a:lstStyle/>
          <a:p>
            <a:endParaRPr lang="zh-TW" altLang="en-US" sz="1350"/>
          </a:p>
        </p:txBody>
      </p:sp>
      <p:sp>
        <p:nvSpPr>
          <p:cNvPr id="16" name="s2_r2"/>
          <p:cNvSpPr/>
          <p:nvPr/>
        </p:nvSpPr>
        <p:spPr>
          <a:xfrm flipV="1">
            <a:off x="524637" y="2542911"/>
            <a:ext cx="3408042" cy="1775915"/>
          </a:xfrm>
          <a:prstGeom prst="line">
            <a:avLst/>
          </a:prstGeom>
          <a:noFill/>
          <a:ln w="19050">
            <a:solidFill>
              <a:srgbClr val="7A9FE6"/>
            </a:solidFill>
            <a:prstDash val="solid"/>
            <a:tailEnd type="triangle"/>
          </a:ln>
        </p:spPr>
        <p:txBody>
          <a:bodyPr/>
          <a:lstStyle/>
          <a:p>
            <a:endParaRPr lang="zh-TW" altLang="en-US" sz="1350"/>
          </a:p>
        </p:txBody>
      </p:sp>
      <p:sp>
        <p:nvSpPr>
          <p:cNvPr id="17" name="s2_P"/>
          <p:cNvSpPr/>
          <p:nvPr/>
        </p:nvSpPr>
        <p:spPr>
          <a:xfrm>
            <a:off x="2476177" y="3537019"/>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8" name="s2_Q"/>
          <p:cNvSpPr/>
          <p:nvPr/>
        </p:nvSpPr>
        <p:spPr>
          <a:xfrm>
            <a:off x="3884673" y="2494905"/>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9" name="s2_Plab"/>
          <p:cNvSpPr txBox="1"/>
          <p:nvPr/>
        </p:nvSpPr>
        <p:spPr>
          <a:xfrm>
            <a:off x="2537899" y="3653605"/>
            <a:ext cx="274320" cy="308610"/>
          </a:xfrm>
          <a:prstGeom prst="rect">
            <a:avLst/>
          </a:prstGeom>
          <a:noFill/>
          <a:ln/>
        </p:spPr>
        <p:txBody>
          <a:bodyPr wrap="square" lIns="191" tIns="191" rIns="191" bIns="191" rtlCol="0" anchor="ctr"/>
          <a:lstStyle/>
          <a:p>
            <a:r>
              <a:rPr lang="en-US" b="1" i="1" dirty="0">
                <a:solidFill>
                  <a:srgbClr val="1B2838"/>
                </a:solidFill>
                <a:latin typeface="Times New Roman" pitchFamily="34" charset="0"/>
                <a:ea typeface="Times New Roman" pitchFamily="34" charset="-122"/>
                <a:cs typeface="Times New Roman" pitchFamily="34" charset="-120"/>
              </a:rPr>
              <a:t>P</a:t>
            </a:r>
            <a:endParaRPr lang="en-US" dirty="0"/>
          </a:p>
        </p:txBody>
      </p:sp>
      <p:sp>
        <p:nvSpPr>
          <p:cNvPr id="20" name="s2_Qlab"/>
          <p:cNvSpPr txBox="1"/>
          <p:nvPr/>
        </p:nvSpPr>
        <p:spPr>
          <a:xfrm>
            <a:off x="4014975" y="2508621"/>
            <a:ext cx="342900" cy="308610"/>
          </a:xfrm>
          <a:prstGeom prst="rect">
            <a:avLst/>
          </a:prstGeom>
          <a:noFill/>
          <a:ln/>
        </p:spPr>
        <p:txBody>
          <a:bodyPr wrap="square" lIns="191" tIns="191" rIns="191" bIns="191" rtlCol="0" anchor="ctr"/>
          <a:lstStyle/>
          <a:p>
            <a:r>
              <a:rPr lang="en-US" b="1" i="1" dirty="0">
                <a:solidFill>
                  <a:srgbClr val="1B2838"/>
                </a:solidFill>
                <a:latin typeface="Times New Roman" pitchFamily="34" charset="0"/>
                <a:ea typeface="Times New Roman" pitchFamily="34" charset="-122"/>
                <a:cs typeface="Times New Roman" pitchFamily="34" charset="-120"/>
              </a:rPr>
              <a:t>P′</a:t>
            </a:r>
            <a:endParaRPr lang="en-US" dirty="0"/>
          </a:p>
        </p:txBody>
      </p:sp>
      <p:sp>
        <p:nvSpPr>
          <p:cNvPr id="21" name="s2_v"/>
          <p:cNvSpPr/>
          <p:nvPr/>
        </p:nvSpPr>
        <p:spPr>
          <a:xfrm flipV="1">
            <a:off x="2524183" y="3073301"/>
            <a:ext cx="1197654" cy="511725"/>
          </a:xfrm>
          <a:prstGeom prst="line">
            <a:avLst/>
          </a:prstGeom>
          <a:noFill/>
          <a:ln w="44450">
            <a:solidFill>
              <a:srgbClr val="138A52"/>
            </a:solidFill>
            <a:prstDash val="solid"/>
            <a:tailEnd type="triangle"/>
          </a:ln>
        </p:spPr>
        <p:txBody>
          <a:bodyPr/>
          <a:lstStyle/>
          <a:p>
            <a:endParaRPr lang="zh-TW" altLang="en-US" sz="1350"/>
          </a:p>
        </p:txBody>
      </p:sp>
      <p:sp>
        <p:nvSpPr>
          <p:cNvPr id="22" name="s2_v2"/>
          <p:cNvSpPr/>
          <p:nvPr/>
        </p:nvSpPr>
        <p:spPr>
          <a:xfrm flipV="1">
            <a:off x="3932679" y="1625920"/>
            <a:ext cx="774241" cy="916991"/>
          </a:xfrm>
          <a:prstGeom prst="line">
            <a:avLst/>
          </a:prstGeom>
          <a:noFill/>
          <a:ln w="44450">
            <a:solidFill>
              <a:srgbClr val="62BF8E"/>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23" name="LB2_v"/>
              <p:cNvSpPr txBox="1"/>
              <p:nvPr/>
            </p:nvSpPr>
            <p:spPr>
              <a:xfrm>
                <a:off x="3735553" y="3004721"/>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23" name="LB2_v"/>
              <p:cNvSpPr txBox="1">
                <a:spLocks noRot="1" noChangeAspect="1" noMove="1" noResize="1" noEditPoints="1" noAdjustHandles="1" noChangeArrowheads="1" noChangeShapeType="1" noTextEdit="1"/>
              </p:cNvSpPr>
              <p:nvPr/>
            </p:nvSpPr>
            <p:spPr>
              <a:xfrm>
                <a:off x="3735553" y="3004721"/>
                <a:ext cx="308610" cy="342900"/>
              </a:xfrm>
              <a:prstGeom prst="rect">
                <a:avLst/>
              </a:prstGeom>
              <a:blipFill>
                <a:blip r:embed="rId3"/>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LB2_v2"/>
              <p:cNvSpPr txBox="1"/>
              <p:nvPr/>
            </p:nvSpPr>
            <p:spPr>
              <a:xfrm>
                <a:off x="4295440" y="1420179"/>
                <a:ext cx="34290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r>
                            <a:rPr lang="en-US" sz="1950" i="1">
                              <a:solidFill>
                                <a:srgbClr val="138A52"/>
                              </a:solidFill>
                              <a:latin typeface="Cambria Math" panose="02040503050406030204" pitchFamily="18" charset="0"/>
                              <a:ea typeface="Microsoft JhengHei"/>
                            </a:rPr>
                            <m:t>′</m:t>
                          </m:r>
                        </m:e>
                      </m:acc>
                    </m:oMath>
                  </m:oMathPara>
                </a14:m>
                <a:endParaRPr lang="zh-TW" altLang="en-US"/>
              </a:p>
            </p:txBody>
          </p:sp>
        </mc:Choice>
        <mc:Fallback xmlns="">
          <p:sp>
            <p:nvSpPr>
              <p:cNvPr id="24" name="LB2_v2"/>
              <p:cNvSpPr txBox="1">
                <a:spLocks noRot="1" noChangeAspect="1" noMove="1" noResize="1" noEditPoints="1" noAdjustHandles="1" noChangeArrowheads="1" noChangeShapeType="1" noTextEdit="1"/>
              </p:cNvSpPr>
              <p:nvPr/>
            </p:nvSpPr>
            <p:spPr>
              <a:xfrm>
                <a:off x="4295440" y="1420179"/>
                <a:ext cx="342900" cy="342900"/>
              </a:xfrm>
              <a:prstGeom prst="rect">
                <a:avLst/>
              </a:prstGeom>
              <a:blipFill>
                <a:blip r:embed="rId4"/>
                <a:stretch>
                  <a:fillRect l="-7143" t="-1786" r="-8929"/>
                </a:stretch>
              </a:blipFill>
              <a:ln/>
            </p:spPr>
            <p:txBody>
              <a:bodyPr/>
              <a:lstStyle/>
              <a:p>
                <a:r>
                  <a:rPr lang="zh-TW" altLang="en-US">
                    <a:noFill/>
                  </a:rPr>
                  <a:t> </a:t>
                </a:r>
              </a:p>
            </p:txBody>
          </p:sp>
        </mc:Fallback>
      </mc:AlternateContent>
      <p:sp>
        <p:nvSpPr>
          <p:cNvPr id="25" name="s2_tv"/>
          <p:cNvSpPr/>
          <p:nvPr/>
        </p:nvSpPr>
        <p:spPr>
          <a:xfrm flipV="1">
            <a:off x="3160166" y="3936717"/>
            <a:ext cx="1197654" cy="511725"/>
          </a:xfrm>
          <a:prstGeom prst="line">
            <a:avLst/>
          </a:prstGeom>
          <a:noFill/>
          <a:ln w="38100">
            <a:solidFill>
              <a:srgbClr val="138A52"/>
            </a:solidFill>
            <a:prstDash val="solid"/>
            <a:tailEnd type="triangle"/>
          </a:ln>
        </p:spPr>
        <p:txBody>
          <a:bodyPr/>
          <a:lstStyle/>
          <a:p>
            <a:endParaRPr lang="zh-TW" altLang="en-US" sz="1350"/>
          </a:p>
        </p:txBody>
      </p:sp>
      <p:sp>
        <p:nvSpPr>
          <p:cNvPr id="26" name="s2_tv2"/>
          <p:cNvSpPr/>
          <p:nvPr/>
        </p:nvSpPr>
        <p:spPr>
          <a:xfrm flipV="1">
            <a:off x="3160167" y="3531451"/>
            <a:ext cx="774241" cy="916991"/>
          </a:xfrm>
          <a:prstGeom prst="line">
            <a:avLst/>
          </a:prstGeom>
          <a:noFill/>
          <a:ln w="38100">
            <a:solidFill>
              <a:srgbClr val="62BF8E"/>
            </a:solidFill>
            <a:prstDash val="solid"/>
            <a:tailEnd type="triangle"/>
          </a:ln>
        </p:spPr>
        <p:txBody>
          <a:bodyPr/>
          <a:lstStyle/>
          <a:p>
            <a:endParaRPr lang="zh-TW" altLang="en-US" sz="1350"/>
          </a:p>
        </p:txBody>
      </p:sp>
      <p:sp>
        <p:nvSpPr>
          <p:cNvPr id="27" name="s2_tdv"/>
          <p:cNvSpPr/>
          <p:nvPr/>
        </p:nvSpPr>
        <p:spPr>
          <a:xfrm flipH="1" flipV="1">
            <a:off x="3934408" y="3531450"/>
            <a:ext cx="423413" cy="405267"/>
          </a:xfrm>
          <a:prstGeom prst="line">
            <a:avLst/>
          </a:prstGeom>
          <a:noFill/>
          <a:ln w="44450">
            <a:solidFill>
              <a:srgbClr val="D1233A"/>
            </a:solidFill>
            <a:prstDash val="solid"/>
            <a:tailEnd type="triangle"/>
          </a:ln>
        </p:spPr>
        <p:txBody>
          <a:bodyPr/>
          <a:lstStyle/>
          <a:p>
            <a:endParaRPr lang="zh-TW" altLang="en-US" sz="1350"/>
          </a:p>
        </p:txBody>
      </p:sp>
      <p:sp>
        <p:nvSpPr>
          <p:cNvPr id="28" name="s2_tb"/>
          <p:cNvSpPr/>
          <p:nvPr/>
        </p:nvSpPr>
        <p:spPr>
          <a:xfrm>
            <a:off x="3119018" y="4407294"/>
            <a:ext cx="82296" cy="82296"/>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9" name="LB2_tv"/>
              <p:cNvSpPr txBox="1"/>
              <p:nvPr/>
            </p:nvSpPr>
            <p:spPr>
              <a:xfrm>
                <a:off x="3793283" y="4206296"/>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29" name="LB2_tv"/>
              <p:cNvSpPr txBox="1">
                <a:spLocks noRot="1" noChangeAspect="1" noMove="1" noResize="1" noEditPoints="1" noAdjustHandles="1" noChangeArrowheads="1" noChangeShapeType="1" noTextEdit="1"/>
              </p:cNvSpPr>
              <p:nvPr/>
            </p:nvSpPr>
            <p:spPr>
              <a:xfrm>
                <a:off x="3793283" y="4206296"/>
                <a:ext cx="308610" cy="342900"/>
              </a:xfrm>
              <a:prstGeom prst="rect">
                <a:avLst/>
              </a:prstGeom>
              <a:blipFill>
                <a:blip r:embed="rId5"/>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LB2_tv2"/>
              <p:cNvSpPr txBox="1"/>
              <p:nvPr/>
            </p:nvSpPr>
            <p:spPr>
              <a:xfrm>
                <a:off x="3170097" y="3681336"/>
                <a:ext cx="34290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r>
                            <a:rPr lang="en-US" sz="1950" i="1">
                              <a:solidFill>
                                <a:srgbClr val="138A52"/>
                              </a:solidFill>
                              <a:latin typeface="Cambria Math" panose="02040503050406030204" pitchFamily="18" charset="0"/>
                              <a:ea typeface="Microsoft JhengHei"/>
                            </a:rPr>
                            <m:t>′</m:t>
                          </m:r>
                        </m:e>
                      </m:acc>
                    </m:oMath>
                  </m:oMathPara>
                </a14:m>
                <a:endParaRPr lang="zh-TW" altLang="en-US"/>
              </a:p>
            </p:txBody>
          </p:sp>
        </mc:Choice>
        <mc:Fallback xmlns="">
          <p:sp>
            <p:nvSpPr>
              <p:cNvPr id="30" name="LB2_tv2"/>
              <p:cNvSpPr txBox="1">
                <a:spLocks noRot="1" noChangeAspect="1" noMove="1" noResize="1" noEditPoints="1" noAdjustHandles="1" noChangeArrowheads="1" noChangeShapeType="1" noTextEdit="1"/>
              </p:cNvSpPr>
              <p:nvPr/>
            </p:nvSpPr>
            <p:spPr>
              <a:xfrm>
                <a:off x="3170097" y="3681336"/>
                <a:ext cx="342900" cy="342900"/>
              </a:xfrm>
              <a:prstGeom prst="rect">
                <a:avLst/>
              </a:prstGeom>
              <a:blipFill>
                <a:blip r:embed="rId6"/>
                <a:stretch>
                  <a:fillRect l="-7143" t="-1786" r="-8929"/>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LB2_tdv"/>
              <p:cNvSpPr txBox="1"/>
              <p:nvPr/>
            </p:nvSpPr>
            <p:spPr>
              <a:xfrm>
                <a:off x="4214694" y="3494054"/>
                <a:ext cx="44577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oMath>
                  </m:oMathPara>
                </a14:m>
                <a:endParaRPr lang="zh-TW" altLang="en-US"/>
              </a:p>
            </p:txBody>
          </p:sp>
        </mc:Choice>
        <mc:Fallback xmlns="">
          <p:sp>
            <p:nvSpPr>
              <p:cNvPr id="31" name="LB2_tdv"/>
              <p:cNvSpPr txBox="1">
                <a:spLocks noRot="1" noChangeAspect="1" noMove="1" noResize="1" noEditPoints="1" noAdjustHandles="1" noChangeArrowheads="1" noChangeShapeType="1" noTextEdit="1"/>
              </p:cNvSpPr>
              <p:nvPr/>
            </p:nvSpPr>
            <p:spPr>
              <a:xfrm>
                <a:off x="4214694" y="3494054"/>
                <a:ext cx="445770" cy="342900"/>
              </a:xfrm>
              <a:prstGeom prst="rect">
                <a:avLst/>
              </a:prstGeom>
              <a:blipFill>
                <a:blip r:embed="rId7"/>
                <a:stretch>
                  <a:fillRect l="-1351"/>
                </a:stretch>
              </a:blipFill>
              <a:ln/>
            </p:spPr>
            <p:txBody>
              <a:bodyPr/>
              <a:lstStyle/>
              <a:p>
                <a:r>
                  <a:rPr lang="zh-TW" altLang="en-US">
                    <a:noFill/>
                  </a:rPr>
                  <a:t> </a:t>
                </a:r>
              </a:p>
            </p:txBody>
          </p:sp>
        </mc:Fallback>
      </mc:AlternateContent>
      <p:sp>
        <p:nvSpPr>
          <p:cNvPr id="32" name="s2_tlab"/>
          <p:cNvSpPr txBox="1"/>
          <p:nvPr/>
        </p:nvSpPr>
        <p:spPr>
          <a:xfrm>
            <a:off x="1960016" y="4174122"/>
            <a:ext cx="1165860" cy="308610"/>
          </a:xfrm>
          <a:prstGeom prst="rect">
            <a:avLst/>
          </a:prstGeom>
          <a:noFill/>
          <a:ln/>
        </p:spPr>
        <p:txBody>
          <a:bodyPr wrap="square" lIns="191" tIns="191" rIns="191" bIns="191" rtlCol="0" anchor="ctr"/>
          <a:lstStyle/>
          <a:p>
            <a:pPr algn="r"/>
            <a:r>
              <a:rPr lang="en-US" b="1" dirty="0">
                <a:solidFill>
                  <a:srgbClr val="5B6B7E"/>
                </a:solidFill>
                <a:latin typeface="Microsoft JhengHei" pitchFamily="34" charset="0"/>
                <a:ea typeface="Microsoft JhengHei" pitchFamily="34" charset="-122"/>
                <a:cs typeface="Microsoft JhengHei" pitchFamily="34" charset="-120"/>
              </a:rPr>
              <a:t>速度三角形</a:t>
            </a:r>
            <a:endParaRPr lang="en-US" dirty="0"/>
          </a:p>
        </p:txBody>
      </p:sp>
      <p:sp>
        <p:nvSpPr>
          <p:cNvPr id="33" name="s2_tan"/>
          <p:cNvSpPr/>
          <p:nvPr/>
        </p:nvSpPr>
        <p:spPr>
          <a:xfrm flipV="1">
            <a:off x="1252801" y="2804137"/>
            <a:ext cx="3098993" cy="1324115"/>
          </a:xfrm>
          <a:prstGeom prst="line">
            <a:avLst/>
          </a:prstGeom>
          <a:noFill/>
          <a:ln w="22225">
            <a:solidFill>
              <a:srgbClr val="8C9AAB"/>
            </a:solidFill>
            <a:prstDash val="sysDot"/>
          </a:ln>
        </p:spPr>
        <p:txBody>
          <a:bodyPr/>
          <a:lstStyle/>
          <a:p>
            <a:endParaRPr lang="zh-TW" altLang="en-US" sz="1350"/>
          </a:p>
        </p:txBody>
      </p:sp>
      <p:sp>
        <p:nvSpPr>
          <p:cNvPr id="34" name="s2_a"/>
          <p:cNvSpPr/>
          <p:nvPr/>
        </p:nvSpPr>
        <p:spPr>
          <a:xfrm flipH="1" flipV="1">
            <a:off x="1798332" y="2734743"/>
            <a:ext cx="725851" cy="850283"/>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5" name="LB2_a"/>
              <p:cNvSpPr txBox="1"/>
              <p:nvPr/>
            </p:nvSpPr>
            <p:spPr>
              <a:xfrm>
                <a:off x="1661172" y="2323263"/>
                <a:ext cx="308610" cy="342900"/>
              </a:xfrm>
              <a:prstGeom prst="rect">
                <a:avLst/>
              </a:prstGeom>
              <a:noFill/>
              <a:ln/>
            </p:spPr>
            <p:txBody>
              <a:bodyPr wrap="square" lIns="381" tIns="381" rIns="381" bIns="381" rtlCol="0" anchor="t"/>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35" name="LB2_a"/>
              <p:cNvSpPr txBox="1">
                <a:spLocks noRot="1" noChangeAspect="1" noMove="1" noResize="1" noEditPoints="1" noAdjustHandles="1" noChangeArrowheads="1" noChangeShapeType="1" noTextEdit="1"/>
              </p:cNvSpPr>
              <p:nvPr/>
            </p:nvSpPr>
            <p:spPr>
              <a:xfrm>
                <a:off x="1661172" y="2323263"/>
                <a:ext cx="308610" cy="342900"/>
              </a:xfrm>
              <a:prstGeom prst="rect">
                <a:avLst/>
              </a:prstGeom>
              <a:blipFill>
                <a:blip r:embed="rId8"/>
                <a:stretch>
                  <a:fillRect/>
                </a:stretch>
              </a:blipFill>
              <a:ln/>
            </p:spPr>
            <p:txBody>
              <a:bodyPr/>
              <a:lstStyle/>
              <a:p>
                <a:r>
                  <a:rPr lang="zh-TW" altLang="en-US">
                    <a:noFill/>
                  </a:rPr>
                  <a:t> </a:t>
                </a:r>
              </a:p>
            </p:txBody>
          </p:sp>
        </mc:Fallback>
      </mc:AlternateContent>
      <p:sp>
        <p:nvSpPr>
          <p:cNvPr id="36" name="s2_call"/>
          <p:cNvSpPr txBox="1"/>
          <p:nvPr/>
        </p:nvSpPr>
        <p:spPr>
          <a:xfrm>
            <a:off x="-87618" y="2597583"/>
            <a:ext cx="1783080" cy="342900"/>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指向彎曲內側</a:t>
            </a:r>
            <a:endParaRPr lang="en-US" dirty="0"/>
          </a:p>
        </p:txBody>
      </p:sp>
      <mc:AlternateContent xmlns:mc="http://schemas.openxmlformats.org/markup-compatibility/2006" xmlns:a14="http://schemas.microsoft.com/office/drawing/2010/main">
        <mc:Choice Requires="a14">
          <p:sp>
            <p:nvSpPr>
              <p:cNvPr id="37" name="EQ2_1"/>
              <p:cNvSpPr txBox="1"/>
              <p:nvPr/>
            </p:nvSpPr>
            <p:spPr>
              <a:xfrm>
                <a:off x="4869180" y="925830"/>
                <a:ext cx="4011930" cy="92583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① 平均加速度：</a:t>
                </a:r>
                <a:endParaRPr lang="zh-TW" altLang="en-US"/>
              </a:p>
              <a:p>
                <a:pPr>
                  <a:lnSpc>
                    <a:spcPct val="105000"/>
                  </a:lnSpc>
                </a:pPr>
                <a14:m>
                  <m:oMath xmlns:m="http://schemas.openxmlformats.org/officeDocument/2006/math">
                    <m:sSub>
                      <m:sSubPr>
                        <m:ctrlPr>
                          <a:rPr lang="en-US" sz="1950" i="1">
                            <a:solidFill>
                              <a:srgbClr val="1B2838"/>
                            </a:solidFill>
                            <a:latin typeface="Cambria Math" panose="02040503050406030204" pitchFamily="18" charset="0"/>
                            <a:ea typeface="Microsoft JhengHei"/>
                          </a:rPr>
                        </m:ctrlPr>
                      </m:sSub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e>
                      <m:sub>
                        <m:r>
                          <a:rPr lang="en-US" sz="1950" i="1">
                            <a:solidFill>
                              <a:srgbClr val="1B2838"/>
                            </a:solidFill>
                            <a:latin typeface="Cambria Math" panose="02040503050406030204" pitchFamily="18" charset="0"/>
                            <a:ea typeface="Microsoft JhengHei"/>
                          </a:rPr>
                          <m:t>𝑎𝑣</m:t>
                        </m:r>
                      </m:sub>
                    </m:sSub>
                    <m:r>
                      <a:rPr lang="en-US" sz="1950">
                        <a:solidFill>
                          <a:srgbClr val="1B2838"/>
                        </a:solidFill>
                        <a:latin typeface="Cambria Math" panose="02040503050406030204" pitchFamily="18" charset="0"/>
                        <a:ea typeface="Microsoft JhengHei"/>
                      </a:rPr>
                      <m:t>=</m:t>
                    </m:r>
                    <m:f>
                      <m:fPr>
                        <m:ctrlPr>
                          <a:rPr lang="en-US" sz="1950" i="1">
                            <a:solidFill>
                              <a:srgbClr val="D1233A"/>
                            </a:solidFill>
                            <a:latin typeface="Cambria Math" panose="02040503050406030204" pitchFamily="18" charset="0"/>
                            <a:ea typeface="Microsoft JhengHei"/>
                          </a:rPr>
                        </m:ctrlPr>
                      </m:fPr>
                      <m:num>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r>
                          <a:rPr lang="en-US" sz="1950" i="1">
                            <a:solidFill>
                              <a:srgbClr val="1B2838"/>
                            </a:solidFill>
                            <a:latin typeface="Cambria Math" panose="02040503050406030204" pitchFamily="18" charset="0"/>
                            <a:ea typeface="Microsoft JhengHei"/>
                          </a:rPr>
                          <m:t>′</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endParaRPr lang="zh-TW" altLang="en-US"/>
              </a:p>
            </p:txBody>
          </p:sp>
        </mc:Choice>
        <mc:Fallback xmlns="">
          <p:sp>
            <p:nvSpPr>
              <p:cNvPr id="37" name="EQ2_1"/>
              <p:cNvSpPr txBox="1">
                <a:spLocks noRot="1" noChangeAspect="1" noMove="1" noResize="1" noEditPoints="1" noAdjustHandles="1" noChangeArrowheads="1" noChangeShapeType="1" noTextEdit="1"/>
              </p:cNvSpPr>
              <p:nvPr/>
            </p:nvSpPr>
            <p:spPr>
              <a:xfrm>
                <a:off x="4869180" y="925830"/>
                <a:ext cx="4011930" cy="925830"/>
              </a:xfrm>
              <a:prstGeom prst="rect">
                <a:avLst/>
              </a:prstGeom>
              <a:blipFill>
                <a:blip r:embed="rId9"/>
                <a:stretch>
                  <a:fillRect l="-3647" t="-9211"/>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EQ2_2"/>
              <p:cNvSpPr txBox="1"/>
              <p:nvPr/>
            </p:nvSpPr>
            <p:spPr>
              <a:xfrm>
                <a:off x="4869180" y="1920240"/>
                <a:ext cx="4011930" cy="68580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② 速度三角形：</a:t>
                </a:r>
                <a:r>
                  <a:rPr lang="zh-TW" altLang="en-US">
                    <a:solidFill>
                      <a:srgbClr val="1B2838"/>
                    </a:solidFill>
                    <a:latin typeface="Microsoft JhengHei"/>
                    <a:ea typeface="Microsoft JhengHei"/>
                  </a:rPr>
                  <a:t>把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r>
                          <a:rPr lang="en-US" sz="1950" i="1">
                            <a:solidFill>
                              <a:srgbClr val="1B2838"/>
                            </a:solidFill>
                            <a:latin typeface="Cambria Math" panose="02040503050406030204" pitchFamily="18" charset="0"/>
                            <a:ea typeface="Microsoft JhengHei"/>
                          </a:rPr>
                          <m:t>′</m:t>
                        </m:r>
                      </m:e>
                    </m:acc>
                  </m:oMath>
                </a14:m>
                <a:endParaRPr lang="zh-TW" altLang="en-US"/>
              </a:p>
              <a:p>
                <a:pPr>
                  <a:lnSpc>
                    <a:spcPct val="105000"/>
                  </a:lnSpc>
                </a:pPr>
                <a:r>
                  <a:rPr lang="zh-TW" altLang="en-US">
                    <a:solidFill>
                      <a:srgbClr val="1B2838"/>
                    </a:solidFill>
                    <a:latin typeface="Microsoft JhengHei"/>
                    <a:ea typeface="Microsoft JhengHei"/>
                  </a:rPr>
                  <a:t>接在同一點，相減得 </a:t>
                </a:r>
                <a14:m>
                  <m:oMath xmlns:m="http://schemas.openxmlformats.org/officeDocument/2006/math">
                    <m:acc>
                      <m:accPr>
                        <m:chr m:val="⃗"/>
                        <m:ctrlPr>
                          <a:rPr lang="en-US" sz="1950">
                            <a:solidFill>
                              <a:srgbClr val="D1233A"/>
                            </a:solidFill>
                            <a:latin typeface="Cambria Math" panose="02040503050406030204" pitchFamily="18" charset="0"/>
                            <a:ea typeface="Microsoft JhengHei"/>
                          </a:rPr>
                        </m:ctrlPr>
                      </m:accPr>
                      <m:e>
                        <m:r>
                          <m:rPr>
                            <m:sty m:val="p"/>
                          </m:rPr>
                          <a:rPr lang="en-US" sz="1950">
                            <a:solidFill>
                              <a:srgbClr val="D1233A"/>
                            </a:solidFill>
                            <a:latin typeface="Cambria Math" panose="02040503050406030204" pitchFamily="18" charset="0"/>
                            <a:ea typeface="Microsoft JhengHei"/>
                          </a:rPr>
                          <m:t>Δ</m:t>
                        </m:r>
                        <m:r>
                          <a:rPr lang="en-US" sz="1950" i="1">
                            <a:solidFill>
                              <a:srgbClr val="D1233A"/>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a:t>
                </a:r>
                <a:endParaRPr lang="zh-TW" altLang="en-US"/>
              </a:p>
            </p:txBody>
          </p:sp>
        </mc:Choice>
        <mc:Fallback xmlns="">
          <p:sp>
            <p:nvSpPr>
              <p:cNvPr id="38" name="EQ2_2"/>
              <p:cNvSpPr txBox="1">
                <a:spLocks noRot="1" noChangeAspect="1" noMove="1" noResize="1" noEditPoints="1" noAdjustHandles="1" noChangeArrowheads="1" noChangeShapeType="1" noTextEdit="1"/>
              </p:cNvSpPr>
              <p:nvPr/>
            </p:nvSpPr>
            <p:spPr>
              <a:xfrm>
                <a:off x="4869180" y="1920240"/>
                <a:ext cx="4011930" cy="685800"/>
              </a:xfrm>
              <a:prstGeom prst="rect">
                <a:avLst/>
              </a:prstGeom>
              <a:blipFill>
                <a:blip r:embed="rId10"/>
                <a:stretch>
                  <a:fillRect l="-3647" t="-7965" b="-7965"/>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EQ2_3"/>
              <p:cNvSpPr txBox="1"/>
              <p:nvPr/>
            </p:nvSpPr>
            <p:spPr>
              <a:xfrm>
                <a:off x="4869180" y="2674620"/>
                <a:ext cx="4011930" cy="157734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③ </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r>
                      <a:rPr lang="en-US" sz="1950">
                        <a:solidFill>
                          <a:srgbClr val="1B2838"/>
                        </a:solidFill>
                        <a:latin typeface="Cambria Math" panose="02040503050406030204" pitchFamily="18" charset="0"/>
                        <a:ea typeface="Microsoft JhengHei"/>
                      </a:rPr>
                      <m:t>→0</m:t>
                    </m:r>
                  </m:oMath>
                </a14:m>
                <a:r>
                  <a:rPr lang="zh-TW" altLang="en-US" b="1">
                    <a:solidFill>
                      <a:srgbClr val="1B2838"/>
                    </a:solidFill>
                    <a:latin typeface="Microsoft JhengHei"/>
                    <a:ea typeface="Microsoft JhengHei"/>
                  </a:rPr>
                  <a:t>：瞬時加速度</a:t>
                </a:r>
                <a:endParaRPr lang="zh-TW" altLang="en-US"/>
              </a:p>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r>
                        <a:rPr lang="en-US" sz="1950">
                          <a:solidFill>
                            <a:srgbClr val="1B2838"/>
                          </a:solidFill>
                          <a:latin typeface="Cambria Math" panose="02040503050406030204" pitchFamily="18" charset="0"/>
                          <a:ea typeface="Microsoft JhengHei"/>
                        </a:rPr>
                        <m:t>=</m:t>
                      </m:r>
                      <m:func>
                        <m:funcPr>
                          <m:ctrlPr>
                            <a:rPr lang="en-US" sz="1950" i="1">
                              <a:solidFill>
                                <a:srgbClr val="1B2838"/>
                              </a:solidFill>
                              <a:latin typeface="Cambria Math" panose="02040503050406030204" pitchFamily="18" charset="0"/>
                              <a:ea typeface="Microsoft JhengHei"/>
                            </a:rPr>
                          </m:ctrlPr>
                        </m:funcPr>
                        <m:fName>
                          <m:limLow>
                            <m:limLowPr>
                              <m:ctrlPr>
                                <a:rPr lang="en-US" sz="1950">
                                  <a:solidFill>
                                    <a:srgbClr val="1B2838"/>
                                  </a:solidFill>
                                  <a:latin typeface="Cambria Math" panose="02040503050406030204" pitchFamily="18" charset="0"/>
                                  <a:ea typeface="Microsoft JhengHei"/>
                                </a:rPr>
                              </m:ctrlPr>
                            </m:limLowPr>
                            <m:e>
                              <m:r>
                                <m:rPr>
                                  <m:sty m:val="p"/>
                                </m:rPr>
                                <a:rPr lang="en-US" sz="1950">
                                  <a:solidFill>
                                    <a:srgbClr val="1B2838"/>
                                  </a:solidFill>
                                  <a:latin typeface="Cambria Math" panose="02040503050406030204" pitchFamily="18" charset="0"/>
                                  <a:ea typeface="Microsoft JhengHei"/>
                                </a:rPr>
                                <m:t>lim</m:t>
                              </m:r>
                            </m:e>
                            <m:lim>
                              <m:r>
                                <a:rPr lang="en-US" sz="1950" i="1">
                                  <a:solidFill>
                                    <a:srgbClr val="1B2838"/>
                                  </a:solidFill>
                                  <a:latin typeface="Cambria Math" panose="02040503050406030204" pitchFamily="18" charset="0"/>
                                  <a:ea typeface="Microsoft JhengHei"/>
                                </a:rPr>
                                <m:t>𝛥</m:t>
                              </m:r>
                              <m:r>
                                <a:rPr lang="en-US" sz="1950" i="1">
                                  <a:solidFill>
                                    <a:srgbClr val="1B2838"/>
                                  </a:solidFill>
                                  <a:latin typeface="Cambria Math" panose="02040503050406030204" pitchFamily="18" charset="0"/>
                                  <a:ea typeface="Microsoft JhengHei"/>
                                </a:rPr>
                                <m:t>𝑡</m:t>
                              </m:r>
                              <m:r>
                                <a:rPr lang="en-US" sz="1950" i="1">
                                  <a:solidFill>
                                    <a:srgbClr val="1B2838"/>
                                  </a:solidFill>
                                  <a:latin typeface="Cambria Math" panose="02040503050406030204" pitchFamily="18" charset="0"/>
                                  <a:ea typeface="Microsoft JhengHei"/>
                                </a:rPr>
                                <m:t>→0</m:t>
                              </m:r>
                            </m:lim>
                          </m:limLow>
                        </m:fName>
                        <m:e>
                          <m:f>
                            <m:fPr>
                              <m:ctrlPr>
                                <a:rPr lang="en-US" sz="1950" i="1">
                                  <a:solidFill>
                                    <a:srgbClr val="1B2838"/>
                                  </a:solidFill>
                                  <a:latin typeface="Cambria Math" panose="02040503050406030204" pitchFamily="18" charset="0"/>
                                  <a:ea typeface="Microsoft JhengHei"/>
                                </a:rPr>
                              </m:ctrlPr>
                            </m:fPr>
                            <m:num>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𝑣</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e>
                      </m:func>
                    </m:oMath>
                  </m:oMathPara>
                </a14:m>
                <a:endParaRPr lang="zh-TW" altLang="en-US"/>
              </a:p>
              <a:p>
                <a:pPr>
                  <a:lnSpc>
                    <a:spcPct val="105000"/>
                  </a:lnSpc>
                </a:pP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𝑑𝑣</m:t>
                            </m:r>
                          </m:e>
                        </m:acc>
                      </m:num>
                      <m:den>
                        <m:r>
                          <a:rPr lang="en-US" sz="1950" i="1">
                            <a:solidFill>
                              <a:srgbClr val="1B2838"/>
                            </a:solidFill>
                            <a:latin typeface="Cambria Math" panose="02040503050406030204" pitchFamily="18" charset="0"/>
                            <a:ea typeface="Microsoft JhengHei"/>
                          </a:rPr>
                          <m:t>𝑑𝑡</m:t>
                        </m:r>
                      </m:den>
                    </m:f>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e>
                    </m:acc>
                  </m:oMath>
                </a14:m>
                <a:r>
                  <a:rPr lang="zh-TW" altLang="en-US">
                    <a:solidFill>
                      <a:srgbClr val="5B6B7E"/>
                    </a:solidFill>
                    <a:latin typeface="Microsoft JhengHei"/>
                    <a:ea typeface="Microsoft JhengHei"/>
                  </a:rPr>
                  <a:t>　(2-9)</a:t>
                </a:r>
                <a:endParaRPr lang="zh-TW" altLang="en-US"/>
              </a:p>
            </p:txBody>
          </p:sp>
        </mc:Choice>
        <mc:Fallback xmlns="">
          <p:sp>
            <p:nvSpPr>
              <p:cNvPr id="39" name="EQ2_3"/>
              <p:cNvSpPr txBox="1">
                <a:spLocks noRot="1" noChangeAspect="1" noMove="1" noResize="1" noEditPoints="1" noAdjustHandles="1" noChangeArrowheads="1" noChangeShapeType="1" noTextEdit="1"/>
              </p:cNvSpPr>
              <p:nvPr/>
            </p:nvSpPr>
            <p:spPr>
              <a:xfrm>
                <a:off x="4869180" y="2674620"/>
                <a:ext cx="4011930" cy="1577340"/>
              </a:xfrm>
              <a:prstGeom prst="rect">
                <a:avLst/>
              </a:prstGeom>
              <a:blipFill>
                <a:blip r:embed="rId11"/>
                <a:stretch>
                  <a:fillRect l="-3647" t="-4247"/>
                </a:stretch>
              </a:blipFill>
              <a:ln/>
            </p:spPr>
            <p:txBody>
              <a:bodyPr/>
              <a:lstStyle/>
              <a:p>
                <a:r>
                  <a:rPr lang="zh-TW" altLang="en-US">
                    <a:noFill/>
                  </a:rPr>
                  <a:t> </a:t>
                </a:r>
              </a:p>
            </p:txBody>
          </p:sp>
        </mc:Fallback>
      </mc:AlternateContent>
      <p:sp>
        <p:nvSpPr>
          <p:cNvPr id="40" name="s2_box"/>
          <p:cNvSpPr/>
          <p:nvPr/>
        </p:nvSpPr>
        <p:spPr>
          <a:xfrm>
            <a:off x="4869180" y="4320540"/>
            <a:ext cx="4011930" cy="548640"/>
          </a:xfrm>
          <a:prstGeom prst="roundRect">
            <a:avLst>
              <a:gd name="adj" fmla="val 15000"/>
            </a:avLst>
          </a:prstGeom>
          <a:solidFill>
            <a:srgbClr val="FBE4E7"/>
          </a:solidFill>
          <a:ln w="19050">
            <a:solidFill>
              <a:srgbClr val="D1233A"/>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41" name="EQ2_4"/>
              <p:cNvSpPr txBox="1"/>
              <p:nvPr/>
            </p:nvSpPr>
            <p:spPr>
              <a:xfrm>
                <a:off x="4972050" y="4341114"/>
                <a:ext cx="3840480" cy="507492"/>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a14:m>
                <a:r>
                  <a:rPr lang="zh-TW" altLang="en-US" b="1">
                    <a:solidFill>
                      <a:srgbClr val="D1233A"/>
                    </a:solidFill>
                    <a:latin typeface="Microsoft JhengHei"/>
                    <a:ea typeface="Microsoft JhengHei"/>
                  </a:rPr>
                  <a:t> 與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𝑑𝑣</m:t>
                        </m:r>
                      </m:e>
                    </m:acc>
                  </m:oMath>
                </a14:m>
                <a:r>
                  <a:rPr lang="zh-TW" altLang="en-US" b="1">
                    <a:solidFill>
                      <a:srgbClr val="D1233A"/>
                    </a:solidFill>
                    <a:latin typeface="Microsoft JhengHei"/>
                    <a:ea typeface="Microsoft JhengHei"/>
                  </a:rPr>
                  <a:t> 同向，一般不與路徑相切</a:t>
                </a:r>
                <a:endParaRPr lang="zh-TW" altLang="en-US"/>
              </a:p>
            </p:txBody>
          </p:sp>
        </mc:Choice>
        <mc:Fallback xmlns="">
          <p:sp>
            <p:nvSpPr>
              <p:cNvPr id="41" name="EQ2_4"/>
              <p:cNvSpPr txBox="1">
                <a:spLocks noRot="1" noChangeAspect="1" noMove="1" noResize="1" noEditPoints="1" noAdjustHandles="1" noChangeArrowheads="1" noChangeShapeType="1" noTextEdit="1"/>
              </p:cNvSpPr>
              <p:nvPr/>
            </p:nvSpPr>
            <p:spPr>
              <a:xfrm>
                <a:off x="4972050" y="4341114"/>
                <a:ext cx="3840480" cy="507492"/>
              </a:xfrm>
              <a:prstGeom prst="rect">
                <a:avLst/>
              </a:prstGeom>
              <a:blipFill>
                <a:blip r:embed="rId12"/>
                <a:stretch>
                  <a:fillRect l="-1746" b="-6024"/>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6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6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6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6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600"/>
                                        <p:tgtEl>
                                          <p:spTgt spid="3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600"/>
                                        <p:tgtEl>
                                          <p:spTgt spid="25"/>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600"/>
                                        <p:tgtEl>
                                          <p:spTgt spid="26"/>
                                        </p:tgtEl>
                                      </p:cBhvr>
                                    </p:animEffect>
                                  </p:childTnLst>
                                </p:cTn>
                              </p:par>
                              <p:par>
                                <p:cTn id="28" presetID="10" presetClass="entr" presetSubtype="0"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60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600"/>
                                        <p:tgtEl>
                                          <p:spTgt spid="29"/>
                                        </p:tgtEl>
                                      </p:cBhvr>
                                    </p:animEffect>
                                  </p:childTnLst>
                                </p:cTn>
                              </p:par>
                              <p:par>
                                <p:cTn id="34" presetID="10" presetClass="entr" presetSubtype="0" fill="hold"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600"/>
                                        <p:tgtEl>
                                          <p:spTgt spid="30"/>
                                        </p:tgtEl>
                                      </p:cBhvr>
                                    </p:animEffect>
                                  </p:childTnLst>
                                </p:cTn>
                              </p:par>
                              <p:par>
                                <p:cTn id="37" presetID="10" presetClass="entr" presetSubtype="0"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600"/>
                                        <p:tgtEl>
                                          <p:spTgt spid="32"/>
                                        </p:tgtEl>
                                      </p:cBhvr>
                                    </p:animEffect>
                                  </p:childTnLst>
                                </p:cTn>
                              </p:par>
                              <p:par>
                                <p:cTn id="40" presetID="10" presetClass="entr" presetSubtype="0" fill="hold" nodeType="withEffect">
                                  <p:stCondLst>
                                    <p:cond delay="60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600"/>
                                        <p:tgtEl>
                                          <p:spTgt spid="27"/>
                                        </p:tgtEl>
                                      </p:cBhvr>
                                    </p:animEffect>
                                  </p:childTnLst>
                                </p:cTn>
                              </p:par>
                              <p:par>
                                <p:cTn id="43" presetID="10" presetClass="entr" presetSubtype="0" fill="hold" nodeType="withEffect">
                                  <p:stCondLst>
                                    <p:cond delay="60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600"/>
                                        <p:tgtEl>
                                          <p:spTgt spid="31"/>
                                        </p:tgtEl>
                                      </p:cBhvr>
                                    </p:animEffect>
                                  </p:childTnLst>
                                </p:cTn>
                              </p:par>
                              <p:par>
                                <p:cTn id="46" presetID="10" presetClass="entr" presetSubtype="0"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6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600"/>
                                        <p:tgtEl>
                                          <p:spTgt spid="33"/>
                                        </p:tgtEl>
                                      </p:cBhvr>
                                    </p:animEffect>
                                  </p:childTnLst>
                                </p:cTn>
                              </p:par>
                              <p:par>
                                <p:cTn id="54" presetID="10" presetClass="entr" presetSubtype="0" fill="hold"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600"/>
                                        <p:tgtEl>
                                          <p:spTgt spid="34"/>
                                        </p:tgtEl>
                                      </p:cBhvr>
                                    </p:animEffect>
                                  </p:childTnLst>
                                </p:cTn>
                              </p:par>
                              <p:par>
                                <p:cTn id="57" presetID="10"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600"/>
                                        <p:tgtEl>
                                          <p:spTgt spid="35"/>
                                        </p:tgtEl>
                                      </p:cBhvr>
                                    </p:animEffect>
                                  </p:childTnLst>
                                </p:cTn>
                              </p:par>
                              <p:par>
                                <p:cTn id="60" presetID="10" presetClass="entr" presetSubtype="0"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6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600"/>
                                        <p:tgtEl>
                                          <p:spTgt spid="36"/>
                                        </p:tgtEl>
                                      </p:cBhvr>
                                    </p:animEffect>
                                  </p:childTnLst>
                                </p:cTn>
                              </p:par>
                              <p:par>
                                <p:cTn id="68" presetID="10" presetClass="entr" presetSubtype="0" fill="hold"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600"/>
                                        <p:tgtEl>
                                          <p:spTgt spid="40"/>
                                        </p:tgtEl>
                                      </p:cBhvr>
                                    </p:animEffect>
                                  </p:childTnLst>
                                </p:cTn>
                              </p:par>
                              <p:par>
                                <p:cTn id="71" presetID="10" presetClass="entr" presetSubtype="0"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中英名詞對照：速度 velocity 與速率 speed</a:t>
            </a:r>
            <a:endParaRPr lang="en-US" sz="2700" dirty="0"/>
          </a:p>
        </p:txBody>
      </p:sp>
      <p:graphicFrame>
        <p:nvGraphicFramePr>
          <p:cNvPr id="4" name="Table 0"/>
          <p:cNvGraphicFramePr>
            <a:graphicFrameLocks noGrp="1"/>
          </p:cNvGraphicFramePr>
          <p:nvPr/>
        </p:nvGraphicFramePr>
        <p:xfrm>
          <a:off x="308610" y="891540"/>
          <a:ext cx="5692140" cy="3319272"/>
        </p:xfrm>
        <a:graphic>
          <a:graphicData uri="http://schemas.openxmlformats.org/drawingml/2006/table">
            <a:tbl>
              <a:tblPr/>
              <a:tblGrid>
                <a:gridCol w="185166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301752">
                <a:tc>
                  <a:txBody>
                    <a:bodyP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中文</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1B2838"/>
                    </a:solidFill>
                  </a:tcPr>
                </a:tc>
                <a:tc>
                  <a:txBody>
                    <a:bodyP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English</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1B2838"/>
                    </a:solidFill>
                  </a:tcPr>
                </a:tc>
                <a:tc>
                  <a:txBody>
                    <a:bodyPr/>
                    <a:lstStyle/>
                    <a:p>
                      <a:pPr marL="0" indent="0" algn="ctr">
                        <a:buNone/>
                      </a:pPr>
                      <a:r>
                        <a:rPr lang="en-US" sz="1800" b="1" dirty="0">
                          <a:solidFill>
                            <a:srgbClr val="FFFFFF"/>
                          </a:solidFill>
                          <a:latin typeface="Microsoft JhengHei" pitchFamily="34" charset="0"/>
                          <a:ea typeface="Microsoft JhengHei" pitchFamily="34" charset="-122"/>
                          <a:cs typeface="Microsoft JhengHei" pitchFamily="34" charset="-120"/>
                        </a:rPr>
                        <a:t>性質</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1B2838"/>
                    </a:solidFill>
                  </a:tcPr>
                </a:tc>
                <a:extLst>
                  <a:ext uri="{0D108BD9-81ED-4DB2-BD59-A6C34878D82A}">
                    <a16:rowId xmlns:a16="http://schemas.microsoft.com/office/drawing/2014/main" val="10000"/>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位置向量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position vector</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位移</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displacement</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02"/>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路徑長／距離</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path length / distance</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純量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ctr">
                        <a:buNone/>
                      </a:pPr>
                      <a:r>
                        <a:rPr lang="en-US" sz="1800" b="1" dirty="0">
                          <a:solidFill>
                            <a:srgbClr val="138A52"/>
                          </a:solidFill>
                          <a:latin typeface="Microsoft JhengHei" pitchFamily="34" charset="0"/>
                          <a:ea typeface="Microsoft JhengHei" pitchFamily="34" charset="-122"/>
                          <a:cs typeface="Microsoft JhengHei" pitchFamily="34" charset="-120"/>
                        </a:rPr>
                        <a:t>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l">
                        <a:buNone/>
                      </a:pPr>
                      <a:r>
                        <a:rPr lang="en-US" sz="1800" b="1" dirty="0">
                          <a:solidFill>
                            <a:srgbClr val="138A52"/>
                          </a:solidFill>
                          <a:latin typeface="Calibri" pitchFamily="34" charset="0"/>
                          <a:ea typeface="Calibri" pitchFamily="34" charset="-122"/>
                          <a:cs typeface="Calibri" pitchFamily="34" charset="-120"/>
                        </a:rPr>
                        <a:t>velocity</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ctr">
                        <a:buNone/>
                      </a:pPr>
                      <a:r>
                        <a:rPr lang="en-US" sz="1800" b="1" dirty="0">
                          <a:solidFill>
                            <a:srgbClr val="138A52"/>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extLst>
                  <a:ext uri="{0D108BD9-81ED-4DB2-BD59-A6C34878D82A}">
                    <a16:rowId xmlns:a16="http://schemas.microsoft.com/office/drawing/2014/main" val="10004"/>
                  </a:ext>
                </a:extLst>
              </a:tr>
              <a:tr h="301752">
                <a:tc>
                  <a:txBody>
                    <a:bodyPr/>
                    <a:lstStyle/>
                    <a:p>
                      <a:pPr marL="0" indent="0" algn="ctr">
                        <a:buNone/>
                      </a:pPr>
                      <a:r>
                        <a:rPr lang="en-US" sz="1800" b="1" dirty="0">
                          <a:solidFill>
                            <a:srgbClr val="8A3CC4"/>
                          </a:solidFill>
                          <a:latin typeface="Microsoft JhengHei" pitchFamily="34" charset="0"/>
                          <a:ea typeface="Microsoft JhengHei" pitchFamily="34" charset="-122"/>
                          <a:cs typeface="Microsoft JhengHei" pitchFamily="34" charset="-120"/>
                        </a:rPr>
                        <a:t>速率</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l">
                        <a:buNone/>
                      </a:pPr>
                      <a:r>
                        <a:rPr lang="en-US" sz="1800" b="1" dirty="0">
                          <a:solidFill>
                            <a:srgbClr val="8A3CC4"/>
                          </a:solidFill>
                          <a:latin typeface="Calibri" pitchFamily="34" charset="0"/>
                          <a:ea typeface="Calibri" pitchFamily="34" charset="-122"/>
                          <a:cs typeface="Calibri" pitchFamily="34" charset="-120"/>
                        </a:rPr>
                        <a:t>speed</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tc>
                  <a:txBody>
                    <a:bodyPr/>
                    <a:lstStyle/>
                    <a:p>
                      <a:pPr marL="0" indent="0" algn="ctr">
                        <a:buNone/>
                      </a:pPr>
                      <a:r>
                        <a:rPr lang="en-US" sz="1800" b="1" dirty="0">
                          <a:solidFill>
                            <a:srgbClr val="8A3CC4"/>
                          </a:solidFill>
                          <a:latin typeface="Microsoft JhengHei" pitchFamily="34" charset="0"/>
                          <a:ea typeface="Microsoft JhengHei" pitchFamily="34" charset="-122"/>
                          <a:cs typeface="Microsoft JhengHei" pitchFamily="34" charset="-120"/>
                        </a:rPr>
                        <a:t>純量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4DC"/>
                    </a:solidFill>
                  </a:tcPr>
                </a:tc>
                <a:extLst>
                  <a:ext uri="{0D108BD9-81ED-4DB2-BD59-A6C34878D82A}">
                    <a16:rowId xmlns:a16="http://schemas.microsoft.com/office/drawing/2014/main" val="10005"/>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平均速度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average velocity</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06"/>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平均速率</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average speed</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純量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瞬時速度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instantaneous velocity</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08"/>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加速度</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acceleration</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向量</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切線</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l">
                        <a:buNone/>
                      </a:pPr>
                      <a:r>
                        <a:rPr lang="en-US" sz="1800" dirty="0">
                          <a:solidFill>
                            <a:srgbClr val="1B2838"/>
                          </a:solidFill>
                          <a:latin typeface="Calibri" pitchFamily="34" charset="0"/>
                          <a:ea typeface="Calibri" pitchFamily="34" charset="-122"/>
                          <a:cs typeface="Calibri" pitchFamily="34" charset="-120"/>
                        </a:rPr>
                        <a:t>tangent</a:t>
                      </a:r>
                      <a:endParaRPr lang="en-US" sz="1800" dirty="0">
                        <a:latin typeface="Calibri" charset="0"/>
                        <a:ea typeface="Calibri" charset="0"/>
                        <a:cs typeface="Calibr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tc>
                  <a:txBody>
                    <a:bodyPr/>
                    <a:lstStyle/>
                    <a:p>
                      <a:pPr marL="0" indent="0" algn="ctr">
                        <a:buNone/>
                      </a:pPr>
                      <a:r>
                        <a:rPr lang="en-US" sz="1800" dirty="0">
                          <a:solidFill>
                            <a:srgbClr val="1B2838"/>
                          </a:solidFill>
                          <a:latin typeface="Microsoft JhengHei" pitchFamily="34" charset="0"/>
                          <a:ea typeface="Microsoft JhengHei" pitchFamily="34" charset="-122"/>
                          <a:cs typeface="Microsoft JhengHei" pitchFamily="34" charset="-120"/>
                        </a:rPr>
                        <a:t>—</a:t>
                      </a:r>
                      <a:endParaRPr lang="en-US" sz="1800" dirty="0">
                        <a:latin typeface="Microsoft JhengHei" charset="0"/>
                        <a:ea typeface="Microsoft JhengHei" charset="0"/>
                        <a:cs typeface="Microsoft JhengHei" charset="0"/>
                      </a:endParaRPr>
                    </a:p>
                  </a:txBody>
                  <a:tcPr marL="82296" marR="82296" marT="0" marB="0" anchor="ctr">
                    <a:lnL w="12700" cap="flat" cmpd="sng" algn="ctr">
                      <a:solidFill>
                        <a:srgbClr val="DCE6EF"/>
                      </a:solidFill>
                      <a:prstDash val="solid"/>
                      <a:round/>
                      <a:headEnd type="none" w="med" len="med"/>
                      <a:tailEnd type="none" w="med" len="med"/>
                    </a:lnL>
                    <a:lnR w="12700" cap="flat" cmpd="sng" algn="ctr">
                      <a:solidFill>
                        <a:srgbClr val="DCE6EF"/>
                      </a:solidFill>
                      <a:prstDash val="solid"/>
                      <a:round/>
                      <a:headEnd type="none" w="med" len="med"/>
                      <a:tailEnd type="none" w="med" len="med"/>
                    </a:lnR>
                    <a:lnT w="12700" cap="flat" cmpd="sng" algn="ctr">
                      <a:solidFill>
                        <a:srgbClr val="DCE6EF"/>
                      </a:solidFill>
                      <a:prstDash val="solid"/>
                      <a:round/>
                      <a:headEnd type="none" w="med" len="med"/>
                      <a:tailEnd type="none" w="med" len="med"/>
                    </a:lnT>
                    <a:lnB w="12700" cap="flat" cmpd="sng" algn="ctr">
                      <a:solidFill>
                        <a:srgbClr val="DCE6EF"/>
                      </a:solidFill>
                      <a:prstDash val="solid"/>
                      <a:round/>
                      <a:headEnd type="none" w="med" len="med"/>
                      <a:tailEnd type="none" w="med" len="med"/>
                    </a:lnB>
                    <a:solidFill>
                      <a:srgbClr val="F4F7FA"/>
                    </a:solidFill>
                  </a:tcPr>
                </a:tc>
                <a:extLst>
                  <a:ext uri="{0D108BD9-81ED-4DB2-BD59-A6C34878D82A}">
                    <a16:rowId xmlns:a16="http://schemas.microsoft.com/office/drawing/2014/main" val="10010"/>
                  </a:ext>
                </a:extLst>
              </a:tr>
            </a:tbl>
          </a:graphicData>
        </a:graphic>
      </p:graphicFrame>
      <p:sp>
        <p:nvSpPr>
          <p:cNvPr id="3" name="box_1"/>
          <p:cNvSpPr/>
          <p:nvPr/>
        </p:nvSpPr>
        <p:spPr>
          <a:xfrm>
            <a:off x="6172200" y="891540"/>
            <a:ext cx="2674620" cy="3634740"/>
          </a:xfrm>
          <a:prstGeom prst="roundRect">
            <a:avLst>
              <a:gd name="adj" fmla="val 3077"/>
            </a:avLst>
          </a:prstGeom>
          <a:solidFill>
            <a:srgbClr val="F4F7FA"/>
          </a:solidFill>
          <a:ln w="19050">
            <a:solidFill>
              <a:srgbClr val="DCE6EF"/>
            </a:solidFill>
            <a:prstDash val="solid"/>
          </a:ln>
        </p:spPr>
        <p:txBody>
          <a:bodyPr/>
          <a:lstStyle/>
          <a:p>
            <a:endParaRPr lang="zh-TW" altLang="en-US" sz="1350"/>
          </a:p>
        </p:txBody>
      </p:sp>
      <p:sp>
        <p:nvSpPr>
          <p:cNvPr id="5" name="z_2"/>
          <p:cNvSpPr txBox="1"/>
          <p:nvPr/>
        </p:nvSpPr>
        <p:spPr>
          <a:xfrm>
            <a:off x="6309360" y="994410"/>
            <a:ext cx="2400300" cy="377190"/>
          </a:xfrm>
          <a:prstGeom prst="rect">
            <a:avLst/>
          </a:prstGeom>
          <a:noFill/>
          <a:ln/>
        </p:spPr>
        <p:txBody>
          <a:bodyPr wrap="square" lIns="191" tIns="191" rIns="191" bIns="191" rtlCol="0" anchor="ctr"/>
          <a:lstStyle/>
          <a:p>
            <a:r>
              <a:rPr lang="en-US" sz="2100" b="1" dirty="0">
                <a:solidFill>
                  <a:srgbClr val="138A52"/>
                </a:solidFill>
                <a:latin typeface="Microsoft JhengHei" pitchFamily="34" charset="0"/>
                <a:ea typeface="Microsoft JhengHei" pitchFamily="34" charset="-122"/>
                <a:cs typeface="Microsoft JhengHei" pitchFamily="34" charset="-120"/>
              </a:rPr>
              <a:t>速度 velocity</a:t>
            </a:r>
            <a:endParaRPr lang="en-US" sz="2100" dirty="0"/>
          </a:p>
        </p:txBody>
      </p:sp>
      <p:sp>
        <p:nvSpPr>
          <p:cNvPr id="6" name="z_3"/>
          <p:cNvSpPr txBox="1"/>
          <p:nvPr/>
        </p:nvSpPr>
        <p:spPr>
          <a:xfrm>
            <a:off x="6309360" y="1371600"/>
            <a:ext cx="2400300" cy="685800"/>
          </a:xfrm>
          <a:prstGeom prst="rect">
            <a:avLst/>
          </a:prstGeom>
          <a:noFill/>
          <a:ln/>
        </p:spPr>
        <p:txBody>
          <a:bodyPr wrap="square" lIns="191" tIns="191" rIns="191" bIns="191" rtlCol="0" anchor="t"/>
          <a:lstStyle/>
          <a:p>
            <a:r>
              <a:rPr lang="en-US" dirty="0">
                <a:solidFill>
                  <a:srgbClr val="1B2838"/>
                </a:solidFill>
                <a:latin typeface="Microsoft JhengHei" pitchFamily="34" charset="0"/>
                <a:ea typeface="Microsoft JhengHei" pitchFamily="34" charset="-122"/>
                <a:cs typeface="Microsoft JhengHei" pitchFamily="34" charset="-120"/>
              </a:rPr>
              <a:t>有大小，也有方向</a:t>
            </a:r>
            <a:endParaRPr lang="en-US" dirty="0"/>
          </a:p>
          <a:p>
            <a:r>
              <a:rPr lang="en-US" dirty="0">
                <a:solidFill>
                  <a:srgbClr val="1B2838"/>
                </a:solidFill>
                <a:latin typeface="Microsoft JhengHei" pitchFamily="34" charset="0"/>
                <a:ea typeface="Microsoft JhengHei" pitchFamily="34" charset="-122"/>
                <a:cs typeface="Microsoft JhengHei" pitchFamily="34" charset="-120"/>
              </a:rPr>
              <a:t>例：向東 5 m/s</a:t>
            </a:r>
            <a:endParaRPr lang="en-US" dirty="0"/>
          </a:p>
        </p:txBody>
      </p:sp>
      <p:sp>
        <p:nvSpPr>
          <p:cNvPr id="7" name="z_4"/>
          <p:cNvSpPr txBox="1"/>
          <p:nvPr/>
        </p:nvSpPr>
        <p:spPr>
          <a:xfrm>
            <a:off x="6309360" y="2228850"/>
            <a:ext cx="2400300" cy="377190"/>
          </a:xfrm>
          <a:prstGeom prst="rect">
            <a:avLst/>
          </a:prstGeom>
          <a:noFill/>
          <a:ln/>
        </p:spPr>
        <p:txBody>
          <a:bodyPr wrap="square" lIns="191" tIns="191" rIns="191" bIns="191" rtlCol="0" anchor="ctr"/>
          <a:lstStyle/>
          <a:p>
            <a:r>
              <a:rPr lang="en-US" sz="2100" b="1" dirty="0">
                <a:solidFill>
                  <a:srgbClr val="8A3CC4"/>
                </a:solidFill>
                <a:latin typeface="Microsoft JhengHei" pitchFamily="34" charset="0"/>
                <a:ea typeface="Microsoft JhengHei" pitchFamily="34" charset="-122"/>
                <a:cs typeface="Microsoft JhengHei" pitchFamily="34" charset="-120"/>
              </a:rPr>
              <a:t>速率 speed</a:t>
            </a:r>
            <a:endParaRPr lang="en-US" sz="2100" dirty="0"/>
          </a:p>
        </p:txBody>
      </p:sp>
      <p:sp>
        <p:nvSpPr>
          <p:cNvPr id="8" name="z_5"/>
          <p:cNvSpPr txBox="1"/>
          <p:nvPr/>
        </p:nvSpPr>
        <p:spPr>
          <a:xfrm>
            <a:off x="6309360" y="2606040"/>
            <a:ext cx="2400300" cy="685800"/>
          </a:xfrm>
          <a:prstGeom prst="rect">
            <a:avLst/>
          </a:prstGeom>
          <a:noFill/>
          <a:ln/>
        </p:spPr>
        <p:txBody>
          <a:bodyPr wrap="square" lIns="191" tIns="191" rIns="191" bIns="191" rtlCol="0" anchor="t"/>
          <a:lstStyle/>
          <a:p>
            <a:r>
              <a:rPr lang="en-US" dirty="0">
                <a:solidFill>
                  <a:srgbClr val="1B2838"/>
                </a:solidFill>
                <a:latin typeface="Microsoft JhengHei" pitchFamily="34" charset="0"/>
                <a:ea typeface="Microsoft JhengHei" pitchFamily="34" charset="-122"/>
                <a:cs typeface="Microsoft JhengHei" pitchFamily="34" charset="-120"/>
              </a:rPr>
              <a:t>只有大小</a:t>
            </a:r>
            <a:endParaRPr lang="en-US" dirty="0"/>
          </a:p>
          <a:p>
            <a:r>
              <a:rPr lang="en-US" dirty="0">
                <a:solidFill>
                  <a:srgbClr val="1B2838"/>
                </a:solidFill>
                <a:latin typeface="Microsoft JhengHei" pitchFamily="34" charset="0"/>
                <a:ea typeface="Microsoft JhengHei" pitchFamily="34" charset="-122"/>
                <a:cs typeface="Microsoft JhengHei" pitchFamily="34" charset="-120"/>
              </a:rPr>
              <a:t>例：5 m/s</a:t>
            </a:r>
            <a:endParaRPr lang="en-US" dirty="0"/>
          </a:p>
        </p:txBody>
      </p:sp>
      <p:sp>
        <p:nvSpPr>
          <p:cNvPr id="9" name="z_6"/>
          <p:cNvSpPr txBox="1"/>
          <p:nvPr/>
        </p:nvSpPr>
        <p:spPr>
          <a:xfrm>
            <a:off x="6309360" y="3429000"/>
            <a:ext cx="2400300" cy="754380"/>
          </a:xfrm>
          <a:prstGeom prst="rect">
            <a:avLst/>
          </a:prstGeom>
          <a:noFill/>
          <a:ln/>
        </p:spPr>
        <p:txBody>
          <a:bodyPr wrap="square" lIns="191" tIns="191" rIns="191" bIns="191" rtlCol="0" anchor="t"/>
          <a:lstStyle/>
          <a:p>
            <a:r>
              <a:rPr lang="en-US" b="1" dirty="0">
                <a:solidFill>
                  <a:srgbClr val="1B2838"/>
                </a:solidFill>
                <a:latin typeface="Microsoft JhengHei" pitchFamily="34" charset="0"/>
                <a:ea typeface="Microsoft JhengHei" pitchFamily="34" charset="-122"/>
                <a:cs typeface="Microsoft JhengHei" pitchFamily="34" charset="-120"/>
              </a:rPr>
              <a:t>速率 = 速度的大小</a:t>
            </a:r>
            <a:endParaRPr lang="en-US" dirty="0"/>
          </a:p>
          <a:p>
            <a:r>
              <a:rPr lang="en-US" b="1" dirty="0">
                <a:solidFill>
                  <a:srgbClr val="1B2838"/>
                </a:solidFill>
                <a:latin typeface="Microsoft JhengHei" pitchFamily="34" charset="0"/>
                <a:ea typeface="Microsoft JhengHei" pitchFamily="34" charset="-122"/>
                <a:cs typeface="Microsoft JhengHei" pitchFamily="34" charset="-120"/>
              </a:rPr>
              <a:t>speed = |velocity|</a:t>
            </a:r>
            <a:endParaRPr lang="en-US" dirty="0"/>
          </a:p>
        </p:txBody>
      </p:sp>
      <p:sp>
        <p:nvSpPr>
          <p:cNvPr id="10" name="z_7"/>
          <p:cNvSpPr txBox="1"/>
          <p:nvPr/>
        </p:nvSpPr>
        <p:spPr>
          <a:xfrm>
            <a:off x="308610" y="4608576"/>
            <a:ext cx="8538210" cy="377190"/>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記法：velocity 字長，多帶了「方向」；speed 字短，只有「大小」。</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觀念陷阱：是非題（按一下出答案）</a:t>
            </a:r>
            <a:endParaRPr lang="en-US" sz="2700" dirty="0"/>
          </a:p>
        </p:txBody>
      </p:sp>
      <p:sp>
        <p:nvSpPr>
          <p:cNvPr id="3" name="sep0"/>
          <p:cNvSpPr/>
          <p:nvPr/>
        </p:nvSpPr>
        <p:spPr>
          <a:xfrm>
            <a:off x="308610" y="1508760"/>
            <a:ext cx="8538210" cy="0"/>
          </a:xfrm>
          <a:prstGeom prst="line">
            <a:avLst/>
          </a:prstGeom>
          <a:noFill/>
          <a:ln w="12700">
            <a:solidFill>
              <a:srgbClr val="DCE6EF"/>
            </a:solidFill>
            <a:prstDash val="solid"/>
          </a:ln>
        </p:spPr>
        <p:txBody>
          <a:bodyPr/>
          <a:lstStyle/>
          <a:p>
            <a:endParaRPr lang="zh-TW" altLang="en-US" sz="1350"/>
          </a:p>
        </p:txBody>
      </p:sp>
      <p:sp>
        <p:nvSpPr>
          <p:cNvPr id="4" name="T|q1"/>
          <p:cNvSpPr txBox="1"/>
          <p:nvPr/>
        </p:nvSpPr>
        <p:spPr>
          <a:xfrm>
            <a:off x="308610" y="891540"/>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1. 繞圓一圈，位移是 0，路徑長也是 0。</a:t>
            </a:r>
            <a:endParaRPr lang="zh-TW" altLang="en-US"/>
          </a:p>
        </p:txBody>
      </p:sp>
      <p:sp>
        <p:nvSpPr>
          <p:cNvPr id="5" name="sep1"/>
          <p:cNvSpPr/>
          <p:nvPr/>
        </p:nvSpPr>
        <p:spPr>
          <a:xfrm>
            <a:off x="308610" y="2180844"/>
            <a:ext cx="8538210" cy="0"/>
          </a:xfrm>
          <a:prstGeom prst="line">
            <a:avLst/>
          </a:prstGeom>
          <a:noFill/>
          <a:ln w="12700">
            <a:solidFill>
              <a:srgbClr val="DCE6EF"/>
            </a:solidFill>
            <a:prstDash val="solid"/>
          </a:ln>
        </p:spPr>
        <p:txBody>
          <a:bodyPr/>
          <a:lstStyle/>
          <a:p>
            <a:endParaRPr lang="zh-TW" altLang="en-US" sz="1350"/>
          </a:p>
        </p:txBody>
      </p:sp>
      <p:sp>
        <p:nvSpPr>
          <p:cNvPr id="6" name="T|q2"/>
          <p:cNvSpPr txBox="1"/>
          <p:nvPr/>
        </p:nvSpPr>
        <p:spPr>
          <a:xfrm>
            <a:off x="308610" y="1563624"/>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2. 等速率走曲線，加速度是 0。</a:t>
            </a:r>
            <a:endParaRPr lang="zh-TW" altLang="en-US"/>
          </a:p>
        </p:txBody>
      </p:sp>
      <p:sp>
        <p:nvSpPr>
          <p:cNvPr id="7" name="sep2"/>
          <p:cNvSpPr/>
          <p:nvPr/>
        </p:nvSpPr>
        <p:spPr>
          <a:xfrm>
            <a:off x="308610" y="2852928"/>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8" name="T|q3"/>
              <p:cNvSpPr txBox="1"/>
              <p:nvPr/>
            </p:nvSpPr>
            <p:spPr>
              <a:xfrm>
                <a:off x="308610" y="2235708"/>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3. 速率 v = </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𝑟</m:t>
                        </m:r>
                        <m:r>
                          <a:rPr lang="en-US" sz="1950">
                            <a:solidFill>
                              <a:srgbClr val="1B2838"/>
                            </a:solidFill>
                            <a:latin typeface="Cambria Math" panose="02040503050406030204" pitchFamily="18" charset="0"/>
                            <a:ea typeface="Microsoft JhengHei"/>
                          </a:rPr>
                          <m:t>|</m:t>
                        </m:r>
                      </m:num>
                      <m:den>
                        <m:r>
                          <a:rPr lang="en-US" sz="1950" i="1">
                            <a:solidFill>
                              <a:srgbClr val="1B2838"/>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a:t>
                </a:r>
                <a:endParaRPr lang="zh-TW" altLang="en-US"/>
              </a:p>
            </p:txBody>
          </p:sp>
        </mc:Choice>
        <mc:Fallback xmlns="">
          <p:sp>
            <p:nvSpPr>
              <p:cNvPr id="8" name="T|q3"/>
              <p:cNvSpPr txBox="1">
                <a:spLocks noRot="1" noChangeAspect="1" noMove="1" noResize="1" noEditPoints="1" noAdjustHandles="1" noChangeArrowheads="1" noChangeShapeType="1" noTextEdit="1"/>
              </p:cNvSpPr>
              <p:nvPr/>
            </p:nvSpPr>
            <p:spPr>
              <a:xfrm>
                <a:off x="308610" y="2235708"/>
                <a:ext cx="5554980" cy="582930"/>
              </a:xfrm>
              <a:prstGeom prst="rect">
                <a:avLst/>
              </a:prstGeom>
              <a:blipFill>
                <a:blip r:embed="rId3"/>
                <a:stretch>
                  <a:fillRect l="-2634" b="-2105"/>
                </a:stretch>
              </a:blipFill>
              <a:ln/>
            </p:spPr>
            <p:txBody>
              <a:bodyPr/>
              <a:lstStyle/>
              <a:p>
                <a:r>
                  <a:rPr lang="zh-TW" altLang="en-US">
                    <a:noFill/>
                  </a:rPr>
                  <a:t> </a:t>
                </a:r>
              </a:p>
            </p:txBody>
          </p:sp>
        </mc:Fallback>
      </mc:AlternateContent>
      <p:sp>
        <p:nvSpPr>
          <p:cNvPr id="9" name="sep3"/>
          <p:cNvSpPr/>
          <p:nvPr/>
        </p:nvSpPr>
        <p:spPr>
          <a:xfrm>
            <a:off x="308610" y="3525012"/>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0" name="T|q4"/>
              <p:cNvSpPr txBox="1"/>
              <p:nvPr/>
            </p:nvSpPr>
            <p:spPr>
              <a:xfrm>
                <a:off x="308610" y="2907792"/>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4. 速度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一定和路徑相切。</a:t>
                </a:r>
                <a:endParaRPr lang="zh-TW" altLang="en-US"/>
              </a:p>
            </p:txBody>
          </p:sp>
        </mc:Choice>
        <mc:Fallback xmlns="">
          <p:sp>
            <p:nvSpPr>
              <p:cNvPr id="10" name="T|q4"/>
              <p:cNvSpPr txBox="1">
                <a:spLocks noRot="1" noChangeAspect="1" noMove="1" noResize="1" noEditPoints="1" noAdjustHandles="1" noChangeArrowheads="1" noChangeShapeType="1" noTextEdit="1"/>
              </p:cNvSpPr>
              <p:nvPr/>
            </p:nvSpPr>
            <p:spPr>
              <a:xfrm>
                <a:off x="308610" y="2907792"/>
                <a:ext cx="5554980" cy="582930"/>
              </a:xfrm>
              <a:prstGeom prst="rect">
                <a:avLst/>
              </a:prstGeom>
              <a:blipFill>
                <a:blip r:embed="rId4"/>
                <a:stretch>
                  <a:fillRect l="-2634"/>
                </a:stretch>
              </a:blipFill>
              <a:ln/>
            </p:spPr>
            <p:txBody>
              <a:bodyPr/>
              <a:lstStyle/>
              <a:p>
                <a:r>
                  <a:rPr lang="zh-TW" altLang="en-US">
                    <a:noFill/>
                  </a:rPr>
                  <a:t> </a:t>
                </a:r>
              </a:p>
            </p:txBody>
          </p:sp>
        </mc:Fallback>
      </mc:AlternateContent>
      <p:sp>
        <p:nvSpPr>
          <p:cNvPr id="11" name="sep4"/>
          <p:cNvSpPr/>
          <p:nvPr/>
        </p:nvSpPr>
        <p:spPr>
          <a:xfrm>
            <a:off x="308610" y="4197096"/>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2" name="T|q5"/>
              <p:cNvSpPr txBox="1"/>
              <p:nvPr/>
            </p:nvSpPr>
            <p:spPr>
              <a:xfrm>
                <a:off x="308610" y="3579876"/>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5. 加速度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一定和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同方向。</a:t>
                </a:r>
                <a:endParaRPr lang="zh-TW" altLang="en-US"/>
              </a:p>
            </p:txBody>
          </p:sp>
        </mc:Choice>
        <mc:Fallback xmlns="">
          <p:sp>
            <p:nvSpPr>
              <p:cNvPr id="12" name="T|q5"/>
              <p:cNvSpPr txBox="1">
                <a:spLocks noRot="1" noChangeAspect="1" noMove="1" noResize="1" noEditPoints="1" noAdjustHandles="1" noChangeArrowheads="1" noChangeShapeType="1" noTextEdit="1"/>
              </p:cNvSpPr>
              <p:nvPr/>
            </p:nvSpPr>
            <p:spPr>
              <a:xfrm>
                <a:off x="308610" y="3579876"/>
                <a:ext cx="5554980" cy="582930"/>
              </a:xfrm>
              <a:prstGeom prst="rect">
                <a:avLst/>
              </a:prstGeom>
              <a:blipFill>
                <a:blip r:embed="rId5"/>
                <a:stretch>
                  <a:fillRect l="-2634"/>
                </a:stretch>
              </a:blipFill>
              <a:ln/>
            </p:spPr>
            <p:txBody>
              <a:bodyPr/>
              <a:lstStyle/>
              <a:p>
                <a:r>
                  <a:rPr lang="zh-TW" altLang="en-US">
                    <a:noFill/>
                  </a:rPr>
                  <a:t> </a:t>
                </a:r>
              </a:p>
            </p:txBody>
          </p:sp>
        </mc:Fallback>
      </mc:AlternateContent>
      <p:sp>
        <p:nvSpPr>
          <p:cNvPr id="13" name="sep5"/>
          <p:cNvSpPr/>
          <p:nvPr/>
        </p:nvSpPr>
        <p:spPr>
          <a:xfrm>
            <a:off x="308610" y="4869180"/>
            <a:ext cx="8538210" cy="0"/>
          </a:xfrm>
          <a:prstGeom prst="line">
            <a:avLst/>
          </a:prstGeom>
          <a:noFill/>
          <a:ln w="12700">
            <a:solidFill>
              <a:srgbClr val="DCE6EF"/>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4" name="T|q6"/>
              <p:cNvSpPr txBox="1"/>
              <p:nvPr/>
            </p:nvSpPr>
            <p:spPr>
              <a:xfrm>
                <a:off x="308610" y="4251960"/>
                <a:ext cx="555498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6. 換一個固定原點，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都不變。</a:t>
                </a:r>
                <a:endParaRPr lang="zh-TW" altLang="en-US"/>
              </a:p>
            </p:txBody>
          </p:sp>
        </mc:Choice>
        <mc:Fallback xmlns="">
          <p:sp>
            <p:nvSpPr>
              <p:cNvPr id="14" name="T|q6"/>
              <p:cNvSpPr txBox="1">
                <a:spLocks noRot="1" noChangeAspect="1" noMove="1" noResize="1" noEditPoints="1" noAdjustHandles="1" noChangeArrowheads="1" noChangeShapeType="1" noTextEdit="1"/>
              </p:cNvSpPr>
              <p:nvPr/>
            </p:nvSpPr>
            <p:spPr>
              <a:xfrm>
                <a:off x="308610" y="4251960"/>
                <a:ext cx="5554980" cy="582930"/>
              </a:xfrm>
              <a:prstGeom prst="rect">
                <a:avLst/>
              </a:prstGeom>
              <a:blipFill>
                <a:blip r:embed="rId6"/>
                <a:stretch>
                  <a:fillRect l="-2634"/>
                </a:stretch>
              </a:blipFill>
              <a:ln/>
            </p:spPr>
            <p:txBody>
              <a:bodyPr/>
              <a:lstStyle/>
              <a:p>
                <a:r>
                  <a:rPr lang="zh-TW" altLang="en-US">
                    <a:noFill/>
                  </a:rPr>
                  <a:t> </a:t>
                </a:r>
              </a:p>
            </p:txBody>
          </p:sp>
        </mc:Fallback>
      </mc:AlternateContent>
      <p:sp>
        <p:nvSpPr>
          <p:cNvPr id="15" name="badge0"/>
          <p:cNvSpPr/>
          <p:nvPr/>
        </p:nvSpPr>
        <p:spPr>
          <a:xfrm>
            <a:off x="5966460" y="960120"/>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16" name="z_14"/>
          <p:cNvSpPr txBox="1"/>
          <p:nvPr/>
        </p:nvSpPr>
        <p:spPr>
          <a:xfrm>
            <a:off x="5966460" y="960120"/>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p:sp>
        <p:nvSpPr>
          <p:cNvPr id="17" name="T|q1r"/>
          <p:cNvSpPr txBox="1"/>
          <p:nvPr/>
        </p:nvSpPr>
        <p:spPr>
          <a:xfrm>
            <a:off x="6515100" y="891540"/>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路徑長是 2πR</a:t>
            </a:r>
            <a:endParaRPr lang="zh-TW" altLang="en-US"/>
          </a:p>
        </p:txBody>
      </p:sp>
      <p:sp>
        <p:nvSpPr>
          <p:cNvPr id="18" name="badge1"/>
          <p:cNvSpPr/>
          <p:nvPr/>
        </p:nvSpPr>
        <p:spPr>
          <a:xfrm>
            <a:off x="5966460" y="1632204"/>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19" name="z_15"/>
          <p:cNvSpPr txBox="1"/>
          <p:nvPr/>
        </p:nvSpPr>
        <p:spPr>
          <a:xfrm>
            <a:off x="5966460" y="1632204"/>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0" name="T|q2r"/>
              <p:cNvSpPr txBox="1"/>
              <p:nvPr/>
            </p:nvSpPr>
            <p:spPr>
              <a:xfrm>
                <a:off x="6515100" y="1563624"/>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方向在變，有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endParaRPr lang="zh-TW" altLang="en-US"/>
              </a:p>
            </p:txBody>
          </p:sp>
        </mc:Choice>
        <mc:Fallback xmlns="">
          <p:sp>
            <p:nvSpPr>
              <p:cNvPr id="20" name="T|q2r"/>
              <p:cNvSpPr txBox="1">
                <a:spLocks noRot="1" noChangeAspect="1" noMove="1" noResize="1" noEditPoints="1" noAdjustHandles="1" noChangeArrowheads="1" noChangeShapeType="1" noTextEdit="1"/>
              </p:cNvSpPr>
              <p:nvPr/>
            </p:nvSpPr>
            <p:spPr>
              <a:xfrm>
                <a:off x="6515100" y="1563624"/>
                <a:ext cx="2366010" cy="582930"/>
              </a:xfrm>
              <a:prstGeom prst="rect">
                <a:avLst/>
              </a:prstGeom>
              <a:blipFill>
                <a:blip r:embed="rId7"/>
                <a:stretch>
                  <a:fillRect l="-6186"/>
                </a:stretch>
              </a:blipFill>
              <a:ln/>
            </p:spPr>
            <p:txBody>
              <a:bodyPr/>
              <a:lstStyle/>
              <a:p>
                <a:r>
                  <a:rPr lang="zh-TW" altLang="en-US">
                    <a:noFill/>
                  </a:rPr>
                  <a:t> </a:t>
                </a:r>
              </a:p>
            </p:txBody>
          </p:sp>
        </mc:Fallback>
      </mc:AlternateContent>
      <p:sp>
        <p:nvSpPr>
          <p:cNvPr id="21" name="badge2"/>
          <p:cNvSpPr/>
          <p:nvPr/>
        </p:nvSpPr>
        <p:spPr>
          <a:xfrm>
            <a:off x="5966460" y="2304288"/>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22" name="z_16"/>
          <p:cNvSpPr txBox="1"/>
          <p:nvPr/>
        </p:nvSpPr>
        <p:spPr>
          <a:xfrm>
            <a:off x="5966460" y="2304288"/>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3" name="T|q3r"/>
              <p:cNvSpPr txBox="1"/>
              <p:nvPr/>
            </p:nvSpPr>
            <p:spPr>
              <a:xfrm>
                <a:off x="6515100" y="2235708"/>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應為 v = </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𝑑𝑠</m:t>
                        </m:r>
                      </m:num>
                      <m:den>
                        <m:r>
                          <a:rPr lang="en-US" sz="1950" i="1">
                            <a:solidFill>
                              <a:srgbClr val="1B2838"/>
                            </a:solidFill>
                            <a:latin typeface="Cambria Math" panose="02040503050406030204" pitchFamily="18" charset="0"/>
                            <a:ea typeface="Microsoft JhengHei"/>
                          </a:rPr>
                          <m:t>𝑑𝑡</m:t>
                        </m:r>
                      </m:den>
                    </m:f>
                  </m:oMath>
                </a14:m>
                <a:endParaRPr lang="zh-TW" altLang="en-US"/>
              </a:p>
            </p:txBody>
          </p:sp>
        </mc:Choice>
        <mc:Fallback xmlns="">
          <p:sp>
            <p:nvSpPr>
              <p:cNvPr id="23" name="T|q3r"/>
              <p:cNvSpPr txBox="1">
                <a:spLocks noRot="1" noChangeAspect="1" noMove="1" noResize="1" noEditPoints="1" noAdjustHandles="1" noChangeArrowheads="1" noChangeShapeType="1" noTextEdit="1"/>
              </p:cNvSpPr>
              <p:nvPr/>
            </p:nvSpPr>
            <p:spPr>
              <a:xfrm>
                <a:off x="6515100" y="2235708"/>
                <a:ext cx="2366010" cy="582930"/>
              </a:xfrm>
              <a:prstGeom prst="rect">
                <a:avLst/>
              </a:prstGeom>
              <a:blipFill>
                <a:blip r:embed="rId8"/>
                <a:stretch>
                  <a:fillRect l="-6186" b="-1053"/>
                </a:stretch>
              </a:blipFill>
              <a:ln/>
            </p:spPr>
            <p:txBody>
              <a:bodyPr/>
              <a:lstStyle/>
              <a:p>
                <a:r>
                  <a:rPr lang="zh-TW" altLang="en-US">
                    <a:noFill/>
                  </a:rPr>
                  <a:t> </a:t>
                </a:r>
              </a:p>
            </p:txBody>
          </p:sp>
        </mc:Fallback>
      </mc:AlternateContent>
      <p:sp>
        <p:nvSpPr>
          <p:cNvPr id="24" name="badge3"/>
          <p:cNvSpPr/>
          <p:nvPr/>
        </p:nvSpPr>
        <p:spPr>
          <a:xfrm>
            <a:off x="5966460" y="2976372"/>
            <a:ext cx="452628" cy="452628"/>
          </a:xfrm>
          <a:prstGeom prst="ellipse">
            <a:avLst/>
          </a:prstGeom>
          <a:solidFill>
            <a:srgbClr val="138A52"/>
          </a:solidFill>
          <a:ln w="12700">
            <a:solidFill>
              <a:srgbClr val="138A52"/>
            </a:solidFill>
            <a:prstDash val="solid"/>
          </a:ln>
        </p:spPr>
        <p:txBody>
          <a:bodyPr/>
          <a:lstStyle/>
          <a:p>
            <a:endParaRPr lang="zh-TW" altLang="en-US" sz="1350"/>
          </a:p>
        </p:txBody>
      </p:sp>
      <p:sp>
        <p:nvSpPr>
          <p:cNvPr id="25" name="z_17"/>
          <p:cNvSpPr txBox="1"/>
          <p:nvPr/>
        </p:nvSpPr>
        <p:spPr>
          <a:xfrm>
            <a:off x="5966460" y="2976372"/>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6" name="T|q4r"/>
              <p:cNvSpPr txBox="1"/>
              <p:nvPr/>
            </p:nvSpPr>
            <p:spPr>
              <a:xfrm>
                <a:off x="6515100" y="2907792"/>
                <a:ext cx="2366010" cy="582930"/>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與 </a:t>
                </a:r>
                <a14:m>
                  <m:oMath xmlns:m="http://schemas.openxmlformats.org/officeDocument/2006/math">
                    <m:r>
                      <a:rPr lang="en-US" sz="1950" i="1">
                        <a:solidFill>
                          <a:srgbClr val="1B2838"/>
                        </a:solidFill>
                        <a:latin typeface="Cambria Math" panose="02040503050406030204" pitchFamily="18" charset="0"/>
                        <a:ea typeface="Microsoft JhengHei"/>
                      </a:rPr>
                      <m:t>𝑑</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同向</a:t>
                </a:r>
                <a:endParaRPr lang="zh-TW" altLang="en-US"/>
              </a:p>
            </p:txBody>
          </p:sp>
        </mc:Choice>
        <mc:Fallback xmlns="">
          <p:sp>
            <p:nvSpPr>
              <p:cNvPr id="26" name="T|q4r"/>
              <p:cNvSpPr txBox="1">
                <a:spLocks noRot="1" noChangeAspect="1" noMove="1" noResize="1" noEditPoints="1" noAdjustHandles="1" noChangeArrowheads="1" noChangeShapeType="1" noTextEdit="1"/>
              </p:cNvSpPr>
              <p:nvPr/>
            </p:nvSpPr>
            <p:spPr>
              <a:xfrm>
                <a:off x="6515100" y="2907792"/>
                <a:ext cx="2366010" cy="582930"/>
              </a:xfrm>
              <a:prstGeom prst="rect">
                <a:avLst/>
              </a:prstGeom>
              <a:blipFill>
                <a:blip r:embed="rId9"/>
                <a:stretch>
                  <a:fillRect l="-2835"/>
                </a:stretch>
              </a:blipFill>
              <a:ln/>
            </p:spPr>
            <p:txBody>
              <a:bodyPr/>
              <a:lstStyle/>
              <a:p>
                <a:r>
                  <a:rPr lang="zh-TW" altLang="en-US">
                    <a:noFill/>
                  </a:rPr>
                  <a:t> </a:t>
                </a:r>
              </a:p>
            </p:txBody>
          </p:sp>
        </mc:Fallback>
      </mc:AlternateContent>
      <p:sp>
        <p:nvSpPr>
          <p:cNvPr id="27" name="badge4"/>
          <p:cNvSpPr/>
          <p:nvPr/>
        </p:nvSpPr>
        <p:spPr>
          <a:xfrm>
            <a:off x="5966460" y="3648456"/>
            <a:ext cx="452628" cy="452628"/>
          </a:xfrm>
          <a:prstGeom prst="ellipse">
            <a:avLst/>
          </a:prstGeom>
          <a:solidFill>
            <a:srgbClr val="D1233A"/>
          </a:solidFill>
          <a:ln w="12700">
            <a:solidFill>
              <a:srgbClr val="D1233A"/>
            </a:solidFill>
            <a:prstDash val="solid"/>
          </a:ln>
        </p:spPr>
        <p:txBody>
          <a:bodyPr/>
          <a:lstStyle/>
          <a:p>
            <a:endParaRPr lang="zh-TW" altLang="en-US" sz="1350"/>
          </a:p>
        </p:txBody>
      </p:sp>
      <p:sp>
        <p:nvSpPr>
          <p:cNvPr id="28" name="z_18"/>
          <p:cNvSpPr txBox="1"/>
          <p:nvPr/>
        </p:nvSpPr>
        <p:spPr>
          <a:xfrm>
            <a:off x="5966460" y="3648456"/>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mc:AlternateContent xmlns:mc="http://schemas.openxmlformats.org/markup-compatibility/2006" xmlns:a14="http://schemas.microsoft.com/office/drawing/2010/main">
        <mc:Choice Requires="a14">
          <p:sp>
            <p:nvSpPr>
              <p:cNvPr id="29" name="T|q5r"/>
              <p:cNvSpPr txBox="1"/>
              <p:nvPr/>
            </p:nvSpPr>
            <p:spPr>
              <a:xfrm>
                <a:off x="6515100" y="3579876"/>
                <a:ext cx="2366010" cy="582930"/>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與 </a:t>
                </a:r>
                <a14:m>
                  <m:oMath xmlns:m="http://schemas.openxmlformats.org/officeDocument/2006/math">
                    <m:r>
                      <a:rPr lang="en-US" sz="1950" i="1">
                        <a:solidFill>
                          <a:srgbClr val="1B2838"/>
                        </a:solidFill>
                        <a:latin typeface="Cambria Math" panose="02040503050406030204" pitchFamily="18" charset="0"/>
                        <a:ea typeface="Microsoft JhengHei"/>
                      </a:rPr>
                      <m:t>𝑑</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同向</a:t>
                </a:r>
                <a:endParaRPr lang="zh-TW" altLang="en-US"/>
              </a:p>
            </p:txBody>
          </p:sp>
        </mc:Choice>
        <mc:Fallback xmlns="">
          <p:sp>
            <p:nvSpPr>
              <p:cNvPr id="29" name="T|q5r"/>
              <p:cNvSpPr txBox="1">
                <a:spLocks noRot="1" noChangeAspect="1" noMove="1" noResize="1" noEditPoints="1" noAdjustHandles="1" noChangeArrowheads="1" noChangeShapeType="1" noTextEdit="1"/>
              </p:cNvSpPr>
              <p:nvPr/>
            </p:nvSpPr>
            <p:spPr>
              <a:xfrm>
                <a:off x="6515100" y="3579876"/>
                <a:ext cx="2366010" cy="582930"/>
              </a:xfrm>
              <a:prstGeom prst="rect">
                <a:avLst/>
              </a:prstGeom>
              <a:blipFill>
                <a:blip r:embed="rId10"/>
                <a:stretch>
                  <a:fillRect l="-2835"/>
                </a:stretch>
              </a:blipFill>
              <a:ln/>
            </p:spPr>
            <p:txBody>
              <a:bodyPr/>
              <a:lstStyle/>
              <a:p>
                <a:r>
                  <a:rPr lang="zh-TW" altLang="en-US">
                    <a:noFill/>
                  </a:rPr>
                  <a:t> </a:t>
                </a:r>
              </a:p>
            </p:txBody>
          </p:sp>
        </mc:Fallback>
      </mc:AlternateContent>
      <p:sp>
        <p:nvSpPr>
          <p:cNvPr id="30" name="badge5"/>
          <p:cNvSpPr/>
          <p:nvPr/>
        </p:nvSpPr>
        <p:spPr>
          <a:xfrm>
            <a:off x="5966460" y="4320540"/>
            <a:ext cx="452628" cy="452628"/>
          </a:xfrm>
          <a:prstGeom prst="ellipse">
            <a:avLst/>
          </a:prstGeom>
          <a:solidFill>
            <a:srgbClr val="138A52"/>
          </a:solidFill>
          <a:ln w="12700">
            <a:solidFill>
              <a:srgbClr val="138A52"/>
            </a:solidFill>
            <a:prstDash val="solid"/>
          </a:ln>
        </p:spPr>
        <p:txBody>
          <a:bodyPr/>
          <a:lstStyle/>
          <a:p>
            <a:endParaRPr lang="zh-TW" altLang="en-US" sz="1350"/>
          </a:p>
        </p:txBody>
      </p:sp>
      <p:sp>
        <p:nvSpPr>
          <p:cNvPr id="31" name="z_19"/>
          <p:cNvSpPr txBox="1"/>
          <p:nvPr/>
        </p:nvSpPr>
        <p:spPr>
          <a:xfrm>
            <a:off x="5966460" y="4320540"/>
            <a:ext cx="452628" cy="452628"/>
          </a:xfrm>
          <a:prstGeom prst="rect">
            <a:avLst/>
          </a:prstGeom>
          <a:noFill/>
          <a:ln/>
        </p:spPr>
        <p:txBody>
          <a:bodyPr wrap="square" lIns="0" tIns="0" rIns="0" bIns="0" rtlCol="0" anchor="ctr"/>
          <a:lstStyle/>
          <a:p>
            <a:pPr algn="ctr"/>
            <a:r>
              <a:rPr lang="en-US" sz="2100" b="1" dirty="0">
                <a:solidFill>
                  <a:srgbClr val="FFFFFF"/>
                </a:solidFill>
                <a:latin typeface="Microsoft JhengHei" pitchFamily="34" charset="0"/>
                <a:ea typeface="Microsoft JhengHei" pitchFamily="34" charset="-122"/>
                <a:cs typeface="Microsoft JhengHei" pitchFamily="34" charset="-120"/>
              </a:rPr>
              <a:t>○</a:t>
            </a:r>
            <a:endParaRPr lang="en-US" sz="2100" dirty="0"/>
          </a:p>
        </p:txBody>
      </p:sp>
      <p:sp>
        <p:nvSpPr>
          <p:cNvPr id="32" name="T|q6r"/>
          <p:cNvSpPr txBox="1"/>
          <p:nvPr/>
        </p:nvSpPr>
        <p:spPr>
          <a:xfrm>
            <a:off x="6515100" y="4251960"/>
            <a:ext cx="2366010" cy="58293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原點影響抵消</a:t>
            </a: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600"/>
                                        <p:tgtEl>
                                          <p:spTgt spid="18"/>
                                        </p:tgtEl>
                                      </p:cBhvr>
                                    </p:animEffect>
                                  </p:childTnLst>
                                </p:cTn>
                              </p:par>
                              <p:par>
                                <p:cTn id="19" presetID="10"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600"/>
                                        <p:tgtEl>
                                          <p:spTgt spid="21"/>
                                        </p:tgtEl>
                                      </p:cBhvr>
                                    </p:animEffect>
                                  </p:childTnLst>
                                </p:cTn>
                              </p:par>
                              <p:par>
                                <p:cTn id="30" presetID="10" presetClass="entr" presetSubtype="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600"/>
                                        <p:tgtEl>
                                          <p:spTgt spid="22"/>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6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60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6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6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600"/>
                                        <p:tgtEl>
                                          <p:spTgt spid="27"/>
                                        </p:tgtEl>
                                      </p:cBhvr>
                                    </p:animEffect>
                                  </p:childTnLst>
                                </p:cTn>
                              </p:par>
                              <p:par>
                                <p:cTn id="52" presetID="10" presetClass="entr" presetSubtype="0"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60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6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600"/>
                                        <p:tgtEl>
                                          <p:spTgt spid="30"/>
                                        </p:tgtEl>
                                      </p:cBhvr>
                                    </p:animEffect>
                                  </p:childTnLst>
                                </p:cTn>
                              </p:par>
                              <p:par>
                                <p:cTn id="63" presetID="10" presetClass="entr" presetSubtype="0" fill="hold"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600"/>
                                        <p:tgtEl>
                                          <p:spTgt spid="31"/>
                                        </p:tgtEl>
                                      </p:cBhvr>
                                    </p:animEffect>
                                  </p:childTnLst>
                                </p:cTn>
                              </p:par>
                              <p:par>
                                <p:cTn id="66" presetID="10" presetClass="entr" presetSubtype="0" fill="hold"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1｜位移大小 |Δr| ≠ 路徑長 Δs</a:t>
            </a:r>
            <a:endParaRPr lang="en-US" sz="2700" dirty="0"/>
          </a:p>
        </p:txBody>
      </p:sp>
      <p:sp>
        <p:nvSpPr>
          <p:cNvPr id="3" name="z_20"/>
          <p:cNvSpPr/>
          <p:nvPr/>
        </p:nvSpPr>
        <p:spPr>
          <a:xfrm>
            <a:off x="685387" y="1380634"/>
            <a:ext cx="3368051" cy="2263270"/>
          </a:xfrm>
          <a:custGeom>
            <a:avLst/>
            <a:gdLst/>
            <a:ahLst/>
            <a:cxnLst/>
            <a:rect l="l" t="t" r="r" b="b"/>
            <a:pathLst>
              <a:path w="4490735" h="3017693">
                <a:moveTo>
                  <a:pt x="4471355" y="3017693"/>
                </a:moveTo>
                <a:lnTo>
                  <a:pt x="4479889" y="2936618"/>
                </a:lnTo>
                <a:lnTo>
                  <a:pt x="4485967" y="2855322"/>
                </a:lnTo>
                <a:lnTo>
                  <a:pt x="4489584" y="2773880"/>
                </a:lnTo>
                <a:lnTo>
                  <a:pt x="4490735" y="2692365"/>
                </a:lnTo>
                <a:lnTo>
                  <a:pt x="4489421" y="2610853"/>
                </a:lnTo>
                <a:lnTo>
                  <a:pt x="4485642" y="2529417"/>
                </a:lnTo>
                <a:lnTo>
                  <a:pt x="4479401" y="2448134"/>
                </a:lnTo>
                <a:lnTo>
                  <a:pt x="4470705" y="2367076"/>
                </a:lnTo>
                <a:lnTo>
                  <a:pt x="4459561" y="2286318"/>
                </a:lnTo>
                <a:lnTo>
                  <a:pt x="4445980" y="2205935"/>
                </a:lnTo>
                <a:lnTo>
                  <a:pt x="4429973" y="2125999"/>
                </a:lnTo>
                <a:lnTo>
                  <a:pt x="4411557" y="2046583"/>
                </a:lnTo>
                <a:lnTo>
                  <a:pt x="4390747" y="1967761"/>
                </a:lnTo>
                <a:lnTo>
                  <a:pt x="4367562" y="1889605"/>
                </a:lnTo>
                <a:lnTo>
                  <a:pt x="4342024" y="1812185"/>
                </a:lnTo>
                <a:lnTo>
                  <a:pt x="4314156" y="1735573"/>
                </a:lnTo>
                <a:lnTo>
                  <a:pt x="4283984" y="1659839"/>
                </a:lnTo>
                <a:lnTo>
                  <a:pt x="4251535" y="1585053"/>
                </a:lnTo>
                <a:lnTo>
                  <a:pt x="4216839" y="1511282"/>
                </a:lnTo>
                <a:lnTo>
                  <a:pt x="4179927" y="1438594"/>
                </a:lnTo>
                <a:lnTo>
                  <a:pt x="4140834" y="1367056"/>
                </a:lnTo>
                <a:lnTo>
                  <a:pt x="4099595" y="1296733"/>
                </a:lnTo>
                <a:lnTo>
                  <a:pt x="4056248" y="1227689"/>
                </a:lnTo>
                <a:lnTo>
                  <a:pt x="4010833" y="1159988"/>
                </a:lnTo>
                <a:lnTo>
                  <a:pt x="3963390" y="1093692"/>
                </a:lnTo>
                <a:lnTo>
                  <a:pt x="3913965" y="1028861"/>
                </a:lnTo>
                <a:lnTo>
                  <a:pt x="3862601" y="965554"/>
                </a:lnTo>
                <a:lnTo>
                  <a:pt x="3809346" y="903830"/>
                </a:lnTo>
                <a:lnTo>
                  <a:pt x="3754248" y="843745"/>
                </a:lnTo>
                <a:lnTo>
                  <a:pt x="3697358" y="785354"/>
                </a:lnTo>
                <a:lnTo>
                  <a:pt x="3638728" y="728710"/>
                </a:lnTo>
                <a:lnTo>
                  <a:pt x="3578412" y="673865"/>
                </a:lnTo>
                <a:lnTo>
                  <a:pt x="3516465" y="620870"/>
                </a:lnTo>
                <a:lnTo>
                  <a:pt x="3452943" y="569773"/>
                </a:lnTo>
                <a:lnTo>
                  <a:pt x="3387904" y="520620"/>
                </a:lnTo>
                <a:lnTo>
                  <a:pt x="3321409" y="473457"/>
                </a:lnTo>
                <a:lnTo>
                  <a:pt x="3253518" y="428326"/>
                </a:lnTo>
                <a:lnTo>
                  <a:pt x="3184293" y="385270"/>
                </a:lnTo>
                <a:lnTo>
                  <a:pt x="3113797" y="344327"/>
                </a:lnTo>
                <a:lnTo>
                  <a:pt x="3042095" y="305535"/>
                </a:lnTo>
                <a:lnTo>
                  <a:pt x="2969253" y="268929"/>
                </a:lnTo>
                <a:lnTo>
                  <a:pt x="2895337" y="234544"/>
                </a:lnTo>
                <a:lnTo>
                  <a:pt x="2820414" y="202409"/>
                </a:lnTo>
                <a:lnTo>
                  <a:pt x="2744554" y="172556"/>
                </a:lnTo>
                <a:lnTo>
                  <a:pt x="2667826" y="145010"/>
                </a:lnTo>
                <a:lnTo>
                  <a:pt x="2590300" y="119798"/>
                </a:lnTo>
                <a:lnTo>
                  <a:pt x="2512046" y="96942"/>
                </a:lnTo>
                <a:lnTo>
                  <a:pt x="2433138" y="76463"/>
                </a:lnTo>
                <a:lnTo>
                  <a:pt x="2353645" y="58381"/>
                </a:lnTo>
                <a:lnTo>
                  <a:pt x="2273643" y="42710"/>
                </a:lnTo>
                <a:lnTo>
                  <a:pt x="2193203" y="29467"/>
                </a:lnTo>
                <a:lnTo>
                  <a:pt x="2112399" y="18663"/>
                </a:lnTo>
                <a:lnTo>
                  <a:pt x="2031305" y="10308"/>
                </a:lnTo>
                <a:lnTo>
                  <a:pt x="1949996" y="4409"/>
                </a:lnTo>
                <a:lnTo>
                  <a:pt x="1868546" y="972"/>
                </a:lnTo>
                <a:lnTo>
                  <a:pt x="1787029" y="0"/>
                </a:lnTo>
                <a:lnTo>
                  <a:pt x="1705520" y="1494"/>
                </a:lnTo>
                <a:lnTo>
                  <a:pt x="1624093" y="5453"/>
                </a:lnTo>
                <a:lnTo>
                  <a:pt x="1542823" y="11873"/>
                </a:lnTo>
                <a:lnTo>
                  <a:pt x="1461785" y="20747"/>
                </a:lnTo>
                <a:lnTo>
                  <a:pt x="1381052" y="32069"/>
                </a:lnTo>
                <a:lnTo>
                  <a:pt x="1300699" y="45827"/>
                </a:lnTo>
                <a:lnTo>
                  <a:pt x="1220798" y="62010"/>
                </a:lnTo>
                <a:lnTo>
                  <a:pt x="1141423" y="80601"/>
                </a:lnTo>
                <a:lnTo>
                  <a:pt x="1062647" y="101585"/>
                </a:lnTo>
                <a:lnTo>
                  <a:pt x="984542" y="124942"/>
                </a:lnTo>
                <a:lnTo>
                  <a:pt x="907179" y="150651"/>
                </a:lnTo>
                <a:lnTo>
                  <a:pt x="830629" y="178687"/>
                </a:lnTo>
                <a:lnTo>
                  <a:pt x="754962" y="209026"/>
                </a:lnTo>
                <a:lnTo>
                  <a:pt x="680247" y="241640"/>
                </a:lnTo>
                <a:lnTo>
                  <a:pt x="606552" y="276499"/>
                </a:lnTo>
                <a:lnTo>
                  <a:pt x="533946" y="313570"/>
                </a:lnTo>
                <a:lnTo>
                  <a:pt x="462494" y="352821"/>
                </a:lnTo>
                <a:lnTo>
                  <a:pt x="392262" y="394215"/>
                </a:lnTo>
                <a:lnTo>
                  <a:pt x="323314" y="437714"/>
                </a:lnTo>
                <a:lnTo>
                  <a:pt x="255714" y="483278"/>
                </a:lnTo>
                <a:lnTo>
                  <a:pt x="189522" y="530866"/>
                </a:lnTo>
                <a:lnTo>
                  <a:pt x="124800" y="580435"/>
                </a:lnTo>
                <a:lnTo>
                  <a:pt x="61607" y="631938"/>
                </a:lnTo>
                <a:lnTo>
                  <a:pt x="0" y="685329"/>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21"/>
          <p:cNvSpPr/>
          <p:nvPr/>
        </p:nvSpPr>
        <p:spPr>
          <a:xfrm>
            <a:off x="3982736" y="3051863"/>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22"/>
          <p:cNvSpPr txBox="1"/>
          <p:nvPr/>
        </p:nvSpPr>
        <p:spPr>
          <a:xfrm>
            <a:off x="4030742" y="2996999"/>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6" name="z_23"/>
          <p:cNvSpPr/>
          <p:nvPr/>
        </p:nvSpPr>
        <p:spPr>
          <a:xfrm>
            <a:off x="1872206" y="1380642"/>
            <a:ext cx="2158536" cy="1719227"/>
          </a:xfrm>
          <a:custGeom>
            <a:avLst/>
            <a:gdLst/>
            <a:ahLst/>
            <a:cxnLst/>
            <a:rect l="l" t="t" r="r" b="b"/>
            <a:pathLst>
              <a:path w="2878048" h="2292303">
                <a:moveTo>
                  <a:pt x="2878048" y="2292303"/>
                </a:moveTo>
                <a:lnTo>
                  <a:pt x="2861075" y="2192679"/>
                </a:lnTo>
                <a:lnTo>
                  <a:pt x="2840379" y="2093762"/>
                </a:lnTo>
                <a:lnTo>
                  <a:pt x="2815989" y="1995690"/>
                </a:lnTo>
                <a:lnTo>
                  <a:pt x="2787939" y="1898601"/>
                </a:lnTo>
                <a:lnTo>
                  <a:pt x="2756269" y="1802632"/>
                </a:lnTo>
                <a:lnTo>
                  <a:pt x="2721023" y="1707918"/>
                </a:lnTo>
                <a:lnTo>
                  <a:pt x="2682251" y="1614592"/>
                </a:lnTo>
                <a:lnTo>
                  <a:pt x="2640008" y="1522786"/>
                </a:lnTo>
                <a:lnTo>
                  <a:pt x="2594352" y="1432627"/>
                </a:lnTo>
                <a:lnTo>
                  <a:pt x="2545348" y="1344244"/>
                </a:lnTo>
                <a:lnTo>
                  <a:pt x="2493065" y="1257760"/>
                </a:lnTo>
                <a:lnTo>
                  <a:pt x="2437577" y="1173297"/>
                </a:lnTo>
                <a:lnTo>
                  <a:pt x="2378961" y="1090973"/>
                </a:lnTo>
                <a:lnTo>
                  <a:pt x="2317299" y="1010906"/>
                </a:lnTo>
                <a:lnTo>
                  <a:pt x="2252680" y="933206"/>
                </a:lnTo>
                <a:lnTo>
                  <a:pt x="2185192" y="857983"/>
                </a:lnTo>
                <a:lnTo>
                  <a:pt x="2114932" y="785344"/>
                </a:lnTo>
                <a:lnTo>
                  <a:pt x="2041998" y="715389"/>
                </a:lnTo>
                <a:lnTo>
                  <a:pt x="1966492" y="648219"/>
                </a:lnTo>
                <a:lnTo>
                  <a:pt x="1888521" y="583926"/>
                </a:lnTo>
                <a:lnTo>
                  <a:pt x="1808195" y="522602"/>
                </a:lnTo>
                <a:lnTo>
                  <a:pt x="1725626" y="464332"/>
                </a:lnTo>
                <a:lnTo>
                  <a:pt x="1640930" y="409199"/>
                </a:lnTo>
                <a:lnTo>
                  <a:pt x="1554227" y="357280"/>
                </a:lnTo>
                <a:lnTo>
                  <a:pt x="1465639" y="308649"/>
                </a:lnTo>
                <a:lnTo>
                  <a:pt x="1375289" y="263372"/>
                </a:lnTo>
                <a:lnTo>
                  <a:pt x="1283306" y="221515"/>
                </a:lnTo>
                <a:lnTo>
                  <a:pt x="1189817" y="183136"/>
                </a:lnTo>
                <a:lnTo>
                  <a:pt x="1094956" y="148289"/>
                </a:lnTo>
                <a:lnTo>
                  <a:pt x="998855" y="117022"/>
                </a:lnTo>
                <a:lnTo>
                  <a:pt x="901649" y="89381"/>
                </a:lnTo>
                <a:lnTo>
                  <a:pt x="803476" y="65404"/>
                </a:lnTo>
                <a:lnTo>
                  <a:pt x="704472" y="45123"/>
                </a:lnTo>
                <a:lnTo>
                  <a:pt x="604778" y="28569"/>
                </a:lnTo>
                <a:lnTo>
                  <a:pt x="504533" y="15765"/>
                </a:lnTo>
                <a:lnTo>
                  <a:pt x="403879" y="6727"/>
                </a:lnTo>
                <a:lnTo>
                  <a:pt x="302956" y="1470"/>
                </a:lnTo>
                <a:lnTo>
                  <a:pt x="201907" y="0"/>
                </a:lnTo>
                <a:lnTo>
                  <a:pt x="100875" y="2319"/>
                </a:lnTo>
                <a:lnTo>
                  <a:pt x="0" y="8425"/>
                </a:lnTo>
              </a:path>
            </a:pathLst>
          </a:custGeom>
          <a:solidFill>
            <a:srgbClr val="FFFFFF">
              <a:alpha val="0"/>
            </a:srgbClr>
          </a:solidFill>
          <a:ln w="114300">
            <a:solidFill>
              <a:srgbClr val="8A3CC4">
                <a:alpha val="55000"/>
              </a:srgbClr>
            </a:solidFill>
            <a:prstDash val="solid"/>
          </a:ln>
        </p:spPr>
        <p:txBody>
          <a:bodyPr/>
          <a:lstStyle/>
          <a:p>
            <a:endParaRPr lang="zh-TW" altLang="en-US" sz="1350"/>
          </a:p>
        </p:txBody>
      </p:sp>
      <p:sp>
        <p:nvSpPr>
          <p:cNvPr id="7" name="z_24"/>
          <p:cNvSpPr/>
          <p:nvPr/>
        </p:nvSpPr>
        <p:spPr>
          <a:xfrm flipH="1" flipV="1">
            <a:off x="1872206" y="1386961"/>
            <a:ext cx="2158536" cy="1712909"/>
          </a:xfrm>
          <a:prstGeom prst="line">
            <a:avLst/>
          </a:prstGeom>
          <a:noFill/>
          <a:ln w="41275">
            <a:solidFill>
              <a:srgbClr val="E07B00"/>
            </a:solidFill>
            <a:prstDash val="solid"/>
            <a:tailEnd type="triangle"/>
          </a:ln>
        </p:spPr>
        <p:txBody>
          <a:bodyPr/>
          <a:lstStyle/>
          <a:p>
            <a:endParaRPr lang="zh-TW" altLang="en-US" sz="1350"/>
          </a:p>
        </p:txBody>
      </p:sp>
      <p:sp>
        <p:nvSpPr>
          <p:cNvPr id="8" name="z_25"/>
          <p:cNvSpPr/>
          <p:nvPr/>
        </p:nvSpPr>
        <p:spPr>
          <a:xfrm>
            <a:off x="1831058" y="1345813"/>
            <a:ext cx="82296" cy="82296"/>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9" name="M|dr|dr|26"/>
              <p:cNvSpPr txBox="1"/>
              <p:nvPr/>
            </p:nvSpPr>
            <p:spPr>
              <a:xfrm>
                <a:off x="2375395" y="235427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m:oMathPara>
                </a14:m>
                <a:endParaRPr lang="zh-TW" altLang="en-US"/>
              </a:p>
            </p:txBody>
          </p:sp>
        </mc:Choice>
        <mc:Fallback xmlns="">
          <p:sp>
            <p:nvSpPr>
              <p:cNvPr id="9" name="M|dr|dr|26"/>
              <p:cNvSpPr txBox="1">
                <a:spLocks noRot="1" noChangeAspect="1" noMove="1" noResize="1" noEditPoints="1" noAdjustHandles="1" noChangeArrowheads="1" noChangeShapeType="1" noTextEdit="1"/>
              </p:cNvSpPr>
              <p:nvPr/>
            </p:nvSpPr>
            <p:spPr>
              <a:xfrm>
                <a:off x="2375395" y="2354279"/>
                <a:ext cx="425196" cy="377190"/>
              </a:xfrm>
              <a:prstGeom prst="rect">
                <a:avLst/>
              </a:prstGeom>
              <a:blipFill>
                <a:blip r:embed="rId3"/>
                <a:stretch>
                  <a:fillRect l="-2899"/>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M|ds|ds|27"/>
              <p:cNvSpPr txBox="1"/>
              <p:nvPr/>
            </p:nvSpPr>
            <p:spPr>
              <a:xfrm>
                <a:off x="3386048" y="1242561"/>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m:oMathPara>
                </a14:m>
                <a:endParaRPr lang="zh-TW" altLang="en-US"/>
              </a:p>
            </p:txBody>
          </p:sp>
        </mc:Choice>
        <mc:Fallback xmlns="">
          <p:sp>
            <p:nvSpPr>
              <p:cNvPr id="10" name="M|ds|ds|27"/>
              <p:cNvSpPr txBox="1">
                <a:spLocks noRot="1" noChangeAspect="1" noMove="1" noResize="1" noEditPoints="1" noAdjustHandles="1" noChangeArrowheads="1" noChangeShapeType="1" noTextEdit="1"/>
              </p:cNvSpPr>
              <p:nvPr/>
            </p:nvSpPr>
            <p:spPr>
              <a:xfrm>
                <a:off x="3386048" y="1242561"/>
                <a:ext cx="425196" cy="377190"/>
              </a:xfrm>
              <a:prstGeom prst="rect">
                <a:avLst/>
              </a:prstGeom>
              <a:blipFill>
                <a:blip r:embed="rId4"/>
                <a:stretch>
                  <a:fillRect l="-1429"/>
                </a:stretch>
              </a:blipFill>
              <a:ln/>
            </p:spPr>
            <p:txBody>
              <a:bodyPr/>
              <a:lstStyle/>
              <a:p>
                <a:r>
                  <a:rPr lang="zh-TW" altLang="en-US">
                    <a:noFill/>
                  </a:rPr>
                  <a:t> </a:t>
                </a:r>
              </a:p>
            </p:txBody>
          </p:sp>
        </mc:Fallback>
      </mc:AlternateContent>
      <p:sp>
        <p:nvSpPr>
          <p:cNvPr id="11" name="z_28"/>
          <p:cNvSpPr txBox="1"/>
          <p:nvPr/>
        </p:nvSpPr>
        <p:spPr>
          <a:xfrm>
            <a:off x="1460726" y="1044061"/>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12" name="z_29"/>
          <p:cNvSpPr txBox="1"/>
          <p:nvPr/>
        </p:nvSpPr>
        <p:spPr>
          <a:xfrm>
            <a:off x="411480" y="3826764"/>
            <a:ext cx="4251960" cy="370332"/>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Δt 大：|Δr| ÷ Δs = 0.909</a:t>
            </a:r>
            <a:endParaRPr lang="en-US" dirty="0"/>
          </a:p>
        </p:txBody>
      </p:sp>
      <p:sp>
        <p:nvSpPr>
          <p:cNvPr id="13" name="z_30"/>
          <p:cNvSpPr/>
          <p:nvPr/>
        </p:nvSpPr>
        <p:spPr>
          <a:xfrm flipH="1" flipV="1">
            <a:off x="3207893" y="1757768"/>
            <a:ext cx="822849" cy="1342101"/>
          </a:xfrm>
          <a:prstGeom prst="line">
            <a:avLst/>
          </a:prstGeom>
          <a:noFill/>
          <a:ln w="28575">
            <a:solidFill>
              <a:srgbClr val="E07B00"/>
            </a:solidFill>
            <a:prstDash val="solid"/>
            <a:tailEnd type="triangle"/>
          </a:ln>
        </p:spPr>
        <p:txBody>
          <a:bodyPr/>
          <a:lstStyle/>
          <a:p>
            <a:endParaRPr lang="zh-TW" altLang="en-US" sz="1350"/>
          </a:p>
        </p:txBody>
      </p:sp>
      <p:sp>
        <p:nvSpPr>
          <p:cNvPr id="14" name="z_31"/>
          <p:cNvSpPr/>
          <p:nvPr/>
        </p:nvSpPr>
        <p:spPr>
          <a:xfrm>
            <a:off x="3166745" y="1716620"/>
            <a:ext cx="82296" cy="82296"/>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32"/>
          <p:cNvSpPr txBox="1"/>
          <p:nvPr/>
        </p:nvSpPr>
        <p:spPr>
          <a:xfrm>
            <a:off x="411480" y="4183380"/>
            <a:ext cx="4251960" cy="370332"/>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Δt 變小：|Δr| ÷ Δs = 0.974</a:t>
            </a:r>
            <a:endParaRPr lang="en-US" dirty="0"/>
          </a:p>
        </p:txBody>
      </p:sp>
      <p:sp>
        <p:nvSpPr>
          <p:cNvPr id="16" name="z_33"/>
          <p:cNvSpPr/>
          <p:nvPr/>
        </p:nvSpPr>
        <p:spPr>
          <a:xfrm flipH="1" flipV="1">
            <a:off x="3893879" y="2614796"/>
            <a:ext cx="136863" cy="485073"/>
          </a:xfrm>
          <a:prstGeom prst="line">
            <a:avLst/>
          </a:prstGeom>
          <a:noFill/>
          <a:ln w="28575">
            <a:solidFill>
              <a:srgbClr val="E07B00"/>
            </a:solidFill>
            <a:prstDash val="solid"/>
            <a:tailEnd type="triangle"/>
          </a:ln>
        </p:spPr>
        <p:txBody>
          <a:bodyPr/>
          <a:lstStyle/>
          <a:p>
            <a:endParaRPr lang="zh-TW" altLang="en-US" sz="1350"/>
          </a:p>
        </p:txBody>
      </p:sp>
      <p:sp>
        <p:nvSpPr>
          <p:cNvPr id="17" name="z_34"/>
          <p:cNvSpPr/>
          <p:nvPr/>
        </p:nvSpPr>
        <p:spPr>
          <a:xfrm>
            <a:off x="3852731" y="2573648"/>
            <a:ext cx="82296" cy="82296"/>
          </a:xfrm>
          <a:prstGeom prst="ellipse">
            <a:avLst/>
          </a:prstGeom>
          <a:solidFill>
            <a:srgbClr val="1B2838"/>
          </a:solidFill>
          <a:ln w="12700">
            <a:solidFill>
              <a:srgbClr val="1B2838"/>
            </a:solidFill>
            <a:prstDash val="solid"/>
          </a:ln>
        </p:spPr>
        <p:txBody>
          <a:bodyPr/>
          <a:lstStyle/>
          <a:p>
            <a:endParaRPr lang="zh-TW" altLang="en-US" sz="1350"/>
          </a:p>
        </p:txBody>
      </p:sp>
      <p:sp>
        <p:nvSpPr>
          <p:cNvPr id="18" name="z_35"/>
          <p:cNvSpPr txBox="1"/>
          <p:nvPr/>
        </p:nvSpPr>
        <p:spPr>
          <a:xfrm>
            <a:off x="411480" y="4539996"/>
            <a:ext cx="4251960" cy="370332"/>
          </a:xfrm>
          <a:prstGeom prst="rect">
            <a:avLst/>
          </a:prstGeom>
          <a:noFill/>
          <a:ln/>
        </p:spPr>
        <p:txBody>
          <a:bodyPr wrap="square" lIns="191" tIns="191" rIns="191" bIns="191" rtlCol="0" anchor="ctr"/>
          <a:lstStyle/>
          <a:p>
            <a:r>
              <a:rPr lang="en-US" b="1" dirty="0">
                <a:solidFill>
                  <a:srgbClr val="138A52"/>
                </a:solidFill>
                <a:latin typeface="Microsoft JhengHei" pitchFamily="34" charset="0"/>
                <a:ea typeface="Microsoft JhengHei" pitchFamily="34" charset="-122"/>
                <a:cs typeface="Microsoft JhengHei" pitchFamily="34" charset="-120"/>
              </a:rPr>
              <a:t>Δt 很小：|Δr| ÷ Δs = 0.997</a:t>
            </a:r>
            <a:endParaRPr lang="en-US" dirty="0"/>
          </a:p>
        </p:txBody>
      </p:sp>
      <mc:AlternateContent xmlns:mc="http://schemas.openxmlformats.org/markup-compatibility/2006" xmlns:a14="http://schemas.microsoft.com/office/drawing/2010/main">
        <mc:Choice Requires="a14">
          <p:sp>
            <p:nvSpPr>
              <p:cNvPr id="19" name="T|c1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14:m>
                  <m:oMath xmlns:m="http://schemas.openxmlformats.org/officeDocument/2006/math">
                    <m:acc>
                      <m:accPr>
                        <m:chr m:val="⃗"/>
                        <m:ctrlPr>
                          <a:rPr lang="en-US" sz="1950">
                            <a:solidFill>
                              <a:srgbClr val="E07B00"/>
                            </a:solidFill>
                            <a:latin typeface="Cambria Math" panose="02040503050406030204" pitchFamily="18" charset="0"/>
                            <a:ea typeface="Microsoft JhengHei"/>
                          </a:rPr>
                        </m:ctrlPr>
                      </m:accPr>
                      <m:e>
                        <m:r>
                          <m:rPr>
                            <m:sty m:val="p"/>
                          </m:rPr>
                          <a:rPr lang="en-US" sz="1950">
                            <a:solidFill>
                              <a:srgbClr val="E07B00"/>
                            </a:solidFill>
                            <a:latin typeface="Cambria Math" panose="02040503050406030204" pitchFamily="18" charset="0"/>
                            <a:ea typeface="Microsoft JhengHei"/>
                          </a:rPr>
                          <m:t>Δ</m:t>
                        </m:r>
                        <m:r>
                          <a:rPr lang="en-US" sz="1950" i="1">
                            <a:solidFill>
                              <a:srgbClr val="E07B00"/>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是從 P 直直拉到 P′ 的箭頭，</a:t>
                </a:r>
                <a14:m>
                  <m:oMath xmlns:m="http://schemas.openxmlformats.org/officeDocument/2006/math">
                    <m:r>
                      <m:rPr>
                        <m:sty m:val="p"/>
                      </m:rPr>
                      <a:rPr lang="en-US" sz="1950">
                        <a:solidFill>
                          <a:srgbClr val="8A3CC4"/>
                        </a:solidFill>
                        <a:latin typeface="Cambria Math" panose="02040503050406030204" pitchFamily="18" charset="0"/>
                        <a:ea typeface="Microsoft JhengHei"/>
                      </a:rPr>
                      <m:t>Δ</m:t>
                    </m:r>
                    <m:r>
                      <a:rPr lang="en-US" sz="1950" i="1">
                        <a:solidFill>
                          <a:srgbClr val="8A3CC4"/>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 是沿著路真的走了多遠。抄捷徑比較短，所以 </a:t>
                </a:r>
                <a14:m>
                  <m:oMath xmlns:m="http://schemas.openxmlformats.org/officeDocument/2006/math">
                    <m:r>
                      <a:rPr lang="en-US" sz="1950">
                        <a:solidFill>
                          <a:srgbClr val="1B2838"/>
                        </a:solidFill>
                        <a:latin typeface="Cambria Math" panose="02040503050406030204" pitchFamily="18" charset="0"/>
                        <a:ea typeface="Microsoft JhengHei"/>
                      </a:rPr>
                      <m:t>|</m:t>
                    </m:r>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oMath>
                </a14:m>
                <a:r>
                  <a:rPr lang="zh-TW" altLang="en-US">
                    <a:solidFill>
                      <a:srgbClr val="1B2838"/>
                    </a:solidFill>
                    <a:latin typeface="Microsoft JhengHei"/>
                    <a:ea typeface="Microsoft JhengHei"/>
                  </a:rPr>
                  <a:t> ≤ </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。P′ 靠近 P 時，弦和弧幾乎一樣長。</a:t>
                </a:r>
                <a:endParaRPr lang="zh-TW" altLang="en-US"/>
              </a:p>
            </p:txBody>
          </p:sp>
        </mc:Choice>
        <mc:Fallback xmlns="">
          <p:sp>
            <p:nvSpPr>
              <p:cNvPr id="19" name="T|c1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5"/>
                <a:stretch>
                  <a:fillRect l="-3555" t="-2703" r="-9428"/>
                </a:stretch>
              </a:blipFill>
              <a:ln/>
            </p:spPr>
            <p:txBody>
              <a:bodyPr/>
              <a:lstStyle/>
              <a:p>
                <a:r>
                  <a:rPr lang="zh-TW" altLang="en-US">
                    <a:noFill/>
                  </a:rPr>
                  <a:t> </a:t>
                </a:r>
              </a:p>
            </p:txBody>
          </p:sp>
        </mc:Fallback>
      </mc:AlternateContent>
      <p:sp>
        <p:nvSpPr>
          <p:cNvPr id="20" name="box_36"/>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1" name="T|c1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繞圓一圈，</a:t>
                </a:r>
                <a14:m>
                  <m:oMath xmlns:m="http://schemas.openxmlformats.org/officeDocument/2006/math">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 0，</a:t>
                </a:r>
                <a14:m>
                  <m:oMath xmlns:m="http://schemas.openxmlformats.org/officeDocument/2006/math">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𝑠</m:t>
                    </m:r>
                  </m:oMath>
                </a14:m>
                <a:r>
                  <a:rPr lang="zh-TW" altLang="en-US">
                    <a:solidFill>
                      <a:srgbClr val="1B2838"/>
                    </a:solidFill>
                    <a:latin typeface="Microsoft JhengHei"/>
                    <a:ea typeface="Microsoft JhengHei"/>
                  </a:rPr>
                  <a:t> = 2πR。</a:t>
                </a:r>
                <a:endParaRPr lang="zh-TW" altLang="en-US"/>
              </a:p>
            </p:txBody>
          </p:sp>
        </mc:Choice>
        <mc:Fallback xmlns="">
          <p:sp>
            <p:nvSpPr>
              <p:cNvPr id="21" name="T|c1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6"/>
                <a:stretch>
                  <a:fillRect l="-3877" r="-9532"/>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6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6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60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6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6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2｜平均速度 ≠ 平均速率</a:t>
            </a:r>
            <a:endParaRPr lang="en-US" sz="2700" dirty="0"/>
          </a:p>
        </p:txBody>
      </p:sp>
      <p:sp>
        <p:nvSpPr>
          <p:cNvPr id="3" name="z_37"/>
          <p:cNvSpPr/>
          <p:nvPr/>
        </p:nvSpPr>
        <p:spPr>
          <a:xfrm>
            <a:off x="916479" y="2410951"/>
            <a:ext cx="3377045" cy="686"/>
          </a:xfrm>
          <a:prstGeom prst="line">
            <a:avLst/>
          </a:prstGeom>
          <a:noFill/>
          <a:ln w="76200">
            <a:solidFill>
              <a:srgbClr val="40526A"/>
            </a:solidFill>
            <a:prstDash val="solid"/>
          </a:ln>
        </p:spPr>
        <p:txBody>
          <a:bodyPr/>
          <a:lstStyle/>
          <a:p>
            <a:endParaRPr lang="zh-TW" altLang="en-US" sz="1350"/>
          </a:p>
        </p:txBody>
      </p:sp>
      <p:sp>
        <p:nvSpPr>
          <p:cNvPr id="4" name="z_38"/>
          <p:cNvSpPr/>
          <p:nvPr/>
        </p:nvSpPr>
        <p:spPr>
          <a:xfrm>
            <a:off x="847898" y="2342371"/>
            <a:ext cx="137160" cy="137160"/>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39"/>
          <p:cNvSpPr txBox="1"/>
          <p:nvPr/>
        </p:nvSpPr>
        <p:spPr>
          <a:xfrm>
            <a:off x="504998" y="2428408"/>
            <a:ext cx="822960" cy="370332"/>
          </a:xfrm>
          <a:prstGeom prst="rect">
            <a:avLst/>
          </a:prstGeom>
          <a:noFill/>
          <a:ln/>
        </p:spPr>
        <p:txBody>
          <a:bodyPr wrap="square" lIns="191" tIns="191" rIns="191" bIns="191" rtlCol="0" anchor="ctr"/>
          <a:lstStyle/>
          <a:p>
            <a:pPr algn="ctr"/>
            <a:r>
              <a:rPr lang="en-US" b="1" dirty="0">
                <a:solidFill>
                  <a:srgbClr val="5B6B7E"/>
                </a:solidFill>
                <a:latin typeface="Microsoft JhengHei" pitchFamily="34" charset="0"/>
                <a:ea typeface="Microsoft JhengHei" pitchFamily="34" charset="-122"/>
                <a:cs typeface="Microsoft JhengHei" pitchFamily="34" charset="-120"/>
              </a:rPr>
              <a:t>起點</a:t>
            </a:r>
            <a:endParaRPr lang="en-US" dirty="0"/>
          </a:p>
        </p:txBody>
      </p:sp>
      <p:sp>
        <p:nvSpPr>
          <p:cNvPr id="6" name="z_40"/>
          <p:cNvSpPr txBox="1"/>
          <p:nvPr/>
        </p:nvSpPr>
        <p:spPr>
          <a:xfrm>
            <a:off x="3882044" y="2428408"/>
            <a:ext cx="822960" cy="370332"/>
          </a:xfrm>
          <a:prstGeom prst="rect">
            <a:avLst/>
          </a:prstGeom>
          <a:noFill/>
          <a:ln/>
        </p:spPr>
        <p:txBody>
          <a:bodyPr wrap="square" lIns="191" tIns="191" rIns="191" bIns="191" rtlCol="0" anchor="ctr"/>
          <a:lstStyle/>
          <a:p>
            <a:pPr algn="ctr"/>
            <a:r>
              <a:rPr lang="en-US" b="1" dirty="0">
                <a:solidFill>
                  <a:srgbClr val="5B6B7E"/>
                </a:solidFill>
                <a:latin typeface="Microsoft JhengHei" pitchFamily="34" charset="0"/>
                <a:ea typeface="Microsoft JhengHei" pitchFamily="34" charset="-122"/>
                <a:cs typeface="Microsoft JhengHei" pitchFamily="34" charset="-120"/>
              </a:rPr>
              <a:t>5 m</a:t>
            </a:r>
            <a:endParaRPr lang="en-US" dirty="0"/>
          </a:p>
        </p:txBody>
      </p:sp>
      <p:sp>
        <p:nvSpPr>
          <p:cNvPr id="7" name="z_41"/>
          <p:cNvSpPr/>
          <p:nvPr/>
        </p:nvSpPr>
        <p:spPr>
          <a:xfrm>
            <a:off x="916479" y="2107016"/>
            <a:ext cx="3377045" cy="686"/>
          </a:xfrm>
          <a:prstGeom prst="line">
            <a:avLst/>
          </a:prstGeom>
          <a:noFill/>
          <a:ln w="44450">
            <a:solidFill>
              <a:srgbClr val="138A52"/>
            </a:solidFill>
            <a:prstDash val="solid"/>
            <a:tailEnd type="triangle"/>
          </a:ln>
        </p:spPr>
        <p:txBody>
          <a:bodyPr/>
          <a:lstStyle/>
          <a:p>
            <a:endParaRPr lang="zh-TW" altLang="en-US" sz="1350"/>
          </a:p>
        </p:txBody>
      </p:sp>
      <p:sp>
        <p:nvSpPr>
          <p:cNvPr id="8" name="z_42"/>
          <p:cNvSpPr txBox="1"/>
          <p:nvPr/>
        </p:nvSpPr>
        <p:spPr>
          <a:xfrm>
            <a:off x="1507721" y="1685458"/>
            <a:ext cx="2194560" cy="370332"/>
          </a:xfrm>
          <a:prstGeom prst="rect">
            <a:avLst/>
          </a:prstGeom>
          <a:noFill/>
          <a:ln/>
        </p:spPr>
        <p:txBody>
          <a:bodyPr wrap="square" lIns="191" tIns="191" rIns="191" bIns="191" rtlCol="0" anchor="ctr"/>
          <a:lstStyle/>
          <a:p>
            <a:pPr algn="ctr"/>
            <a:r>
              <a:rPr lang="en-US" b="1" dirty="0">
                <a:solidFill>
                  <a:srgbClr val="138A52"/>
                </a:solidFill>
                <a:latin typeface="Microsoft JhengHei" pitchFamily="34" charset="0"/>
                <a:ea typeface="Microsoft JhengHei" pitchFamily="34" charset="-122"/>
                <a:cs typeface="Microsoft JhengHei" pitchFamily="34" charset="-120"/>
              </a:rPr>
              <a:t>① 往前走 5 m</a:t>
            </a:r>
            <a:endParaRPr lang="en-US" dirty="0"/>
          </a:p>
        </p:txBody>
      </p:sp>
      <p:sp>
        <p:nvSpPr>
          <p:cNvPr id="9" name="z_43"/>
          <p:cNvSpPr/>
          <p:nvPr/>
        </p:nvSpPr>
        <p:spPr>
          <a:xfrm flipH="1">
            <a:off x="916479" y="1600459"/>
            <a:ext cx="3377045" cy="686"/>
          </a:xfrm>
          <a:prstGeom prst="line">
            <a:avLst/>
          </a:prstGeom>
          <a:noFill/>
          <a:ln w="44450">
            <a:solidFill>
              <a:srgbClr val="138A52"/>
            </a:solidFill>
            <a:prstDash val="solid"/>
            <a:tailEnd type="triangle"/>
          </a:ln>
        </p:spPr>
        <p:txBody>
          <a:bodyPr/>
          <a:lstStyle/>
          <a:p>
            <a:endParaRPr lang="zh-TW" altLang="en-US" sz="1350"/>
          </a:p>
        </p:txBody>
      </p:sp>
      <p:sp>
        <p:nvSpPr>
          <p:cNvPr id="10" name="z_44"/>
          <p:cNvSpPr txBox="1"/>
          <p:nvPr/>
        </p:nvSpPr>
        <p:spPr>
          <a:xfrm>
            <a:off x="1507721" y="1178900"/>
            <a:ext cx="2194560" cy="370332"/>
          </a:xfrm>
          <a:prstGeom prst="rect">
            <a:avLst/>
          </a:prstGeom>
          <a:noFill/>
          <a:ln/>
        </p:spPr>
        <p:txBody>
          <a:bodyPr wrap="square" lIns="191" tIns="191" rIns="191" bIns="191" rtlCol="0" anchor="ctr"/>
          <a:lstStyle/>
          <a:p>
            <a:pPr algn="ctr"/>
            <a:r>
              <a:rPr lang="en-US" b="1" dirty="0">
                <a:solidFill>
                  <a:srgbClr val="138A52"/>
                </a:solidFill>
                <a:latin typeface="Microsoft JhengHei" pitchFamily="34" charset="0"/>
                <a:ea typeface="Microsoft JhengHei" pitchFamily="34" charset="-122"/>
                <a:cs typeface="Microsoft JhengHei" pitchFamily="34" charset="-120"/>
              </a:rPr>
              <a:t>② 走回 5 m</a:t>
            </a:r>
            <a:endParaRPr lang="en-US" dirty="0"/>
          </a:p>
        </p:txBody>
      </p:sp>
      <p:sp>
        <p:nvSpPr>
          <p:cNvPr id="11" name="z_45"/>
          <p:cNvSpPr txBox="1"/>
          <p:nvPr/>
        </p:nvSpPr>
        <p:spPr>
          <a:xfrm>
            <a:off x="411480" y="3140964"/>
            <a:ext cx="3429000" cy="370332"/>
          </a:xfrm>
          <a:prstGeom prst="rect">
            <a:avLst/>
          </a:prstGeom>
          <a:noFill/>
          <a:ln/>
        </p:spPr>
        <p:txBody>
          <a:bodyPr wrap="square" lIns="191" tIns="191" rIns="191" bIns="191" rtlCol="0" anchor="ctr"/>
          <a:lstStyle/>
          <a:p>
            <a:r>
              <a:rPr lang="en-US" b="1" dirty="0">
                <a:solidFill>
                  <a:srgbClr val="8A3CC4"/>
                </a:solidFill>
                <a:latin typeface="Microsoft JhengHei" pitchFamily="34" charset="0"/>
                <a:ea typeface="Microsoft JhengHei" pitchFamily="34" charset="-122"/>
                <a:cs typeface="Microsoft JhengHei" pitchFamily="34" charset="-120"/>
              </a:rPr>
              <a:t>路徑長 s = 10 m</a:t>
            </a:r>
            <a:endParaRPr lang="en-US" dirty="0"/>
          </a:p>
        </p:txBody>
      </p:sp>
      <p:sp>
        <p:nvSpPr>
          <p:cNvPr id="12" name="bar_s"/>
          <p:cNvSpPr/>
          <p:nvPr/>
        </p:nvSpPr>
        <p:spPr>
          <a:xfrm>
            <a:off x="411480" y="3566160"/>
            <a:ext cx="3840480" cy="205740"/>
          </a:xfrm>
          <a:prstGeom prst="rect">
            <a:avLst/>
          </a:prstGeom>
          <a:solidFill>
            <a:srgbClr val="8A3CC4"/>
          </a:solidFill>
          <a:ln w="12700">
            <a:solidFill>
              <a:srgbClr val="8A3CC4"/>
            </a:solidFill>
            <a:prstDash val="solid"/>
          </a:ln>
        </p:spPr>
        <p:txBody>
          <a:bodyPr/>
          <a:lstStyle/>
          <a:p>
            <a:endParaRPr lang="zh-TW" altLang="en-US" sz="1350"/>
          </a:p>
        </p:txBody>
      </p:sp>
      <p:sp>
        <p:nvSpPr>
          <p:cNvPr id="13" name="z_46"/>
          <p:cNvSpPr txBox="1"/>
          <p:nvPr/>
        </p:nvSpPr>
        <p:spPr>
          <a:xfrm>
            <a:off x="411480" y="3826764"/>
            <a:ext cx="4114800" cy="370332"/>
          </a:xfrm>
          <a:prstGeom prst="rect">
            <a:avLst/>
          </a:prstGeom>
          <a:noFill/>
          <a:ln/>
        </p:spPr>
        <p:txBody>
          <a:bodyPr wrap="square" lIns="191" tIns="191" rIns="191" bIns="191" rtlCol="0" anchor="ctr"/>
          <a:lstStyle/>
          <a:p>
            <a:r>
              <a:rPr lang="en-US" b="1" dirty="0">
                <a:solidFill>
                  <a:srgbClr val="E07B00"/>
                </a:solidFill>
                <a:latin typeface="Microsoft JhengHei" pitchFamily="34" charset="0"/>
                <a:ea typeface="Microsoft JhengHei" pitchFamily="34" charset="-122"/>
                <a:cs typeface="Microsoft JhengHei" pitchFamily="34" charset="-120"/>
              </a:rPr>
              <a:t>位移 |Δr| = 0（回到原點）</a:t>
            </a:r>
            <a:endParaRPr lang="en-US" dirty="0"/>
          </a:p>
        </p:txBody>
      </p:sp>
      <p:sp>
        <p:nvSpPr>
          <p:cNvPr id="14" name="z_47"/>
          <p:cNvSpPr txBox="1"/>
          <p:nvPr/>
        </p:nvSpPr>
        <p:spPr>
          <a:xfrm>
            <a:off x="411480" y="4306824"/>
            <a:ext cx="432054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平均速率 ≠ 0，平均速度 = 0</a:t>
            </a:r>
            <a:endParaRPr lang="en-US" dirty="0"/>
          </a:p>
        </p:txBody>
      </p:sp>
      <p:sp>
        <p:nvSpPr>
          <p:cNvPr id="15" name="T|c2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往前走 5 m，再走回原點。平均速率看「總共走多少路」，是 10 m ÷ 時間。平均速度看「最後離起點多遠」，答案是 0。</a:t>
            </a:r>
            <a:endParaRPr lang="zh-TW" altLang="en-US"/>
          </a:p>
        </p:txBody>
      </p:sp>
      <p:sp>
        <p:nvSpPr>
          <p:cNvPr id="16" name="box_48"/>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7" name="T|c2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平均速度 </a:t>
                </a:r>
                <a14:m>
                  <m:oMath xmlns:m="http://schemas.openxmlformats.org/officeDocument/2006/math">
                    <m:sSub>
                      <m:sSubPr>
                        <m:ctrlPr>
                          <a:rPr lang="en-US" sz="1950" i="1">
                            <a:solidFill>
                              <a:srgbClr val="1B2838"/>
                            </a:solidFill>
                            <a:latin typeface="Cambria Math" panose="02040503050406030204" pitchFamily="18" charset="0"/>
                            <a:ea typeface="Microsoft JhengHei"/>
                          </a:rPr>
                        </m:ctrlPr>
                      </m:sSubPr>
                      <m:e>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e>
                      <m:sub>
                        <m:r>
                          <a:rPr lang="en-US" sz="1950" i="1">
                            <a:solidFill>
                              <a:srgbClr val="1B2838"/>
                            </a:solidFill>
                            <a:latin typeface="Cambria Math" panose="02040503050406030204" pitchFamily="18" charset="0"/>
                            <a:ea typeface="Microsoft JhengHei"/>
                          </a:rPr>
                          <m:t>𝑎𝑣</m:t>
                        </m:r>
                      </m:sub>
                    </m:sSub>
                    <m:r>
                      <a:rPr lang="en-US" sz="1950">
                        <a:solidFill>
                          <a:srgbClr val="1B2838"/>
                        </a:solidFill>
                        <a:latin typeface="Cambria Math" panose="02040503050406030204" pitchFamily="18" charset="0"/>
                        <a:ea typeface="Microsoft JhengHei"/>
                      </a:rPr>
                      <m:t>=</m:t>
                    </m:r>
                    <m:f>
                      <m:fPr>
                        <m:ctrlPr>
                          <a:rPr lang="en-US" sz="1950" i="1">
                            <a:solidFill>
                              <a:srgbClr val="1B2838"/>
                            </a:solidFill>
                            <a:latin typeface="Cambria Math" panose="02040503050406030204" pitchFamily="18" charset="0"/>
                            <a:ea typeface="Microsoft JhengHei"/>
                          </a:rPr>
                        </m:ctrlPr>
                      </m:fPr>
                      <m:num>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r>
                  <a:rPr lang="zh-TW" altLang="en-US">
                    <a:solidFill>
                      <a:srgbClr val="1B2838"/>
                    </a:solidFill>
                    <a:latin typeface="Microsoft JhengHei"/>
                    <a:ea typeface="Microsoft JhengHei"/>
                  </a:rPr>
                  <a:t>（向量）</a:t>
                </a:r>
                <a:endParaRPr lang="zh-TW" altLang="en-US"/>
              </a:p>
              <a:p>
                <a:pPr>
                  <a:lnSpc>
                    <a:spcPct val="105000"/>
                  </a:lnSpc>
                </a:pPr>
                <a:r>
                  <a:rPr lang="zh-TW" altLang="en-US">
                    <a:solidFill>
                      <a:srgbClr val="1B2838"/>
                    </a:solidFill>
                    <a:latin typeface="Microsoft JhengHei"/>
                    <a:ea typeface="Microsoft JhengHei"/>
                  </a:rPr>
                  <a:t>平均速率 = </a:t>
                </a:r>
                <a14:m>
                  <m:oMath xmlns:m="http://schemas.openxmlformats.org/officeDocument/2006/math">
                    <m:f>
                      <m:fPr>
                        <m:ctrlPr>
                          <a:rPr lang="en-US" sz="1950">
                            <a:solidFill>
                              <a:srgbClr val="1B2838"/>
                            </a:solidFill>
                            <a:latin typeface="Cambria Math" panose="02040503050406030204" pitchFamily="18" charset="0"/>
                            <a:ea typeface="Microsoft JhengHei"/>
                          </a:rPr>
                        </m:ctrlPr>
                      </m:fPr>
                      <m:num>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𝑠</m:t>
                        </m:r>
                      </m:num>
                      <m:den>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𝑡</m:t>
                        </m:r>
                      </m:den>
                    </m:f>
                  </m:oMath>
                </a14:m>
                <a:r>
                  <a:rPr lang="zh-TW" altLang="en-US">
                    <a:solidFill>
                      <a:srgbClr val="1B2838"/>
                    </a:solidFill>
                    <a:latin typeface="Microsoft JhengHei"/>
                    <a:ea typeface="Microsoft JhengHei"/>
                  </a:rPr>
                  <a:t>（純量）</a:t>
                </a:r>
                <a:endParaRPr lang="zh-TW" altLang="en-US"/>
              </a:p>
            </p:txBody>
          </p:sp>
        </mc:Choice>
        <mc:Fallback xmlns="">
          <p:sp>
            <p:nvSpPr>
              <p:cNvPr id="17" name="T|c2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3"/>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6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6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6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3｜速度貼著路，加速度往內拉</a:t>
            </a:r>
            <a:endParaRPr lang="en-US" sz="2700" dirty="0"/>
          </a:p>
        </p:txBody>
      </p:sp>
      <p:sp>
        <p:nvSpPr>
          <p:cNvPr id="3" name="z_49"/>
          <p:cNvSpPr/>
          <p:nvPr/>
        </p:nvSpPr>
        <p:spPr>
          <a:xfrm>
            <a:off x="452407" y="2267572"/>
            <a:ext cx="4170107" cy="1294097"/>
          </a:xfrm>
          <a:custGeom>
            <a:avLst/>
            <a:gdLst/>
            <a:ahLst/>
            <a:cxnLst/>
            <a:rect l="l" t="t" r="r" b="b"/>
            <a:pathLst>
              <a:path w="5560142" h="1725462">
                <a:moveTo>
                  <a:pt x="0" y="862771"/>
                </a:moveTo>
                <a:lnTo>
                  <a:pt x="69502" y="787803"/>
                </a:lnTo>
                <a:lnTo>
                  <a:pt x="139004" y="713403"/>
                </a:lnTo>
                <a:lnTo>
                  <a:pt x="208505" y="640133"/>
                </a:lnTo>
                <a:lnTo>
                  <a:pt x="278007" y="568547"/>
                </a:lnTo>
                <a:lnTo>
                  <a:pt x="347509" y="499186"/>
                </a:lnTo>
                <a:lnTo>
                  <a:pt x="417011" y="432576"/>
                </a:lnTo>
                <a:lnTo>
                  <a:pt x="486512" y="369219"/>
                </a:lnTo>
                <a:lnTo>
                  <a:pt x="556014" y="309596"/>
                </a:lnTo>
                <a:lnTo>
                  <a:pt x="625516" y="254157"/>
                </a:lnTo>
                <a:lnTo>
                  <a:pt x="695018" y="203323"/>
                </a:lnTo>
                <a:lnTo>
                  <a:pt x="764520" y="157476"/>
                </a:lnTo>
                <a:lnTo>
                  <a:pt x="834021" y="116964"/>
                </a:lnTo>
                <a:lnTo>
                  <a:pt x="903523" y="82094"/>
                </a:lnTo>
                <a:lnTo>
                  <a:pt x="973025" y="53129"/>
                </a:lnTo>
                <a:lnTo>
                  <a:pt x="1042527" y="30288"/>
                </a:lnTo>
                <a:lnTo>
                  <a:pt x="1112028" y="13744"/>
                </a:lnTo>
                <a:lnTo>
                  <a:pt x="1181530" y="3623"/>
                </a:lnTo>
                <a:lnTo>
                  <a:pt x="1251032" y="0"/>
                </a:lnTo>
                <a:lnTo>
                  <a:pt x="1320534" y="2904"/>
                </a:lnTo>
                <a:lnTo>
                  <a:pt x="1390035" y="12311"/>
                </a:lnTo>
                <a:lnTo>
                  <a:pt x="1459537" y="28152"/>
                </a:lnTo>
                <a:lnTo>
                  <a:pt x="1529039" y="50306"/>
                </a:lnTo>
                <a:lnTo>
                  <a:pt x="1598541" y="78606"/>
                </a:lnTo>
                <a:lnTo>
                  <a:pt x="1668043" y="112837"/>
                </a:lnTo>
                <a:lnTo>
                  <a:pt x="1737544" y="152741"/>
                </a:lnTo>
                <a:lnTo>
                  <a:pt x="1807046" y="198016"/>
                </a:lnTo>
                <a:lnTo>
                  <a:pt x="1876548" y="248319"/>
                </a:lnTo>
                <a:lnTo>
                  <a:pt x="1946050" y="303270"/>
                </a:lnTo>
                <a:lnTo>
                  <a:pt x="2015551" y="362454"/>
                </a:lnTo>
                <a:lnTo>
                  <a:pt x="2085053" y="425421"/>
                </a:lnTo>
                <a:lnTo>
                  <a:pt x="2154555" y="491697"/>
                </a:lnTo>
                <a:lnTo>
                  <a:pt x="2224057" y="560780"/>
                </a:lnTo>
                <a:lnTo>
                  <a:pt x="2293559" y="632147"/>
                </a:lnTo>
                <a:lnTo>
                  <a:pt x="2363060" y="705259"/>
                </a:lnTo>
                <a:lnTo>
                  <a:pt x="2432562" y="779562"/>
                </a:lnTo>
                <a:lnTo>
                  <a:pt x="2502064" y="854494"/>
                </a:lnTo>
                <a:lnTo>
                  <a:pt x="2571566" y="929490"/>
                </a:lnTo>
                <a:lnTo>
                  <a:pt x="2641067" y="1003980"/>
                </a:lnTo>
                <a:lnTo>
                  <a:pt x="2710569" y="1077402"/>
                </a:lnTo>
                <a:lnTo>
                  <a:pt x="2780071" y="1149201"/>
                </a:lnTo>
                <a:lnTo>
                  <a:pt x="2849573" y="1218833"/>
                </a:lnTo>
                <a:lnTo>
                  <a:pt x="2919075" y="1285772"/>
                </a:lnTo>
                <a:lnTo>
                  <a:pt x="2988576" y="1349511"/>
                </a:lnTo>
                <a:lnTo>
                  <a:pt x="3058078" y="1409569"/>
                </a:lnTo>
                <a:lnTo>
                  <a:pt x="3127580" y="1465490"/>
                </a:lnTo>
                <a:lnTo>
                  <a:pt x="3197082" y="1516852"/>
                </a:lnTo>
                <a:lnTo>
                  <a:pt x="3266583" y="1563266"/>
                </a:lnTo>
                <a:lnTo>
                  <a:pt x="3336085" y="1604382"/>
                </a:lnTo>
                <a:lnTo>
                  <a:pt x="3405587" y="1639888"/>
                </a:lnTo>
                <a:lnTo>
                  <a:pt x="3475089" y="1669516"/>
                </a:lnTo>
                <a:lnTo>
                  <a:pt x="3544590" y="1693041"/>
                </a:lnTo>
                <a:lnTo>
                  <a:pt x="3614092" y="1710286"/>
                </a:lnTo>
                <a:lnTo>
                  <a:pt x="3683594" y="1721121"/>
                </a:lnTo>
                <a:lnTo>
                  <a:pt x="3753096" y="1725462"/>
                </a:lnTo>
                <a:lnTo>
                  <a:pt x="3822598" y="1723278"/>
                </a:lnTo>
                <a:lnTo>
                  <a:pt x="3892099" y="1714585"/>
                </a:lnTo>
                <a:lnTo>
                  <a:pt x="3961601" y="1699448"/>
                </a:lnTo>
                <a:lnTo>
                  <a:pt x="4031103" y="1677983"/>
                </a:lnTo>
                <a:lnTo>
                  <a:pt x="4100605" y="1650351"/>
                </a:lnTo>
                <a:lnTo>
                  <a:pt x="4170106" y="1616762"/>
                </a:lnTo>
                <a:lnTo>
                  <a:pt x="4239608" y="1577469"/>
                </a:lnTo>
                <a:lnTo>
                  <a:pt x="4309110" y="1532771"/>
                </a:lnTo>
                <a:lnTo>
                  <a:pt x="4378612" y="1483004"/>
                </a:lnTo>
                <a:lnTo>
                  <a:pt x="4448114" y="1428545"/>
                </a:lnTo>
                <a:lnTo>
                  <a:pt x="4517615" y="1369807"/>
                </a:lnTo>
                <a:lnTo>
                  <a:pt x="4587117" y="1307234"/>
                </a:lnTo>
                <a:lnTo>
                  <a:pt x="4656619" y="1241299"/>
                </a:lnTo>
                <a:lnTo>
                  <a:pt x="4726121" y="1172500"/>
                </a:lnTo>
                <a:lnTo>
                  <a:pt x="4795622" y="1101359"/>
                </a:lnTo>
                <a:lnTo>
                  <a:pt x="4865124" y="1028412"/>
                </a:lnTo>
                <a:lnTo>
                  <a:pt x="4934626" y="954213"/>
                </a:lnTo>
                <a:lnTo>
                  <a:pt x="5004128" y="879322"/>
                </a:lnTo>
                <a:lnTo>
                  <a:pt x="5073630" y="804306"/>
                </a:lnTo>
                <a:lnTo>
                  <a:pt x="5143131" y="729733"/>
                </a:lnTo>
                <a:lnTo>
                  <a:pt x="5212633" y="656165"/>
                </a:lnTo>
                <a:lnTo>
                  <a:pt x="5282135" y="584160"/>
                </a:lnTo>
                <a:lnTo>
                  <a:pt x="5351637" y="514263"/>
                </a:lnTo>
                <a:lnTo>
                  <a:pt x="5421138" y="447002"/>
                </a:lnTo>
                <a:lnTo>
                  <a:pt x="5490640" y="382886"/>
                </a:lnTo>
                <a:lnTo>
                  <a:pt x="5560142" y="32240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50"/>
          <p:cNvSpPr/>
          <p:nvPr/>
        </p:nvSpPr>
        <p:spPr>
          <a:xfrm flipV="1">
            <a:off x="1393555" y="2267564"/>
            <a:ext cx="790883"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5" name="M|v|v|51"/>
              <p:cNvSpPr txBox="1"/>
              <p:nvPr/>
            </p:nvSpPr>
            <p:spPr>
              <a:xfrm>
                <a:off x="2177579" y="207896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5" name="M|v|v|51"/>
              <p:cNvSpPr txBox="1">
                <a:spLocks noRot="1" noChangeAspect="1" noMove="1" noResize="1" noEditPoints="1" noAdjustHandles="1" noChangeArrowheads="1" noChangeShapeType="1" noTextEdit="1"/>
              </p:cNvSpPr>
              <p:nvPr/>
            </p:nvSpPr>
            <p:spPr>
              <a:xfrm>
                <a:off x="2177579" y="2078969"/>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6" name="z_52"/>
          <p:cNvSpPr/>
          <p:nvPr/>
        </p:nvSpPr>
        <p:spPr>
          <a:xfrm>
            <a:off x="1393555" y="2267565"/>
            <a:ext cx="686" cy="698852"/>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7" name="M|a|a|53"/>
              <p:cNvSpPr txBox="1"/>
              <p:nvPr/>
            </p:nvSpPr>
            <p:spPr>
              <a:xfrm>
                <a:off x="940927" y="277782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7" name="M|a|a|53"/>
              <p:cNvSpPr txBox="1">
                <a:spLocks noRot="1" noChangeAspect="1" noMove="1" noResize="1" noEditPoints="1" noAdjustHandles="1" noChangeArrowheads="1" noChangeShapeType="1" noTextEdit="1"/>
              </p:cNvSpPr>
              <p:nvPr/>
            </p:nvSpPr>
            <p:spPr>
              <a:xfrm>
                <a:off x="940927" y="2777822"/>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8" name="z_54"/>
          <p:cNvSpPr/>
          <p:nvPr/>
        </p:nvSpPr>
        <p:spPr>
          <a:xfrm>
            <a:off x="1345549" y="2219558"/>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9" name="z_55"/>
          <p:cNvSpPr txBox="1"/>
          <p:nvPr/>
        </p:nvSpPr>
        <p:spPr>
          <a:xfrm>
            <a:off x="358386" y="1543160"/>
            <a:ext cx="2057400" cy="370332"/>
          </a:xfrm>
          <a:prstGeom prst="rect">
            <a:avLst/>
          </a:prstGeom>
          <a:noFill/>
          <a:ln/>
        </p:spPr>
        <p:txBody>
          <a:bodyPr wrap="square" lIns="191" tIns="191" rIns="191" bIns="191" rtlCol="0" anchor="ctr"/>
          <a:lstStyle/>
          <a:p>
            <a:pPr algn="ctr"/>
            <a:r>
              <a:rPr lang="en-US" b="1" dirty="0">
                <a:solidFill>
                  <a:srgbClr val="D1233A"/>
                </a:solidFill>
                <a:latin typeface="Microsoft JhengHei" pitchFamily="34" charset="0"/>
                <a:ea typeface="Microsoft JhengHei" pitchFamily="34" charset="-122"/>
                <a:cs typeface="Microsoft JhengHei" pitchFamily="34" charset="-120"/>
              </a:rPr>
              <a:t>往下彎 → a 朝下</a:t>
            </a:r>
            <a:endParaRPr lang="en-US" dirty="0"/>
          </a:p>
        </p:txBody>
      </p:sp>
      <p:sp>
        <p:nvSpPr>
          <p:cNvPr id="10" name="z_56"/>
          <p:cNvSpPr/>
          <p:nvPr/>
        </p:nvSpPr>
        <p:spPr>
          <a:xfrm>
            <a:off x="3275850" y="3561736"/>
            <a:ext cx="790883"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1" name="M|v|v|57"/>
              <p:cNvSpPr txBox="1"/>
              <p:nvPr/>
            </p:nvSpPr>
            <p:spPr>
              <a:xfrm>
                <a:off x="4059874" y="3373141"/>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1" name="M|v|v|57"/>
              <p:cNvSpPr txBox="1">
                <a:spLocks noRot="1" noChangeAspect="1" noMove="1" noResize="1" noEditPoints="1" noAdjustHandles="1" noChangeArrowheads="1" noChangeShapeType="1" noTextEdit="1"/>
              </p:cNvSpPr>
              <p:nvPr/>
            </p:nvSpPr>
            <p:spPr>
              <a:xfrm>
                <a:off x="4059874" y="3373141"/>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2" name="z_58"/>
          <p:cNvSpPr/>
          <p:nvPr/>
        </p:nvSpPr>
        <p:spPr>
          <a:xfrm flipV="1">
            <a:off x="3275850" y="2862884"/>
            <a:ext cx="686" cy="698852"/>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3" name="M|a|a|59"/>
              <p:cNvSpPr txBox="1"/>
              <p:nvPr/>
            </p:nvSpPr>
            <p:spPr>
              <a:xfrm>
                <a:off x="2823222" y="267428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3" name="M|a|a|59"/>
              <p:cNvSpPr txBox="1">
                <a:spLocks noRot="1" noChangeAspect="1" noMove="1" noResize="1" noEditPoints="1" noAdjustHandles="1" noChangeArrowheads="1" noChangeShapeType="1" noTextEdit="1"/>
              </p:cNvSpPr>
              <p:nvPr/>
            </p:nvSpPr>
            <p:spPr>
              <a:xfrm>
                <a:off x="2823222" y="2674289"/>
                <a:ext cx="425196" cy="377190"/>
              </a:xfrm>
              <a:prstGeom prst="rect">
                <a:avLst/>
              </a:prstGeom>
              <a:blipFill>
                <a:blip r:embed="rId6"/>
                <a:stretch>
                  <a:fillRect/>
                </a:stretch>
              </a:blipFill>
              <a:ln/>
            </p:spPr>
            <p:txBody>
              <a:bodyPr/>
              <a:lstStyle/>
              <a:p>
                <a:r>
                  <a:rPr lang="zh-TW" altLang="en-US">
                    <a:noFill/>
                  </a:rPr>
                  <a:t> </a:t>
                </a:r>
              </a:p>
            </p:txBody>
          </p:sp>
        </mc:Fallback>
      </mc:AlternateContent>
      <p:sp>
        <p:nvSpPr>
          <p:cNvPr id="14" name="z_60"/>
          <p:cNvSpPr/>
          <p:nvPr/>
        </p:nvSpPr>
        <p:spPr>
          <a:xfrm>
            <a:off x="3227844" y="3513730"/>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61"/>
          <p:cNvSpPr txBox="1"/>
          <p:nvPr/>
        </p:nvSpPr>
        <p:spPr>
          <a:xfrm>
            <a:off x="2227744" y="3915808"/>
            <a:ext cx="2057400" cy="370332"/>
          </a:xfrm>
          <a:prstGeom prst="rect">
            <a:avLst/>
          </a:prstGeom>
          <a:noFill/>
          <a:ln/>
        </p:spPr>
        <p:txBody>
          <a:bodyPr wrap="square" lIns="191" tIns="191" rIns="191" bIns="191" rtlCol="0" anchor="ctr"/>
          <a:lstStyle/>
          <a:p>
            <a:pPr algn="ctr"/>
            <a:r>
              <a:rPr lang="en-US" b="1" dirty="0">
                <a:solidFill>
                  <a:srgbClr val="D1233A"/>
                </a:solidFill>
                <a:latin typeface="Microsoft JhengHei" pitchFamily="34" charset="0"/>
                <a:ea typeface="Microsoft JhengHei" pitchFamily="34" charset="-122"/>
                <a:cs typeface="Microsoft JhengHei" pitchFamily="34" charset="-120"/>
              </a:rPr>
              <a:t>往上彎 → a 朝上</a:t>
            </a:r>
            <a:endParaRPr lang="en-US" dirty="0"/>
          </a:p>
        </p:txBody>
      </p:sp>
      <p:sp>
        <p:nvSpPr>
          <p:cNvPr id="16" name="z_62"/>
          <p:cNvSpPr/>
          <p:nvPr/>
        </p:nvSpPr>
        <p:spPr>
          <a:xfrm>
            <a:off x="2334702" y="2914650"/>
            <a:ext cx="537332" cy="580319"/>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7" name="M|v|v|63"/>
              <p:cNvSpPr txBox="1"/>
              <p:nvPr/>
            </p:nvSpPr>
            <p:spPr>
              <a:xfrm>
                <a:off x="2865176" y="3306374"/>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7" name="M|v|v|63"/>
              <p:cNvSpPr txBox="1">
                <a:spLocks noRot="1" noChangeAspect="1" noMove="1" noResize="1" noEditPoints="1" noAdjustHandles="1" noChangeArrowheads="1" noChangeShapeType="1" noTextEdit="1"/>
              </p:cNvSpPr>
              <p:nvPr/>
            </p:nvSpPr>
            <p:spPr>
              <a:xfrm>
                <a:off x="2865176" y="3306374"/>
                <a:ext cx="425196" cy="377190"/>
              </a:xfrm>
              <a:prstGeom prst="rect">
                <a:avLst/>
              </a:prstGeom>
              <a:blipFill>
                <a:blip r:embed="rId7"/>
                <a:stretch>
                  <a:fillRect/>
                </a:stretch>
              </a:blipFill>
              <a:ln/>
            </p:spPr>
            <p:txBody>
              <a:bodyPr/>
              <a:lstStyle/>
              <a:p>
                <a:r>
                  <a:rPr lang="zh-TW" altLang="en-US">
                    <a:noFill/>
                  </a:rPr>
                  <a:t> </a:t>
                </a:r>
              </a:p>
            </p:txBody>
          </p:sp>
        </mc:Fallback>
      </mc:AlternateContent>
      <p:sp>
        <p:nvSpPr>
          <p:cNvPr id="18" name="z_64"/>
          <p:cNvSpPr/>
          <p:nvPr/>
        </p:nvSpPr>
        <p:spPr>
          <a:xfrm>
            <a:off x="2286696" y="2866644"/>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9" name="z_65"/>
          <p:cNvSpPr txBox="1"/>
          <p:nvPr/>
        </p:nvSpPr>
        <p:spPr>
          <a:xfrm>
            <a:off x="2825054" y="2190246"/>
            <a:ext cx="2057400" cy="370332"/>
          </a:xfrm>
          <a:prstGeom prst="rect">
            <a:avLst/>
          </a:prstGeom>
          <a:noFill/>
          <a:ln/>
        </p:spPr>
        <p:txBody>
          <a:bodyPr wrap="square" lIns="191" tIns="191" rIns="191" bIns="191" rtlCol="0" anchor="ctr"/>
          <a:lstStyle/>
          <a:p>
            <a:r>
              <a:rPr lang="en-US" b="1" dirty="0">
                <a:solidFill>
                  <a:srgbClr val="D1233A"/>
                </a:solidFill>
                <a:latin typeface="Microsoft JhengHei" pitchFamily="34" charset="0"/>
                <a:ea typeface="Microsoft JhengHei" pitchFamily="34" charset="-122"/>
                <a:cs typeface="Microsoft JhengHei" pitchFamily="34" charset="-120"/>
              </a:rPr>
              <a:t>不彎 → a = 0</a:t>
            </a:r>
            <a:endParaRPr lang="en-US" dirty="0"/>
          </a:p>
        </p:txBody>
      </p:sp>
      <mc:AlternateContent xmlns:mc="http://schemas.openxmlformats.org/markup-compatibility/2006" xmlns:a14="http://schemas.microsoft.com/office/drawing/2010/main">
        <mc:Choice Requires="a14">
          <p:sp>
            <p:nvSpPr>
              <p:cNvPr id="20" name="T|c3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永遠沿著切線。</a:t>
                </a: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指向路「彎進去」的那一邊：往上彎，a 朝上；往下彎，a 朝下。剛好不彎時，這個例子的 a = 0。</a:t>
                </a:r>
                <a:endParaRPr lang="zh-TW" altLang="en-US"/>
              </a:p>
            </p:txBody>
          </p:sp>
        </mc:Choice>
        <mc:Fallback xmlns="">
          <p:sp>
            <p:nvSpPr>
              <p:cNvPr id="20" name="T|c3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8"/>
                <a:stretch>
                  <a:fillRect l="-3555" t="-3153" r="-6801"/>
                </a:stretch>
              </a:blipFill>
              <a:ln/>
            </p:spPr>
            <p:txBody>
              <a:bodyPr/>
              <a:lstStyle/>
              <a:p>
                <a:r>
                  <a:rPr lang="zh-TW" altLang="en-US">
                    <a:noFill/>
                  </a:rPr>
                  <a:t> </a:t>
                </a:r>
              </a:p>
            </p:txBody>
          </p:sp>
        </mc:Fallback>
      </mc:AlternateContent>
      <p:sp>
        <p:nvSpPr>
          <p:cNvPr id="21" name="box_66"/>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2" name="T|c3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一定與路徑相切；</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一般不相切。</a:t>
                </a:r>
                <a:endParaRPr lang="zh-TW" altLang="en-US"/>
              </a:p>
            </p:txBody>
          </p:sp>
        </mc:Choice>
        <mc:Fallback xmlns="">
          <p:sp>
            <p:nvSpPr>
              <p:cNvPr id="22" name="T|c3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9"/>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6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600"/>
                                        <p:tgtEl>
                                          <p:spTgt spid="21"/>
                                        </p:tgtEl>
                                      </p:cBhvr>
                                    </p:animEffect>
                                  </p:childTnLst>
                                </p:cTn>
                              </p:par>
                              <p:par>
                                <p:cTn id="67" presetID="10" presetClass="entr" presetSubtype="0"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4｜等速率也有加速度</a:t>
            </a:r>
            <a:endParaRPr lang="en-US" sz="2700" dirty="0"/>
          </a:p>
        </p:txBody>
      </p:sp>
      <p:sp>
        <p:nvSpPr>
          <p:cNvPr id="3" name="z_67"/>
          <p:cNvSpPr/>
          <p:nvPr/>
        </p:nvSpPr>
        <p:spPr>
          <a:xfrm>
            <a:off x="574741" y="1351128"/>
            <a:ext cx="2993978" cy="2661314"/>
          </a:xfrm>
          <a:custGeom>
            <a:avLst/>
            <a:gdLst/>
            <a:ahLst/>
            <a:cxnLst/>
            <a:rect l="l" t="t" r="r" b="b"/>
            <a:pathLst>
              <a:path w="3991970" h="3548418">
                <a:moveTo>
                  <a:pt x="0" y="3548418"/>
                </a:moveTo>
                <a:lnTo>
                  <a:pt x="58077" y="3548418"/>
                </a:lnTo>
                <a:lnTo>
                  <a:pt x="116154" y="3548418"/>
                </a:lnTo>
                <a:lnTo>
                  <a:pt x="174232" y="3548418"/>
                </a:lnTo>
                <a:lnTo>
                  <a:pt x="232309" y="3548418"/>
                </a:lnTo>
                <a:lnTo>
                  <a:pt x="290386" y="3548418"/>
                </a:lnTo>
                <a:lnTo>
                  <a:pt x="348463" y="3548418"/>
                </a:lnTo>
                <a:lnTo>
                  <a:pt x="406540" y="3548418"/>
                </a:lnTo>
                <a:lnTo>
                  <a:pt x="464618" y="3548418"/>
                </a:lnTo>
                <a:lnTo>
                  <a:pt x="522695" y="3548418"/>
                </a:lnTo>
                <a:lnTo>
                  <a:pt x="580772" y="3548418"/>
                </a:lnTo>
                <a:lnTo>
                  <a:pt x="638849" y="3548418"/>
                </a:lnTo>
                <a:lnTo>
                  <a:pt x="696927" y="3548418"/>
                </a:lnTo>
                <a:lnTo>
                  <a:pt x="755004" y="3548418"/>
                </a:lnTo>
                <a:lnTo>
                  <a:pt x="813081" y="3548418"/>
                </a:lnTo>
                <a:lnTo>
                  <a:pt x="871158" y="3548418"/>
                </a:lnTo>
                <a:lnTo>
                  <a:pt x="929235" y="3548418"/>
                </a:lnTo>
                <a:lnTo>
                  <a:pt x="987313" y="3548418"/>
                </a:lnTo>
                <a:lnTo>
                  <a:pt x="1045390" y="3548418"/>
                </a:lnTo>
                <a:lnTo>
                  <a:pt x="1103467" y="3548418"/>
                </a:lnTo>
                <a:lnTo>
                  <a:pt x="1161544" y="3548418"/>
                </a:lnTo>
                <a:lnTo>
                  <a:pt x="1219621" y="3548418"/>
                </a:lnTo>
                <a:lnTo>
                  <a:pt x="1277699" y="3548418"/>
                </a:lnTo>
                <a:lnTo>
                  <a:pt x="1335776" y="3548418"/>
                </a:lnTo>
                <a:lnTo>
                  <a:pt x="1393853" y="3548418"/>
                </a:lnTo>
                <a:lnTo>
                  <a:pt x="1451930" y="3548418"/>
                </a:lnTo>
                <a:lnTo>
                  <a:pt x="1510007" y="3548418"/>
                </a:lnTo>
                <a:lnTo>
                  <a:pt x="1568085" y="3548418"/>
                </a:lnTo>
                <a:lnTo>
                  <a:pt x="1626162" y="3548418"/>
                </a:lnTo>
                <a:lnTo>
                  <a:pt x="1684239" y="3548418"/>
                </a:lnTo>
                <a:lnTo>
                  <a:pt x="1742316" y="3548418"/>
                </a:lnTo>
                <a:lnTo>
                  <a:pt x="1800394" y="3548418"/>
                </a:lnTo>
                <a:lnTo>
                  <a:pt x="1858471" y="3548418"/>
                </a:lnTo>
                <a:lnTo>
                  <a:pt x="1916548" y="3548418"/>
                </a:lnTo>
                <a:lnTo>
                  <a:pt x="1974625" y="3548418"/>
                </a:lnTo>
                <a:lnTo>
                  <a:pt x="2032702" y="3548418"/>
                </a:lnTo>
                <a:lnTo>
                  <a:pt x="2090780" y="3548418"/>
                </a:lnTo>
                <a:lnTo>
                  <a:pt x="2148857" y="3548418"/>
                </a:lnTo>
                <a:lnTo>
                  <a:pt x="2206934" y="3548418"/>
                </a:lnTo>
                <a:lnTo>
                  <a:pt x="2265011" y="3548418"/>
                </a:lnTo>
                <a:lnTo>
                  <a:pt x="2323088" y="3548418"/>
                </a:lnTo>
                <a:lnTo>
                  <a:pt x="2381166" y="3548418"/>
                </a:lnTo>
                <a:lnTo>
                  <a:pt x="2439243" y="3548418"/>
                </a:lnTo>
                <a:lnTo>
                  <a:pt x="2497320" y="3548418"/>
                </a:lnTo>
                <a:lnTo>
                  <a:pt x="2555397" y="3548418"/>
                </a:lnTo>
                <a:lnTo>
                  <a:pt x="2613474" y="3548418"/>
                </a:lnTo>
                <a:lnTo>
                  <a:pt x="2671552" y="3548379"/>
                </a:lnTo>
                <a:lnTo>
                  <a:pt x="2729599" y="3546665"/>
                </a:lnTo>
                <a:lnTo>
                  <a:pt x="2787516" y="3542420"/>
                </a:lnTo>
                <a:lnTo>
                  <a:pt x="2845193" y="3535652"/>
                </a:lnTo>
                <a:lnTo>
                  <a:pt x="2902520" y="3526374"/>
                </a:lnTo>
                <a:lnTo>
                  <a:pt x="2959387" y="3514603"/>
                </a:lnTo>
                <a:lnTo>
                  <a:pt x="3015686" y="3500363"/>
                </a:lnTo>
                <a:lnTo>
                  <a:pt x="3071311" y="3483680"/>
                </a:lnTo>
                <a:lnTo>
                  <a:pt x="3126155" y="3464585"/>
                </a:lnTo>
                <a:lnTo>
                  <a:pt x="3180113" y="3443116"/>
                </a:lnTo>
                <a:lnTo>
                  <a:pt x="3233083" y="3419313"/>
                </a:lnTo>
                <a:lnTo>
                  <a:pt x="3284964" y="3393221"/>
                </a:lnTo>
                <a:lnTo>
                  <a:pt x="3335658" y="3364891"/>
                </a:lnTo>
                <a:lnTo>
                  <a:pt x="3385067" y="3334376"/>
                </a:lnTo>
                <a:lnTo>
                  <a:pt x="3433097" y="3301734"/>
                </a:lnTo>
                <a:lnTo>
                  <a:pt x="3479658" y="3267027"/>
                </a:lnTo>
                <a:lnTo>
                  <a:pt x="3524660" y="3230322"/>
                </a:lnTo>
                <a:lnTo>
                  <a:pt x="3568017" y="3191689"/>
                </a:lnTo>
                <a:lnTo>
                  <a:pt x="3609648" y="3151200"/>
                </a:lnTo>
                <a:lnTo>
                  <a:pt x="3649472" y="3108934"/>
                </a:lnTo>
                <a:lnTo>
                  <a:pt x="3687415" y="3064970"/>
                </a:lnTo>
                <a:lnTo>
                  <a:pt x="3723403" y="3019393"/>
                </a:lnTo>
                <a:lnTo>
                  <a:pt x="3757368" y="2972289"/>
                </a:lnTo>
                <a:lnTo>
                  <a:pt x="3789245" y="2923748"/>
                </a:lnTo>
                <a:lnTo>
                  <a:pt x="3818975" y="2873862"/>
                </a:lnTo>
                <a:lnTo>
                  <a:pt x="3846499" y="2822726"/>
                </a:lnTo>
                <a:lnTo>
                  <a:pt x="3871766" y="2770439"/>
                </a:lnTo>
                <a:lnTo>
                  <a:pt x="3894727" y="2717098"/>
                </a:lnTo>
                <a:lnTo>
                  <a:pt x="3915340" y="2662807"/>
                </a:lnTo>
                <a:lnTo>
                  <a:pt x="3933563" y="2607668"/>
                </a:lnTo>
                <a:lnTo>
                  <a:pt x="3949364" y="2551786"/>
                </a:lnTo>
                <a:lnTo>
                  <a:pt x="3962712" y="2495268"/>
                </a:lnTo>
                <a:lnTo>
                  <a:pt x="3973580" y="2438222"/>
                </a:lnTo>
                <a:lnTo>
                  <a:pt x="3981950" y="2380755"/>
                </a:lnTo>
                <a:lnTo>
                  <a:pt x="3987804" y="2322978"/>
                </a:lnTo>
                <a:lnTo>
                  <a:pt x="3991131" y="2265001"/>
                </a:lnTo>
                <a:lnTo>
                  <a:pt x="3991970" y="2206934"/>
                </a:lnTo>
                <a:lnTo>
                  <a:pt x="3991970" y="2148857"/>
                </a:lnTo>
                <a:lnTo>
                  <a:pt x="3991970" y="2090780"/>
                </a:lnTo>
                <a:lnTo>
                  <a:pt x="3991970" y="2032702"/>
                </a:lnTo>
                <a:lnTo>
                  <a:pt x="3991970" y="1974625"/>
                </a:lnTo>
                <a:lnTo>
                  <a:pt x="3991970" y="1916548"/>
                </a:lnTo>
                <a:lnTo>
                  <a:pt x="3991970" y="1858471"/>
                </a:lnTo>
                <a:lnTo>
                  <a:pt x="3991970" y="1800394"/>
                </a:lnTo>
                <a:lnTo>
                  <a:pt x="3991970" y="1742316"/>
                </a:lnTo>
                <a:lnTo>
                  <a:pt x="3991970" y="1684239"/>
                </a:lnTo>
                <a:lnTo>
                  <a:pt x="3991970" y="1626162"/>
                </a:lnTo>
                <a:lnTo>
                  <a:pt x="3991970" y="1568085"/>
                </a:lnTo>
                <a:lnTo>
                  <a:pt x="3991970" y="1510007"/>
                </a:lnTo>
                <a:lnTo>
                  <a:pt x="3991970" y="1451930"/>
                </a:lnTo>
                <a:lnTo>
                  <a:pt x="3991970" y="1393853"/>
                </a:lnTo>
                <a:lnTo>
                  <a:pt x="3991970" y="1335776"/>
                </a:lnTo>
                <a:lnTo>
                  <a:pt x="3991970" y="1277699"/>
                </a:lnTo>
                <a:lnTo>
                  <a:pt x="3991970" y="1219621"/>
                </a:lnTo>
                <a:lnTo>
                  <a:pt x="3991970" y="1161544"/>
                </a:lnTo>
                <a:lnTo>
                  <a:pt x="3991970" y="1103467"/>
                </a:lnTo>
                <a:lnTo>
                  <a:pt x="3991970" y="1045390"/>
                </a:lnTo>
                <a:lnTo>
                  <a:pt x="3991970" y="987313"/>
                </a:lnTo>
                <a:lnTo>
                  <a:pt x="3991970" y="929235"/>
                </a:lnTo>
                <a:lnTo>
                  <a:pt x="3991970" y="871158"/>
                </a:lnTo>
                <a:lnTo>
                  <a:pt x="3991970" y="813081"/>
                </a:lnTo>
                <a:lnTo>
                  <a:pt x="3991970" y="755004"/>
                </a:lnTo>
                <a:lnTo>
                  <a:pt x="3991970" y="696927"/>
                </a:lnTo>
                <a:lnTo>
                  <a:pt x="3991970" y="638849"/>
                </a:lnTo>
                <a:lnTo>
                  <a:pt x="3991970" y="580772"/>
                </a:lnTo>
                <a:lnTo>
                  <a:pt x="3991970" y="522695"/>
                </a:lnTo>
                <a:lnTo>
                  <a:pt x="3991970" y="464618"/>
                </a:lnTo>
                <a:lnTo>
                  <a:pt x="3991970" y="406540"/>
                </a:lnTo>
                <a:lnTo>
                  <a:pt x="3991970" y="348463"/>
                </a:lnTo>
                <a:lnTo>
                  <a:pt x="3991970" y="290386"/>
                </a:lnTo>
                <a:lnTo>
                  <a:pt x="3991970" y="232309"/>
                </a:lnTo>
                <a:lnTo>
                  <a:pt x="3991970" y="174232"/>
                </a:lnTo>
                <a:lnTo>
                  <a:pt x="3991970" y="116154"/>
                </a:lnTo>
                <a:lnTo>
                  <a:pt x="3991970" y="58077"/>
                </a:lnTo>
                <a:lnTo>
                  <a:pt x="3991970"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68"/>
          <p:cNvSpPr/>
          <p:nvPr/>
        </p:nvSpPr>
        <p:spPr>
          <a:xfrm>
            <a:off x="2570727" y="3014450"/>
            <a:ext cx="997993" cy="997993"/>
          </a:xfrm>
          <a:custGeom>
            <a:avLst/>
            <a:gdLst/>
            <a:ahLst/>
            <a:cxnLst/>
            <a:rect l="l" t="t" r="r" b="b"/>
            <a:pathLst>
              <a:path w="1330657" h="1330657">
                <a:moveTo>
                  <a:pt x="0" y="1330657"/>
                </a:moveTo>
                <a:lnTo>
                  <a:pt x="52241" y="1329631"/>
                </a:lnTo>
                <a:lnTo>
                  <a:pt x="104402" y="1326555"/>
                </a:lnTo>
                <a:lnTo>
                  <a:pt x="156402" y="1321433"/>
                </a:lnTo>
                <a:lnTo>
                  <a:pt x="208161" y="1314274"/>
                </a:lnTo>
                <a:lnTo>
                  <a:pt x="259598" y="1305089"/>
                </a:lnTo>
                <a:lnTo>
                  <a:pt x="310636" y="1293891"/>
                </a:lnTo>
                <a:lnTo>
                  <a:pt x="361194" y="1280698"/>
                </a:lnTo>
                <a:lnTo>
                  <a:pt x="411196" y="1265530"/>
                </a:lnTo>
                <a:lnTo>
                  <a:pt x="460563" y="1248411"/>
                </a:lnTo>
                <a:lnTo>
                  <a:pt x="509220" y="1229367"/>
                </a:lnTo>
                <a:lnTo>
                  <a:pt x="557092" y="1208427"/>
                </a:lnTo>
                <a:lnTo>
                  <a:pt x="604106" y="1185624"/>
                </a:lnTo>
                <a:lnTo>
                  <a:pt x="650187" y="1160993"/>
                </a:lnTo>
                <a:lnTo>
                  <a:pt x="695266" y="1134571"/>
                </a:lnTo>
                <a:lnTo>
                  <a:pt x="739273" y="1106401"/>
                </a:lnTo>
                <a:lnTo>
                  <a:pt x="782140" y="1076524"/>
                </a:lnTo>
                <a:lnTo>
                  <a:pt x="823802" y="1044987"/>
                </a:lnTo>
                <a:lnTo>
                  <a:pt x="864192" y="1011839"/>
                </a:lnTo>
                <a:lnTo>
                  <a:pt x="903251" y="977131"/>
                </a:lnTo>
                <a:lnTo>
                  <a:pt x="940916" y="940916"/>
                </a:lnTo>
                <a:lnTo>
                  <a:pt x="977131" y="903251"/>
                </a:lnTo>
                <a:lnTo>
                  <a:pt x="1011839" y="864192"/>
                </a:lnTo>
                <a:lnTo>
                  <a:pt x="1044987" y="823802"/>
                </a:lnTo>
                <a:lnTo>
                  <a:pt x="1076524" y="782140"/>
                </a:lnTo>
                <a:lnTo>
                  <a:pt x="1106401" y="739273"/>
                </a:lnTo>
                <a:lnTo>
                  <a:pt x="1134571" y="695266"/>
                </a:lnTo>
                <a:lnTo>
                  <a:pt x="1160993" y="650187"/>
                </a:lnTo>
                <a:lnTo>
                  <a:pt x="1185624" y="604106"/>
                </a:lnTo>
                <a:lnTo>
                  <a:pt x="1208427" y="557092"/>
                </a:lnTo>
                <a:lnTo>
                  <a:pt x="1229367" y="509220"/>
                </a:lnTo>
                <a:lnTo>
                  <a:pt x="1248411" y="460563"/>
                </a:lnTo>
                <a:lnTo>
                  <a:pt x="1265530" y="411196"/>
                </a:lnTo>
                <a:lnTo>
                  <a:pt x="1280698" y="361194"/>
                </a:lnTo>
                <a:lnTo>
                  <a:pt x="1293891" y="310636"/>
                </a:lnTo>
                <a:lnTo>
                  <a:pt x="1305089" y="259598"/>
                </a:lnTo>
                <a:lnTo>
                  <a:pt x="1314274" y="208161"/>
                </a:lnTo>
                <a:lnTo>
                  <a:pt x="1321433" y="156402"/>
                </a:lnTo>
                <a:lnTo>
                  <a:pt x="1326555" y="104402"/>
                </a:lnTo>
                <a:lnTo>
                  <a:pt x="1329631" y="52241"/>
                </a:lnTo>
                <a:lnTo>
                  <a:pt x="1330657" y="0"/>
                </a:lnTo>
              </a:path>
            </a:pathLst>
          </a:custGeom>
          <a:solidFill>
            <a:srgbClr val="FFFFFF">
              <a:alpha val="0"/>
            </a:srgbClr>
          </a:solidFill>
          <a:ln w="114300">
            <a:solidFill>
              <a:srgbClr val="D1233A">
                <a:alpha val="20000"/>
              </a:srgbClr>
            </a:solidFill>
            <a:prstDash val="solid"/>
          </a:ln>
        </p:spPr>
        <p:txBody>
          <a:bodyPr/>
          <a:lstStyle/>
          <a:p>
            <a:endParaRPr lang="zh-TW" altLang="en-US" sz="1350"/>
          </a:p>
        </p:txBody>
      </p:sp>
      <p:sp>
        <p:nvSpPr>
          <p:cNvPr id="5" name="z_69"/>
          <p:cNvSpPr txBox="1"/>
          <p:nvPr/>
        </p:nvSpPr>
        <p:spPr>
          <a:xfrm>
            <a:off x="271761" y="1432094"/>
            <a:ext cx="2468880" cy="370332"/>
          </a:xfrm>
          <a:prstGeom prst="rect">
            <a:avLst/>
          </a:prstGeom>
          <a:noFill/>
          <a:ln/>
        </p:spPr>
        <p:txBody>
          <a:bodyPr wrap="square" lIns="191" tIns="191" rIns="191" bIns="191" rtlCol="0" anchor="ctr"/>
          <a:lstStyle/>
          <a:p>
            <a:pPr algn="ctr"/>
            <a:r>
              <a:rPr lang="en-US" b="1" dirty="0">
                <a:solidFill>
                  <a:srgbClr val="138A52"/>
                </a:solidFill>
                <a:latin typeface="Microsoft JhengHei" pitchFamily="34" charset="0"/>
                <a:ea typeface="Microsoft JhengHei" pitchFamily="34" charset="-122"/>
                <a:cs typeface="Microsoft JhengHei" pitchFamily="34" charset="-120"/>
              </a:rPr>
              <a:t>速率一直是 1.2 m/s</a:t>
            </a:r>
            <a:endParaRPr lang="en-US" dirty="0"/>
          </a:p>
        </p:txBody>
      </p:sp>
      <p:sp>
        <p:nvSpPr>
          <p:cNvPr id="6" name="z_70"/>
          <p:cNvSpPr/>
          <p:nvPr/>
        </p:nvSpPr>
        <p:spPr>
          <a:xfrm>
            <a:off x="1572735" y="4012441"/>
            <a:ext cx="731861"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7" name="M|v|v|71"/>
              <p:cNvSpPr txBox="1"/>
              <p:nvPr/>
            </p:nvSpPr>
            <p:spPr>
              <a:xfrm>
                <a:off x="2297737" y="3823847"/>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7" name="M|v|v|71"/>
              <p:cNvSpPr txBox="1">
                <a:spLocks noRot="1" noChangeAspect="1" noMove="1" noResize="1" noEditPoints="1" noAdjustHandles="1" noChangeArrowheads="1" noChangeShapeType="1" noTextEdit="1"/>
              </p:cNvSpPr>
              <p:nvPr/>
            </p:nvSpPr>
            <p:spPr>
              <a:xfrm>
                <a:off x="2297737" y="3823847"/>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8" name="z_72"/>
          <p:cNvSpPr/>
          <p:nvPr/>
        </p:nvSpPr>
        <p:spPr>
          <a:xfrm>
            <a:off x="1524728" y="3964436"/>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9" name="z_73"/>
          <p:cNvSpPr txBox="1"/>
          <p:nvPr/>
        </p:nvSpPr>
        <p:spPr>
          <a:xfrm>
            <a:off x="681194" y="4226473"/>
            <a:ext cx="1783080" cy="370332"/>
          </a:xfrm>
          <a:prstGeom prst="rect">
            <a:avLst/>
          </a:prstGeom>
          <a:noFill/>
          <a:ln/>
        </p:spPr>
        <p:txBody>
          <a:bodyPr wrap="square" lIns="191" tIns="191" rIns="191" bIns="191" rtlCol="0" anchor="ctr"/>
          <a:lstStyle/>
          <a:p>
            <a:pPr algn="ctr"/>
            <a:r>
              <a:rPr lang="en-US" b="1" dirty="0">
                <a:solidFill>
                  <a:srgbClr val="1B2838"/>
                </a:solidFill>
                <a:latin typeface="Microsoft JhengHei" pitchFamily="34" charset="0"/>
                <a:ea typeface="Microsoft JhengHei" pitchFamily="34" charset="-122"/>
                <a:cs typeface="Microsoft JhengHei" pitchFamily="34" charset="-120"/>
              </a:rPr>
              <a:t>直線：a = 0</a:t>
            </a:r>
            <a:endParaRPr lang="en-US" dirty="0"/>
          </a:p>
        </p:txBody>
      </p:sp>
      <p:sp>
        <p:nvSpPr>
          <p:cNvPr id="10" name="z_74"/>
          <p:cNvSpPr/>
          <p:nvPr/>
        </p:nvSpPr>
        <p:spPr>
          <a:xfrm flipV="1">
            <a:off x="3276414" y="3187874"/>
            <a:ext cx="532263" cy="532263"/>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1" name="M|v|v|75"/>
              <p:cNvSpPr txBox="1"/>
              <p:nvPr/>
            </p:nvSpPr>
            <p:spPr>
              <a:xfrm>
                <a:off x="3801818" y="299927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1" name="M|v|v|75"/>
              <p:cNvSpPr txBox="1">
                <a:spLocks noRot="1" noChangeAspect="1" noMove="1" noResize="1" noEditPoints="1" noAdjustHandles="1" noChangeArrowheads="1" noChangeShapeType="1" noTextEdit="1"/>
              </p:cNvSpPr>
              <p:nvPr/>
            </p:nvSpPr>
            <p:spPr>
              <a:xfrm>
                <a:off x="3801818" y="2999279"/>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12" name="z_76"/>
          <p:cNvSpPr/>
          <p:nvPr/>
        </p:nvSpPr>
        <p:spPr>
          <a:xfrm flipH="1" flipV="1">
            <a:off x="2853001" y="3296724"/>
            <a:ext cx="423413" cy="423413"/>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3" name="M|a|a|77"/>
              <p:cNvSpPr txBox="1"/>
              <p:nvPr/>
            </p:nvSpPr>
            <p:spPr>
              <a:xfrm>
                <a:off x="2434664" y="303954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3" name="M|a|a|77"/>
              <p:cNvSpPr txBox="1">
                <a:spLocks noRot="1" noChangeAspect="1" noMove="1" noResize="1" noEditPoints="1" noAdjustHandles="1" noChangeArrowheads="1" noChangeShapeType="1" noTextEdit="1"/>
              </p:cNvSpPr>
              <p:nvPr/>
            </p:nvSpPr>
            <p:spPr>
              <a:xfrm>
                <a:off x="2434664" y="3039549"/>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4" name="z_78"/>
          <p:cNvSpPr/>
          <p:nvPr/>
        </p:nvSpPr>
        <p:spPr>
          <a:xfrm>
            <a:off x="3228408" y="367213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79"/>
          <p:cNvSpPr txBox="1"/>
          <p:nvPr/>
        </p:nvSpPr>
        <p:spPr>
          <a:xfrm>
            <a:off x="3514981" y="3627677"/>
            <a:ext cx="1371600" cy="370332"/>
          </a:xfrm>
          <a:prstGeom prst="rect">
            <a:avLst/>
          </a:prstGeom>
          <a:noFill/>
          <a:ln/>
        </p:spPr>
        <p:txBody>
          <a:bodyPr wrap="square" lIns="191" tIns="191" rIns="191" bIns="191" rtlCol="0" anchor="ctr"/>
          <a:lstStyle/>
          <a:p>
            <a:pPr algn="ctr"/>
            <a:r>
              <a:rPr lang="en-US" b="1" dirty="0">
                <a:solidFill>
                  <a:srgbClr val="D1233A"/>
                </a:solidFill>
                <a:latin typeface="Microsoft JhengHei" pitchFamily="34" charset="0"/>
                <a:ea typeface="Microsoft JhengHei" pitchFamily="34" charset="-122"/>
                <a:cs typeface="Microsoft JhengHei" pitchFamily="34" charset="-120"/>
              </a:rPr>
              <a:t>轉彎：有 a</a:t>
            </a:r>
            <a:endParaRPr lang="en-US" dirty="0"/>
          </a:p>
        </p:txBody>
      </p:sp>
      <p:sp>
        <p:nvSpPr>
          <p:cNvPr id="16" name="z_80"/>
          <p:cNvSpPr/>
          <p:nvPr/>
        </p:nvSpPr>
        <p:spPr>
          <a:xfrm flipV="1">
            <a:off x="3568719" y="1417661"/>
            <a:ext cx="686" cy="665328"/>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7" name="M|v|v|81"/>
              <p:cNvSpPr txBox="1"/>
              <p:nvPr/>
            </p:nvSpPr>
            <p:spPr>
              <a:xfrm>
                <a:off x="3596151" y="1297646"/>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7" name="M|v|v|81"/>
              <p:cNvSpPr txBox="1">
                <a:spLocks noRot="1" noChangeAspect="1" noMove="1" noResize="1" noEditPoints="1" noAdjustHandles="1" noChangeArrowheads="1" noChangeShapeType="1" noTextEdit="1"/>
              </p:cNvSpPr>
              <p:nvPr/>
            </p:nvSpPr>
            <p:spPr>
              <a:xfrm>
                <a:off x="3596151" y="1297646"/>
                <a:ext cx="425196" cy="377190"/>
              </a:xfrm>
              <a:prstGeom prst="rect">
                <a:avLst/>
              </a:prstGeom>
              <a:blipFill>
                <a:blip r:embed="rId6"/>
                <a:stretch>
                  <a:fillRect/>
                </a:stretch>
              </a:blipFill>
              <a:ln/>
            </p:spPr>
            <p:txBody>
              <a:bodyPr/>
              <a:lstStyle/>
              <a:p>
                <a:r>
                  <a:rPr lang="zh-TW" altLang="en-US">
                    <a:noFill/>
                  </a:rPr>
                  <a:t> </a:t>
                </a:r>
              </a:p>
            </p:txBody>
          </p:sp>
        </mc:Fallback>
      </mc:AlternateContent>
      <p:sp>
        <p:nvSpPr>
          <p:cNvPr id="18" name="z_82"/>
          <p:cNvSpPr/>
          <p:nvPr/>
        </p:nvSpPr>
        <p:spPr>
          <a:xfrm>
            <a:off x="3520713" y="2034983"/>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9" name="z_83"/>
          <p:cNvSpPr txBox="1"/>
          <p:nvPr/>
        </p:nvSpPr>
        <p:spPr>
          <a:xfrm>
            <a:off x="1747766" y="1897823"/>
            <a:ext cx="1645920" cy="370332"/>
          </a:xfrm>
          <a:prstGeom prst="rect">
            <a:avLst/>
          </a:prstGeom>
          <a:noFill/>
          <a:ln/>
        </p:spPr>
        <p:txBody>
          <a:bodyPr wrap="square" lIns="191" tIns="191" rIns="191" bIns="191" rtlCol="0" anchor="ctr"/>
          <a:lstStyle/>
          <a:p>
            <a:pPr algn="ctr"/>
            <a:r>
              <a:rPr lang="en-US" b="1" dirty="0">
                <a:solidFill>
                  <a:srgbClr val="1B2838"/>
                </a:solidFill>
                <a:latin typeface="Microsoft JhengHei" pitchFamily="34" charset="0"/>
                <a:ea typeface="Microsoft JhengHei" pitchFamily="34" charset="-122"/>
                <a:cs typeface="Microsoft JhengHei" pitchFamily="34" charset="-120"/>
              </a:rPr>
              <a:t>直線：a = 0</a:t>
            </a:r>
            <a:endParaRPr lang="en-US" dirty="0"/>
          </a:p>
        </p:txBody>
      </p:sp>
      <p:sp>
        <p:nvSpPr>
          <p:cNvPr id="20" name="T|c4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速率一直是 1.2 m/s。可是轉彎時方向在變，速度向量就在變，所以有加速度。直線段方向不變，a 才是 0。</a:t>
            </a:r>
            <a:endParaRPr lang="zh-TW" altLang="en-US"/>
          </a:p>
        </p:txBody>
      </p:sp>
      <p:sp>
        <p:nvSpPr>
          <p:cNvPr id="21" name="box_84"/>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22" name="T|c4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 0 只有一種情況：直線運動而且速率不變。</a:t>
                </a:r>
                <a:endParaRPr lang="zh-TW" altLang="en-US"/>
              </a:p>
            </p:txBody>
          </p:sp>
        </mc:Choice>
        <mc:Fallback xmlns="">
          <p:sp>
            <p:nvSpPr>
              <p:cNvPr id="22" name="T|c4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7"/>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6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6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60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60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600"/>
                                        <p:tgtEl>
                                          <p:spTgt spid="18"/>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6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5｜a 跟 dv 同向，不是跟 v 同向</a:t>
            </a:r>
            <a:endParaRPr lang="en-US" sz="2700" dirty="0"/>
          </a:p>
        </p:txBody>
      </p:sp>
      <p:sp>
        <p:nvSpPr>
          <p:cNvPr id="3" name="box_85"/>
          <p:cNvSpPr/>
          <p:nvPr/>
        </p:nvSpPr>
        <p:spPr>
          <a:xfrm>
            <a:off x="308610" y="92583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4" name="z_86"/>
          <p:cNvSpPr txBox="1"/>
          <p:nvPr/>
        </p:nvSpPr>
        <p:spPr>
          <a:xfrm>
            <a:off x="411480" y="98069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① 直線加速</a:t>
            </a:r>
            <a:endParaRPr lang="en-US" dirty="0"/>
          </a:p>
        </p:txBody>
      </p:sp>
      <p:sp>
        <p:nvSpPr>
          <p:cNvPr id="5" name="z_87"/>
          <p:cNvSpPr txBox="1"/>
          <p:nvPr/>
        </p:nvSpPr>
        <p:spPr>
          <a:xfrm>
            <a:off x="994410" y="242087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0°</a:t>
            </a:r>
            <a:endParaRPr lang="en-US" dirty="0"/>
          </a:p>
        </p:txBody>
      </p:sp>
      <p:sp>
        <p:nvSpPr>
          <p:cNvPr id="6" name="z_88"/>
          <p:cNvSpPr/>
          <p:nvPr/>
        </p:nvSpPr>
        <p:spPr>
          <a:xfrm>
            <a:off x="683351" y="1998617"/>
            <a:ext cx="1410788" cy="686"/>
          </a:xfrm>
          <a:prstGeom prst="line">
            <a:avLst/>
          </a:prstGeom>
          <a:noFill/>
          <a:ln w="28575">
            <a:solidFill>
              <a:srgbClr val="40526A"/>
            </a:solidFill>
            <a:prstDash val="solid"/>
          </a:ln>
        </p:spPr>
        <p:txBody>
          <a:bodyPr/>
          <a:lstStyle/>
          <a:p>
            <a:endParaRPr lang="zh-TW" altLang="en-US" sz="1350"/>
          </a:p>
        </p:txBody>
      </p:sp>
      <p:sp>
        <p:nvSpPr>
          <p:cNvPr id="7" name="z_89"/>
          <p:cNvSpPr/>
          <p:nvPr/>
        </p:nvSpPr>
        <p:spPr>
          <a:xfrm>
            <a:off x="1271179" y="199861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8" name="M|v|v|90"/>
              <p:cNvSpPr txBox="1"/>
              <p:nvPr/>
            </p:nvSpPr>
            <p:spPr>
              <a:xfrm>
                <a:off x="1759077" y="160428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8" name="M|v|v|90"/>
              <p:cNvSpPr txBox="1">
                <a:spLocks noRot="1" noChangeAspect="1" noMove="1" noResize="1" noEditPoints="1" noAdjustHandles="1" noChangeArrowheads="1" noChangeShapeType="1" noTextEdit="1"/>
              </p:cNvSpPr>
              <p:nvPr/>
            </p:nvSpPr>
            <p:spPr>
              <a:xfrm>
                <a:off x="1759077" y="1604282"/>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9" name="z_91"/>
          <p:cNvSpPr/>
          <p:nvPr/>
        </p:nvSpPr>
        <p:spPr>
          <a:xfrm>
            <a:off x="1271180" y="2096588"/>
            <a:ext cx="450668" cy="686"/>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0" name="M|a|a|92"/>
              <p:cNvSpPr txBox="1"/>
              <p:nvPr/>
            </p:nvSpPr>
            <p:spPr>
              <a:xfrm>
                <a:off x="1680700" y="2113733"/>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0" name="M|a|a|92"/>
              <p:cNvSpPr txBox="1">
                <a:spLocks noRot="1" noChangeAspect="1" noMove="1" noResize="1" noEditPoints="1" noAdjustHandles="1" noChangeArrowheads="1" noChangeShapeType="1" noTextEdit="1"/>
              </p:cNvSpPr>
              <p:nvPr/>
            </p:nvSpPr>
            <p:spPr>
              <a:xfrm>
                <a:off x="1680700" y="2113733"/>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11" name="z_93"/>
          <p:cNvSpPr/>
          <p:nvPr/>
        </p:nvSpPr>
        <p:spPr>
          <a:xfrm>
            <a:off x="1223174" y="195061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2" name="box_94"/>
          <p:cNvSpPr/>
          <p:nvPr/>
        </p:nvSpPr>
        <p:spPr>
          <a:xfrm>
            <a:off x="2571750" y="92583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13" name="z_95"/>
          <p:cNvSpPr txBox="1"/>
          <p:nvPr/>
        </p:nvSpPr>
        <p:spPr>
          <a:xfrm>
            <a:off x="2674620" y="98069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② 等速率轉彎</a:t>
            </a:r>
            <a:endParaRPr lang="en-US" dirty="0"/>
          </a:p>
        </p:txBody>
      </p:sp>
      <p:sp>
        <p:nvSpPr>
          <p:cNvPr id="14" name="z_96"/>
          <p:cNvSpPr txBox="1"/>
          <p:nvPr/>
        </p:nvSpPr>
        <p:spPr>
          <a:xfrm>
            <a:off x="3257550" y="242087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90°</a:t>
            </a:r>
            <a:endParaRPr lang="en-US" dirty="0"/>
          </a:p>
        </p:txBody>
      </p:sp>
      <p:sp>
        <p:nvSpPr>
          <p:cNvPr id="15" name="z_97"/>
          <p:cNvSpPr/>
          <p:nvPr/>
        </p:nvSpPr>
        <p:spPr>
          <a:xfrm>
            <a:off x="3056170" y="1650909"/>
            <a:ext cx="1014698" cy="347701"/>
          </a:xfrm>
          <a:custGeom>
            <a:avLst/>
            <a:gdLst/>
            <a:ahLst/>
            <a:cxnLst/>
            <a:rect l="l" t="t" r="r" b="b"/>
            <a:pathLst>
              <a:path w="1352930" h="463601">
                <a:moveTo>
                  <a:pt x="0" y="135746"/>
                </a:moveTo>
                <a:lnTo>
                  <a:pt x="12186" y="152322"/>
                </a:lnTo>
                <a:lnTo>
                  <a:pt x="24802" y="168573"/>
                </a:lnTo>
                <a:lnTo>
                  <a:pt x="37841" y="184487"/>
                </a:lnTo>
                <a:lnTo>
                  <a:pt x="51293" y="200053"/>
                </a:lnTo>
                <a:lnTo>
                  <a:pt x="65149" y="215261"/>
                </a:lnTo>
                <a:lnTo>
                  <a:pt x="79400" y="230099"/>
                </a:lnTo>
                <a:lnTo>
                  <a:pt x="94035" y="244559"/>
                </a:lnTo>
                <a:lnTo>
                  <a:pt x="109044" y="258630"/>
                </a:lnTo>
                <a:lnTo>
                  <a:pt x="124418" y="272302"/>
                </a:lnTo>
                <a:lnTo>
                  <a:pt x="140145" y="285565"/>
                </a:lnTo>
                <a:lnTo>
                  <a:pt x="156215" y="298411"/>
                </a:lnTo>
                <a:lnTo>
                  <a:pt x="172616" y="310831"/>
                </a:lnTo>
                <a:lnTo>
                  <a:pt x="189338" y="322817"/>
                </a:lnTo>
                <a:lnTo>
                  <a:pt x="206369" y="334359"/>
                </a:lnTo>
                <a:lnTo>
                  <a:pt x="223696" y="345450"/>
                </a:lnTo>
                <a:lnTo>
                  <a:pt x="241309" y="356083"/>
                </a:lnTo>
                <a:lnTo>
                  <a:pt x="259195" y="366249"/>
                </a:lnTo>
                <a:lnTo>
                  <a:pt x="277342" y="375943"/>
                </a:lnTo>
                <a:lnTo>
                  <a:pt x="295736" y="385157"/>
                </a:lnTo>
                <a:lnTo>
                  <a:pt x="314367" y="393885"/>
                </a:lnTo>
                <a:lnTo>
                  <a:pt x="333219" y="402121"/>
                </a:lnTo>
                <a:lnTo>
                  <a:pt x="352282" y="409860"/>
                </a:lnTo>
                <a:lnTo>
                  <a:pt x="371541" y="417095"/>
                </a:lnTo>
                <a:lnTo>
                  <a:pt x="390984" y="423823"/>
                </a:lnTo>
                <a:lnTo>
                  <a:pt x="410596" y="430038"/>
                </a:lnTo>
                <a:lnTo>
                  <a:pt x="430364" y="435736"/>
                </a:lnTo>
                <a:lnTo>
                  <a:pt x="450276" y="440913"/>
                </a:lnTo>
                <a:lnTo>
                  <a:pt x="470316" y="445565"/>
                </a:lnTo>
                <a:lnTo>
                  <a:pt x="490472" y="449691"/>
                </a:lnTo>
                <a:lnTo>
                  <a:pt x="510729" y="453285"/>
                </a:lnTo>
                <a:lnTo>
                  <a:pt x="531073" y="456347"/>
                </a:lnTo>
                <a:lnTo>
                  <a:pt x="551491" y="458874"/>
                </a:lnTo>
                <a:lnTo>
                  <a:pt x="571968" y="460864"/>
                </a:lnTo>
                <a:lnTo>
                  <a:pt x="592490" y="462315"/>
                </a:lnTo>
                <a:lnTo>
                  <a:pt x="613043" y="463228"/>
                </a:lnTo>
                <a:lnTo>
                  <a:pt x="633613" y="463601"/>
                </a:lnTo>
                <a:lnTo>
                  <a:pt x="654186" y="463434"/>
                </a:lnTo>
                <a:lnTo>
                  <a:pt x="674747" y="462727"/>
                </a:lnTo>
                <a:lnTo>
                  <a:pt x="695283" y="461480"/>
                </a:lnTo>
                <a:lnTo>
                  <a:pt x="715778" y="459695"/>
                </a:lnTo>
                <a:lnTo>
                  <a:pt x="736220" y="457373"/>
                </a:lnTo>
                <a:lnTo>
                  <a:pt x="756594" y="454515"/>
                </a:lnTo>
                <a:lnTo>
                  <a:pt x="776886" y="451123"/>
                </a:lnTo>
                <a:lnTo>
                  <a:pt x="797082" y="447199"/>
                </a:lnTo>
                <a:lnTo>
                  <a:pt x="817168" y="442747"/>
                </a:lnTo>
                <a:lnTo>
                  <a:pt x="837130" y="437769"/>
                </a:lnTo>
                <a:lnTo>
                  <a:pt x="856955" y="432269"/>
                </a:lnTo>
                <a:lnTo>
                  <a:pt x="876628" y="426251"/>
                </a:lnTo>
                <a:lnTo>
                  <a:pt x="896137" y="419718"/>
                </a:lnTo>
                <a:lnTo>
                  <a:pt x="915467" y="412676"/>
                </a:lnTo>
                <a:lnTo>
                  <a:pt x="934606" y="405128"/>
                </a:lnTo>
                <a:lnTo>
                  <a:pt x="953541" y="397081"/>
                </a:lnTo>
                <a:lnTo>
                  <a:pt x="972257" y="388540"/>
                </a:lnTo>
                <a:lnTo>
                  <a:pt x="990743" y="379510"/>
                </a:lnTo>
                <a:lnTo>
                  <a:pt x="1008986" y="369998"/>
                </a:lnTo>
                <a:lnTo>
                  <a:pt x="1026972" y="360011"/>
                </a:lnTo>
                <a:lnTo>
                  <a:pt x="1044691" y="349555"/>
                </a:lnTo>
                <a:lnTo>
                  <a:pt x="1062128" y="338638"/>
                </a:lnTo>
                <a:lnTo>
                  <a:pt x="1079274" y="327266"/>
                </a:lnTo>
                <a:lnTo>
                  <a:pt x="1096114" y="315449"/>
                </a:lnTo>
                <a:lnTo>
                  <a:pt x="1112639" y="303194"/>
                </a:lnTo>
                <a:lnTo>
                  <a:pt x="1128837" y="290509"/>
                </a:lnTo>
                <a:lnTo>
                  <a:pt x="1144696" y="277403"/>
                </a:lnTo>
                <a:lnTo>
                  <a:pt x="1160205" y="263886"/>
                </a:lnTo>
                <a:lnTo>
                  <a:pt x="1175355" y="249966"/>
                </a:lnTo>
                <a:lnTo>
                  <a:pt x="1190133" y="235653"/>
                </a:lnTo>
                <a:lnTo>
                  <a:pt x="1204531" y="220958"/>
                </a:lnTo>
                <a:lnTo>
                  <a:pt x="1218539" y="205889"/>
                </a:lnTo>
                <a:lnTo>
                  <a:pt x="1232146" y="190458"/>
                </a:lnTo>
                <a:lnTo>
                  <a:pt x="1245343" y="174675"/>
                </a:lnTo>
                <a:lnTo>
                  <a:pt x="1258122" y="158552"/>
                </a:lnTo>
                <a:lnTo>
                  <a:pt x="1270473" y="142098"/>
                </a:lnTo>
                <a:lnTo>
                  <a:pt x="1282388" y="125326"/>
                </a:lnTo>
                <a:lnTo>
                  <a:pt x="1293858" y="108247"/>
                </a:lnTo>
                <a:lnTo>
                  <a:pt x="1304876" y="90873"/>
                </a:lnTo>
                <a:lnTo>
                  <a:pt x="1315435" y="73216"/>
                </a:lnTo>
                <a:lnTo>
                  <a:pt x="1325526" y="55287"/>
                </a:lnTo>
                <a:lnTo>
                  <a:pt x="1335144" y="37100"/>
                </a:lnTo>
                <a:lnTo>
                  <a:pt x="1344280" y="18667"/>
                </a:lnTo>
                <a:lnTo>
                  <a:pt x="1352930" y="0"/>
                </a:lnTo>
              </a:path>
            </a:pathLst>
          </a:custGeom>
          <a:solidFill>
            <a:srgbClr val="FFFFFF">
              <a:alpha val="0"/>
            </a:srgbClr>
          </a:solidFill>
          <a:ln w="28575">
            <a:solidFill>
              <a:srgbClr val="40526A"/>
            </a:solidFill>
            <a:prstDash val="solid"/>
          </a:ln>
        </p:spPr>
        <p:txBody>
          <a:bodyPr/>
          <a:lstStyle/>
          <a:p>
            <a:endParaRPr lang="zh-TW" altLang="en-US" sz="1350"/>
          </a:p>
        </p:txBody>
      </p:sp>
      <p:sp>
        <p:nvSpPr>
          <p:cNvPr id="16" name="z_98"/>
          <p:cNvSpPr/>
          <p:nvPr/>
        </p:nvSpPr>
        <p:spPr>
          <a:xfrm>
            <a:off x="3534319" y="199861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7" name="M|v|v|99"/>
              <p:cNvSpPr txBox="1"/>
              <p:nvPr/>
            </p:nvSpPr>
            <p:spPr>
              <a:xfrm>
                <a:off x="4022217" y="160428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7" name="M|v|v|99"/>
              <p:cNvSpPr txBox="1">
                <a:spLocks noRot="1" noChangeAspect="1" noMove="1" noResize="1" noEditPoints="1" noAdjustHandles="1" noChangeArrowheads="1" noChangeShapeType="1" noTextEdit="1"/>
              </p:cNvSpPr>
              <p:nvPr/>
            </p:nvSpPr>
            <p:spPr>
              <a:xfrm>
                <a:off x="4022217" y="1604282"/>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8" name="z_100"/>
          <p:cNvSpPr/>
          <p:nvPr/>
        </p:nvSpPr>
        <p:spPr>
          <a:xfrm flipV="1">
            <a:off x="3534319" y="1547949"/>
            <a:ext cx="686" cy="450668"/>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9" name="M|a|a|101"/>
              <p:cNvSpPr txBox="1"/>
              <p:nvPr/>
            </p:nvSpPr>
            <p:spPr>
              <a:xfrm>
                <a:off x="3493172" y="1256483"/>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19" name="M|a|a|101"/>
              <p:cNvSpPr txBox="1">
                <a:spLocks noRot="1" noChangeAspect="1" noMove="1" noResize="1" noEditPoints="1" noAdjustHandles="1" noChangeArrowheads="1" noChangeShapeType="1" noTextEdit="1"/>
              </p:cNvSpPr>
              <p:nvPr/>
            </p:nvSpPr>
            <p:spPr>
              <a:xfrm>
                <a:off x="3493172" y="1256483"/>
                <a:ext cx="425196" cy="377190"/>
              </a:xfrm>
              <a:prstGeom prst="rect">
                <a:avLst/>
              </a:prstGeom>
              <a:blipFill>
                <a:blip r:embed="rId6"/>
                <a:stretch>
                  <a:fillRect/>
                </a:stretch>
              </a:blipFill>
              <a:ln/>
            </p:spPr>
            <p:txBody>
              <a:bodyPr/>
              <a:lstStyle/>
              <a:p>
                <a:r>
                  <a:rPr lang="zh-TW" altLang="en-US">
                    <a:noFill/>
                  </a:rPr>
                  <a:t> </a:t>
                </a:r>
              </a:p>
            </p:txBody>
          </p:sp>
        </mc:Fallback>
      </mc:AlternateContent>
      <p:sp>
        <p:nvSpPr>
          <p:cNvPr id="20" name="z_102"/>
          <p:cNvSpPr/>
          <p:nvPr/>
        </p:nvSpPr>
        <p:spPr>
          <a:xfrm>
            <a:off x="3486314" y="195061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21" name="box_103"/>
          <p:cNvSpPr/>
          <p:nvPr/>
        </p:nvSpPr>
        <p:spPr>
          <a:xfrm>
            <a:off x="308610" y="294894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22" name="z_104"/>
          <p:cNvSpPr txBox="1"/>
          <p:nvPr/>
        </p:nvSpPr>
        <p:spPr>
          <a:xfrm>
            <a:off x="411480" y="300380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③ 轉彎又減速</a:t>
            </a:r>
            <a:endParaRPr lang="en-US" dirty="0"/>
          </a:p>
        </p:txBody>
      </p:sp>
      <p:sp>
        <p:nvSpPr>
          <p:cNvPr id="23" name="z_105"/>
          <p:cNvSpPr txBox="1"/>
          <p:nvPr/>
        </p:nvSpPr>
        <p:spPr>
          <a:xfrm>
            <a:off x="994410" y="444398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125°</a:t>
            </a:r>
            <a:endParaRPr lang="en-US" dirty="0"/>
          </a:p>
        </p:txBody>
      </p:sp>
      <p:sp>
        <p:nvSpPr>
          <p:cNvPr id="24" name="z_106"/>
          <p:cNvSpPr/>
          <p:nvPr/>
        </p:nvSpPr>
        <p:spPr>
          <a:xfrm>
            <a:off x="793030" y="3674019"/>
            <a:ext cx="1014698" cy="347701"/>
          </a:xfrm>
          <a:custGeom>
            <a:avLst/>
            <a:gdLst/>
            <a:ahLst/>
            <a:cxnLst/>
            <a:rect l="l" t="t" r="r" b="b"/>
            <a:pathLst>
              <a:path w="1352930" h="463601">
                <a:moveTo>
                  <a:pt x="0" y="135746"/>
                </a:moveTo>
                <a:lnTo>
                  <a:pt x="12186" y="152322"/>
                </a:lnTo>
                <a:lnTo>
                  <a:pt x="24802" y="168573"/>
                </a:lnTo>
                <a:lnTo>
                  <a:pt x="37841" y="184487"/>
                </a:lnTo>
                <a:lnTo>
                  <a:pt x="51293" y="200053"/>
                </a:lnTo>
                <a:lnTo>
                  <a:pt x="65149" y="215261"/>
                </a:lnTo>
                <a:lnTo>
                  <a:pt x="79400" y="230099"/>
                </a:lnTo>
                <a:lnTo>
                  <a:pt x="94035" y="244559"/>
                </a:lnTo>
                <a:lnTo>
                  <a:pt x="109044" y="258630"/>
                </a:lnTo>
                <a:lnTo>
                  <a:pt x="124418" y="272302"/>
                </a:lnTo>
                <a:lnTo>
                  <a:pt x="140145" y="285565"/>
                </a:lnTo>
                <a:lnTo>
                  <a:pt x="156215" y="298411"/>
                </a:lnTo>
                <a:lnTo>
                  <a:pt x="172616" y="310831"/>
                </a:lnTo>
                <a:lnTo>
                  <a:pt x="189338" y="322817"/>
                </a:lnTo>
                <a:lnTo>
                  <a:pt x="206369" y="334359"/>
                </a:lnTo>
                <a:lnTo>
                  <a:pt x="223696" y="345450"/>
                </a:lnTo>
                <a:lnTo>
                  <a:pt x="241309" y="356083"/>
                </a:lnTo>
                <a:lnTo>
                  <a:pt x="259195" y="366249"/>
                </a:lnTo>
                <a:lnTo>
                  <a:pt x="277342" y="375943"/>
                </a:lnTo>
                <a:lnTo>
                  <a:pt x="295736" y="385157"/>
                </a:lnTo>
                <a:lnTo>
                  <a:pt x="314367" y="393885"/>
                </a:lnTo>
                <a:lnTo>
                  <a:pt x="333219" y="402121"/>
                </a:lnTo>
                <a:lnTo>
                  <a:pt x="352282" y="409860"/>
                </a:lnTo>
                <a:lnTo>
                  <a:pt x="371541" y="417095"/>
                </a:lnTo>
                <a:lnTo>
                  <a:pt x="390984" y="423823"/>
                </a:lnTo>
                <a:lnTo>
                  <a:pt x="410596" y="430038"/>
                </a:lnTo>
                <a:lnTo>
                  <a:pt x="430364" y="435736"/>
                </a:lnTo>
                <a:lnTo>
                  <a:pt x="450276" y="440913"/>
                </a:lnTo>
                <a:lnTo>
                  <a:pt x="470316" y="445565"/>
                </a:lnTo>
                <a:lnTo>
                  <a:pt x="490472" y="449691"/>
                </a:lnTo>
                <a:lnTo>
                  <a:pt x="510729" y="453285"/>
                </a:lnTo>
                <a:lnTo>
                  <a:pt x="531073" y="456347"/>
                </a:lnTo>
                <a:lnTo>
                  <a:pt x="551491" y="458874"/>
                </a:lnTo>
                <a:lnTo>
                  <a:pt x="571968" y="460864"/>
                </a:lnTo>
                <a:lnTo>
                  <a:pt x="592490" y="462315"/>
                </a:lnTo>
                <a:lnTo>
                  <a:pt x="613043" y="463228"/>
                </a:lnTo>
                <a:lnTo>
                  <a:pt x="633613" y="463601"/>
                </a:lnTo>
                <a:lnTo>
                  <a:pt x="654186" y="463434"/>
                </a:lnTo>
                <a:lnTo>
                  <a:pt x="674747" y="462727"/>
                </a:lnTo>
                <a:lnTo>
                  <a:pt x="695283" y="461480"/>
                </a:lnTo>
                <a:lnTo>
                  <a:pt x="715778" y="459695"/>
                </a:lnTo>
                <a:lnTo>
                  <a:pt x="736220" y="457373"/>
                </a:lnTo>
                <a:lnTo>
                  <a:pt x="756594" y="454515"/>
                </a:lnTo>
                <a:lnTo>
                  <a:pt x="776886" y="451123"/>
                </a:lnTo>
                <a:lnTo>
                  <a:pt x="797082" y="447199"/>
                </a:lnTo>
                <a:lnTo>
                  <a:pt x="817168" y="442747"/>
                </a:lnTo>
                <a:lnTo>
                  <a:pt x="837130" y="437769"/>
                </a:lnTo>
                <a:lnTo>
                  <a:pt x="856955" y="432269"/>
                </a:lnTo>
                <a:lnTo>
                  <a:pt x="876628" y="426251"/>
                </a:lnTo>
                <a:lnTo>
                  <a:pt x="896137" y="419718"/>
                </a:lnTo>
                <a:lnTo>
                  <a:pt x="915467" y="412676"/>
                </a:lnTo>
                <a:lnTo>
                  <a:pt x="934606" y="405128"/>
                </a:lnTo>
                <a:lnTo>
                  <a:pt x="953541" y="397081"/>
                </a:lnTo>
                <a:lnTo>
                  <a:pt x="972257" y="388540"/>
                </a:lnTo>
                <a:lnTo>
                  <a:pt x="990743" y="379510"/>
                </a:lnTo>
                <a:lnTo>
                  <a:pt x="1008986" y="369998"/>
                </a:lnTo>
                <a:lnTo>
                  <a:pt x="1026972" y="360011"/>
                </a:lnTo>
                <a:lnTo>
                  <a:pt x="1044691" y="349555"/>
                </a:lnTo>
                <a:lnTo>
                  <a:pt x="1062128" y="338638"/>
                </a:lnTo>
                <a:lnTo>
                  <a:pt x="1079274" y="327266"/>
                </a:lnTo>
                <a:lnTo>
                  <a:pt x="1096114" y="315449"/>
                </a:lnTo>
                <a:lnTo>
                  <a:pt x="1112639" y="303194"/>
                </a:lnTo>
                <a:lnTo>
                  <a:pt x="1128837" y="290509"/>
                </a:lnTo>
                <a:lnTo>
                  <a:pt x="1144696" y="277403"/>
                </a:lnTo>
                <a:lnTo>
                  <a:pt x="1160205" y="263886"/>
                </a:lnTo>
                <a:lnTo>
                  <a:pt x="1175355" y="249966"/>
                </a:lnTo>
                <a:lnTo>
                  <a:pt x="1190133" y="235653"/>
                </a:lnTo>
                <a:lnTo>
                  <a:pt x="1204531" y="220958"/>
                </a:lnTo>
                <a:lnTo>
                  <a:pt x="1218539" y="205889"/>
                </a:lnTo>
                <a:lnTo>
                  <a:pt x="1232146" y="190458"/>
                </a:lnTo>
                <a:lnTo>
                  <a:pt x="1245343" y="174675"/>
                </a:lnTo>
                <a:lnTo>
                  <a:pt x="1258122" y="158552"/>
                </a:lnTo>
                <a:lnTo>
                  <a:pt x="1270473" y="142098"/>
                </a:lnTo>
                <a:lnTo>
                  <a:pt x="1282388" y="125326"/>
                </a:lnTo>
                <a:lnTo>
                  <a:pt x="1293858" y="108247"/>
                </a:lnTo>
                <a:lnTo>
                  <a:pt x="1304876" y="90873"/>
                </a:lnTo>
                <a:lnTo>
                  <a:pt x="1315435" y="73216"/>
                </a:lnTo>
                <a:lnTo>
                  <a:pt x="1325526" y="55287"/>
                </a:lnTo>
                <a:lnTo>
                  <a:pt x="1335144" y="37100"/>
                </a:lnTo>
                <a:lnTo>
                  <a:pt x="1344280" y="18667"/>
                </a:lnTo>
                <a:lnTo>
                  <a:pt x="1352930" y="0"/>
                </a:lnTo>
              </a:path>
            </a:pathLst>
          </a:custGeom>
          <a:solidFill>
            <a:srgbClr val="FFFFFF">
              <a:alpha val="0"/>
            </a:srgbClr>
          </a:solidFill>
          <a:ln w="28575">
            <a:solidFill>
              <a:srgbClr val="40526A"/>
            </a:solidFill>
            <a:prstDash val="solid"/>
          </a:ln>
        </p:spPr>
        <p:txBody>
          <a:bodyPr/>
          <a:lstStyle/>
          <a:p>
            <a:endParaRPr lang="zh-TW" altLang="en-US" sz="1350"/>
          </a:p>
        </p:txBody>
      </p:sp>
      <p:sp>
        <p:nvSpPr>
          <p:cNvPr id="25" name="z_107"/>
          <p:cNvSpPr/>
          <p:nvPr/>
        </p:nvSpPr>
        <p:spPr>
          <a:xfrm>
            <a:off x="1271179" y="402172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26" name="M|v|v|108"/>
              <p:cNvSpPr txBox="1"/>
              <p:nvPr/>
            </p:nvSpPr>
            <p:spPr>
              <a:xfrm>
                <a:off x="1759077" y="362739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26" name="M|v|v|108"/>
              <p:cNvSpPr txBox="1">
                <a:spLocks noRot="1" noChangeAspect="1" noMove="1" noResize="1" noEditPoints="1" noAdjustHandles="1" noChangeArrowheads="1" noChangeShapeType="1" noTextEdit="1"/>
              </p:cNvSpPr>
              <p:nvPr/>
            </p:nvSpPr>
            <p:spPr>
              <a:xfrm>
                <a:off x="1759077" y="3627392"/>
                <a:ext cx="425196" cy="377190"/>
              </a:xfrm>
              <a:prstGeom prst="rect">
                <a:avLst/>
              </a:prstGeom>
              <a:blipFill>
                <a:blip r:embed="rId7"/>
                <a:stretch>
                  <a:fillRect/>
                </a:stretch>
              </a:blipFill>
              <a:ln/>
            </p:spPr>
            <p:txBody>
              <a:bodyPr/>
              <a:lstStyle/>
              <a:p>
                <a:r>
                  <a:rPr lang="zh-TW" altLang="en-US">
                    <a:noFill/>
                  </a:rPr>
                  <a:t> </a:t>
                </a:r>
              </a:p>
            </p:txBody>
          </p:sp>
        </mc:Fallback>
      </mc:AlternateContent>
      <p:sp>
        <p:nvSpPr>
          <p:cNvPr id="27" name="z_109"/>
          <p:cNvSpPr/>
          <p:nvPr/>
        </p:nvSpPr>
        <p:spPr>
          <a:xfrm flipH="1" flipV="1">
            <a:off x="1012687" y="3652561"/>
            <a:ext cx="258493" cy="369166"/>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28" name="M|a|a|110"/>
              <p:cNvSpPr txBox="1"/>
              <p:nvPr/>
            </p:nvSpPr>
            <p:spPr>
              <a:xfrm>
                <a:off x="731509" y="3361096"/>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28" name="M|a|a|110"/>
              <p:cNvSpPr txBox="1">
                <a:spLocks noRot="1" noChangeAspect="1" noMove="1" noResize="1" noEditPoints="1" noAdjustHandles="1" noChangeArrowheads="1" noChangeShapeType="1" noTextEdit="1"/>
              </p:cNvSpPr>
              <p:nvPr/>
            </p:nvSpPr>
            <p:spPr>
              <a:xfrm>
                <a:off x="731509" y="3361096"/>
                <a:ext cx="425196" cy="377190"/>
              </a:xfrm>
              <a:prstGeom prst="rect">
                <a:avLst/>
              </a:prstGeom>
              <a:blipFill>
                <a:blip r:embed="rId8"/>
                <a:stretch>
                  <a:fillRect/>
                </a:stretch>
              </a:blipFill>
              <a:ln/>
            </p:spPr>
            <p:txBody>
              <a:bodyPr/>
              <a:lstStyle/>
              <a:p>
                <a:r>
                  <a:rPr lang="zh-TW" altLang="en-US">
                    <a:noFill/>
                  </a:rPr>
                  <a:t> </a:t>
                </a:r>
              </a:p>
            </p:txBody>
          </p:sp>
        </mc:Fallback>
      </mc:AlternateContent>
      <p:sp>
        <p:nvSpPr>
          <p:cNvPr id="29" name="z_111"/>
          <p:cNvSpPr/>
          <p:nvPr/>
        </p:nvSpPr>
        <p:spPr>
          <a:xfrm>
            <a:off x="1223174" y="397372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30" name="box_112"/>
          <p:cNvSpPr/>
          <p:nvPr/>
        </p:nvSpPr>
        <p:spPr>
          <a:xfrm>
            <a:off x="2571750" y="2948940"/>
            <a:ext cx="2160270" cy="1920240"/>
          </a:xfrm>
          <a:prstGeom prst="roundRect">
            <a:avLst>
              <a:gd name="adj" fmla="val 4286"/>
            </a:avLst>
          </a:prstGeom>
          <a:solidFill>
            <a:srgbClr val="F4F7FA"/>
          </a:solidFill>
          <a:ln w="19050">
            <a:solidFill>
              <a:srgbClr val="DCE6EF"/>
            </a:solidFill>
            <a:prstDash val="solid"/>
          </a:ln>
        </p:spPr>
        <p:txBody>
          <a:bodyPr/>
          <a:lstStyle/>
          <a:p>
            <a:endParaRPr lang="zh-TW" altLang="en-US" sz="1350"/>
          </a:p>
        </p:txBody>
      </p:sp>
      <p:sp>
        <p:nvSpPr>
          <p:cNvPr id="31" name="z_113"/>
          <p:cNvSpPr txBox="1"/>
          <p:nvPr/>
        </p:nvSpPr>
        <p:spPr>
          <a:xfrm>
            <a:off x="2674620" y="3003804"/>
            <a:ext cx="2057400" cy="370332"/>
          </a:xfrm>
          <a:prstGeom prst="rect">
            <a:avLst/>
          </a:prstGeom>
          <a:noFill/>
          <a:ln/>
        </p:spPr>
        <p:txBody>
          <a:bodyPr wrap="square" lIns="191" tIns="191" rIns="191" bIns="191" rtlCol="0" anchor="ctr"/>
          <a:lstStyle/>
          <a:p>
            <a:r>
              <a:rPr lang="en-US" b="1" dirty="0">
                <a:solidFill>
                  <a:srgbClr val="1B2838"/>
                </a:solidFill>
                <a:latin typeface="Microsoft JhengHei" pitchFamily="34" charset="0"/>
                <a:ea typeface="Microsoft JhengHei" pitchFamily="34" charset="-122"/>
                <a:cs typeface="Microsoft JhengHei" pitchFamily="34" charset="-120"/>
              </a:rPr>
              <a:t>④ 直線煞車</a:t>
            </a:r>
            <a:endParaRPr lang="en-US" dirty="0"/>
          </a:p>
        </p:txBody>
      </p:sp>
      <p:sp>
        <p:nvSpPr>
          <p:cNvPr id="32" name="z_114"/>
          <p:cNvSpPr txBox="1"/>
          <p:nvPr/>
        </p:nvSpPr>
        <p:spPr>
          <a:xfrm>
            <a:off x="3257550" y="4443984"/>
            <a:ext cx="1371600" cy="370332"/>
          </a:xfrm>
          <a:prstGeom prst="rect">
            <a:avLst/>
          </a:prstGeom>
          <a:noFill/>
          <a:ln/>
        </p:spPr>
        <p:txBody>
          <a:bodyPr wrap="square" lIns="191" tIns="191" rIns="191" bIns="191" rtlCol="0" anchor="ctr"/>
          <a:lstStyle/>
          <a:p>
            <a:pPr algn="r"/>
            <a:r>
              <a:rPr lang="en-US" b="1" dirty="0">
                <a:solidFill>
                  <a:srgbClr val="D1233A"/>
                </a:solidFill>
                <a:latin typeface="Microsoft JhengHei" pitchFamily="34" charset="0"/>
                <a:ea typeface="Microsoft JhengHei" pitchFamily="34" charset="-122"/>
                <a:cs typeface="Microsoft JhengHei" pitchFamily="34" charset="-120"/>
              </a:rPr>
              <a:t>夾角 180°</a:t>
            </a:r>
            <a:endParaRPr lang="en-US" dirty="0"/>
          </a:p>
        </p:txBody>
      </p:sp>
      <p:sp>
        <p:nvSpPr>
          <p:cNvPr id="33" name="z_115"/>
          <p:cNvSpPr/>
          <p:nvPr/>
        </p:nvSpPr>
        <p:spPr>
          <a:xfrm>
            <a:off x="2946491" y="4021727"/>
            <a:ext cx="1410788" cy="686"/>
          </a:xfrm>
          <a:prstGeom prst="line">
            <a:avLst/>
          </a:prstGeom>
          <a:noFill/>
          <a:ln w="28575">
            <a:solidFill>
              <a:srgbClr val="40526A"/>
            </a:solidFill>
            <a:prstDash val="solid"/>
          </a:ln>
        </p:spPr>
        <p:txBody>
          <a:bodyPr/>
          <a:lstStyle/>
          <a:p>
            <a:endParaRPr lang="zh-TW" altLang="en-US" sz="1350"/>
          </a:p>
        </p:txBody>
      </p:sp>
      <p:sp>
        <p:nvSpPr>
          <p:cNvPr id="34" name="z_116"/>
          <p:cNvSpPr/>
          <p:nvPr/>
        </p:nvSpPr>
        <p:spPr>
          <a:xfrm>
            <a:off x="3534319" y="4021727"/>
            <a:ext cx="666206"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5" name="M|v|v|117"/>
              <p:cNvSpPr txBox="1"/>
              <p:nvPr/>
            </p:nvSpPr>
            <p:spPr>
              <a:xfrm>
                <a:off x="4022217" y="362739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35" name="M|v|v|117"/>
              <p:cNvSpPr txBox="1">
                <a:spLocks noRot="1" noChangeAspect="1" noMove="1" noResize="1" noEditPoints="1" noAdjustHandles="1" noChangeArrowheads="1" noChangeShapeType="1" noTextEdit="1"/>
              </p:cNvSpPr>
              <p:nvPr/>
            </p:nvSpPr>
            <p:spPr>
              <a:xfrm>
                <a:off x="4022217" y="3627392"/>
                <a:ext cx="425196" cy="377190"/>
              </a:xfrm>
              <a:prstGeom prst="rect">
                <a:avLst/>
              </a:prstGeom>
              <a:blipFill>
                <a:blip r:embed="rId9"/>
                <a:stretch>
                  <a:fillRect/>
                </a:stretch>
              </a:blipFill>
              <a:ln/>
            </p:spPr>
            <p:txBody>
              <a:bodyPr/>
              <a:lstStyle/>
              <a:p>
                <a:r>
                  <a:rPr lang="zh-TW" altLang="en-US">
                    <a:noFill/>
                  </a:rPr>
                  <a:t> </a:t>
                </a:r>
              </a:p>
            </p:txBody>
          </p:sp>
        </mc:Fallback>
      </mc:AlternateContent>
      <p:sp>
        <p:nvSpPr>
          <p:cNvPr id="36" name="z_118"/>
          <p:cNvSpPr/>
          <p:nvPr/>
        </p:nvSpPr>
        <p:spPr>
          <a:xfrm flipH="1">
            <a:off x="3083651" y="4021727"/>
            <a:ext cx="450668" cy="686"/>
          </a:xfrm>
          <a:prstGeom prst="line">
            <a:avLst/>
          </a:prstGeom>
          <a:noFill/>
          <a:ln w="50800">
            <a:solidFill>
              <a:srgbClr val="D1233A"/>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37" name="M|a|a|119"/>
              <p:cNvSpPr txBox="1"/>
              <p:nvPr/>
            </p:nvSpPr>
            <p:spPr>
              <a:xfrm>
                <a:off x="2802473" y="4038872"/>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m:oMathPara>
                </a14:m>
                <a:endParaRPr lang="zh-TW" altLang="en-US"/>
              </a:p>
            </p:txBody>
          </p:sp>
        </mc:Choice>
        <mc:Fallback xmlns="">
          <p:sp>
            <p:nvSpPr>
              <p:cNvPr id="37" name="M|a|a|119"/>
              <p:cNvSpPr txBox="1">
                <a:spLocks noRot="1" noChangeAspect="1" noMove="1" noResize="1" noEditPoints="1" noAdjustHandles="1" noChangeArrowheads="1" noChangeShapeType="1" noTextEdit="1"/>
              </p:cNvSpPr>
              <p:nvPr/>
            </p:nvSpPr>
            <p:spPr>
              <a:xfrm>
                <a:off x="2802473" y="4038872"/>
                <a:ext cx="425196" cy="377190"/>
              </a:xfrm>
              <a:prstGeom prst="rect">
                <a:avLst/>
              </a:prstGeom>
              <a:blipFill>
                <a:blip r:embed="rId10"/>
                <a:stretch>
                  <a:fillRect/>
                </a:stretch>
              </a:blipFill>
              <a:ln/>
            </p:spPr>
            <p:txBody>
              <a:bodyPr/>
              <a:lstStyle/>
              <a:p>
                <a:r>
                  <a:rPr lang="zh-TW" altLang="en-US">
                    <a:noFill/>
                  </a:rPr>
                  <a:t> </a:t>
                </a:r>
              </a:p>
            </p:txBody>
          </p:sp>
        </mc:Fallback>
      </mc:AlternateContent>
      <p:sp>
        <p:nvSpPr>
          <p:cNvPr id="38" name="z_120"/>
          <p:cNvSpPr/>
          <p:nvPr/>
        </p:nvSpPr>
        <p:spPr>
          <a:xfrm>
            <a:off x="3486314" y="3973721"/>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39" name="T|c5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14:m>
                  <m:oMath xmlns:m="http://schemas.openxmlformats.org/officeDocument/2006/math">
                    <m:acc>
                      <m:accPr>
                        <m:chr m:val="⃗"/>
                        <m:ctrlPr>
                          <a:rPr lang="en-US" sz="1950" i="1">
                            <a:solidFill>
                              <a:srgbClr val="D1233A"/>
                            </a:solidFill>
                            <a:latin typeface="Cambria Math" panose="02040503050406030204" pitchFamily="18" charset="0"/>
                            <a:ea typeface="Microsoft JhengHei"/>
                          </a:rPr>
                        </m:ctrlPr>
                      </m:accPr>
                      <m:e>
                        <m:r>
                          <a:rPr lang="en-US" sz="1950" i="1">
                            <a:solidFill>
                              <a:srgbClr val="D1233A"/>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表示「速度正在往哪裡改」，不是「質點往哪裡跑」。加速時夾角小於 90°，等速率轉彎是 90°，減速時大於 90°。</a:t>
                </a:r>
                <a:endParaRPr lang="zh-TW" altLang="en-US"/>
              </a:p>
            </p:txBody>
          </p:sp>
        </mc:Choice>
        <mc:Fallback xmlns="">
          <p:sp>
            <p:nvSpPr>
              <p:cNvPr id="39" name="T|c5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11"/>
                <a:stretch>
                  <a:fillRect l="-3555" t="-3153" r="-9428"/>
                </a:stretch>
              </a:blipFill>
              <a:ln/>
            </p:spPr>
            <p:txBody>
              <a:bodyPr/>
              <a:lstStyle/>
              <a:p>
                <a:r>
                  <a:rPr lang="zh-TW" altLang="en-US">
                    <a:noFill/>
                  </a:rPr>
                  <a:t> </a:t>
                </a:r>
              </a:p>
            </p:txBody>
          </p:sp>
        </mc:Fallback>
      </mc:AlternateContent>
      <p:sp>
        <p:nvSpPr>
          <p:cNvPr id="40" name="box_121"/>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41" name="T|c5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的方向和 </a:t>
                </a:r>
                <a14:m>
                  <m:oMath xmlns:m="http://schemas.openxmlformats.org/officeDocument/2006/math">
                    <m:r>
                      <a:rPr lang="en-US" sz="1950" i="1">
                        <a:solidFill>
                          <a:srgbClr val="1B2838"/>
                        </a:solidFill>
                        <a:latin typeface="Cambria Math" panose="02040503050406030204" pitchFamily="18" charset="0"/>
                        <a:ea typeface="Microsoft JhengHei"/>
                      </a:rPr>
                      <m:t>𝑑</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相同。</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𝑎</m:t>
                        </m:r>
                      </m:e>
                    </m:acc>
                  </m:oMath>
                </a14:m>
                <a:r>
                  <a:rPr lang="zh-TW" altLang="en-US">
                    <a:solidFill>
                      <a:srgbClr val="1B2838"/>
                    </a:solidFill>
                    <a:latin typeface="Microsoft JhengHei"/>
                    <a:ea typeface="Microsoft JhengHei"/>
                  </a:rPr>
                  <a:t> 和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夾鈍角，代表正在減速。</a:t>
                </a:r>
                <a:endParaRPr lang="zh-TW" altLang="en-US"/>
              </a:p>
            </p:txBody>
          </p:sp>
        </mc:Choice>
        <mc:Fallback xmlns="">
          <p:sp>
            <p:nvSpPr>
              <p:cNvPr id="41" name="T|c5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12"/>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6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6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6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6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6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60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6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600"/>
                                        <p:tgtEl>
                                          <p:spTgt spid="2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60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600"/>
                                        <p:tgtEl>
                                          <p:spTgt spid="22"/>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60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60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0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600"/>
                                        <p:tgtEl>
                                          <p:spTgt spid="26"/>
                                        </p:tgtEl>
                                      </p:cBhvr>
                                    </p:animEffect>
                                  </p:childTnLst>
                                </p:cTn>
                              </p:par>
                              <p:par>
                                <p:cTn id="81" presetID="10" presetClass="entr" presetSubtype="0"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600"/>
                                        <p:tgtEl>
                                          <p:spTgt spid="27"/>
                                        </p:tgtEl>
                                      </p:cBhvr>
                                    </p:animEffect>
                                  </p:childTnLst>
                                </p:cTn>
                              </p:par>
                              <p:par>
                                <p:cTn id="84" presetID="10" presetClass="entr" presetSubtype="0" fill="hold"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00"/>
                                        <p:tgtEl>
                                          <p:spTgt spid="28"/>
                                        </p:tgtEl>
                                      </p:cBhvr>
                                    </p:animEffect>
                                  </p:childTnLst>
                                </p:cTn>
                              </p:par>
                              <p:par>
                                <p:cTn id="87" presetID="10" presetClass="entr" presetSubtype="0" fill="hold"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600"/>
                                        <p:tgtEl>
                                          <p:spTgt spid="29"/>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600"/>
                                        <p:tgtEl>
                                          <p:spTgt spid="30"/>
                                        </p:tgtEl>
                                      </p:cBhvr>
                                    </p:animEffect>
                                  </p:childTnLst>
                                </p:cTn>
                              </p:par>
                              <p:par>
                                <p:cTn id="95" presetID="10" presetClass="entr" presetSubtype="0" fill="hold" nodeType="with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600"/>
                                        <p:tgtEl>
                                          <p:spTgt spid="31"/>
                                        </p:tgtEl>
                                      </p:cBhvr>
                                    </p:animEffect>
                                  </p:childTnLst>
                                </p:cTn>
                              </p:par>
                              <p:par>
                                <p:cTn id="98" presetID="10" presetClass="entr" presetSubtype="0" fill="hold" nodeType="with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600"/>
                                        <p:tgtEl>
                                          <p:spTgt spid="32"/>
                                        </p:tgtEl>
                                      </p:cBhvr>
                                    </p:animEffect>
                                  </p:childTnLst>
                                </p:cTn>
                              </p:par>
                              <p:par>
                                <p:cTn id="101" presetID="10" presetClass="entr" presetSubtype="0" fill="hold"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600"/>
                                        <p:tgtEl>
                                          <p:spTgt spid="33"/>
                                        </p:tgtEl>
                                      </p:cBhvr>
                                    </p:animEffect>
                                  </p:childTnLst>
                                </p:cTn>
                              </p:par>
                              <p:par>
                                <p:cTn id="104" presetID="10" presetClass="entr" presetSubtype="0" fill="hold"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600"/>
                                        <p:tgtEl>
                                          <p:spTgt spid="34"/>
                                        </p:tgtEl>
                                      </p:cBhvr>
                                    </p:animEffect>
                                  </p:childTnLst>
                                </p:cTn>
                              </p:par>
                              <p:par>
                                <p:cTn id="107" presetID="10" presetClass="entr" presetSubtype="0" fill="hold"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600"/>
                                        <p:tgtEl>
                                          <p:spTgt spid="35"/>
                                        </p:tgtEl>
                                      </p:cBhvr>
                                    </p:animEffect>
                                  </p:childTnLst>
                                </p:cTn>
                              </p:par>
                              <p:par>
                                <p:cTn id="110" presetID="10" presetClass="entr" presetSubtype="0" fill="hold"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600"/>
                                        <p:tgtEl>
                                          <p:spTgt spid="36"/>
                                        </p:tgtEl>
                                      </p:cBhvr>
                                    </p:animEffect>
                                  </p:childTnLst>
                                </p:cTn>
                              </p:par>
                              <p:par>
                                <p:cTn id="113" presetID="10" presetClass="entr" presetSubtype="0" fill="hold" nodeType="withEffect">
                                  <p:stCondLst>
                                    <p:cond delay="0"/>
                                  </p:stCondLst>
                                  <p:childTnLst>
                                    <p:set>
                                      <p:cBhvr>
                                        <p:cTn id="114" dur="1" fill="hold">
                                          <p:stCondLst>
                                            <p:cond delay="0"/>
                                          </p:stCondLst>
                                        </p:cTn>
                                        <p:tgtEl>
                                          <p:spTgt spid="37"/>
                                        </p:tgtEl>
                                        <p:attrNameLst>
                                          <p:attrName>style.visibility</p:attrName>
                                        </p:attrNameLst>
                                      </p:cBhvr>
                                      <p:to>
                                        <p:strVal val="visible"/>
                                      </p:to>
                                    </p:set>
                                    <p:animEffect transition="in" filter="fade">
                                      <p:cBhvr>
                                        <p:cTn id="115" dur="600"/>
                                        <p:tgtEl>
                                          <p:spTgt spid="37"/>
                                        </p:tgtEl>
                                      </p:cBhvr>
                                    </p:animEffect>
                                  </p:childTnLst>
                                </p:cTn>
                              </p:par>
                              <p:par>
                                <p:cTn id="116" presetID="10" presetClass="entr" presetSubtype="0" fill="hold"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fade">
                                      <p:cBhvr>
                                        <p:cTn id="118" dur="600"/>
                                        <p:tgtEl>
                                          <p:spTgt spid="38"/>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600"/>
                                        <p:tgtEl>
                                          <p:spTgt spid="3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fade">
                                      <p:cBhvr>
                                        <p:cTn id="128" dur="600"/>
                                        <p:tgtEl>
                                          <p:spTgt spid="40"/>
                                        </p:tgtEl>
                                      </p:cBhvr>
                                    </p:animEffect>
                                  </p:childTnLst>
                                </p:cTn>
                              </p:par>
                              <p:par>
                                <p:cTn id="129" presetID="10" presetClass="entr" presetSubtype="0" fill="hold" nodeType="withEffect">
                                  <p:stCondLst>
                                    <p:cond delay="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31"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6｜速率是 ds/dt，不是 d|r|/dt</a:t>
            </a:r>
            <a:endParaRPr lang="en-US" sz="2700" dirty="0"/>
          </a:p>
        </p:txBody>
      </p:sp>
      <p:sp>
        <p:nvSpPr>
          <p:cNvPr id="3" name="circ6"/>
          <p:cNvSpPr/>
          <p:nvPr/>
        </p:nvSpPr>
        <p:spPr>
          <a:xfrm>
            <a:off x="1331076" y="1193916"/>
            <a:ext cx="2412769" cy="2412769"/>
          </a:xfrm>
          <a:prstGeom prst="ellipse">
            <a:avLst/>
          </a:prstGeom>
          <a:solidFill>
            <a:srgbClr val="FFFFFF">
              <a:alpha val="0"/>
            </a:srgbClr>
          </a:solidFill>
          <a:ln w="31750">
            <a:solidFill>
              <a:srgbClr val="40526A"/>
            </a:solidFill>
            <a:prstDash val="solid"/>
          </a:ln>
        </p:spPr>
        <p:txBody>
          <a:bodyPr/>
          <a:lstStyle/>
          <a:p>
            <a:endParaRPr lang="zh-TW" altLang="en-US" sz="1350"/>
          </a:p>
        </p:txBody>
      </p:sp>
      <p:sp>
        <p:nvSpPr>
          <p:cNvPr id="4" name="z_123"/>
          <p:cNvSpPr txBox="1"/>
          <p:nvPr/>
        </p:nvSpPr>
        <p:spPr>
          <a:xfrm>
            <a:off x="2263140" y="2160270"/>
            <a:ext cx="548640" cy="480060"/>
          </a:xfrm>
          <a:prstGeom prst="rect">
            <a:avLst/>
          </a:prstGeom>
          <a:noFill/>
          <a:ln/>
        </p:spPr>
        <p:txBody>
          <a:bodyPr wrap="square" lIns="0" tIns="0" rIns="0" bIns="0" rtlCol="0" anchor="ctr"/>
          <a:lstStyle/>
          <a:p>
            <a:pPr algn="ctr"/>
            <a:r>
              <a:rPr lang="en-US" sz="2400" dirty="0">
                <a:solidFill>
                  <a:srgbClr val="1B2838"/>
                </a:solidFill>
                <a:latin typeface="Microsoft JhengHei" pitchFamily="34" charset="0"/>
                <a:ea typeface="Microsoft JhengHei" pitchFamily="34" charset="-122"/>
                <a:cs typeface="Microsoft JhengHei" pitchFamily="34" charset="-120"/>
              </a:rPr>
              <a:t>🧑‍🏫</a:t>
            </a:r>
            <a:endParaRPr lang="en-US" sz="2400" dirty="0"/>
          </a:p>
        </p:txBody>
      </p:sp>
      <p:sp>
        <p:nvSpPr>
          <p:cNvPr id="5" name="z_124"/>
          <p:cNvSpPr/>
          <p:nvPr/>
        </p:nvSpPr>
        <p:spPr>
          <a:xfrm flipV="1">
            <a:off x="2537460" y="1890460"/>
            <a:ext cx="1093356" cy="509840"/>
          </a:xfrm>
          <a:prstGeom prst="line">
            <a:avLst/>
          </a:prstGeom>
          <a:noFill/>
          <a:ln w="38100">
            <a:solidFill>
              <a:srgbClr val="2459C4"/>
            </a:solidFill>
            <a:prstDash val="solid"/>
            <a:tailEnd type="triangle"/>
          </a:ln>
        </p:spPr>
        <p:txBody>
          <a:bodyPr/>
          <a:lstStyle/>
          <a:p>
            <a:endParaRPr lang="zh-TW" altLang="en-US" sz="1350"/>
          </a:p>
        </p:txBody>
      </p:sp>
      <p:sp>
        <p:nvSpPr>
          <p:cNvPr id="6" name="z_125"/>
          <p:cNvSpPr/>
          <p:nvPr/>
        </p:nvSpPr>
        <p:spPr>
          <a:xfrm flipH="1" flipV="1">
            <a:off x="3347572" y="1283040"/>
            <a:ext cx="283244" cy="607420"/>
          </a:xfrm>
          <a:prstGeom prst="line">
            <a:avLst/>
          </a:prstGeom>
          <a:noFill/>
          <a:ln w="44450">
            <a:solidFill>
              <a:srgbClr val="138A52"/>
            </a:solidFill>
            <a:prstDash val="solid"/>
            <a:tailEnd type="triangle"/>
          </a:ln>
        </p:spPr>
        <p:txBody>
          <a:bodyPr/>
          <a:lstStyle/>
          <a:p>
            <a:endParaRPr lang="zh-TW" altLang="en-US" sz="1350"/>
          </a:p>
        </p:txBody>
      </p:sp>
      <p:sp>
        <p:nvSpPr>
          <p:cNvPr id="7" name="z_126"/>
          <p:cNvSpPr/>
          <p:nvPr/>
        </p:nvSpPr>
        <p:spPr>
          <a:xfrm>
            <a:off x="3582810" y="1842454"/>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8" name="M|r|r|127"/>
              <p:cNvSpPr txBox="1"/>
              <p:nvPr/>
            </p:nvSpPr>
            <p:spPr>
              <a:xfrm>
                <a:off x="2726990" y="1709045"/>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m:oMathPara>
                </a14:m>
                <a:endParaRPr lang="zh-TW" altLang="en-US"/>
              </a:p>
            </p:txBody>
          </p:sp>
        </mc:Choice>
        <mc:Fallback xmlns="">
          <p:sp>
            <p:nvSpPr>
              <p:cNvPr id="8" name="M|r|r|127"/>
              <p:cNvSpPr txBox="1">
                <a:spLocks noRot="1" noChangeAspect="1" noMove="1" noResize="1" noEditPoints="1" noAdjustHandles="1" noChangeArrowheads="1" noChangeShapeType="1" noTextEdit="1"/>
              </p:cNvSpPr>
              <p:nvPr/>
            </p:nvSpPr>
            <p:spPr>
              <a:xfrm>
                <a:off x="2726990" y="1709045"/>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9" name="z_128"/>
          <p:cNvSpPr/>
          <p:nvPr/>
        </p:nvSpPr>
        <p:spPr>
          <a:xfrm flipH="1" flipV="1">
            <a:off x="1492701" y="1797108"/>
            <a:ext cx="1044760" cy="603192"/>
          </a:xfrm>
          <a:prstGeom prst="line">
            <a:avLst/>
          </a:prstGeom>
          <a:noFill/>
          <a:ln w="38100">
            <a:solidFill>
              <a:srgbClr val="2459C4"/>
            </a:solidFill>
            <a:prstDash val="solid"/>
            <a:tailEnd type="triangle"/>
          </a:ln>
        </p:spPr>
        <p:txBody>
          <a:bodyPr/>
          <a:lstStyle/>
          <a:p>
            <a:endParaRPr lang="zh-TW" altLang="en-US" sz="1350"/>
          </a:p>
        </p:txBody>
      </p:sp>
      <p:sp>
        <p:nvSpPr>
          <p:cNvPr id="10" name="z_129"/>
          <p:cNvSpPr/>
          <p:nvPr/>
        </p:nvSpPr>
        <p:spPr>
          <a:xfrm flipH="1">
            <a:off x="1157594" y="1797108"/>
            <a:ext cx="335107" cy="580422"/>
          </a:xfrm>
          <a:prstGeom prst="line">
            <a:avLst/>
          </a:prstGeom>
          <a:noFill/>
          <a:ln w="44450">
            <a:solidFill>
              <a:srgbClr val="138A52"/>
            </a:solidFill>
            <a:prstDash val="solid"/>
            <a:tailEnd type="triangle"/>
          </a:ln>
        </p:spPr>
        <p:txBody>
          <a:bodyPr/>
          <a:lstStyle/>
          <a:p>
            <a:endParaRPr lang="zh-TW" altLang="en-US" sz="1350"/>
          </a:p>
        </p:txBody>
      </p:sp>
      <p:sp>
        <p:nvSpPr>
          <p:cNvPr id="11" name="z_130"/>
          <p:cNvSpPr/>
          <p:nvPr/>
        </p:nvSpPr>
        <p:spPr>
          <a:xfrm>
            <a:off x="1444694" y="1749102"/>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2" name="z_131"/>
          <p:cNvSpPr/>
          <p:nvPr/>
        </p:nvSpPr>
        <p:spPr>
          <a:xfrm flipH="1">
            <a:off x="2327974" y="2400300"/>
            <a:ext cx="209486" cy="1188057"/>
          </a:xfrm>
          <a:prstGeom prst="line">
            <a:avLst/>
          </a:prstGeom>
          <a:noFill/>
          <a:ln w="38100">
            <a:solidFill>
              <a:srgbClr val="2459C4"/>
            </a:solidFill>
            <a:prstDash val="solid"/>
            <a:tailEnd type="triangle"/>
          </a:ln>
        </p:spPr>
        <p:txBody>
          <a:bodyPr/>
          <a:lstStyle/>
          <a:p>
            <a:endParaRPr lang="zh-TW" altLang="en-US" sz="1350"/>
          </a:p>
        </p:txBody>
      </p:sp>
      <p:sp>
        <p:nvSpPr>
          <p:cNvPr id="13" name="z_132"/>
          <p:cNvSpPr/>
          <p:nvPr/>
        </p:nvSpPr>
        <p:spPr>
          <a:xfrm>
            <a:off x="2327974" y="3588358"/>
            <a:ext cx="660032" cy="116381"/>
          </a:xfrm>
          <a:prstGeom prst="line">
            <a:avLst/>
          </a:prstGeom>
          <a:noFill/>
          <a:ln w="44450">
            <a:solidFill>
              <a:srgbClr val="138A52"/>
            </a:solidFill>
            <a:prstDash val="solid"/>
            <a:tailEnd type="triangle"/>
          </a:ln>
        </p:spPr>
        <p:txBody>
          <a:bodyPr/>
          <a:lstStyle/>
          <a:p>
            <a:endParaRPr lang="zh-TW" altLang="en-US" sz="1350"/>
          </a:p>
        </p:txBody>
      </p:sp>
      <p:sp>
        <p:nvSpPr>
          <p:cNvPr id="14" name="z_133"/>
          <p:cNvSpPr/>
          <p:nvPr/>
        </p:nvSpPr>
        <p:spPr>
          <a:xfrm>
            <a:off x="2279968" y="3540351"/>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5" name="z_134"/>
          <p:cNvSpPr txBox="1"/>
          <p:nvPr/>
        </p:nvSpPr>
        <p:spPr>
          <a:xfrm>
            <a:off x="411480" y="3895344"/>
            <a:ext cx="4320540" cy="370332"/>
          </a:xfrm>
          <a:prstGeom prst="rect">
            <a:avLst/>
          </a:prstGeom>
          <a:noFill/>
          <a:ln/>
        </p:spPr>
        <p:txBody>
          <a:bodyPr wrap="square" lIns="191" tIns="191" rIns="191" bIns="191" rtlCol="0" anchor="ctr"/>
          <a:lstStyle/>
          <a:p>
            <a:r>
              <a:rPr lang="en-US" b="1" dirty="0">
                <a:solidFill>
                  <a:srgbClr val="2459C4"/>
                </a:solidFill>
                <a:latin typeface="Microsoft JhengHei" pitchFamily="34" charset="0"/>
                <a:ea typeface="Microsoft JhengHei" pitchFamily="34" charset="-122"/>
                <a:cs typeface="Microsoft JhengHei" pitchFamily="34" charset="-120"/>
              </a:rPr>
              <a:t>|r| 都是 1.8 m → d|r|/dt = 0</a:t>
            </a:r>
            <a:endParaRPr lang="en-US" dirty="0"/>
          </a:p>
        </p:txBody>
      </p:sp>
      <p:sp>
        <p:nvSpPr>
          <p:cNvPr id="16" name="z_135"/>
          <p:cNvSpPr txBox="1"/>
          <p:nvPr/>
        </p:nvSpPr>
        <p:spPr>
          <a:xfrm>
            <a:off x="411480" y="4341114"/>
            <a:ext cx="4320540" cy="370332"/>
          </a:xfrm>
          <a:prstGeom prst="rect">
            <a:avLst/>
          </a:prstGeom>
          <a:noFill/>
          <a:ln/>
        </p:spPr>
        <p:txBody>
          <a:bodyPr wrap="square" lIns="191" tIns="191" rIns="191" bIns="191" rtlCol="0" anchor="ctr"/>
          <a:lstStyle/>
          <a:p>
            <a:r>
              <a:rPr lang="en-US" b="1" dirty="0">
                <a:solidFill>
                  <a:srgbClr val="138A52"/>
                </a:solidFill>
                <a:latin typeface="Microsoft JhengHei" pitchFamily="34" charset="0"/>
                <a:ea typeface="Microsoft JhengHei" pitchFamily="34" charset="-122"/>
                <a:cs typeface="Microsoft JhengHei" pitchFamily="34" charset="-120"/>
              </a:rPr>
              <a:t>但速率 ds/dt = 1.2 m/s</a:t>
            </a:r>
            <a:endParaRPr lang="en-US" dirty="0"/>
          </a:p>
        </p:txBody>
      </p:sp>
      <mc:AlternateContent xmlns:mc="http://schemas.openxmlformats.org/markup-compatibility/2006" xmlns:a14="http://schemas.microsoft.com/office/drawing/2010/main">
        <mc:Choice Requires="a14">
          <p:sp>
            <p:nvSpPr>
              <p:cNvPr id="17" name="T|c6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你繞著老師跑圈，跟老師的距離 |r| 不變，所以 </a:t>
                </a:r>
                <a14:m>
                  <m:oMath xmlns:m="http://schemas.openxmlformats.org/officeDocument/2006/math">
                    <m:f>
                      <m:fPr>
                        <m:ctrlPr>
                          <a:rPr lang="en-US" sz="1950" i="1">
                            <a:solidFill>
                              <a:srgbClr val="2459C4"/>
                            </a:solidFill>
                            <a:latin typeface="Cambria Math" panose="02040503050406030204" pitchFamily="18" charset="0"/>
                            <a:ea typeface="Microsoft JhengHei"/>
                          </a:rPr>
                        </m:ctrlPr>
                      </m:fPr>
                      <m:num>
                        <m:r>
                          <a:rPr lang="en-US" sz="1950" i="1">
                            <a:solidFill>
                              <a:srgbClr val="2459C4"/>
                            </a:solidFill>
                            <a:latin typeface="Cambria Math" panose="02040503050406030204" pitchFamily="18" charset="0"/>
                            <a:ea typeface="Microsoft JhengHei"/>
                          </a:rPr>
                          <m:t>𝑑</m:t>
                        </m:r>
                        <m:r>
                          <a:rPr lang="en-US" sz="1950">
                            <a:solidFill>
                              <a:srgbClr val="2459C4"/>
                            </a:solidFill>
                            <a:latin typeface="Cambria Math" panose="02040503050406030204" pitchFamily="18" charset="0"/>
                            <a:ea typeface="Microsoft JhengHei"/>
                          </a:rPr>
                          <m:t>|</m:t>
                        </m:r>
                        <m:r>
                          <a:rPr lang="en-US" sz="1950" i="1">
                            <a:solidFill>
                              <a:srgbClr val="2459C4"/>
                            </a:solidFill>
                            <a:latin typeface="Cambria Math" panose="02040503050406030204" pitchFamily="18" charset="0"/>
                            <a:ea typeface="Microsoft JhengHei"/>
                          </a:rPr>
                          <m:t>𝑟</m:t>
                        </m:r>
                        <m:r>
                          <a:rPr lang="en-US" sz="1950">
                            <a:solidFill>
                              <a:srgbClr val="2459C4"/>
                            </a:solidFill>
                            <a:latin typeface="Cambria Math" panose="02040503050406030204" pitchFamily="18" charset="0"/>
                            <a:ea typeface="Microsoft JhengHei"/>
                          </a:rPr>
                          <m:t>|</m:t>
                        </m:r>
                      </m:num>
                      <m:den>
                        <m:r>
                          <a:rPr lang="en-US" sz="1950" i="1">
                            <a:solidFill>
                              <a:srgbClr val="2459C4"/>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 = 0。可是你一直在跑，速率 </a:t>
                </a:r>
                <a14:m>
                  <m:oMath xmlns:m="http://schemas.openxmlformats.org/officeDocument/2006/math">
                    <m:f>
                      <m:fPr>
                        <m:ctrlPr>
                          <a:rPr lang="en-US" sz="1950" i="1">
                            <a:solidFill>
                              <a:srgbClr val="138A52"/>
                            </a:solidFill>
                            <a:latin typeface="Cambria Math" panose="02040503050406030204" pitchFamily="18" charset="0"/>
                            <a:ea typeface="Microsoft JhengHei"/>
                          </a:rPr>
                        </m:ctrlPr>
                      </m:fPr>
                      <m:num>
                        <m:r>
                          <a:rPr lang="en-US" sz="1950" i="1">
                            <a:solidFill>
                              <a:srgbClr val="138A52"/>
                            </a:solidFill>
                            <a:latin typeface="Cambria Math" panose="02040503050406030204" pitchFamily="18" charset="0"/>
                            <a:ea typeface="Microsoft JhengHei"/>
                          </a:rPr>
                          <m:t>𝑑𝑠</m:t>
                        </m:r>
                      </m:num>
                      <m:den>
                        <m:r>
                          <a:rPr lang="en-US" sz="1950" i="1">
                            <a:solidFill>
                              <a:srgbClr val="138A52"/>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 不是 0。</a:t>
                </a:r>
                <a:endParaRPr lang="zh-TW" altLang="en-US"/>
              </a:p>
            </p:txBody>
          </p:sp>
        </mc:Choice>
        <mc:Fallback xmlns="">
          <p:sp>
            <p:nvSpPr>
              <p:cNvPr id="17" name="T|c6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4"/>
                <a:stretch>
                  <a:fillRect l="-3555" t="-3153" r="-2628"/>
                </a:stretch>
              </a:blipFill>
              <a:ln/>
            </p:spPr>
            <p:txBody>
              <a:bodyPr/>
              <a:lstStyle/>
              <a:p>
                <a:r>
                  <a:rPr lang="zh-TW" altLang="en-US">
                    <a:noFill/>
                  </a:rPr>
                  <a:t> </a:t>
                </a:r>
              </a:p>
            </p:txBody>
          </p:sp>
        </mc:Fallback>
      </mc:AlternateContent>
      <p:sp>
        <p:nvSpPr>
          <p:cNvPr id="18" name="box_136"/>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9" name="T|c6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𝑟</m:t>
                        </m:r>
                        <m:r>
                          <a:rPr lang="en-US" sz="1950">
                            <a:solidFill>
                              <a:srgbClr val="1B2838"/>
                            </a:solidFill>
                            <a:latin typeface="Cambria Math" panose="02040503050406030204" pitchFamily="18" charset="0"/>
                            <a:ea typeface="Microsoft JhengHei"/>
                          </a:rPr>
                          <m:t>|</m:t>
                        </m:r>
                      </m:num>
                      <m:den>
                        <m:r>
                          <a:rPr lang="en-US" sz="1950" i="1">
                            <a:solidFill>
                              <a:srgbClr val="1B2838"/>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 只代表「離 O 變遠或變近」的快慢。</a:t>
                </a:r>
                <a:endParaRPr lang="zh-TW" altLang="en-US"/>
              </a:p>
            </p:txBody>
          </p:sp>
        </mc:Choice>
        <mc:Fallback xmlns="">
          <p:sp>
            <p:nvSpPr>
              <p:cNvPr id="19" name="T|c6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5"/>
                <a:stretch>
                  <a:fillRect l="-3877" r="-9532"/>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nodeType="withEffect">
                                  <p:stCondLst>
                                    <p:cond delay="40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childTnLst>
                                </p:cTn>
                              </p:par>
                              <p:par>
                                <p:cTn id="31" presetID="10" presetClass="entr" presetSubtype="0" fill="hold" nodeType="withEffect">
                                  <p:stCondLst>
                                    <p:cond delay="40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p:tgtEl>
                                          <p:spTgt spid="13"/>
                                        </p:tgtEl>
                                      </p:cBhvr>
                                    </p:animEffect>
                                  </p:childTnLst>
                                </p:cTn>
                              </p:par>
                              <p:par>
                                <p:cTn id="34" presetID="10" presetClass="entr" presetSubtype="0" fill="hold" nodeType="withEffect">
                                  <p:stCondLst>
                                    <p:cond delay="40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600"/>
                                        <p:tgtEl>
                                          <p:spTgt spid="15"/>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6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6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7｜r 跟原點有關，v 跟原點無關</a:t>
            </a:r>
            <a:endParaRPr lang="en-US" sz="2700" dirty="0"/>
          </a:p>
        </p:txBody>
      </p:sp>
      <p:sp>
        <p:nvSpPr>
          <p:cNvPr id="3" name="z_137"/>
          <p:cNvSpPr/>
          <p:nvPr/>
        </p:nvSpPr>
        <p:spPr>
          <a:xfrm>
            <a:off x="1423036" y="1137978"/>
            <a:ext cx="2783276" cy="1888115"/>
          </a:xfrm>
          <a:custGeom>
            <a:avLst/>
            <a:gdLst/>
            <a:ahLst/>
            <a:cxnLst/>
            <a:rect l="l" t="t" r="r" b="b"/>
            <a:pathLst>
              <a:path w="3711035" h="2517486">
                <a:moveTo>
                  <a:pt x="0" y="2517486"/>
                </a:moveTo>
                <a:lnTo>
                  <a:pt x="66610" y="2508763"/>
                </a:lnTo>
                <a:lnTo>
                  <a:pt x="132707" y="2499315"/>
                </a:lnTo>
                <a:lnTo>
                  <a:pt x="198293" y="2489146"/>
                </a:lnTo>
                <a:lnTo>
                  <a:pt x="263366" y="2478264"/>
                </a:lnTo>
                <a:lnTo>
                  <a:pt x="327928" y="2466673"/>
                </a:lnTo>
                <a:lnTo>
                  <a:pt x="391978" y="2454380"/>
                </a:lnTo>
                <a:lnTo>
                  <a:pt x="455516" y="2441390"/>
                </a:lnTo>
                <a:lnTo>
                  <a:pt x="518542" y="2427709"/>
                </a:lnTo>
                <a:lnTo>
                  <a:pt x="581056" y="2413343"/>
                </a:lnTo>
                <a:lnTo>
                  <a:pt x="643058" y="2398297"/>
                </a:lnTo>
                <a:lnTo>
                  <a:pt x="704548" y="2382577"/>
                </a:lnTo>
                <a:lnTo>
                  <a:pt x="765526" y="2366190"/>
                </a:lnTo>
                <a:lnTo>
                  <a:pt x="825993" y="2349140"/>
                </a:lnTo>
                <a:lnTo>
                  <a:pt x="885947" y="2331434"/>
                </a:lnTo>
                <a:lnTo>
                  <a:pt x="945389" y="2313077"/>
                </a:lnTo>
                <a:lnTo>
                  <a:pt x="1004320" y="2294075"/>
                </a:lnTo>
                <a:lnTo>
                  <a:pt x="1062738" y="2274434"/>
                </a:lnTo>
                <a:lnTo>
                  <a:pt x="1120645" y="2254159"/>
                </a:lnTo>
                <a:lnTo>
                  <a:pt x="1178040" y="2233257"/>
                </a:lnTo>
                <a:lnTo>
                  <a:pt x="1234922" y="2211733"/>
                </a:lnTo>
                <a:lnTo>
                  <a:pt x="1291293" y="2189593"/>
                </a:lnTo>
                <a:lnTo>
                  <a:pt x="1347152" y="2166842"/>
                </a:lnTo>
                <a:lnTo>
                  <a:pt x="1402499" y="2143487"/>
                </a:lnTo>
                <a:lnTo>
                  <a:pt x="1457334" y="2119533"/>
                </a:lnTo>
                <a:lnTo>
                  <a:pt x="1511657" y="2094985"/>
                </a:lnTo>
                <a:lnTo>
                  <a:pt x="1565468" y="2069851"/>
                </a:lnTo>
                <a:lnTo>
                  <a:pt x="1618767" y="2044134"/>
                </a:lnTo>
                <a:lnTo>
                  <a:pt x="1671554" y="2017842"/>
                </a:lnTo>
                <a:lnTo>
                  <a:pt x="1723829" y="1990980"/>
                </a:lnTo>
                <a:lnTo>
                  <a:pt x="1775592" y="1963554"/>
                </a:lnTo>
                <a:lnTo>
                  <a:pt x="1826844" y="1935569"/>
                </a:lnTo>
                <a:lnTo>
                  <a:pt x="1877583" y="1907031"/>
                </a:lnTo>
                <a:lnTo>
                  <a:pt x="1927811" y="1877946"/>
                </a:lnTo>
                <a:lnTo>
                  <a:pt x="1977526" y="1848320"/>
                </a:lnTo>
                <a:lnTo>
                  <a:pt x="2026730" y="1818158"/>
                </a:lnTo>
                <a:lnTo>
                  <a:pt x="2075422" y="1787467"/>
                </a:lnTo>
                <a:lnTo>
                  <a:pt x="2123601" y="1756251"/>
                </a:lnTo>
                <a:lnTo>
                  <a:pt x="2171269" y="1724517"/>
                </a:lnTo>
                <a:lnTo>
                  <a:pt x="2218425" y="1692271"/>
                </a:lnTo>
                <a:lnTo>
                  <a:pt x="2265069" y="1659518"/>
                </a:lnTo>
                <a:lnTo>
                  <a:pt x="2311201" y="1626264"/>
                </a:lnTo>
                <a:lnTo>
                  <a:pt x="2356821" y="1592515"/>
                </a:lnTo>
                <a:lnTo>
                  <a:pt x="2401929" y="1558277"/>
                </a:lnTo>
                <a:lnTo>
                  <a:pt x="2446525" y="1523554"/>
                </a:lnTo>
                <a:lnTo>
                  <a:pt x="2490609" y="1488354"/>
                </a:lnTo>
                <a:lnTo>
                  <a:pt x="2534182" y="1452682"/>
                </a:lnTo>
                <a:lnTo>
                  <a:pt x="2577242" y="1416543"/>
                </a:lnTo>
                <a:lnTo>
                  <a:pt x="2619790" y="1379943"/>
                </a:lnTo>
                <a:lnTo>
                  <a:pt x="2661827" y="1342889"/>
                </a:lnTo>
                <a:lnTo>
                  <a:pt x="2703351" y="1305386"/>
                </a:lnTo>
                <a:lnTo>
                  <a:pt x="2744364" y="1267439"/>
                </a:lnTo>
                <a:lnTo>
                  <a:pt x="2784864" y="1229054"/>
                </a:lnTo>
                <a:lnTo>
                  <a:pt x="2824853" y="1190238"/>
                </a:lnTo>
                <a:lnTo>
                  <a:pt x="2864330" y="1150996"/>
                </a:lnTo>
                <a:lnTo>
                  <a:pt x="2903295" y="1111333"/>
                </a:lnTo>
                <a:lnTo>
                  <a:pt x="2941748" y="1071256"/>
                </a:lnTo>
                <a:lnTo>
                  <a:pt x="2979689" y="1030769"/>
                </a:lnTo>
                <a:lnTo>
                  <a:pt x="3017118" y="989880"/>
                </a:lnTo>
                <a:lnTo>
                  <a:pt x="3054035" y="948594"/>
                </a:lnTo>
                <a:lnTo>
                  <a:pt x="3090440" y="906916"/>
                </a:lnTo>
                <a:lnTo>
                  <a:pt x="3126333" y="864852"/>
                </a:lnTo>
                <a:lnTo>
                  <a:pt x="3161714" y="822408"/>
                </a:lnTo>
                <a:lnTo>
                  <a:pt x="3196584" y="779590"/>
                </a:lnTo>
                <a:lnTo>
                  <a:pt x="3230941" y="736403"/>
                </a:lnTo>
                <a:lnTo>
                  <a:pt x="3264786" y="692854"/>
                </a:lnTo>
                <a:lnTo>
                  <a:pt x="3298120" y="648947"/>
                </a:lnTo>
                <a:lnTo>
                  <a:pt x="3330941" y="604690"/>
                </a:lnTo>
                <a:lnTo>
                  <a:pt x="3363251" y="560087"/>
                </a:lnTo>
                <a:lnTo>
                  <a:pt x="3395049" y="515144"/>
                </a:lnTo>
                <a:lnTo>
                  <a:pt x="3426334" y="469867"/>
                </a:lnTo>
                <a:lnTo>
                  <a:pt x="3457108" y="424262"/>
                </a:lnTo>
                <a:lnTo>
                  <a:pt x="3487370" y="378335"/>
                </a:lnTo>
                <a:lnTo>
                  <a:pt x="3517120" y="332091"/>
                </a:lnTo>
                <a:lnTo>
                  <a:pt x="3546358" y="285536"/>
                </a:lnTo>
                <a:lnTo>
                  <a:pt x="3575084" y="238676"/>
                </a:lnTo>
                <a:lnTo>
                  <a:pt x="3603298" y="191517"/>
                </a:lnTo>
                <a:lnTo>
                  <a:pt x="3631000" y="144063"/>
                </a:lnTo>
                <a:lnTo>
                  <a:pt x="3658191" y="96323"/>
                </a:lnTo>
                <a:lnTo>
                  <a:pt x="3684869" y="48299"/>
                </a:lnTo>
                <a:lnTo>
                  <a:pt x="3711035"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138"/>
          <p:cNvSpPr/>
          <p:nvPr/>
        </p:nvSpPr>
        <p:spPr>
          <a:xfrm>
            <a:off x="579011" y="3376096"/>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139"/>
          <p:cNvSpPr/>
          <p:nvPr/>
        </p:nvSpPr>
        <p:spPr>
          <a:xfrm>
            <a:off x="4320295" y="3296494"/>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6" name="z_140"/>
          <p:cNvSpPr txBox="1"/>
          <p:nvPr/>
        </p:nvSpPr>
        <p:spPr>
          <a:xfrm>
            <a:off x="421277" y="3492682"/>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O₁</a:t>
            </a:r>
            <a:endParaRPr lang="en-US" sz="1950" dirty="0"/>
          </a:p>
        </p:txBody>
      </p:sp>
      <p:sp>
        <p:nvSpPr>
          <p:cNvPr id="7" name="z_141"/>
          <p:cNvSpPr txBox="1"/>
          <p:nvPr/>
        </p:nvSpPr>
        <p:spPr>
          <a:xfrm>
            <a:off x="4162561" y="3413080"/>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O₂</a:t>
            </a:r>
            <a:endParaRPr lang="en-US" sz="1950" dirty="0"/>
          </a:p>
        </p:txBody>
      </p:sp>
      <p:sp>
        <p:nvSpPr>
          <p:cNvPr id="8" name="z_142"/>
          <p:cNvSpPr/>
          <p:nvPr/>
        </p:nvSpPr>
        <p:spPr>
          <a:xfrm>
            <a:off x="3139403" y="2286785"/>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9" name="z_143"/>
          <p:cNvSpPr txBox="1"/>
          <p:nvPr/>
        </p:nvSpPr>
        <p:spPr>
          <a:xfrm>
            <a:off x="2913089" y="1889021"/>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10" name="z_144"/>
          <p:cNvSpPr/>
          <p:nvPr/>
        </p:nvSpPr>
        <p:spPr>
          <a:xfrm flipV="1">
            <a:off x="627018" y="2334790"/>
            <a:ext cx="2560391" cy="1089311"/>
          </a:xfrm>
          <a:prstGeom prst="line">
            <a:avLst/>
          </a:prstGeom>
          <a:noFill/>
          <a:ln w="38100">
            <a:solidFill>
              <a:srgbClr val="2459C4"/>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1" name="M|r1|r|145"/>
              <p:cNvSpPr txBox="1"/>
              <p:nvPr/>
            </p:nvSpPr>
            <p:spPr>
              <a:xfrm>
                <a:off x="1528844" y="2439488"/>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sSub>
                        <m:sSubPr>
                          <m:ctrlPr>
                            <a:rPr lang="en-US" sz="1950" i="1">
                              <a:solidFill>
                                <a:srgbClr val="2459C4"/>
                              </a:solidFill>
                              <a:latin typeface="Cambria Math" panose="02040503050406030204" pitchFamily="18" charset="0"/>
                              <a:ea typeface="Microsoft JhengHei"/>
                            </a:rPr>
                          </m:ctrlPr>
                        </m:sSubPr>
                        <m:e>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e>
                        <m:sub>
                          <m:r>
                            <a:rPr lang="en-US" sz="1950">
                              <a:solidFill>
                                <a:srgbClr val="2459C4"/>
                              </a:solidFill>
                              <a:latin typeface="Cambria Math" panose="02040503050406030204" pitchFamily="18" charset="0"/>
                              <a:ea typeface="Microsoft JhengHei"/>
                            </a:rPr>
                            <m:t>1</m:t>
                          </m:r>
                        </m:sub>
                      </m:sSub>
                    </m:oMath>
                  </m:oMathPara>
                </a14:m>
                <a:endParaRPr lang="zh-TW" altLang="en-US"/>
              </a:p>
            </p:txBody>
          </p:sp>
        </mc:Choice>
        <mc:Fallback xmlns="">
          <p:sp>
            <p:nvSpPr>
              <p:cNvPr id="11" name="M|r1|r|145"/>
              <p:cNvSpPr txBox="1">
                <a:spLocks noRot="1" noChangeAspect="1" noMove="1" noResize="1" noEditPoints="1" noAdjustHandles="1" noChangeArrowheads="1" noChangeShapeType="1" noTextEdit="1"/>
              </p:cNvSpPr>
              <p:nvPr/>
            </p:nvSpPr>
            <p:spPr>
              <a:xfrm>
                <a:off x="1528844" y="2439488"/>
                <a:ext cx="425196" cy="377190"/>
              </a:xfrm>
              <a:prstGeom prst="rect">
                <a:avLst/>
              </a:prstGeom>
              <a:blipFill>
                <a:blip r:embed="rId3"/>
                <a:stretch>
                  <a:fillRect b="-1613"/>
                </a:stretch>
              </a:blipFill>
              <a:ln/>
            </p:spPr>
            <p:txBody>
              <a:bodyPr/>
              <a:lstStyle/>
              <a:p>
                <a:r>
                  <a:rPr lang="zh-TW" altLang="en-US">
                    <a:noFill/>
                  </a:rPr>
                  <a:t> </a:t>
                </a:r>
              </a:p>
            </p:txBody>
          </p:sp>
        </mc:Fallback>
      </mc:AlternateContent>
      <p:sp>
        <p:nvSpPr>
          <p:cNvPr id="12" name="z_146"/>
          <p:cNvSpPr/>
          <p:nvPr/>
        </p:nvSpPr>
        <p:spPr>
          <a:xfrm flipH="1" flipV="1">
            <a:off x="3187409" y="2334790"/>
            <a:ext cx="1180892" cy="1009709"/>
          </a:xfrm>
          <a:prstGeom prst="line">
            <a:avLst/>
          </a:prstGeom>
          <a:noFill/>
          <a:ln w="38100">
            <a:solidFill>
              <a:srgbClr val="8A3CC4"/>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3" name="M|r2|ds|147"/>
              <p:cNvSpPr txBox="1"/>
              <p:nvPr/>
            </p:nvSpPr>
            <p:spPr>
              <a:xfrm>
                <a:off x="3837296" y="2479289"/>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sSub>
                        <m:sSubPr>
                          <m:ctrlPr>
                            <a:rPr lang="en-US" sz="1950" i="1">
                              <a:solidFill>
                                <a:srgbClr val="8A3CC4"/>
                              </a:solidFill>
                              <a:latin typeface="Cambria Math" panose="02040503050406030204" pitchFamily="18" charset="0"/>
                              <a:ea typeface="Microsoft JhengHei"/>
                            </a:rPr>
                          </m:ctrlPr>
                        </m:sSubPr>
                        <m:e>
                          <m:acc>
                            <m:accPr>
                              <m:chr m:val="⃗"/>
                              <m:ctrlPr>
                                <a:rPr lang="en-US" sz="1950" i="1">
                                  <a:solidFill>
                                    <a:srgbClr val="8A3CC4"/>
                                  </a:solidFill>
                                  <a:latin typeface="Cambria Math" panose="02040503050406030204" pitchFamily="18" charset="0"/>
                                  <a:ea typeface="Microsoft JhengHei"/>
                                </a:rPr>
                              </m:ctrlPr>
                            </m:accPr>
                            <m:e>
                              <m:r>
                                <a:rPr lang="en-US" sz="1950" i="1">
                                  <a:solidFill>
                                    <a:srgbClr val="8A3CC4"/>
                                  </a:solidFill>
                                  <a:latin typeface="Cambria Math" panose="02040503050406030204" pitchFamily="18" charset="0"/>
                                  <a:ea typeface="Microsoft JhengHei"/>
                                </a:rPr>
                                <m:t>𝑟</m:t>
                              </m:r>
                            </m:e>
                          </m:acc>
                        </m:e>
                        <m:sub>
                          <m:r>
                            <a:rPr lang="en-US" sz="1950">
                              <a:solidFill>
                                <a:srgbClr val="8A3CC4"/>
                              </a:solidFill>
                              <a:latin typeface="Cambria Math" panose="02040503050406030204" pitchFamily="18" charset="0"/>
                              <a:ea typeface="Microsoft JhengHei"/>
                            </a:rPr>
                            <m:t>2</m:t>
                          </m:r>
                        </m:sub>
                      </m:sSub>
                    </m:oMath>
                  </m:oMathPara>
                </a14:m>
                <a:endParaRPr lang="zh-TW" altLang="en-US"/>
              </a:p>
            </p:txBody>
          </p:sp>
        </mc:Choice>
        <mc:Fallback xmlns="">
          <p:sp>
            <p:nvSpPr>
              <p:cNvPr id="13" name="M|r2|ds|147"/>
              <p:cNvSpPr txBox="1">
                <a:spLocks noRot="1" noChangeAspect="1" noMove="1" noResize="1" noEditPoints="1" noAdjustHandles="1" noChangeArrowheads="1" noChangeShapeType="1" noTextEdit="1"/>
              </p:cNvSpPr>
              <p:nvPr/>
            </p:nvSpPr>
            <p:spPr>
              <a:xfrm>
                <a:off x="3837296" y="2479289"/>
                <a:ext cx="425196" cy="377190"/>
              </a:xfrm>
              <a:prstGeom prst="rect">
                <a:avLst/>
              </a:prstGeom>
              <a:blipFill>
                <a:blip r:embed="rId4"/>
                <a:stretch>
                  <a:fillRect/>
                </a:stretch>
              </a:blipFill>
              <a:ln/>
            </p:spPr>
            <p:txBody>
              <a:bodyPr/>
              <a:lstStyle/>
              <a:p>
                <a:r>
                  <a:rPr lang="zh-TW" altLang="en-US">
                    <a:noFill/>
                  </a:rPr>
                  <a:t> </a:t>
                </a:r>
              </a:p>
            </p:txBody>
          </p:sp>
        </mc:Fallback>
      </mc:AlternateContent>
      <p:sp>
        <p:nvSpPr>
          <p:cNvPr id="14" name="z_148"/>
          <p:cNvSpPr/>
          <p:nvPr/>
        </p:nvSpPr>
        <p:spPr>
          <a:xfrm flipV="1">
            <a:off x="3187409" y="1752822"/>
            <a:ext cx="778505" cy="581969"/>
          </a:xfrm>
          <a:prstGeom prst="line">
            <a:avLst/>
          </a:prstGeom>
          <a:noFill/>
          <a:ln w="5080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5" name="M|v|v|149"/>
              <p:cNvSpPr txBox="1"/>
              <p:nvPr/>
            </p:nvSpPr>
            <p:spPr>
              <a:xfrm>
                <a:off x="3959056" y="1564227"/>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15" name="M|v|v|149"/>
              <p:cNvSpPr txBox="1">
                <a:spLocks noRot="1" noChangeAspect="1" noMove="1" noResize="1" noEditPoints="1" noAdjustHandles="1" noChangeArrowheads="1" noChangeShapeType="1" noTextEdit="1"/>
              </p:cNvSpPr>
              <p:nvPr/>
            </p:nvSpPr>
            <p:spPr>
              <a:xfrm>
                <a:off x="3959056" y="1564227"/>
                <a:ext cx="425196" cy="377190"/>
              </a:xfrm>
              <a:prstGeom prst="rect">
                <a:avLst/>
              </a:prstGeom>
              <a:blipFill>
                <a:blip r:embed="rId5"/>
                <a:stretch>
                  <a:fillRect/>
                </a:stretch>
              </a:blipFill>
              <a:ln/>
            </p:spPr>
            <p:txBody>
              <a:bodyPr/>
              <a:lstStyle/>
              <a:p>
                <a:r>
                  <a:rPr lang="zh-TW" altLang="en-US">
                    <a:noFill/>
                  </a:rPr>
                  <a:t> </a:t>
                </a:r>
              </a:p>
            </p:txBody>
          </p:sp>
        </mc:Fallback>
      </mc:AlternateContent>
      <p:sp>
        <p:nvSpPr>
          <p:cNvPr id="16" name="z_150"/>
          <p:cNvSpPr txBox="1"/>
          <p:nvPr/>
        </p:nvSpPr>
        <p:spPr>
          <a:xfrm>
            <a:off x="411480" y="4169664"/>
            <a:ext cx="4320540" cy="370332"/>
          </a:xfrm>
          <a:prstGeom prst="rect">
            <a:avLst/>
          </a:prstGeom>
          <a:noFill/>
          <a:ln/>
        </p:spPr>
        <p:txBody>
          <a:bodyPr wrap="square" lIns="191" tIns="191" rIns="191" bIns="191" rtlCol="0" anchor="ctr"/>
          <a:lstStyle/>
          <a:p>
            <a:r>
              <a:rPr lang="en-US" b="1" dirty="0">
                <a:solidFill>
                  <a:srgbClr val="138A52"/>
                </a:solidFill>
                <a:latin typeface="Microsoft JhengHei" pitchFamily="34" charset="0"/>
                <a:ea typeface="Microsoft JhengHei" pitchFamily="34" charset="-122"/>
                <a:cs typeface="Microsoft JhengHei" pitchFamily="34" charset="-120"/>
              </a:rPr>
              <a:t>兩個原點，量到同一個 v</a:t>
            </a:r>
            <a:endParaRPr lang="en-US" dirty="0"/>
          </a:p>
        </p:txBody>
      </p:sp>
      <mc:AlternateContent xmlns:mc="http://schemas.openxmlformats.org/markup-compatibility/2006" xmlns:a14="http://schemas.microsoft.com/office/drawing/2010/main">
        <mc:Choice Requires="a14">
          <p:sp>
            <p:nvSpPr>
              <p:cNvPr id="17" name="T|c7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兩個人站在不同的固定點 O₁、O₂ 看同一個質點，畫出的 r 不一樣。但質點跑多快、往哪跑，兩人量到的 </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a14:m>
                <a:r>
                  <a:rPr lang="zh-TW" altLang="en-US">
                    <a:solidFill>
                      <a:srgbClr val="1B2838"/>
                    </a:solidFill>
                    <a:latin typeface="Microsoft JhengHei"/>
                    <a:ea typeface="Microsoft JhengHei"/>
                  </a:rPr>
                  <a:t> 完全一樣。</a:t>
                </a:r>
                <a:endParaRPr lang="zh-TW" altLang="en-US"/>
              </a:p>
            </p:txBody>
          </p:sp>
        </mc:Choice>
        <mc:Fallback xmlns="">
          <p:sp>
            <p:nvSpPr>
              <p:cNvPr id="17" name="T|c7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6"/>
                <a:stretch>
                  <a:fillRect l="-3555" t="-3378" r="-4946"/>
                </a:stretch>
              </a:blipFill>
              <a:ln/>
            </p:spPr>
            <p:txBody>
              <a:bodyPr/>
              <a:lstStyle/>
              <a:p>
                <a:r>
                  <a:rPr lang="zh-TW" altLang="en-US">
                    <a:noFill/>
                  </a:rPr>
                  <a:t> </a:t>
                </a:r>
              </a:p>
            </p:txBody>
          </p:sp>
        </mc:Fallback>
      </mc:AlternateContent>
      <p:sp>
        <p:nvSpPr>
          <p:cNvPr id="18" name="box_151"/>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9" name="T|c7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14:m>
                  <m:oMath xmlns:m="http://schemas.openxmlformats.org/officeDocument/2006/math">
                    <m:acc>
                      <m:accPr>
                        <m:chr m:val="⃗"/>
                        <m:ctrlPr>
                          <a:rPr lang="en-US" sz="1950">
                            <a:solidFill>
                              <a:srgbClr val="1B2838"/>
                            </a:solidFill>
                            <a:latin typeface="Cambria Math" panose="02040503050406030204" pitchFamily="18" charset="0"/>
                            <a:ea typeface="Microsoft JhengHei"/>
                          </a:rPr>
                        </m:ctrlPr>
                      </m:accPr>
                      <m:e>
                        <m:r>
                          <m:rPr>
                            <m:sty m:val="p"/>
                          </m:rPr>
                          <a:rPr lang="en-US" sz="1950">
                            <a:solidFill>
                              <a:srgbClr val="1B2838"/>
                            </a:solidFill>
                            <a:latin typeface="Cambria Math" panose="02040503050406030204" pitchFamily="18" charset="0"/>
                            <a:ea typeface="Microsoft JhengHei"/>
                          </a:rPr>
                          <m:t>Δ</m:t>
                        </m:r>
                        <m:r>
                          <a:rPr lang="en-US" sz="1950" i="1">
                            <a:solidFill>
                              <a:srgbClr val="1B2838"/>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r>
                          <a:rPr lang="en-US" sz="1950" i="1">
                            <a:solidFill>
                              <a:srgbClr val="1B2838"/>
                            </a:solidFill>
                            <a:latin typeface="Cambria Math" panose="02040503050406030204" pitchFamily="18" charset="0"/>
                            <a:ea typeface="Microsoft JhengHei"/>
                          </a:rPr>
                          <m:t>′</m:t>
                        </m:r>
                      </m:e>
                    </m:acc>
                    <m:r>
                      <a:rPr lang="en-US" sz="1950">
                        <a:solidFill>
                          <a:srgbClr val="1B2838"/>
                        </a:solidFill>
                        <a:latin typeface="Cambria Math" panose="02040503050406030204" pitchFamily="18" charset="0"/>
                        <a:ea typeface="Microsoft JhengHei"/>
                      </a:rPr>
                      <m:t>−</m:t>
                    </m:r>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相減時，原點的影響抵消了。原點必須固定。</a:t>
                </a:r>
                <a:endParaRPr lang="zh-TW" altLang="en-US"/>
              </a:p>
            </p:txBody>
          </p:sp>
        </mc:Choice>
        <mc:Fallback xmlns="">
          <p:sp>
            <p:nvSpPr>
              <p:cNvPr id="19" name="T|c7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7"/>
                <a:stretch>
                  <a:fillRect l="-3877" r="-2908"/>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6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6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6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60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6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6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6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8｜有沒有向量箭頭，意思差很多</a:t>
            </a:r>
            <a:endParaRPr lang="en-US" sz="2700" dirty="0"/>
          </a:p>
        </p:txBody>
      </p:sp>
      <p:sp>
        <p:nvSpPr>
          <p:cNvPr id="3" name="z_152"/>
          <p:cNvSpPr/>
          <p:nvPr/>
        </p:nvSpPr>
        <p:spPr>
          <a:xfrm>
            <a:off x="388212" y="2101793"/>
            <a:ext cx="4298497" cy="686"/>
          </a:xfrm>
          <a:prstGeom prst="line">
            <a:avLst/>
          </a:prstGeom>
          <a:noFill/>
          <a:ln w="31750">
            <a:solidFill>
              <a:srgbClr val="40526A"/>
            </a:solidFill>
            <a:prstDash val="solid"/>
          </a:ln>
        </p:spPr>
        <p:txBody>
          <a:bodyPr/>
          <a:lstStyle/>
          <a:p>
            <a:endParaRPr lang="zh-TW" altLang="en-US" sz="1350"/>
          </a:p>
        </p:txBody>
      </p:sp>
      <p:sp>
        <p:nvSpPr>
          <p:cNvPr id="4" name="z_153"/>
          <p:cNvSpPr/>
          <p:nvPr/>
        </p:nvSpPr>
        <p:spPr>
          <a:xfrm>
            <a:off x="2489454" y="3009009"/>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154"/>
          <p:cNvSpPr txBox="1"/>
          <p:nvPr/>
        </p:nvSpPr>
        <p:spPr>
          <a:xfrm>
            <a:off x="2125980" y="3022725"/>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O</a:t>
            </a:r>
            <a:endParaRPr lang="en-US" sz="1950" dirty="0"/>
          </a:p>
        </p:txBody>
      </p:sp>
      <p:sp>
        <p:nvSpPr>
          <p:cNvPr id="6" name="z_155"/>
          <p:cNvSpPr/>
          <p:nvPr/>
        </p:nvSpPr>
        <p:spPr>
          <a:xfrm flipH="1" flipV="1">
            <a:off x="1263832" y="2101794"/>
            <a:ext cx="1273628" cy="955222"/>
          </a:xfrm>
          <a:prstGeom prst="line">
            <a:avLst/>
          </a:prstGeom>
          <a:noFill/>
          <a:ln w="31750">
            <a:solidFill>
              <a:srgbClr val="7A9FE6"/>
            </a:solidFill>
            <a:prstDash val="solid"/>
            <a:tailEnd type="triangle"/>
          </a:ln>
        </p:spPr>
        <p:txBody>
          <a:bodyPr/>
          <a:lstStyle/>
          <a:p>
            <a:endParaRPr lang="zh-TW" altLang="en-US" sz="1350"/>
          </a:p>
        </p:txBody>
      </p:sp>
      <p:sp>
        <p:nvSpPr>
          <p:cNvPr id="7" name="z_156"/>
          <p:cNvSpPr/>
          <p:nvPr/>
        </p:nvSpPr>
        <p:spPr>
          <a:xfrm>
            <a:off x="1263832" y="2101793"/>
            <a:ext cx="1273628" cy="686"/>
          </a:xfrm>
          <a:prstGeom prst="line">
            <a:avLst/>
          </a:prstGeom>
          <a:noFill/>
          <a:ln w="4445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8" name="M|rdotvec|v|157"/>
              <p:cNvSpPr txBox="1"/>
              <p:nvPr/>
            </p:nvSpPr>
            <p:spPr>
              <a:xfrm>
                <a:off x="2564892" y="1707458"/>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𝑟</m:t>
                              </m:r>
                            </m:e>
                          </m:acc>
                        </m:e>
                      </m:acc>
                    </m:oMath>
                  </m:oMathPara>
                </a14:m>
                <a:endParaRPr lang="zh-TW" altLang="en-US"/>
              </a:p>
            </p:txBody>
          </p:sp>
        </mc:Choice>
        <mc:Fallback xmlns="">
          <p:sp>
            <p:nvSpPr>
              <p:cNvPr id="8" name="M|rdotvec|v|157"/>
              <p:cNvSpPr txBox="1">
                <a:spLocks noRot="1" noChangeAspect="1" noMove="1" noResize="1" noEditPoints="1" noAdjustHandles="1" noChangeArrowheads="1" noChangeShapeType="1" noTextEdit="1"/>
              </p:cNvSpPr>
              <p:nvPr/>
            </p:nvSpPr>
            <p:spPr>
              <a:xfrm>
                <a:off x="2564892" y="1707458"/>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9" name="z_158"/>
          <p:cNvSpPr/>
          <p:nvPr/>
        </p:nvSpPr>
        <p:spPr>
          <a:xfrm>
            <a:off x="1215826" y="2053787"/>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10" name="z_159"/>
          <p:cNvSpPr/>
          <p:nvPr/>
        </p:nvSpPr>
        <p:spPr>
          <a:xfrm flipH="1">
            <a:off x="2078953" y="2101793"/>
            <a:ext cx="458507" cy="611342"/>
          </a:xfrm>
          <a:prstGeom prst="line">
            <a:avLst/>
          </a:prstGeom>
          <a:noFill/>
          <a:ln w="19050">
            <a:solidFill>
              <a:srgbClr val="5B6B7E"/>
            </a:solidFill>
            <a:prstDash val="dash"/>
          </a:ln>
        </p:spPr>
        <p:txBody>
          <a:bodyPr/>
          <a:lstStyle/>
          <a:p>
            <a:endParaRPr lang="zh-TW" altLang="en-US" sz="1350"/>
          </a:p>
        </p:txBody>
      </p:sp>
      <p:sp>
        <p:nvSpPr>
          <p:cNvPr id="11" name="z_160"/>
          <p:cNvSpPr/>
          <p:nvPr/>
        </p:nvSpPr>
        <p:spPr>
          <a:xfrm>
            <a:off x="1263832" y="2101793"/>
            <a:ext cx="815123" cy="611342"/>
          </a:xfrm>
          <a:prstGeom prst="line">
            <a:avLst/>
          </a:prstGeom>
          <a:noFill/>
          <a:ln w="50800">
            <a:solidFill>
              <a:srgbClr val="2459C4"/>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2" name="M|rdot|r|161"/>
              <p:cNvSpPr txBox="1"/>
              <p:nvPr/>
            </p:nvSpPr>
            <p:spPr>
              <a:xfrm>
                <a:off x="1934936" y="2764570"/>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m:oMathPara>
                </a14:m>
                <a:endParaRPr lang="zh-TW" altLang="en-US"/>
              </a:p>
            </p:txBody>
          </p:sp>
        </mc:Choice>
        <mc:Fallback xmlns="">
          <p:sp>
            <p:nvSpPr>
              <p:cNvPr id="12" name="M|rdot|r|161"/>
              <p:cNvSpPr txBox="1">
                <a:spLocks noRot="1" noChangeAspect="1" noMove="1" noResize="1" noEditPoints="1" noAdjustHandles="1" noChangeArrowheads="1" noChangeShapeType="1" noTextEdit="1"/>
              </p:cNvSpPr>
              <p:nvPr/>
            </p:nvSpPr>
            <p:spPr>
              <a:xfrm>
                <a:off x="1934936" y="2764570"/>
                <a:ext cx="425196" cy="377190"/>
              </a:xfrm>
              <a:prstGeom prst="rect">
                <a:avLst/>
              </a:prstGeom>
              <a:blipFill>
                <a:blip r:embed="rId4"/>
                <a:stretch>
                  <a:fillRect/>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c8a"/>
              <p:cNvSpPr txBox="1"/>
              <p:nvPr/>
            </p:nvSpPr>
            <p:spPr>
              <a:xfrm>
                <a:off x="411480" y="3909060"/>
                <a:ext cx="4320540" cy="445770"/>
              </a:xfrm>
              <a:prstGeom prst="rect">
                <a:avLst/>
              </a:prstGeom>
              <a:noFill/>
              <a:ln/>
            </p:spPr>
            <p:txBody>
              <a:bodyPr wrap="square" lIns="381" tIns="381" rIns="381" bIns="381" rtlCol="0" anchor="ctr"/>
              <a:lstStyle/>
              <a:p>
                <a:pPr>
                  <a:lnSpc>
                    <a:spcPct val="105000"/>
                  </a:lnSpc>
                </a:pP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&lt; 0：正在靠近 O</a:t>
                </a:r>
                <a:endParaRPr lang="zh-TW" altLang="en-US"/>
              </a:p>
            </p:txBody>
          </p:sp>
        </mc:Choice>
        <mc:Fallback xmlns="">
          <p:sp>
            <p:nvSpPr>
              <p:cNvPr id="13" name="T|c8a"/>
              <p:cNvSpPr txBox="1">
                <a:spLocks noRot="1" noChangeAspect="1" noMove="1" noResize="1" noEditPoints="1" noAdjustHandles="1" noChangeArrowheads="1" noChangeShapeType="1" noTextEdit="1"/>
              </p:cNvSpPr>
              <p:nvPr/>
            </p:nvSpPr>
            <p:spPr>
              <a:xfrm>
                <a:off x="411480" y="3909060"/>
                <a:ext cx="4320540" cy="445770"/>
              </a:xfrm>
              <a:prstGeom prst="rect">
                <a:avLst/>
              </a:prstGeom>
              <a:blipFill>
                <a:blip r:embed="rId5"/>
                <a:stretch>
                  <a:fillRect l="-1554" b="-12329"/>
                </a:stretch>
              </a:blipFill>
              <a:ln/>
            </p:spPr>
            <p:txBody>
              <a:bodyPr/>
              <a:lstStyle/>
              <a:p>
                <a:r>
                  <a:rPr lang="zh-TW" altLang="en-US">
                    <a:noFill/>
                  </a:rPr>
                  <a:t> </a:t>
                </a:r>
              </a:p>
            </p:txBody>
          </p:sp>
        </mc:Fallback>
      </mc:AlternateContent>
      <p:sp>
        <p:nvSpPr>
          <p:cNvPr id="14" name="z_162"/>
          <p:cNvSpPr/>
          <p:nvPr/>
        </p:nvSpPr>
        <p:spPr>
          <a:xfrm flipV="1">
            <a:off x="2537460" y="2101794"/>
            <a:ext cx="686" cy="955222"/>
          </a:xfrm>
          <a:prstGeom prst="line">
            <a:avLst/>
          </a:prstGeom>
          <a:noFill/>
          <a:ln w="31750">
            <a:solidFill>
              <a:srgbClr val="7A9FE6"/>
            </a:solidFill>
            <a:prstDash val="solid"/>
            <a:tailEnd type="triangle"/>
          </a:ln>
        </p:spPr>
        <p:txBody>
          <a:bodyPr/>
          <a:lstStyle/>
          <a:p>
            <a:endParaRPr lang="zh-TW" altLang="en-US" sz="1350"/>
          </a:p>
        </p:txBody>
      </p:sp>
      <p:sp>
        <p:nvSpPr>
          <p:cNvPr id="15" name="z_163"/>
          <p:cNvSpPr/>
          <p:nvPr/>
        </p:nvSpPr>
        <p:spPr>
          <a:xfrm>
            <a:off x="2537461" y="2101793"/>
            <a:ext cx="1273628" cy="686"/>
          </a:xfrm>
          <a:prstGeom prst="line">
            <a:avLst/>
          </a:prstGeom>
          <a:noFill/>
          <a:ln w="44450">
            <a:solidFill>
              <a:srgbClr val="138A52"/>
            </a:solidFill>
            <a:prstDash val="solid"/>
            <a:tailEnd type="triangle"/>
          </a:ln>
        </p:spPr>
        <p:txBody>
          <a:bodyPr/>
          <a:lstStyle/>
          <a:p>
            <a:endParaRPr lang="zh-TW" altLang="en-US" sz="1350"/>
          </a:p>
        </p:txBody>
      </p:sp>
      <p:sp>
        <p:nvSpPr>
          <p:cNvPr id="16" name="z_164"/>
          <p:cNvSpPr/>
          <p:nvPr/>
        </p:nvSpPr>
        <p:spPr>
          <a:xfrm>
            <a:off x="2489454" y="2053787"/>
            <a:ext cx="96012" cy="96012"/>
          </a:xfrm>
          <a:prstGeom prst="ellipse">
            <a:avLst/>
          </a:prstGeom>
          <a:solidFill>
            <a:srgbClr val="1B2838"/>
          </a:solidFill>
          <a:ln w="12700">
            <a:solidFill>
              <a:srgbClr val="1B2838"/>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7" name="T|c8b"/>
              <p:cNvSpPr txBox="1"/>
              <p:nvPr/>
            </p:nvSpPr>
            <p:spPr>
              <a:xfrm>
                <a:off x="411480" y="4389120"/>
                <a:ext cx="4320540" cy="445770"/>
              </a:xfrm>
              <a:prstGeom prst="rect">
                <a:avLst/>
              </a:prstGeom>
              <a:noFill/>
              <a:ln/>
            </p:spPr>
            <p:txBody>
              <a:bodyPr wrap="square" lIns="381" tIns="381" rIns="381" bIns="381" rtlCol="0" anchor="ctr"/>
              <a:lstStyle/>
              <a:p>
                <a:pPr>
                  <a:lnSpc>
                    <a:spcPct val="105000"/>
                  </a:lnSpc>
                </a:pPr>
                <a:r>
                  <a:rPr lang="zh-TW" altLang="en-US">
                    <a:solidFill>
                      <a:srgbClr val="1B2838"/>
                    </a:solidFill>
                    <a:latin typeface="Microsoft JhengHei"/>
                    <a:ea typeface="Microsoft JhengHei"/>
                  </a:rPr>
                  <a:t>離 O 最近：</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 0，但 </a:t>
                </a:r>
                <a14:m>
                  <m:oMath xmlns:m="http://schemas.openxmlformats.org/officeDocument/2006/math">
                    <m:r>
                      <a:rPr lang="en-US" sz="1950">
                        <a:solidFill>
                          <a:srgbClr val="138A52"/>
                        </a:solidFill>
                        <a:latin typeface="Cambria Math" panose="02040503050406030204" pitchFamily="18" charset="0"/>
                        <a:ea typeface="Microsoft JhengHei"/>
                      </a:rPr>
                      <m:t>|</m:t>
                    </m:r>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r>
                      <a:rPr lang="en-US" sz="1950">
                        <a:solidFill>
                          <a:srgbClr val="138A52"/>
                        </a:solidFill>
                        <a:latin typeface="Cambria Math" panose="02040503050406030204" pitchFamily="18" charset="0"/>
                        <a:ea typeface="Microsoft JhengHei"/>
                      </a:rPr>
                      <m:t>|</m:t>
                    </m:r>
                  </m:oMath>
                </a14:m>
                <a:r>
                  <a:rPr lang="zh-TW" altLang="en-US">
                    <a:solidFill>
                      <a:srgbClr val="1B2838"/>
                    </a:solidFill>
                    <a:latin typeface="Microsoft JhengHei"/>
                    <a:ea typeface="Microsoft JhengHei"/>
                  </a:rPr>
                  <a:t> = 1 m/s</a:t>
                </a:r>
                <a:endParaRPr lang="zh-TW" altLang="en-US"/>
              </a:p>
            </p:txBody>
          </p:sp>
        </mc:Choice>
        <mc:Fallback xmlns="">
          <p:sp>
            <p:nvSpPr>
              <p:cNvPr id="17" name="T|c8b"/>
              <p:cNvSpPr txBox="1">
                <a:spLocks noRot="1" noChangeAspect="1" noMove="1" noResize="1" noEditPoints="1" noAdjustHandles="1" noChangeArrowheads="1" noChangeShapeType="1" noTextEdit="1"/>
              </p:cNvSpPr>
              <p:nvPr/>
            </p:nvSpPr>
            <p:spPr>
              <a:xfrm>
                <a:off x="411480" y="4389120"/>
                <a:ext cx="4320540" cy="445770"/>
              </a:xfrm>
              <a:prstGeom prst="rect">
                <a:avLst/>
              </a:prstGeom>
              <a:blipFill>
                <a:blip r:embed="rId6"/>
                <a:stretch>
                  <a:fillRect l="-3390" b="-15068"/>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T|c8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有箭頭的 </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𝑟</m:t>
                            </m:r>
                          </m:e>
                        </m:acc>
                      </m:e>
                    </m:acc>
                  </m:oMath>
                </a14:m>
                <a:r>
                  <a:rPr lang="zh-TW" altLang="en-US">
                    <a:solidFill>
                      <a:srgbClr val="1B2838"/>
                    </a:solidFill>
                    <a:latin typeface="Microsoft JhengHei"/>
                    <a:ea typeface="Microsoft JhengHei"/>
                  </a:rPr>
                  <a:t> 就是整個速度 v（綠色）。沒箭頭的 </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𝑟</m:t>
                        </m:r>
                      </m:e>
                    </m:acc>
                  </m:oMath>
                </a14:m>
                <a:r>
                  <a:rPr lang="zh-TW" altLang="en-US">
                    <a:solidFill>
                      <a:srgbClr val="1B2838"/>
                    </a:solidFill>
                    <a:latin typeface="Microsoft JhengHei"/>
                    <a:ea typeface="Microsoft JhengHei"/>
                  </a:rPr>
                  <a:t> 只是 v 沿著 r 方向的那一段（藍色），也就是離 O 變遠變近的快慢。</a:t>
                </a:r>
                <a:endParaRPr lang="zh-TW" altLang="en-US"/>
              </a:p>
            </p:txBody>
          </p:sp>
        </mc:Choice>
        <mc:Fallback xmlns="">
          <p:sp>
            <p:nvSpPr>
              <p:cNvPr id="18" name="T|c8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7"/>
                <a:stretch>
                  <a:fillRect l="-3555" t="-3153" r="-1855"/>
                </a:stretch>
              </a:blipFill>
              <a:ln/>
            </p:spPr>
            <p:txBody>
              <a:bodyPr/>
              <a:lstStyle/>
              <a:p>
                <a:r>
                  <a:rPr lang="zh-TW" altLang="en-US">
                    <a:noFill/>
                  </a:rPr>
                  <a:t> </a:t>
                </a:r>
              </a:p>
            </p:txBody>
          </p:sp>
        </mc:Fallback>
      </mc:AlternateContent>
      <p:sp>
        <p:nvSpPr>
          <p:cNvPr id="19" name="box_165"/>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p:sp>
        <p:nvSpPr>
          <p:cNvPr id="20" name="T|c8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寫答案時向量箭頭不要漏掉，意思會完全不同。</a:t>
            </a:r>
            <a:endParaRPr lang="zh-TW"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6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600"/>
                                        <p:tgtEl>
                                          <p:spTgt spid="15"/>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60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6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08610" y="171450"/>
            <a:ext cx="8503920" cy="582930"/>
          </a:xfrm>
          <a:prstGeom prst="rect">
            <a:avLst/>
          </a:prstGeom>
          <a:noFill/>
          <a:ln/>
        </p:spPr>
        <p:txBody>
          <a:bodyPr wrap="square" lIns="0" tIns="0" rIns="0" bIns="0" rtlCol="0" anchor="ctr"/>
          <a:lstStyle/>
          <a:p>
            <a:r>
              <a:rPr lang="en-US" sz="2700" b="1" dirty="0">
                <a:solidFill>
                  <a:srgbClr val="1B2838"/>
                </a:solidFill>
                <a:latin typeface="Microsoft JhengHei" pitchFamily="34" charset="0"/>
                <a:ea typeface="Microsoft JhengHei" pitchFamily="34" charset="-122"/>
                <a:cs typeface="Microsoft JhengHei" pitchFamily="34" charset="-120"/>
              </a:rPr>
              <a:t>觀念 9｜計算題：拆成分量最保險</a:t>
            </a:r>
            <a:endParaRPr lang="en-US" sz="2700" dirty="0"/>
          </a:p>
        </p:txBody>
      </p:sp>
      <p:sp>
        <p:nvSpPr>
          <p:cNvPr id="3" name="z_166"/>
          <p:cNvSpPr/>
          <p:nvPr/>
        </p:nvSpPr>
        <p:spPr>
          <a:xfrm>
            <a:off x="1325279" y="1841713"/>
            <a:ext cx="2734447" cy="1854990"/>
          </a:xfrm>
          <a:custGeom>
            <a:avLst/>
            <a:gdLst/>
            <a:ahLst/>
            <a:cxnLst/>
            <a:rect l="l" t="t" r="r" b="b"/>
            <a:pathLst>
              <a:path w="3645929" h="2473320">
                <a:moveTo>
                  <a:pt x="0" y="2473320"/>
                </a:moveTo>
                <a:lnTo>
                  <a:pt x="65441" y="2464750"/>
                </a:lnTo>
                <a:lnTo>
                  <a:pt x="130379" y="2455467"/>
                </a:lnTo>
                <a:lnTo>
                  <a:pt x="194814" y="2445477"/>
                </a:lnTo>
                <a:lnTo>
                  <a:pt x="258746" y="2434786"/>
                </a:lnTo>
                <a:lnTo>
                  <a:pt x="322175" y="2423398"/>
                </a:lnTo>
                <a:lnTo>
                  <a:pt x="385101" y="2411321"/>
                </a:lnTo>
                <a:lnTo>
                  <a:pt x="447524" y="2398559"/>
                </a:lnTo>
                <a:lnTo>
                  <a:pt x="509445" y="2385118"/>
                </a:lnTo>
                <a:lnTo>
                  <a:pt x="570862" y="2371003"/>
                </a:lnTo>
                <a:lnTo>
                  <a:pt x="631776" y="2356222"/>
                </a:lnTo>
                <a:lnTo>
                  <a:pt x="692188" y="2340778"/>
                </a:lnTo>
                <a:lnTo>
                  <a:pt x="752096" y="2324678"/>
                </a:lnTo>
                <a:lnTo>
                  <a:pt x="811502" y="2307927"/>
                </a:lnTo>
                <a:lnTo>
                  <a:pt x="870404" y="2290532"/>
                </a:lnTo>
                <a:lnTo>
                  <a:pt x="928804" y="2272497"/>
                </a:lnTo>
                <a:lnTo>
                  <a:pt x="986700" y="2253828"/>
                </a:lnTo>
                <a:lnTo>
                  <a:pt x="1044094" y="2234532"/>
                </a:lnTo>
                <a:lnTo>
                  <a:pt x="1100984" y="2214613"/>
                </a:lnTo>
                <a:lnTo>
                  <a:pt x="1157372" y="2194077"/>
                </a:lnTo>
                <a:lnTo>
                  <a:pt x="1213257" y="2172931"/>
                </a:lnTo>
                <a:lnTo>
                  <a:pt x="1268639" y="2151179"/>
                </a:lnTo>
                <a:lnTo>
                  <a:pt x="1323518" y="2128827"/>
                </a:lnTo>
                <a:lnTo>
                  <a:pt x="1377893" y="2105882"/>
                </a:lnTo>
                <a:lnTo>
                  <a:pt x="1431766" y="2082348"/>
                </a:lnTo>
                <a:lnTo>
                  <a:pt x="1485136" y="2058231"/>
                </a:lnTo>
                <a:lnTo>
                  <a:pt x="1538003" y="2033538"/>
                </a:lnTo>
                <a:lnTo>
                  <a:pt x="1590367" y="2008272"/>
                </a:lnTo>
                <a:lnTo>
                  <a:pt x="1642228" y="1982442"/>
                </a:lnTo>
                <a:lnTo>
                  <a:pt x="1693587" y="1956051"/>
                </a:lnTo>
                <a:lnTo>
                  <a:pt x="1744442" y="1929105"/>
                </a:lnTo>
                <a:lnTo>
                  <a:pt x="1794794" y="1901611"/>
                </a:lnTo>
                <a:lnTo>
                  <a:pt x="1844643" y="1873574"/>
                </a:lnTo>
                <a:lnTo>
                  <a:pt x="1893989" y="1844999"/>
                </a:lnTo>
                <a:lnTo>
                  <a:pt x="1942833" y="1815893"/>
                </a:lnTo>
                <a:lnTo>
                  <a:pt x="1991173" y="1786260"/>
                </a:lnTo>
                <a:lnTo>
                  <a:pt x="2039011" y="1756107"/>
                </a:lnTo>
                <a:lnTo>
                  <a:pt x="2086345" y="1725440"/>
                </a:lnTo>
                <a:lnTo>
                  <a:pt x="2133177" y="1694263"/>
                </a:lnTo>
                <a:lnTo>
                  <a:pt x="2179505" y="1662582"/>
                </a:lnTo>
                <a:lnTo>
                  <a:pt x="2225331" y="1630404"/>
                </a:lnTo>
                <a:lnTo>
                  <a:pt x="2270653" y="1597733"/>
                </a:lnTo>
                <a:lnTo>
                  <a:pt x="2315473" y="1564576"/>
                </a:lnTo>
                <a:lnTo>
                  <a:pt x="2359790" y="1530938"/>
                </a:lnTo>
                <a:lnTo>
                  <a:pt x="2403604" y="1496825"/>
                </a:lnTo>
                <a:lnTo>
                  <a:pt x="2446914" y="1462243"/>
                </a:lnTo>
                <a:lnTo>
                  <a:pt x="2489722" y="1427196"/>
                </a:lnTo>
                <a:lnTo>
                  <a:pt x="2532027" y="1391691"/>
                </a:lnTo>
                <a:lnTo>
                  <a:pt x="2573829" y="1355734"/>
                </a:lnTo>
                <a:lnTo>
                  <a:pt x="2615128" y="1319330"/>
                </a:lnTo>
                <a:lnTo>
                  <a:pt x="2655924" y="1282484"/>
                </a:lnTo>
                <a:lnTo>
                  <a:pt x="2696217" y="1245203"/>
                </a:lnTo>
                <a:lnTo>
                  <a:pt x="2736007" y="1207492"/>
                </a:lnTo>
                <a:lnTo>
                  <a:pt x="2775294" y="1169357"/>
                </a:lnTo>
                <a:lnTo>
                  <a:pt x="2814079" y="1130803"/>
                </a:lnTo>
                <a:lnTo>
                  <a:pt x="2852360" y="1091836"/>
                </a:lnTo>
                <a:lnTo>
                  <a:pt x="2890138" y="1052462"/>
                </a:lnTo>
                <a:lnTo>
                  <a:pt x="2927413" y="1012686"/>
                </a:lnTo>
                <a:lnTo>
                  <a:pt x="2964186" y="972514"/>
                </a:lnTo>
                <a:lnTo>
                  <a:pt x="3000455" y="931952"/>
                </a:lnTo>
                <a:lnTo>
                  <a:pt x="3036222" y="891005"/>
                </a:lnTo>
                <a:lnTo>
                  <a:pt x="3071485" y="849679"/>
                </a:lnTo>
                <a:lnTo>
                  <a:pt x="3106246" y="807980"/>
                </a:lnTo>
                <a:lnTo>
                  <a:pt x="3140503" y="765913"/>
                </a:lnTo>
                <a:lnTo>
                  <a:pt x="3174258" y="723484"/>
                </a:lnTo>
                <a:lnTo>
                  <a:pt x="3207509" y="680698"/>
                </a:lnTo>
                <a:lnTo>
                  <a:pt x="3240258" y="637562"/>
                </a:lnTo>
                <a:lnTo>
                  <a:pt x="3272504" y="594081"/>
                </a:lnTo>
                <a:lnTo>
                  <a:pt x="3304247" y="550261"/>
                </a:lnTo>
                <a:lnTo>
                  <a:pt x="3335486" y="506106"/>
                </a:lnTo>
                <a:lnTo>
                  <a:pt x="3366223" y="461624"/>
                </a:lnTo>
                <a:lnTo>
                  <a:pt x="3396457" y="416819"/>
                </a:lnTo>
                <a:lnTo>
                  <a:pt x="3426188" y="371698"/>
                </a:lnTo>
                <a:lnTo>
                  <a:pt x="3455416" y="326265"/>
                </a:lnTo>
                <a:lnTo>
                  <a:pt x="3484141" y="280527"/>
                </a:lnTo>
                <a:lnTo>
                  <a:pt x="3512363" y="234489"/>
                </a:lnTo>
                <a:lnTo>
                  <a:pt x="3540082" y="188157"/>
                </a:lnTo>
                <a:lnTo>
                  <a:pt x="3567299" y="141536"/>
                </a:lnTo>
                <a:lnTo>
                  <a:pt x="3594012" y="94633"/>
                </a:lnTo>
                <a:lnTo>
                  <a:pt x="3620222" y="47452"/>
                </a:lnTo>
                <a:lnTo>
                  <a:pt x="3645929" y="0"/>
                </a:lnTo>
              </a:path>
            </a:pathLst>
          </a:custGeom>
          <a:solidFill>
            <a:srgbClr val="FFFFFF">
              <a:alpha val="0"/>
            </a:srgbClr>
          </a:solidFill>
          <a:ln w="31750">
            <a:solidFill>
              <a:srgbClr val="40526A"/>
            </a:solidFill>
            <a:prstDash val="solid"/>
          </a:ln>
        </p:spPr>
        <p:txBody>
          <a:bodyPr/>
          <a:lstStyle/>
          <a:p>
            <a:endParaRPr lang="zh-TW" altLang="en-US" sz="1350"/>
          </a:p>
        </p:txBody>
      </p:sp>
      <p:sp>
        <p:nvSpPr>
          <p:cNvPr id="4" name="z_167"/>
          <p:cNvSpPr/>
          <p:nvPr/>
        </p:nvSpPr>
        <p:spPr>
          <a:xfrm>
            <a:off x="2880480" y="3062157"/>
            <a:ext cx="96012" cy="96012"/>
          </a:xfrm>
          <a:prstGeom prst="ellipse">
            <a:avLst/>
          </a:prstGeom>
          <a:solidFill>
            <a:srgbClr val="1B2838"/>
          </a:solidFill>
          <a:ln w="12700">
            <a:solidFill>
              <a:srgbClr val="1B2838"/>
            </a:solidFill>
            <a:prstDash val="solid"/>
          </a:ln>
        </p:spPr>
        <p:txBody>
          <a:bodyPr/>
          <a:lstStyle/>
          <a:p>
            <a:endParaRPr lang="zh-TW" altLang="en-US" sz="1350"/>
          </a:p>
        </p:txBody>
      </p:sp>
      <p:sp>
        <p:nvSpPr>
          <p:cNvPr id="5" name="z_168"/>
          <p:cNvSpPr txBox="1"/>
          <p:nvPr/>
        </p:nvSpPr>
        <p:spPr>
          <a:xfrm>
            <a:off x="2654166" y="3178743"/>
            <a:ext cx="411480" cy="342900"/>
          </a:xfrm>
          <a:prstGeom prst="rect">
            <a:avLst/>
          </a:prstGeom>
          <a:noFill/>
          <a:ln/>
        </p:spPr>
        <p:txBody>
          <a:bodyPr wrap="square" lIns="191" tIns="191" rIns="191" bIns="191" rtlCol="0" anchor="ctr"/>
          <a:lstStyle/>
          <a:p>
            <a:pPr algn="ctr"/>
            <a:r>
              <a:rPr lang="en-US" sz="1950" b="1" i="1" dirty="0">
                <a:solidFill>
                  <a:srgbClr val="1B2838"/>
                </a:solidFill>
                <a:latin typeface="Times New Roman" pitchFamily="34" charset="0"/>
                <a:ea typeface="Times New Roman" pitchFamily="34" charset="-122"/>
                <a:cs typeface="Times New Roman" pitchFamily="34" charset="-120"/>
              </a:rPr>
              <a:t>P</a:t>
            </a:r>
            <a:endParaRPr lang="en-US" sz="1950" dirty="0"/>
          </a:p>
        </p:txBody>
      </p:sp>
      <p:sp>
        <p:nvSpPr>
          <p:cNvPr id="6" name="z_169"/>
          <p:cNvSpPr/>
          <p:nvPr/>
        </p:nvSpPr>
        <p:spPr>
          <a:xfrm flipV="1">
            <a:off x="2928486" y="2210803"/>
            <a:ext cx="1329490" cy="899360"/>
          </a:xfrm>
          <a:prstGeom prst="line">
            <a:avLst/>
          </a:prstGeom>
          <a:noFill/>
          <a:ln w="50800">
            <a:solidFill>
              <a:srgbClr val="138A52"/>
            </a:solidFill>
            <a:prstDash val="solid"/>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7" name="M|v|v|170"/>
              <p:cNvSpPr txBox="1"/>
              <p:nvPr/>
            </p:nvSpPr>
            <p:spPr>
              <a:xfrm>
                <a:off x="3140603" y="2266148"/>
                <a:ext cx="425196"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oMath>
                  </m:oMathPara>
                </a14:m>
                <a:endParaRPr lang="zh-TW" altLang="en-US"/>
              </a:p>
            </p:txBody>
          </p:sp>
        </mc:Choice>
        <mc:Fallback xmlns="">
          <p:sp>
            <p:nvSpPr>
              <p:cNvPr id="7" name="M|v|v|170"/>
              <p:cNvSpPr txBox="1">
                <a:spLocks noRot="1" noChangeAspect="1" noMove="1" noResize="1" noEditPoints="1" noAdjustHandles="1" noChangeArrowheads="1" noChangeShapeType="1" noTextEdit="1"/>
              </p:cNvSpPr>
              <p:nvPr/>
            </p:nvSpPr>
            <p:spPr>
              <a:xfrm>
                <a:off x="3140603" y="2266148"/>
                <a:ext cx="425196" cy="377190"/>
              </a:xfrm>
              <a:prstGeom prst="rect">
                <a:avLst/>
              </a:prstGeom>
              <a:blipFill>
                <a:blip r:embed="rId3"/>
                <a:stretch>
                  <a:fillRect/>
                </a:stretch>
              </a:blipFill>
              <a:ln/>
            </p:spPr>
            <p:txBody>
              <a:bodyPr/>
              <a:lstStyle/>
              <a:p>
                <a:r>
                  <a:rPr lang="zh-TW" altLang="en-US">
                    <a:noFill/>
                  </a:rPr>
                  <a:t> </a:t>
                </a:r>
              </a:p>
            </p:txBody>
          </p:sp>
        </mc:Fallback>
      </mc:AlternateContent>
      <p:sp>
        <p:nvSpPr>
          <p:cNvPr id="8" name="tri9"/>
          <p:cNvSpPr/>
          <p:nvPr/>
        </p:nvSpPr>
        <p:spPr>
          <a:xfrm>
            <a:off x="2928486" y="2210803"/>
            <a:ext cx="1329490" cy="899360"/>
          </a:xfrm>
          <a:custGeom>
            <a:avLst/>
            <a:gdLst/>
            <a:ahLst/>
            <a:cxnLst/>
            <a:rect l="l" t="t" r="r" b="b"/>
            <a:pathLst>
              <a:path w="1772653" h="1199147">
                <a:moveTo>
                  <a:pt x="0" y="1199147"/>
                </a:moveTo>
                <a:lnTo>
                  <a:pt x="1772653" y="1199147"/>
                </a:lnTo>
                <a:lnTo>
                  <a:pt x="1772653" y="0"/>
                </a:lnTo>
                <a:close/>
              </a:path>
            </a:pathLst>
          </a:custGeom>
          <a:solidFill>
            <a:srgbClr val="138A52">
              <a:alpha val="15000"/>
            </a:srgbClr>
          </a:solidFill>
          <a:ln w="6350">
            <a:solidFill>
              <a:srgbClr val="138A52">
                <a:alpha val="0"/>
              </a:srgbClr>
            </a:solidFill>
            <a:prstDash val="solid"/>
          </a:ln>
        </p:spPr>
        <p:txBody>
          <a:bodyPr/>
          <a:lstStyle/>
          <a:p>
            <a:endParaRPr lang="zh-TW" altLang="en-US" sz="1350"/>
          </a:p>
        </p:txBody>
      </p:sp>
      <p:sp>
        <p:nvSpPr>
          <p:cNvPr id="9" name="z_171"/>
          <p:cNvSpPr/>
          <p:nvPr/>
        </p:nvSpPr>
        <p:spPr>
          <a:xfrm>
            <a:off x="2928486" y="3110163"/>
            <a:ext cx="1329490" cy="686"/>
          </a:xfrm>
          <a:prstGeom prst="line">
            <a:avLst/>
          </a:prstGeom>
          <a:noFill/>
          <a:ln w="38100">
            <a:solidFill>
              <a:srgbClr val="2459C4"/>
            </a:solidFill>
            <a:prstDash val="dash"/>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0" name="M|xdi|r|172"/>
              <p:cNvSpPr txBox="1"/>
              <p:nvPr/>
            </p:nvSpPr>
            <p:spPr>
              <a:xfrm>
                <a:off x="3318911" y="3161598"/>
                <a:ext cx="548640"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𝑥</m:t>
                          </m:r>
                        </m:e>
                      </m:acc>
                      <m:r>
                        <m:rPr>
                          <m:sty m:val="p"/>
                        </m:rPr>
                        <a:rPr lang="en-US" sz="1950" b="1">
                          <a:solidFill>
                            <a:srgbClr val="2459C4"/>
                          </a:solidFill>
                          <a:latin typeface="Cambria Math" panose="02040503050406030204" pitchFamily="18" charset="0"/>
                          <a:ea typeface="Microsoft JhengHei"/>
                        </a:rPr>
                        <m:t>i</m:t>
                      </m:r>
                    </m:oMath>
                  </m:oMathPara>
                </a14:m>
                <a:endParaRPr lang="zh-TW" altLang="en-US"/>
              </a:p>
            </p:txBody>
          </p:sp>
        </mc:Choice>
        <mc:Fallback xmlns="">
          <p:sp>
            <p:nvSpPr>
              <p:cNvPr id="10" name="M|xdi|r|172"/>
              <p:cNvSpPr txBox="1">
                <a:spLocks noRot="1" noChangeAspect="1" noMove="1" noResize="1" noEditPoints="1" noAdjustHandles="1" noChangeArrowheads="1" noChangeShapeType="1" noTextEdit="1"/>
              </p:cNvSpPr>
              <p:nvPr/>
            </p:nvSpPr>
            <p:spPr>
              <a:xfrm>
                <a:off x="3318911" y="3161598"/>
                <a:ext cx="548640" cy="377190"/>
              </a:xfrm>
              <a:prstGeom prst="rect">
                <a:avLst/>
              </a:prstGeom>
              <a:blipFill>
                <a:blip r:embed="rId4"/>
                <a:stretch>
                  <a:fillRect/>
                </a:stretch>
              </a:blipFill>
              <a:ln/>
            </p:spPr>
            <p:txBody>
              <a:bodyPr/>
              <a:lstStyle/>
              <a:p>
                <a:r>
                  <a:rPr lang="zh-TW" altLang="en-US">
                    <a:noFill/>
                  </a:rPr>
                  <a:t> </a:t>
                </a:r>
              </a:p>
            </p:txBody>
          </p:sp>
        </mc:Fallback>
      </mc:AlternateContent>
      <p:sp>
        <p:nvSpPr>
          <p:cNvPr id="11" name="z_173"/>
          <p:cNvSpPr/>
          <p:nvPr/>
        </p:nvSpPr>
        <p:spPr>
          <a:xfrm flipV="1">
            <a:off x="4257976" y="2210803"/>
            <a:ext cx="686" cy="899360"/>
          </a:xfrm>
          <a:prstGeom prst="line">
            <a:avLst/>
          </a:prstGeom>
          <a:noFill/>
          <a:ln w="38100">
            <a:solidFill>
              <a:srgbClr val="8A3CC4"/>
            </a:solidFill>
            <a:prstDash val="dash"/>
            <a:tailEnd type="triangle"/>
          </a:ln>
        </p:spPr>
        <p:txBody>
          <a:bodyPr/>
          <a:lstStyle/>
          <a:p>
            <a:endParaRPr lang="zh-TW" altLang="en-US" sz="1350"/>
          </a:p>
        </p:txBody>
      </p:sp>
      <mc:AlternateContent xmlns:mc="http://schemas.openxmlformats.org/markup-compatibility/2006" xmlns:a14="http://schemas.microsoft.com/office/drawing/2010/main">
        <mc:Choice Requires="a14">
          <p:sp>
            <p:nvSpPr>
              <p:cNvPr id="12" name="M|ydj|ds|174"/>
              <p:cNvSpPr txBox="1"/>
              <p:nvPr/>
            </p:nvSpPr>
            <p:spPr>
              <a:xfrm>
                <a:off x="4292266" y="2471888"/>
                <a:ext cx="548640" cy="377190"/>
              </a:xfrm>
              <a:prstGeom prst="rect">
                <a:avLst/>
              </a:prstGeom>
              <a:noFill/>
              <a:ln/>
            </p:spPr>
            <p:txBody>
              <a:bodyPr wrap="square" lIns="0" tIns="0" rIns="0" bIns="0" rtlCol="0" anchor="ctr"/>
              <a:lstStyle/>
              <a:p>
                <a:pPr>
                  <a:lnSpc>
                    <a:spcPct val="105000"/>
                  </a:lnSpc>
                </a:pPr>
                <a14:m>
                  <m:oMathPara xmlns:m="http://schemas.openxmlformats.org/officeDocument/2006/math">
                    <m:oMath>
                      <m:acc>
                        <m:accPr>
                          <m:chr m:val="̇"/>
                          <m:ctrlPr>
                            <a:rPr lang="en-US" sz="1950" i="1">
                              <a:solidFill>
                                <a:srgbClr val="8A3CC4"/>
                              </a:solidFill>
                              <a:latin typeface="Cambria Math" panose="02040503050406030204" pitchFamily="18" charset="0"/>
                              <a:ea typeface="Microsoft JhengHei"/>
                            </a:rPr>
                          </m:ctrlPr>
                        </m:accPr>
                        <m:e>
                          <m:r>
                            <a:rPr lang="en-US" sz="1950" i="1">
                              <a:solidFill>
                                <a:srgbClr val="8A3CC4"/>
                              </a:solidFill>
                              <a:latin typeface="Cambria Math" panose="02040503050406030204" pitchFamily="18" charset="0"/>
                              <a:ea typeface="Microsoft JhengHei"/>
                            </a:rPr>
                            <m:t>𝑦</m:t>
                          </m:r>
                        </m:e>
                      </m:acc>
                      <m:r>
                        <m:rPr>
                          <m:sty m:val="p"/>
                        </m:rPr>
                        <a:rPr lang="en-US" sz="1950" b="1">
                          <a:solidFill>
                            <a:srgbClr val="8A3CC4"/>
                          </a:solidFill>
                          <a:latin typeface="Cambria Math" panose="02040503050406030204" pitchFamily="18" charset="0"/>
                          <a:ea typeface="Microsoft JhengHei"/>
                        </a:rPr>
                        <m:t>j</m:t>
                      </m:r>
                    </m:oMath>
                  </m:oMathPara>
                </a14:m>
                <a:endParaRPr lang="zh-TW" altLang="en-US"/>
              </a:p>
            </p:txBody>
          </p:sp>
        </mc:Choice>
        <mc:Fallback xmlns="">
          <p:sp>
            <p:nvSpPr>
              <p:cNvPr id="12" name="M|ydj|ds|174"/>
              <p:cNvSpPr txBox="1">
                <a:spLocks noRot="1" noChangeAspect="1" noMove="1" noResize="1" noEditPoints="1" noAdjustHandles="1" noChangeArrowheads="1" noChangeShapeType="1" noTextEdit="1"/>
              </p:cNvSpPr>
              <p:nvPr/>
            </p:nvSpPr>
            <p:spPr>
              <a:xfrm>
                <a:off x="4292266" y="2471888"/>
                <a:ext cx="548640" cy="377190"/>
              </a:xfrm>
              <a:prstGeom prst="rect">
                <a:avLst/>
              </a:prstGeom>
              <a:blipFill>
                <a:blip r:embed="rId5"/>
                <a:stretch>
                  <a:fillRect b="-14516"/>
                </a:stretch>
              </a:blip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T|c9p"/>
              <p:cNvSpPr txBox="1"/>
              <p:nvPr/>
            </p:nvSpPr>
            <p:spPr>
              <a:xfrm>
                <a:off x="4937760" y="925830"/>
                <a:ext cx="3943350" cy="2708910"/>
              </a:xfrm>
              <a:prstGeom prst="rect">
                <a:avLst/>
              </a:prstGeom>
              <a:noFill/>
              <a:ln/>
            </p:spPr>
            <p:txBody>
              <a:bodyPr wrap="square" lIns="381" tIns="381" rIns="381" bIns="381" rtlCol="0" anchor="t"/>
              <a:lstStyle/>
              <a:p>
                <a:pPr>
                  <a:lnSpc>
                    <a:spcPct val="105000"/>
                  </a:lnSpc>
                </a:pPr>
                <a:r>
                  <a:rPr lang="zh-TW" altLang="en-US" b="1">
                    <a:solidFill>
                      <a:srgbClr val="1B2838"/>
                    </a:solidFill>
                    <a:latin typeface="Microsoft JhengHei"/>
                    <a:ea typeface="Microsoft JhengHei"/>
                  </a:rPr>
                  <a:t>白話說：</a:t>
                </a:r>
                <a:r>
                  <a:rPr lang="zh-TW" altLang="en-US">
                    <a:solidFill>
                      <a:srgbClr val="1B2838"/>
                    </a:solidFill>
                    <a:latin typeface="Microsoft JhengHei"/>
                    <a:ea typeface="Microsoft JhengHei"/>
                  </a:rPr>
                  <a:t>先寫 </a:t>
                </a:r>
                <a14:m>
                  <m:oMath xmlns:m="http://schemas.openxmlformats.org/officeDocument/2006/math">
                    <m:acc>
                      <m:accPr>
                        <m:chr m:val="⃗"/>
                        <m:ctrlPr>
                          <a:rPr lang="en-US" sz="1950" i="1">
                            <a:solidFill>
                              <a:srgbClr val="1B2838"/>
                            </a:solidFill>
                            <a:latin typeface="Cambria Math" panose="02040503050406030204" pitchFamily="18" charset="0"/>
                            <a:ea typeface="Microsoft JhengHei"/>
                          </a:rPr>
                        </m:ctrlPr>
                      </m:accPr>
                      <m:e>
                        <m:r>
                          <a:rPr lang="en-US" sz="1950" i="1">
                            <a:solidFill>
                              <a:srgbClr val="1B2838"/>
                            </a:solidFill>
                            <a:latin typeface="Cambria Math" panose="02040503050406030204" pitchFamily="18" charset="0"/>
                            <a:ea typeface="Microsoft JhengHei"/>
                          </a:rPr>
                          <m:t>𝑟</m:t>
                        </m:r>
                      </m:e>
                    </m:acc>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𝑥</m:t>
                    </m:r>
                    <m:r>
                      <m:rPr>
                        <m:sty m:val="p"/>
                      </m:rPr>
                      <a:rPr lang="en-US" sz="1950" b="1">
                        <a:solidFill>
                          <a:srgbClr val="1B2838"/>
                        </a:solidFill>
                        <a:latin typeface="Cambria Math" panose="02040503050406030204" pitchFamily="18" charset="0"/>
                        <a:ea typeface="Microsoft JhengHei"/>
                      </a:rPr>
                      <m:t>i</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𝑦</m:t>
                    </m:r>
                    <m:r>
                      <m:rPr>
                        <m:sty m:val="p"/>
                      </m:rPr>
                      <a:rPr lang="en-US" sz="1950" b="1">
                        <a:solidFill>
                          <a:srgbClr val="1B2838"/>
                        </a:solidFill>
                        <a:latin typeface="Cambria Math" panose="02040503050406030204" pitchFamily="18" charset="0"/>
                        <a:ea typeface="Microsoft JhengHei"/>
                      </a:rPr>
                      <m:t>j</m:t>
                    </m:r>
                  </m:oMath>
                </a14:m>
                <a:r>
                  <a:rPr lang="zh-TW" altLang="en-US">
                    <a:solidFill>
                      <a:srgbClr val="1B2838"/>
                    </a:solidFill>
                    <a:latin typeface="Microsoft JhengHei"/>
                    <a:ea typeface="Microsoft JhengHei"/>
                  </a:rPr>
                  <a:t>，再逐項對時間微分，得到 </a:t>
                </a:r>
                <a14:m>
                  <m:oMath xmlns:m="http://schemas.openxmlformats.org/officeDocument/2006/math">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𝑣</m:t>
                        </m:r>
                      </m:e>
                    </m:acc>
                    <m:r>
                      <a:rPr lang="en-US" sz="1950">
                        <a:solidFill>
                          <a:srgbClr val="138A52"/>
                        </a:solidFill>
                        <a:latin typeface="Cambria Math" panose="02040503050406030204" pitchFamily="18" charset="0"/>
                        <a:ea typeface="Microsoft JhengHei"/>
                      </a:rPr>
                      <m:t>=</m:t>
                    </m:r>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𝑥</m:t>
                        </m:r>
                      </m:e>
                    </m:acc>
                    <m:r>
                      <m:rPr>
                        <m:sty m:val="p"/>
                      </m:rPr>
                      <a:rPr lang="en-US" sz="1950" b="1">
                        <a:solidFill>
                          <a:srgbClr val="138A52"/>
                        </a:solidFill>
                        <a:latin typeface="Cambria Math" panose="02040503050406030204" pitchFamily="18" charset="0"/>
                        <a:ea typeface="Microsoft JhengHei"/>
                      </a:rPr>
                      <m:t>i</m:t>
                    </m:r>
                    <m:r>
                      <a:rPr lang="en-US" sz="1950">
                        <a:solidFill>
                          <a:srgbClr val="138A52"/>
                        </a:solidFill>
                        <a:latin typeface="Cambria Math" panose="02040503050406030204" pitchFamily="18" charset="0"/>
                        <a:ea typeface="Microsoft JhengHei"/>
                      </a:rPr>
                      <m:t>+</m:t>
                    </m:r>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𝑦</m:t>
                        </m:r>
                      </m:e>
                    </m:acc>
                    <m:r>
                      <m:rPr>
                        <m:sty m:val="p"/>
                      </m:rPr>
                      <a:rPr lang="en-US" sz="1950" b="1">
                        <a:solidFill>
                          <a:srgbClr val="138A52"/>
                        </a:solidFill>
                        <a:latin typeface="Cambria Math" panose="02040503050406030204" pitchFamily="18" charset="0"/>
                        <a:ea typeface="Microsoft JhengHei"/>
                      </a:rPr>
                      <m:t>j</m:t>
                    </m:r>
                  </m:oMath>
                </a14:m>
                <a:r>
                  <a:rPr lang="zh-TW" altLang="en-US">
                    <a:solidFill>
                      <a:srgbClr val="1B2838"/>
                    </a:solidFill>
                    <a:latin typeface="Microsoft JhengHei"/>
                    <a:ea typeface="Microsoft JhengHei"/>
                  </a:rPr>
                  <a:t>。</a:t>
                </a:r>
                <a14:m>
                  <m:oMath xmlns:m="http://schemas.openxmlformats.org/officeDocument/2006/math">
                    <m:acc>
                      <m:accPr>
                        <m:chr m:val="̇"/>
                        <m:ctrlPr>
                          <a:rPr lang="en-US" sz="1950" i="1">
                            <a:solidFill>
                              <a:srgbClr val="2459C4"/>
                            </a:solidFill>
                            <a:latin typeface="Cambria Math" panose="02040503050406030204" pitchFamily="18" charset="0"/>
                            <a:ea typeface="Microsoft JhengHei"/>
                          </a:rPr>
                        </m:ctrlPr>
                      </m:accPr>
                      <m:e>
                        <m:r>
                          <a:rPr lang="en-US" sz="1950" i="1">
                            <a:solidFill>
                              <a:srgbClr val="2459C4"/>
                            </a:solidFill>
                            <a:latin typeface="Cambria Math" panose="02040503050406030204" pitchFamily="18" charset="0"/>
                            <a:ea typeface="Microsoft JhengHei"/>
                          </a:rPr>
                          <m:t>𝑥</m:t>
                        </m:r>
                      </m:e>
                    </m:acc>
                  </m:oMath>
                </a14:m>
                <a:r>
                  <a:rPr lang="zh-TW" altLang="en-US">
                    <a:solidFill>
                      <a:srgbClr val="1B2838"/>
                    </a:solidFill>
                    <a:latin typeface="Microsoft JhengHei"/>
                    <a:ea typeface="Microsoft JhengHei"/>
                  </a:rPr>
                  <a:t> 和 </a:t>
                </a:r>
                <a14:m>
                  <m:oMath xmlns:m="http://schemas.openxmlformats.org/officeDocument/2006/math">
                    <m:acc>
                      <m:accPr>
                        <m:chr m:val="̇"/>
                        <m:ctrlPr>
                          <a:rPr lang="en-US" sz="1950" i="1">
                            <a:solidFill>
                              <a:srgbClr val="8A3CC4"/>
                            </a:solidFill>
                            <a:latin typeface="Cambria Math" panose="02040503050406030204" pitchFamily="18" charset="0"/>
                            <a:ea typeface="Microsoft JhengHei"/>
                          </a:rPr>
                        </m:ctrlPr>
                      </m:accPr>
                      <m:e>
                        <m:r>
                          <a:rPr lang="en-US" sz="1950" i="1">
                            <a:solidFill>
                              <a:srgbClr val="8A3CC4"/>
                            </a:solidFill>
                            <a:latin typeface="Cambria Math" panose="02040503050406030204" pitchFamily="18" charset="0"/>
                            <a:ea typeface="Microsoft JhengHei"/>
                          </a:rPr>
                          <m:t>𝑦</m:t>
                        </m:r>
                      </m:e>
                    </m:acc>
                  </m:oMath>
                </a14:m>
                <a:r>
                  <a:rPr lang="zh-TW" altLang="en-US">
                    <a:solidFill>
                      <a:srgbClr val="1B2838"/>
                    </a:solidFill>
                    <a:latin typeface="Microsoft JhengHei"/>
                    <a:ea typeface="Microsoft JhengHei"/>
                  </a:rPr>
                  <a:t> 是直角三角形的兩股，速率是斜邊 </a:t>
                </a:r>
                <a14:m>
                  <m:oMath xmlns:m="http://schemas.openxmlformats.org/officeDocument/2006/math">
                    <m:rad>
                      <m:radPr>
                        <m:degHide m:val="on"/>
                        <m:ctrlPr>
                          <a:rPr lang="en-US" sz="1350" i="1">
                            <a:solidFill>
                              <a:srgbClr val="1B2838"/>
                            </a:solidFill>
                            <a:latin typeface="Cambria Math" panose="02040503050406030204" pitchFamily="18" charset="0"/>
                          </a:rPr>
                        </m:ctrlPr>
                      </m:radPr>
                      <m:deg/>
                      <m:e>
                        <m:sSup>
                          <m:sSupPr>
                            <m:ctrlPr>
                              <a:rPr lang="en-US" sz="1950" i="1">
                                <a:solidFill>
                                  <a:srgbClr val="138A52"/>
                                </a:solidFill>
                                <a:latin typeface="Cambria Math" panose="02040503050406030204" pitchFamily="18" charset="0"/>
                                <a:ea typeface="Microsoft JhengHei"/>
                              </a:rPr>
                            </m:ctrlPr>
                          </m:sSup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𝑥</m:t>
                                </m:r>
                              </m:e>
                            </m:acc>
                          </m:e>
                          <m:sup>
                            <m:r>
                              <a:rPr lang="en-US" sz="1950">
                                <a:solidFill>
                                  <a:srgbClr val="138A52"/>
                                </a:solidFill>
                                <a:latin typeface="Cambria Math" panose="02040503050406030204" pitchFamily="18" charset="0"/>
                                <a:ea typeface="Microsoft JhengHei"/>
                              </a:rPr>
                              <m:t>2</m:t>
                            </m:r>
                          </m:sup>
                        </m:sSup>
                        <m:r>
                          <a:rPr lang="en-US" sz="1950">
                            <a:solidFill>
                              <a:srgbClr val="138A52"/>
                            </a:solidFill>
                            <a:latin typeface="Cambria Math" panose="02040503050406030204" pitchFamily="18" charset="0"/>
                            <a:ea typeface="Microsoft JhengHei"/>
                          </a:rPr>
                          <m:t>+</m:t>
                        </m:r>
                        <m:sSup>
                          <m:sSupPr>
                            <m:ctrlPr>
                              <a:rPr lang="en-US" sz="1950" i="1">
                                <a:solidFill>
                                  <a:srgbClr val="138A52"/>
                                </a:solidFill>
                                <a:latin typeface="Cambria Math" panose="02040503050406030204" pitchFamily="18" charset="0"/>
                                <a:ea typeface="Microsoft JhengHei"/>
                              </a:rPr>
                            </m:ctrlPr>
                          </m:sSupPr>
                          <m:e>
                            <m:acc>
                              <m:accPr>
                                <m:chr m:val="̇"/>
                                <m:ctrlPr>
                                  <a:rPr lang="en-US" sz="1950" i="1">
                                    <a:solidFill>
                                      <a:srgbClr val="138A52"/>
                                    </a:solidFill>
                                    <a:latin typeface="Cambria Math" panose="02040503050406030204" pitchFamily="18" charset="0"/>
                                    <a:ea typeface="Microsoft JhengHei"/>
                                  </a:rPr>
                                </m:ctrlPr>
                              </m:accPr>
                              <m:e>
                                <m:r>
                                  <a:rPr lang="en-US" sz="1950" i="1">
                                    <a:solidFill>
                                      <a:srgbClr val="138A52"/>
                                    </a:solidFill>
                                    <a:latin typeface="Cambria Math" panose="02040503050406030204" pitchFamily="18" charset="0"/>
                                    <a:ea typeface="Microsoft JhengHei"/>
                                  </a:rPr>
                                  <m:t>𝑦</m:t>
                                </m:r>
                              </m:e>
                            </m:acc>
                          </m:e>
                          <m:sup>
                            <m:r>
                              <a:rPr lang="en-US" sz="1950">
                                <a:solidFill>
                                  <a:srgbClr val="138A52"/>
                                </a:solidFill>
                                <a:latin typeface="Cambria Math" panose="02040503050406030204" pitchFamily="18" charset="0"/>
                                <a:ea typeface="Microsoft JhengHei"/>
                              </a:rPr>
                              <m:t>2</m:t>
                            </m:r>
                          </m:sup>
                        </m:sSup>
                      </m:e>
                    </m:rad>
                  </m:oMath>
                </a14:m>
                <a:r>
                  <a:rPr lang="zh-TW" altLang="en-US">
                    <a:solidFill>
                      <a:srgbClr val="1B2838"/>
                    </a:solidFill>
                    <a:latin typeface="Microsoft JhengHei"/>
                    <a:ea typeface="Microsoft JhengHei"/>
                  </a:rPr>
                  <a:t>。</a:t>
                </a:r>
                <a:endParaRPr lang="zh-TW" altLang="en-US"/>
              </a:p>
            </p:txBody>
          </p:sp>
        </mc:Choice>
        <mc:Fallback xmlns="">
          <p:sp>
            <p:nvSpPr>
              <p:cNvPr id="13" name="T|c9p"/>
              <p:cNvSpPr txBox="1">
                <a:spLocks noRot="1" noChangeAspect="1" noMove="1" noResize="1" noEditPoints="1" noAdjustHandles="1" noChangeArrowheads="1" noChangeShapeType="1" noTextEdit="1"/>
              </p:cNvSpPr>
              <p:nvPr/>
            </p:nvSpPr>
            <p:spPr>
              <a:xfrm>
                <a:off x="4937760" y="925830"/>
                <a:ext cx="3943350" cy="2708910"/>
              </a:xfrm>
              <a:prstGeom prst="rect">
                <a:avLst/>
              </a:prstGeom>
              <a:blipFill>
                <a:blip r:embed="rId6"/>
                <a:stretch>
                  <a:fillRect l="-3555" t="-3153" r="-3555"/>
                </a:stretch>
              </a:blipFill>
              <a:ln/>
            </p:spPr>
            <p:txBody>
              <a:bodyPr/>
              <a:lstStyle/>
              <a:p>
                <a:r>
                  <a:rPr lang="zh-TW" altLang="en-US">
                    <a:noFill/>
                  </a:rPr>
                  <a:t> </a:t>
                </a:r>
              </a:p>
            </p:txBody>
          </p:sp>
        </mc:Fallback>
      </mc:AlternateContent>
      <p:sp>
        <p:nvSpPr>
          <p:cNvPr id="14" name="box_175"/>
          <p:cNvSpPr/>
          <p:nvPr/>
        </p:nvSpPr>
        <p:spPr>
          <a:xfrm>
            <a:off x="4937760" y="3737610"/>
            <a:ext cx="3943350" cy="1165860"/>
          </a:xfrm>
          <a:prstGeom prst="roundRect">
            <a:avLst>
              <a:gd name="adj" fmla="val 7059"/>
            </a:avLst>
          </a:prstGeom>
          <a:solidFill>
            <a:srgbClr val="FFF4DC"/>
          </a:solidFill>
          <a:ln w="19050">
            <a:solidFill>
              <a:srgbClr val="E07B00"/>
            </a:solidFill>
            <a:prstDash val="solid"/>
          </a:ln>
        </p:spPr>
        <p:txBody>
          <a:bodyPr/>
          <a:lstStyle/>
          <a:p>
            <a:endParaRPr lang="zh-TW" altLang="en-US" sz="1350"/>
          </a:p>
        </p:txBody>
      </p:sp>
      <mc:AlternateContent xmlns:mc="http://schemas.openxmlformats.org/markup-compatibility/2006" xmlns:a14="http://schemas.microsoft.com/office/drawing/2010/main">
        <mc:Choice Requires="a14">
          <p:sp>
            <p:nvSpPr>
              <p:cNvPr id="15" name="T|c9e"/>
              <p:cNvSpPr txBox="1"/>
              <p:nvPr/>
            </p:nvSpPr>
            <p:spPr>
              <a:xfrm>
                <a:off x="5040630" y="3771900"/>
                <a:ext cx="3771900" cy="1097280"/>
              </a:xfrm>
              <a:prstGeom prst="rect">
                <a:avLst/>
              </a:prstGeom>
              <a:noFill/>
              <a:ln/>
            </p:spPr>
            <p:txBody>
              <a:bodyPr wrap="square" lIns="381" tIns="381" rIns="381" bIns="381" rtlCol="0" anchor="ctr"/>
              <a:lstStyle/>
              <a:p>
                <a:pPr>
                  <a:lnSpc>
                    <a:spcPct val="105000"/>
                  </a:lnSpc>
                </a:pPr>
                <a:r>
                  <a:rPr lang="zh-TW" altLang="en-US" b="1">
                    <a:solidFill>
                      <a:srgbClr val="1B2838"/>
                    </a:solidFill>
                    <a:latin typeface="Microsoft JhengHei"/>
                    <a:ea typeface="Microsoft JhengHei"/>
                  </a:rPr>
                  <a:t>考點：</a:t>
                </a:r>
                <a:r>
                  <a:rPr lang="zh-TW" altLang="en-US">
                    <a:solidFill>
                      <a:srgbClr val="1B2838"/>
                    </a:solidFill>
                    <a:latin typeface="Microsoft JhengHei"/>
                    <a:ea typeface="Microsoft JhengHei"/>
                  </a:rPr>
                  <a:t>不用去算 </a:t>
                </a:r>
                <a14:m>
                  <m:oMath xmlns:m="http://schemas.openxmlformats.org/officeDocument/2006/math">
                    <m:f>
                      <m:fPr>
                        <m:ctrlPr>
                          <a:rPr lang="en-US" sz="1950" i="1">
                            <a:solidFill>
                              <a:srgbClr val="1B2838"/>
                            </a:solidFill>
                            <a:latin typeface="Cambria Math" panose="02040503050406030204" pitchFamily="18" charset="0"/>
                            <a:ea typeface="Microsoft JhengHei"/>
                          </a:rPr>
                        </m:ctrlPr>
                      </m:fPr>
                      <m:num>
                        <m:r>
                          <a:rPr lang="en-US" sz="1950" i="1">
                            <a:solidFill>
                              <a:srgbClr val="1B2838"/>
                            </a:solidFill>
                            <a:latin typeface="Cambria Math" panose="02040503050406030204" pitchFamily="18" charset="0"/>
                            <a:ea typeface="Microsoft JhengHei"/>
                          </a:rPr>
                          <m:t>𝑑</m:t>
                        </m:r>
                        <m:r>
                          <a:rPr lang="en-US" sz="1950">
                            <a:solidFill>
                              <a:srgbClr val="1B2838"/>
                            </a:solidFill>
                            <a:latin typeface="Cambria Math" panose="02040503050406030204" pitchFamily="18" charset="0"/>
                            <a:ea typeface="Microsoft JhengHei"/>
                          </a:rPr>
                          <m:t>|</m:t>
                        </m:r>
                        <m:r>
                          <a:rPr lang="en-US" sz="1950" i="1">
                            <a:solidFill>
                              <a:srgbClr val="1B2838"/>
                            </a:solidFill>
                            <a:latin typeface="Cambria Math" panose="02040503050406030204" pitchFamily="18" charset="0"/>
                            <a:ea typeface="Microsoft JhengHei"/>
                          </a:rPr>
                          <m:t>𝑟</m:t>
                        </m:r>
                        <m:r>
                          <a:rPr lang="en-US" sz="1950">
                            <a:solidFill>
                              <a:srgbClr val="1B2838"/>
                            </a:solidFill>
                            <a:latin typeface="Cambria Math" panose="02040503050406030204" pitchFamily="18" charset="0"/>
                            <a:ea typeface="Microsoft JhengHei"/>
                          </a:rPr>
                          <m:t>|</m:t>
                        </m:r>
                      </m:num>
                      <m:den>
                        <m:r>
                          <a:rPr lang="en-US" sz="1950" i="1">
                            <a:solidFill>
                              <a:srgbClr val="1B2838"/>
                            </a:solidFill>
                            <a:latin typeface="Cambria Math" panose="02040503050406030204" pitchFamily="18" charset="0"/>
                            <a:ea typeface="Microsoft JhengHei"/>
                          </a:rPr>
                          <m:t>𝑑𝑡</m:t>
                        </m:r>
                      </m:den>
                    </m:f>
                  </m:oMath>
                </a14:m>
                <a:r>
                  <a:rPr lang="zh-TW" altLang="en-US">
                    <a:solidFill>
                      <a:srgbClr val="1B2838"/>
                    </a:solidFill>
                    <a:latin typeface="Microsoft JhengHei"/>
                    <a:ea typeface="Microsoft JhengHei"/>
                  </a:rPr>
                  <a:t>，就能避開觀念 6 的陷阱。</a:t>
                </a:r>
                <a:endParaRPr lang="zh-TW" altLang="en-US"/>
              </a:p>
            </p:txBody>
          </p:sp>
        </mc:Choice>
        <mc:Fallback xmlns="">
          <p:sp>
            <p:nvSpPr>
              <p:cNvPr id="15" name="T|c9e"/>
              <p:cNvSpPr txBox="1">
                <a:spLocks noRot="1" noChangeAspect="1" noMove="1" noResize="1" noEditPoints="1" noAdjustHandles="1" noChangeArrowheads="1" noChangeShapeType="1" noTextEdit="1"/>
              </p:cNvSpPr>
              <p:nvPr/>
            </p:nvSpPr>
            <p:spPr>
              <a:xfrm>
                <a:off x="5040630" y="3771900"/>
                <a:ext cx="3771900" cy="1097280"/>
              </a:xfrm>
              <a:prstGeom prst="rect">
                <a:avLst/>
              </a:prstGeom>
              <a:blipFill>
                <a:blip r:embed="rId7"/>
                <a:stretch>
                  <a:fillRect l="-3877"/>
                </a:stretch>
              </a:blipFill>
              <a:ln/>
            </p:spPr>
            <p:txBody>
              <a:bodyPr/>
              <a:lstStyle/>
              <a:p>
                <a:r>
                  <a:rPr lang="zh-TW"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6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5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childTnLst>
                                </p:cTn>
                              </p:par>
                              <p:par>
                                <p:cTn id="25" presetID="10" presetClass="entr" presetSubtype="0" fill="hold" nodeType="withEffect">
                                  <p:stCondLst>
                                    <p:cond delay="5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2.11"/>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PA" val="v5.2.11"/>
</p:tagLst>
</file>

<file path=ppt/tags/tag5.xml><?xml version="1.0" encoding="utf-8"?>
<p:tagLst xmlns:a="http://schemas.openxmlformats.org/drawingml/2006/main" xmlns:r="http://schemas.openxmlformats.org/officeDocument/2006/relationships" xmlns:p="http://schemas.openxmlformats.org/presentationml/2006/main">
  <p:tag name="PA" val="v5.2.11"/>
</p:tagLst>
</file>

<file path=ppt/tags/tag6.xml><?xml version="1.0" encoding="utf-8"?>
<p:tagLst xmlns:a="http://schemas.openxmlformats.org/drawingml/2006/main" xmlns:r="http://schemas.openxmlformats.org/officeDocument/2006/relationships" xmlns:p="http://schemas.openxmlformats.org/presentationml/2006/main">
  <p:tag name="PA" val="v5.2.11"/>
</p:tagLst>
</file>

<file path=ppt/tags/tag7.xml><?xml version="1.0" encoding="utf-8"?>
<p:tagLst xmlns:a="http://schemas.openxmlformats.org/drawingml/2006/main" xmlns:r="http://schemas.openxmlformats.org/officeDocument/2006/relationships" xmlns:p="http://schemas.openxmlformats.org/presentationml/2006/main">
  <p:tag name="PA" val="v5.2.11"/>
</p:tagLst>
</file>

<file path=ppt/tags/tag8.xml><?xml version="1.0" encoding="utf-8"?>
<p:tagLst xmlns:a="http://schemas.openxmlformats.org/drawingml/2006/main" xmlns:r="http://schemas.openxmlformats.org/officeDocument/2006/relationships" xmlns:p="http://schemas.openxmlformats.org/presentationml/2006/main">
  <p:tag name="PA" val="v5.2.11"/>
</p:tagLst>
</file>

<file path=ppt/tags/tag9.xml><?xml version="1.0" encoding="utf-8"?>
<p:tagLst xmlns:a="http://schemas.openxmlformats.org/drawingml/2006/main" xmlns:r="http://schemas.openxmlformats.org/officeDocument/2006/relationships" xmlns:p="http://schemas.openxmlformats.org/presentationml/2006/main">
  <p:tag name="PA" val="v5.2.1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PA" val="v5.2.11"/>
</p:tagLst>
</file>

<file path=ppt/tags/tag14.xml><?xml version="1.0" encoding="utf-8"?>
<p:tagLst xmlns:a="http://schemas.openxmlformats.org/drawingml/2006/main" xmlns:r="http://schemas.openxmlformats.org/officeDocument/2006/relationships" xmlns:p="http://schemas.openxmlformats.org/presentationml/2006/main">
  <p:tag name="PA" val="v5.2.11"/>
</p:tagLst>
</file>

<file path=ppt/tags/tag15.xml><?xml version="1.0" encoding="utf-8"?>
<p:tagLst xmlns:a="http://schemas.openxmlformats.org/drawingml/2006/main" xmlns:r="http://schemas.openxmlformats.org/officeDocument/2006/relationships" xmlns:p="http://schemas.openxmlformats.org/presentationml/2006/main">
  <p:tag name="PA" val="v5.2.11"/>
</p:tagLst>
</file>

<file path=ppt/tags/tag16.xml><?xml version="1.0" encoding="utf-8"?>
<p:tagLst xmlns:a="http://schemas.openxmlformats.org/drawingml/2006/main" xmlns:r="http://schemas.openxmlformats.org/officeDocument/2006/relationships" xmlns:p="http://schemas.openxmlformats.org/presentationml/2006/main">
  <p:tag name="PA" val="v5.2.11"/>
</p:tagLst>
</file>

<file path=ppt/tags/tag17.xml><?xml version="1.0" encoding="utf-8"?>
<p:tagLst xmlns:a="http://schemas.openxmlformats.org/drawingml/2006/main" xmlns:r="http://schemas.openxmlformats.org/officeDocument/2006/relationships" xmlns:p="http://schemas.openxmlformats.org/presentationml/2006/main">
  <p:tag name="PA" val="v5.2.11"/>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PA" val="v5.2.11"/>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11111111111">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2222222222">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44444444">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66666666666666">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888888888888888888888">
  <a:themeElements>
    <a:clrScheme name="自訂 31">
      <a:dk1>
        <a:srgbClr val="000000"/>
      </a:dk1>
      <a:lt1>
        <a:srgbClr val="FFFFFF"/>
      </a:lt1>
      <a:dk2>
        <a:srgbClr val="163980"/>
      </a:dk2>
      <a:lt2>
        <a:srgbClr val="FCEAFC"/>
      </a:lt2>
      <a:accent1>
        <a:srgbClr val="DB0D48"/>
      </a:accent1>
      <a:accent2>
        <a:srgbClr val="FF925B"/>
      </a:accent2>
      <a:accent3>
        <a:srgbClr val="EF35C7"/>
      </a:accent3>
      <a:accent4>
        <a:srgbClr val="AE5AF4"/>
      </a:accent4>
      <a:accent5>
        <a:srgbClr val="3399FF"/>
      </a:accent5>
      <a:accent6>
        <a:srgbClr val="13B14F"/>
      </a:accent6>
      <a:hlink>
        <a:srgbClr val="009999"/>
      </a:hlink>
      <a:folHlink>
        <a:srgbClr val="EE87B3"/>
      </a:folHlink>
    </a:clrScheme>
    <a:fontScheme name="內文">
      <a:majorFont>
        <a:latin typeface="Times New Roman"/>
        <a:ea typeface="標楷體"/>
        <a:cs typeface=""/>
      </a:majorFont>
      <a:minorFont>
        <a:latin typeface="Times New Roman"/>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內文 1">
        <a:dk1>
          <a:srgbClr val="333300"/>
        </a:dk1>
        <a:lt1>
          <a:srgbClr val="FFFFFF"/>
        </a:lt1>
        <a:dk2>
          <a:srgbClr val="238D3F"/>
        </a:dk2>
        <a:lt2>
          <a:srgbClr val="C0C0C0"/>
        </a:lt2>
        <a:accent1>
          <a:srgbClr val="FFCC00"/>
        </a:accent1>
        <a:accent2>
          <a:srgbClr val="FF3300"/>
        </a:accent2>
        <a:accent3>
          <a:srgbClr val="FFFFFF"/>
        </a:accent3>
        <a:accent4>
          <a:srgbClr val="2A2A00"/>
        </a:accent4>
        <a:accent5>
          <a:srgbClr val="FFE2AA"/>
        </a:accent5>
        <a:accent6>
          <a:srgbClr val="E72D00"/>
        </a:accent6>
        <a:hlink>
          <a:srgbClr val="7E157F"/>
        </a:hlink>
        <a:folHlink>
          <a:srgbClr val="EF7E00"/>
        </a:folHlink>
      </a:clrScheme>
      <a:clrMap bg1="lt1" tx1="dk1" bg2="lt2" tx2="dk2" accent1="accent1" accent2="accent2" accent3="accent3" accent4="accent4" accent5="accent5" accent6="accent6" hlink="hlink" folHlink="folHlink"/>
    </a:extraClrScheme>
    <a:extraClrScheme>
      <a:clrScheme name="內文 2">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7E157F"/>
        </a:hlink>
        <a:folHlink>
          <a:srgbClr val="EE87B3"/>
        </a:folHlink>
      </a:clrScheme>
      <a:clrMap bg1="lt1" tx1="dk1" bg2="lt2" tx2="dk2" accent1="accent1" accent2="accent2" accent3="accent3" accent4="accent4" accent5="accent5" accent6="accent6" hlink="hlink" folHlink="folHlink"/>
    </a:extraClrScheme>
    <a:extraClrScheme>
      <a:clrScheme name="內文 3">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FF3399"/>
        </a:hlink>
        <a:folHlink>
          <a:srgbClr val="EE87B3"/>
        </a:folHlink>
      </a:clrScheme>
      <a:clrMap bg1="lt1" tx1="dk1" bg2="lt2" tx2="dk2" accent1="accent1" accent2="accent2" accent3="accent3" accent4="accent4" accent5="accent5" accent6="accent6" hlink="hlink" folHlink="folHlink"/>
    </a:extraClrScheme>
    <a:extraClrScheme>
      <a:clrScheme name="內文 4">
        <a:dk1>
          <a:srgbClr val="333300"/>
        </a:dk1>
        <a:lt1>
          <a:srgbClr val="FFFFFF"/>
        </a:lt1>
        <a:dk2>
          <a:srgbClr val="0A9C3A"/>
        </a:dk2>
        <a:lt2>
          <a:srgbClr val="C0C0C0"/>
        </a:lt2>
        <a:accent1>
          <a:srgbClr val="59C2E2"/>
        </a:accent1>
        <a:accent2>
          <a:srgbClr val="FF3300"/>
        </a:accent2>
        <a:accent3>
          <a:srgbClr val="FFFFFF"/>
        </a:accent3>
        <a:accent4>
          <a:srgbClr val="2A2A00"/>
        </a:accent4>
        <a:accent5>
          <a:srgbClr val="B5DDEE"/>
        </a:accent5>
        <a:accent6>
          <a:srgbClr val="E72D00"/>
        </a:accent6>
        <a:hlink>
          <a:srgbClr val="009999"/>
        </a:hlink>
        <a:folHlink>
          <a:srgbClr val="EE87B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CH02</Template>
  <TotalTime>2166</TotalTime>
  <Words>5953</Words>
  <Application>Microsoft Office PowerPoint</Application>
  <PresentationFormat>如螢幕大小 (16:9)</PresentationFormat>
  <Paragraphs>625</Paragraphs>
  <Slides>55</Slides>
  <Notes>24</Notes>
  <HiddenSlides>0</HiddenSlides>
  <MMClips>0</MMClips>
  <ScaleCrop>false</ScaleCrop>
  <HeadingPairs>
    <vt:vector size="8" baseType="variant">
      <vt:variant>
        <vt:lpstr>使用字型</vt:lpstr>
      </vt:variant>
      <vt:variant>
        <vt:i4>9</vt:i4>
      </vt:variant>
      <vt:variant>
        <vt:lpstr>佈景主題</vt:lpstr>
      </vt:variant>
      <vt:variant>
        <vt:i4>5</vt:i4>
      </vt:variant>
      <vt:variant>
        <vt:lpstr>內嵌 OLE 伺服程式</vt:lpstr>
      </vt:variant>
      <vt:variant>
        <vt:i4>1</vt:i4>
      </vt:variant>
      <vt:variant>
        <vt:lpstr>投影片標題</vt:lpstr>
      </vt:variant>
      <vt:variant>
        <vt:i4>55</vt:i4>
      </vt:variant>
    </vt:vector>
  </HeadingPairs>
  <TitlesOfParts>
    <vt:vector size="70" baseType="lpstr">
      <vt:lpstr>Microsoft JhengHei</vt:lpstr>
      <vt:lpstr>Microsoft JhengHei</vt:lpstr>
      <vt:lpstr>標楷體</vt:lpstr>
      <vt:lpstr>Arial</vt:lpstr>
      <vt:lpstr>Calibri</vt:lpstr>
      <vt:lpstr>Cambria</vt:lpstr>
      <vt:lpstr>Cambria Math</vt:lpstr>
      <vt:lpstr>Times New Roman</vt:lpstr>
      <vt:lpstr>Wingdings</vt:lpstr>
      <vt:lpstr>11111111111</vt:lpstr>
      <vt:lpstr>22222222222</vt:lpstr>
      <vt:lpstr>444444444</vt:lpstr>
      <vt:lpstr>66666666666666</vt:lpstr>
      <vt:lpstr>888888888888888888888</vt:lpstr>
      <vt:lpstr>Equation</vt:lpstr>
      <vt:lpstr>PowerPoint 簡報</vt:lpstr>
      <vt:lpstr>第二部分　從直線走到曲線</vt:lpstr>
      <vt:lpstr>學習重點</vt:lpstr>
      <vt:lpstr>PowerPoint 簡報</vt:lpstr>
      <vt:lpstr>本章提要</vt:lpstr>
      <vt:lpstr>2-4　曲線運動的向量表示　</vt:lpstr>
      <vt:lpstr>2-4 位置與位移　向量 Δr 不等於路徑長 Δs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速度　方向永遠與路徑相切</vt:lpstr>
      <vt:lpstr>PowerPoint 簡報</vt:lpstr>
      <vt:lpstr>PowerPoint 簡報</vt:lpstr>
      <vt:lpstr>加速度　方向不與路徑相切</vt:lpstr>
      <vt:lpstr>PowerPoint 簡報</vt:lpstr>
      <vt:lpstr>PowerPoint 簡報</vt:lpstr>
      <vt:lpstr>PowerPoint 簡報</vt:lpstr>
      <vt:lpstr>口訣　直線靠正負號，曲線靠向量</vt:lpstr>
      <vt:lpstr>例題 2-11　軌跡</vt:lpstr>
      <vt:lpstr>例題 2-11 解（一）　兩個方向各自微分</vt:lpstr>
      <vt:lpstr>例題 2-11 解（二）　先用 y 定時間，再代回去</vt:lpstr>
      <vt:lpstr>例題 2-11 解（三）　合成向量與大小</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R19</dc:creator>
  <cp:lastModifiedBy>BiLL Chen</cp:lastModifiedBy>
  <cp:revision>190</cp:revision>
  <dcterms:created xsi:type="dcterms:W3CDTF">2022-08-26T06:18:16Z</dcterms:created>
  <dcterms:modified xsi:type="dcterms:W3CDTF">2026-10-12T22:03:46Z</dcterms:modified>
</cp:coreProperties>
</file>